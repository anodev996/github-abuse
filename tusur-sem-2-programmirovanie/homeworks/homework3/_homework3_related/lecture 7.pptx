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1" r:id="rId1"/>
  </p:sldMasterIdLst>
  <p:sldIdLst>
    <p:sldId id="598" r:id="rId2"/>
    <p:sldId id="599" r:id="rId3"/>
    <p:sldId id="600" r:id="rId4"/>
    <p:sldId id="601" r:id="rId5"/>
    <p:sldId id="602" r:id="rId6"/>
    <p:sldId id="603" r:id="rId7"/>
    <p:sldId id="604" r:id="rId8"/>
    <p:sldId id="605" r:id="rId9"/>
    <p:sldId id="606" r:id="rId10"/>
    <p:sldId id="607" r:id="rId11"/>
    <p:sldId id="608" r:id="rId12"/>
    <p:sldId id="609" r:id="rId13"/>
    <p:sldId id="610" r:id="rId14"/>
    <p:sldId id="611" r:id="rId15"/>
    <p:sldId id="612" r:id="rId16"/>
    <p:sldId id="613" r:id="rId17"/>
    <p:sldId id="614" r:id="rId18"/>
    <p:sldId id="615" r:id="rId19"/>
    <p:sldId id="616" r:id="rId20"/>
    <p:sldId id="617" r:id="rId21"/>
    <p:sldId id="618" r:id="rId22"/>
    <p:sldId id="619" r:id="rId23"/>
    <p:sldId id="620" r:id="rId24"/>
    <p:sldId id="621" r:id="rId25"/>
    <p:sldId id="622" r:id="rId26"/>
    <p:sldId id="623" r:id="rId27"/>
    <p:sldId id="624" r:id="rId28"/>
    <p:sldId id="625" r:id="rId29"/>
    <p:sldId id="626" r:id="rId30"/>
    <p:sldId id="627" r:id="rId31"/>
    <p:sldId id="628" r:id="rId32"/>
    <p:sldId id="629" r:id="rId33"/>
    <p:sldId id="630" r:id="rId34"/>
    <p:sldId id="631" r:id="rId35"/>
    <p:sldId id="632" r:id="rId36"/>
    <p:sldId id="633" r:id="rId37"/>
    <p:sldId id="634" r:id="rId38"/>
    <p:sldId id="635" r:id="rId39"/>
    <p:sldId id="636" r:id="rId40"/>
    <p:sldId id="637" r:id="rId41"/>
    <p:sldId id="638" r:id="rId42"/>
    <p:sldId id="639" r:id="rId43"/>
    <p:sldId id="640" r:id="rId44"/>
    <p:sldId id="641" r:id="rId45"/>
    <p:sldId id="642" r:id="rId46"/>
    <p:sldId id="643" r:id="rId47"/>
    <p:sldId id="644" r:id="rId48"/>
    <p:sldId id="645" r:id="rId49"/>
    <p:sldId id="646" r:id="rId50"/>
    <p:sldId id="647" r:id="rId51"/>
    <p:sldId id="648" r:id="rId52"/>
    <p:sldId id="649" r:id="rId53"/>
    <p:sldId id="650" r:id="rId54"/>
    <p:sldId id="651" r:id="rId55"/>
    <p:sldId id="652" r:id="rId56"/>
    <p:sldId id="653" r:id="rId57"/>
    <p:sldId id="654" r:id="rId58"/>
    <p:sldId id="655" r:id="rId59"/>
    <p:sldId id="656" r:id="rId60"/>
    <p:sldId id="657" r:id="rId61"/>
    <p:sldId id="658" r:id="rId62"/>
    <p:sldId id="659" r:id="rId63"/>
    <p:sldId id="660" r:id="rId64"/>
    <p:sldId id="661" r:id="rId65"/>
    <p:sldId id="662" r:id="rId66"/>
    <p:sldId id="663" r:id="rId67"/>
    <p:sldId id="664" r:id="rId68"/>
    <p:sldId id="665" r:id="rId69"/>
    <p:sldId id="666" r:id="rId70"/>
    <p:sldId id="667" r:id="rId71"/>
    <p:sldId id="668" r:id="rId72"/>
    <p:sldId id="669" r:id="rId73"/>
    <p:sldId id="670" r:id="rId74"/>
    <p:sldId id="671" r:id="rId75"/>
    <p:sldId id="672" r:id="rId76"/>
    <p:sldId id="673" r:id="rId77"/>
    <p:sldId id="674" r:id="rId78"/>
    <p:sldId id="675" r:id="rId79"/>
    <p:sldId id="676" r:id="rId80"/>
    <p:sldId id="677" r:id="rId81"/>
    <p:sldId id="678" r:id="rId82"/>
    <p:sldId id="679" r:id="rId83"/>
    <p:sldId id="680" r:id="rId84"/>
    <p:sldId id="681" r:id="rId85"/>
    <p:sldId id="682" r:id="rId86"/>
    <p:sldId id="683" r:id="rId87"/>
  </p:sldIdLst>
  <p:sldSz cx="9144000" cy="6858000" type="screen4x3"/>
  <p:notesSz cx="6858000" cy="9144000"/>
  <p:defaultTextStyle>
    <a:defPPr>
      <a:defRPr lang="ru-RU"/>
    </a:defPPr>
    <a:lvl1pPr algn="ctr" rtl="0" fontAlgn="base">
      <a:spcBef>
        <a:spcPct val="20000"/>
      </a:spcBef>
      <a:spcAft>
        <a:spcPct val="0"/>
      </a:spcAft>
      <a:buClr>
        <a:schemeClr val="hlink"/>
      </a:buClr>
      <a:buSzPct val="65000"/>
      <a:buFont typeface="Wingdings" pitchFamily="2" charset="2"/>
      <a:defRPr sz="2800" b="1" kern="1200">
        <a:solidFill>
          <a:schemeClr val="tx1"/>
        </a:solidFill>
        <a:latin typeface="Tahoma" pitchFamily="34" charset="0"/>
        <a:ea typeface="+mn-ea"/>
        <a:cs typeface="+mn-cs"/>
      </a:defRPr>
    </a:lvl1pPr>
    <a:lvl2pPr marL="457200" algn="ctr" rtl="0" fontAlgn="base">
      <a:spcBef>
        <a:spcPct val="20000"/>
      </a:spcBef>
      <a:spcAft>
        <a:spcPct val="0"/>
      </a:spcAft>
      <a:buClr>
        <a:schemeClr val="hlink"/>
      </a:buClr>
      <a:buSzPct val="65000"/>
      <a:buFont typeface="Wingdings" pitchFamily="2" charset="2"/>
      <a:defRPr sz="2800" b="1" kern="1200">
        <a:solidFill>
          <a:schemeClr val="tx1"/>
        </a:solidFill>
        <a:latin typeface="Tahoma" pitchFamily="34" charset="0"/>
        <a:ea typeface="+mn-ea"/>
        <a:cs typeface="+mn-cs"/>
      </a:defRPr>
    </a:lvl2pPr>
    <a:lvl3pPr marL="914400" algn="ctr" rtl="0" fontAlgn="base">
      <a:spcBef>
        <a:spcPct val="20000"/>
      </a:spcBef>
      <a:spcAft>
        <a:spcPct val="0"/>
      </a:spcAft>
      <a:buClr>
        <a:schemeClr val="hlink"/>
      </a:buClr>
      <a:buSzPct val="65000"/>
      <a:buFont typeface="Wingdings" pitchFamily="2" charset="2"/>
      <a:defRPr sz="2800" b="1" kern="1200">
        <a:solidFill>
          <a:schemeClr val="tx1"/>
        </a:solidFill>
        <a:latin typeface="Tahoma" pitchFamily="34" charset="0"/>
        <a:ea typeface="+mn-ea"/>
        <a:cs typeface="+mn-cs"/>
      </a:defRPr>
    </a:lvl3pPr>
    <a:lvl4pPr marL="1371600" algn="ctr" rtl="0" fontAlgn="base">
      <a:spcBef>
        <a:spcPct val="20000"/>
      </a:spcBef>
      <a:spcAft>
        <a:spcPct val="0"/>
      </a:spcAft>
      <a:buClr>
        <a:schemeClr val="hlink"/>
      </a:buClr>
      <a:buSzPct val="65000"/>
      <a:buFont typeface="Wingdings" pitchFamily="2" charset="2"/>
      <a:defRPr sz="2800" b="1" kern="1200">
        <a:solidFill>
          <a:schemeClr val="tx1"/>
        </a:solidFill>
        <a:latin typeface="Tahoma" pitchFamily="34" charset="0"/>
        <a:ea typeface="+mn-ea"/>
        <a:cs typeface="+mn-cs"/>
      </a:defRPr>
    </a:lvl4pPr>
    <a:lvl5pPr marL="1828800" algn="ctr" rtl="0" fontAlgn="base">
      <a:spcBef>
        <a:spcPct val="20000"/>
      </a:spcBef>
      <a:spcAft>
        <a:spcPct val="0"/>
      </a:spcAft>
      <a:buClr>
        <a:schemeClr val="hlink"/>
      </a:buClr>
      <a:buSzPct val="65000"/>
      <a:buFont typeface="Wingdings" pitchFamily="2" charset="2"/>
      <a:defRPr sz="2800" b="1" kern="1200">
        <a:solidFill>
          <a:schemeClr val="tx1"/>
        </a:solidFill>
        <a:latin typeface="Tahoma" pitchFamily="34" charset="0"/>
        <a:ea typeface="+mn-ea"/>
        <a:cs typeface="+mn-cs"/>
      </a:defRPr>
    </a:lvl5pPr>
    <a:lvl6pPr marL="2286000" algn="l" defTabSz="914400" rtl="0" eaLnBrk="1" latinLnBrk="0" hangingPunct="1">
      <a:defRPr sz="2800" b="1" kern="1200">
        <a:solidFill>
          <a:schemeClr val="tx1"/>
        </a:solidFill>
        <a:latin typeface="Tahoma" pitchFamily="34" charset="0"/>
        <a:ea typeface="+mn-ea"/>
        <a:cs typeface="+mn-cs"/>
      </a:defRPr>
    </a:lvl6pPr>
    <a:lvl7pPr marL="2743200" algn="l" defTabSz="914400" rtl="0" eaLnBrk="1" latinLnBrk="0" hangingPunct="1">
      <a:defRPr sz="2800" b="1" kern="1200">
        <a:solidFill>
          <a:schemeClr val="tx1"/>
        </a:solidFill>
        <a:latin typeface="Tahoma" pitchFamily="34" charset="0"/>
        <a:ea typeface="+mn-ea"/>
        <a:cs typeface="+mn-cs"/>
      </a:defRPr>
    </a:lvl7pPr>
    <a:lvl8pPr marL="3200400" algn="l" defTabSz="914400" rtl="0" eaLnBrk="1" latinLnBrk="0" hangingPunct="1">
      <a:defRPr sz="2800" b="1" kern="1200">
        <a:solidFill>
          <a:schemeClr val="tx1"/>
        </a:solidFill>
        <a:latin typeface="Tahoma" pitchFamily="34" charset="0"/>
        <a:ea typeface="+mn-ea"/>
        <a:cs typeface="+mn-cs"/>
      </a:defRPr>
    </a:lvl8pPr>
    <a:lvl9pPr marL="3657600" algn="l" defTabSz="914400" rtl="0" eaLnBrk="1" latinLnBrk="0" hangingPunct="1">
      <a:defRPr sz="2800" b="1" kern="1200">
        <a:solidFill>
          <a:schemeClr val="tx1"/>
        </a:solidFill>
        <a:latin typeface="Tahoma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3333CC"/>
    <a:srgbClr val="FF3300"/>
    <a:srgbClr val="99FF66"/>
    <a:srgbClr val="33CC33"/>
    <a:srgbClr val="9900FF"/>
    <a:srgbClr val="FFFF00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652" autoAdjust="0"/>
    <p:restoredTop sz="94521" autoAdjust="0"/>
  </p:normalViewPr>
  <p:slideViewPr>
    <p:cSldViewPr>
      <p:cViewPr varScale="1">
        <p:scale>
          <a:sx n="108" d="100"/>
          <a:sy n="108" d="100"/>
        </p:scale>
        <p:origin x="1764" y="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36004" cy="36004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viewProps" Target="viewProps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90" Type="http://schemas.openxmlformats.org/officeDocument/2006/relationships/theme" Target="theme/theme1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presProps" Target="presProps.xml"/><Relationship Id="rId9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ctrTitle" sz="quarter"/>
          </p:nvPr>
        </p:nvSpPr>
        <p:spPr>
          <a:xfrm>
            <a:off x="685800" y="1676400"/>
            <a:ext cx="7772400" cy="1828800"/>
          </a:xfrm>
        </p:spPr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21507" name="Rectangle 3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1A1AC0E-534B-4C3C-84DF-C63EEE55AEB3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8585A7-BD85-48D7-ACD3-308E7457D1D0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C0A8DDE-398F-45BC-B5D9-3C857A2F11AE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981200"/>
            <a:ext cx="40386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40386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D6156E5-C698-4B5D-BAFA-C28884DD4B61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BF8DB13-6B47-4308-AAC1-2ED9E6CBDF67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02000AA-E931-4F05-B157-633C1DCBE3A6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4CC7ADB-1454-474D-BFD6-AB2F84C985A9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4D1C0D6-23ED-4061-B49E-0E6789FAE136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ru-RU" noProof="0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A641072-F799-4C96-BFB4-C3C0DD19EA29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49030F4-0A7F-4C44-955E-16B3B9F0B651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381000"/>
            <a:ext cx="2057400" cy="5715000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381000"/>
            <a:ext cx="6019800" cy="5715000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0708EF4-B29F-409D-B3BE-9042D82377E1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Содержимое 1"/>
          <p:cNvSpPr>
            <a:spLocks noGrp="1"/>
          </p:cNvSpPr>
          <p:nvPr>
            <p:ph/>
          </p:nvPr>
        </p:nvSpPr>
        <p:spPr>
          <a:xfrm>
            <a:off x="457200" y="381000"/>
            <a:ext cx="8229600" cy="571500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ACA6286-4F4E-45E5-A9BC-C674408CC45F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chemeClr val="tx1"/>
            </a:gs>
            <a:gs pos="100000">
              <a:srgbClr val="D3D3D3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381000"/>
            <a:ext cx="8229600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ru-RU"/>
              <a:t>Образец заголовка</a:t>
            </a:r>
          </a:p>
        </p:txBody>
      </p:sp>
      <p:sp>
        <p:nvSpPr>
          <p:cNvPr id="2048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981200"/>
            <a:ext cx="82296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20484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>
              <a:spcBef>
                <a:spcPct val="0"/>
              </a:spcBef>
              <a:buClrTx/>
              <a:buSzTx/>
              <a:buFontTx/>
              <a:buNone/>
              <a:defRPr sz="1400" b="0"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20485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spcBef>
                <a:spcPct val="0"/>
              </a:spcBef>
              <a:buClrTx/>
              <a:buSzTx/>
              <a:buFontTx/>
              <a:buNone/>
              <a:defRPr sz="1400" b="0"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20486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buClrTx/>
              <a:buSzTx/>
              <a:buFontTx/>
              <a:buNone/>
              <a:defRPr sz="1400" b="0"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defRPr>
            </a:lvl1pPr>
          </a:lstStyle>
          <a:p>
            <a:pPr>
              <a:defRPr/>
            </a:pPr>
            <a:fld id="{74C91D7C-5708-42BC-BAB6-2ACF0D021DE7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Tahoma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Tahoma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Tahoma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Tahoma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Tahoma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Tahoma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Tahoma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Tahoma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65000"/>
        <a:buFont typeface="Wingdings" pitchFamily="2" charset="2"/>
        <a:buChar char="n"/>
        <a:defRPr sz="32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5000"/>
        <a:buFont typeface="Wingdings" pitchFamily="2" charset="2"/>
        <a:buChar char="n"/>
        <a:defRPr sz="28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65000"/>
        <a:buFont typeface="Wingdings" pitchFamily="2" charset="2"/>
        <a:buChar char="n"/>
        <a:defRPr sz="24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5000"/>
        <a:buFont typeface="Wingdings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65000"/>
        <a:buFont typeface="Wingdings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5000"/>
        <a:buFont typeface="Wingdings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5000"/>
        <a:buFont typeface="Wingdings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5000"/>
        <a:buFont typeface="Wingdings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5000"/>
        <a:buFont typeface="Wingdings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+mn-lt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09575" y="1128713"/>
            <a:ext cx="8229600" cy="2701925"/>
          </a:xfrm>
          <a:solidFill>
            <a:schemeClr val="tx1"/>
          </a:solidFill>
          <a:ln>
            <a:solidFill>
              <a:srgbClr val="000000"/>
            </a:solidFill>
          </a:ln>
        </p:spPr>
        <p:txBody>
          <a:bodyPr/>
          <a:lstStyle/>
          <a:p>
            <a:pPr marL="0" indent="0">
              <a:buFont typeface="Wingdings" panose="05000000000000000000" pitchFamily="2" charset="2"/>
              <a:buNone/>
            </a:pPr>
            <a:r>
              <a:rPr lang="ru-RU" altLang="ru-RU" sz="2800">
                <a:solidFill>
                  <a:schemeClr val="bg2"/>
                </a:solidFill>
                <a:effectLst/>
              </a:rPr>
              <a:t>Алгоритмы поразрядной сортировки рассматривают </a:t>
            </a:r>
            <a:r>
              <a:rPr lang="ru-RU" altLang="ru-RU" sz="2800" b="1">
                <a:solidFill>
                  <a:schemeClr val="bg2"/>
                </a:solidFill>
                <a:effectLst/>
              </a:rPr>
              <a:t>ключи</a:t>
            </a:r>
            <a:r>
              <a:rPr lang="ru-RU" altLang="ru-RU" sz="2800">
                <a:solidFill>
                  <a:schemeClr val="bg2"/>
                </a:solidFill>
                <a:effectLst/>
              </a:rPr>
              <a:t> сортировки как числа, представленные </a:t>
            </a:r>
            <a:r>
              <a:rPr lang="ru-RU" altLang="ru-RU" sz="2800" b="1">
                <a:solidFill>
                  <a:schemeClr val="bg2"/>
                </a:solidFill>
                <a:effectLst/>
              </a:rPr>
              <a:t>в системе счисления по основанию </a:t>
            </a:r>
            <a:r>
              <a:rPr lang="ru-RU" altLang="ru-RU" sz="2800" b="1" i="1">
                <a:solidFill>
                  <a:schemeClr val="bg2"/>
                </a:solidFill>
                <a:effectLst/>
              </a:rPr>
              <a:t>R</a:t>
            </a:r>
            <a:r>
              <a:rPr lang="ru-RU" altLang="ru-RU" sz="2800">
                <a:solidFill>
                  <a:schemeClr val="bg2"/>
                </a:solidFill>
                <a:effectLst/>
              </a:rPr>
              <a:t> и работают с различными значениями </a:t>
            </a:r>
            <a:r>
              <a:rPr lang="ru-RU" altLang="ru-RU" sz="2800" b="1" i="1">
                <a:solidFill>
                  <a:schemeClr val="bg2"/>
                </a:solidFill>
                <a:effectLst/>
              </a:rPr>
              <a:t>R</a:t>
            </a:r>
            <a:r>
              <a:rPr lang="ru-RU" altLang="ru-RU" sz="2800">
                <a:solidFill>
                  <a:schemeClr val="bg2"/>
                </a:solidFill>
                <a:effectLst/>
              </a:rPr>
              <a:t>.</a:t>
            </a:r>
          </a:p>
        </p:txBody>
      </p:sp>
      <p:sp>
        <p:nvSpPr>
          <p:cNvPr id="4" name="Заголовок 1"/>
          <p:cNvSpPr txBox="1">
            <a:spLocks/>
          </p:cNvSpPr>
          <p:nvPr/>
        </p:nvSpPr>
        <p:spPr bwMode="auto">
          <a:xfrm>
            <a:off x="446088" y="361950"/>
            <a:ext cx="8229600" cy="455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>
              <a:defRPr/>
            </a:pPr>
            <a:r>
              <a:rPr lang="ru-RU" kern="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Поразрядные сортировки</a:t>
            </a:r>
          </a:p>
        </p:txBody>
      </p:sp>
      <p:sp>
        <p:nvSpPr>
          <p:cNvPr id="5" name="TextBox 4"/>
          <p:cNvSpPr txBox="1">
            <a:spLocks noChangeArrowheads="1"/>
          </p:cNvSpPr>
          <p:nvPr/>
        </p:nvSpPr>
        <p:spPr bwMode="auto">
          <a:xfrm>
            <a:off x="446088" y="4195763"/>
            <a:ext cx="8178800" cy="2284412"/>
          </a:xfrm>
          <a:prstGeom prst="rect">
            <a:avLst/>
          </a:prstGeom>
          <a:solidFill>
            <a:schemeClr val="tx1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r>
              <a:rPr lang="ru-RU" altLang="ru-RU" sz="2800">
                <a:solidFill>
                  <a:schemeClr val="bg2"/>
                </a:solidFill>
              </a:rPr>
              <a:t>Ключи-строки  – основание </a:t>
            </a:r>
            <a:r>
              <a:rPr lang="ru-RU" altLang="ru-RU">
                <a:solidFill>
                  <a:schemeClr val="bg2"/>
                </a:solidFill>
              </a:rPr>
              <a:t>256</a:t>
            </a:r>
            <a:r>
              <a:rPr lang="ru-RU" altLang="ru-RU" sz="2800">
                <a:solidFill>
                  <a:schemeClr val="bg2"/>
                </a:solidFill>
              </a:rPr>
              <a:t> (</a:t>
            </a:r>
            <a:r>
              <a:rPr lang="en-US" altLang="ru-RU" sz="2800">
                <a:solidFill>
                  <a:schemeClr val="bg2"/>
                </a:solidFill>
              </a:rPr>
              <a:t>ASCII</a:t>
            </a:r>
            <a:r>
              <a:rPr lang="ru-RU" altLang="ru-RU" sz="2800">
                <a:solidFill>
                  <a:schemeClr val="bg2"/>
                </a:solidFill>
              </a:rPr>
              <a:t>). 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ru-RU" altLang="ru-RU" sz="2800">
                <a:solidFill>
                  <a:schemeClr val="bg2"/>
                </a:solidFill>
              </a:rPr>
              <a:t>Целые числа  – основание </a:t>
            </a:r>
            <a:r>
              <a:rPr lang="ru-RU" altLang="ru-RU">
                <a:solidFill>
                  <a:schemeClr val="bg2"/>
                </a:solidFill>
              </a:rPr>
              <a:t>10</a:t>
            </a:r>
            <a:r>
              <a:rPr lang="ru-RU" altLang="ru-RU" sz="2800">
                <a:solidFill>
                  <a:schemeClr val="bg2"/>
                </a:solidFill>
              </a:rPr>
              <a:t>.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ru-RU" altLang="ru-RU" sz="2800">
                <a:solidFill>
                  <a:schemeClr val="bg2"/>
                </a:solidFill>
              </a:rPr>
              <a:t>Двоичные числа – основание </a:t>
            </a:r>
            <a:r>
              <a:rPr lang="ru-RU" altLang="ru-RU">
                <a:solidFill>
                  <a:schemeClr val="bg2"/>
                </a:solidFill>
              </a:rPr>
              <a:t>2 </a:t>
            </a:r>
            <a:r>
              <a:rPr lang="ru-RU" altLang="ru-RU" sz="2800">
                <a:solidFill>
                  <a:schemeClr val="bg2"/>
                </a:solidFill>
              </a:rPr>
              <a:t>и т.д..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ru-RU" altLang="ru-RU" sz="2800">
              <a:solidFill>
                <a:schemeClr val="bg2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1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7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3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3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nimBg="1"/>
      <p:bldP spid="4" grpId="0"/>
      <p:bldP spid="5" grpId="0" build="allAtOnce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82600" y="1165225"/>
            <a:ext cx="8229600" cy="1606550"/>
          </a:xfrm>
          <a:solidFill>
            <a:schemeClr val="tx1"/>
          </a:solidFill>
          <a:ln>
            <a:solidFill>
              <a:srgbClr val="000000"/>
            </a:solidFill>
          </a:ln>
        </p:spPr>
        <p:txBody>
          <a:bodyPr/>
          <a:lstStyle/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ru-RU" sz="2800" b="1" kern="1200" dirty="0">
                <a:solidFill>
                  <a:schemeClr val="bg2"/>
                </a:solidFill>
              </a:rPr>
              <a:t>Основа всех типов поразрядных сортировок  - операция </a:t>
            </a:r>
            <a:r>
              <a:rPr lang="ru-RU" sz="2800" b="1" kern="1200" dirty="0">
                <a:solidFill>
                  <a:schemeClr val="bg2">
                    <a:lumMod val="60000"/>
                    <a:lumOff val="40000"/>
                  </a:schemeClr>
                </a:solidFill>
              </a:rPr>
              <a:t>извлечения</a:t>
            </a:r>
            <a:r>
              <a:rPr lang="ru-RU" sz="2800" b="1" kern="1200" dirty="0">
                <a:solidFill>
                  <a:schemeClr val="bg2"/>
                </a:solidFill>
              </a:rPr>
              <a:t> из ключа </a:t>
            </a:r>
            <a:r>
              <a:rPr lang="ru-RU" sz="2800" b="1" i="1" kern="1200" dirty="0">
                <a:solidFill>
                  <a:schemeClr val="bg2"/>
                </a:solidFill>
              </a:rPr>
              <a:t>I </a:t>
            </a:r>
            <a:r>
              <a:rPr lang="ru-RU" sz="2800" b="1" kern="1200" dirty="0">
                <a:solidFill>
                  <a:schemeClr val="bg2"/>
                </a:solidFill>
              </a:rPr>
              <a:t>- той цифры (символа).</a:t>
            </a:r>
          </a:p>
          <a:p>
            <a:pPr marL="0" indent="0">
              <a:buFont typeface="Wingdings" panose="05000000000000000000" pitchFamily="2" charset="2"/>
              <a:buNone/>
              <a:defRPr/>
            </a:pPr>
            <a:endParaRPr lang="ru-RU" sz="2800" b="1" kern="1200" dirty="0">
              <a:solidFill>
                <a:schemeClr val="bg2"/>
              </a:solidFill>
            </a:endParaRPr>
          </a:p>
          <a:p>
            <a:pPr marL="0" indent="0">
              <a:buFont typeface="Wingdings" panose="05000000000000000000" pitchFamily="2" charset="2"/>
              <a:buNone/>
              <a:defRPr/>
            </a:pPr>
            <a:endParaRPr lang="ru-RU" sz="2800" dirty="0"/>
          </a:p>
        </p:txBody>
      </p:sp>
      <p:sp>
        <p:nvSpPr>
          <p:cNvPr id="4" name="Заголовок 1"/>
          <p:cNvSpPr txBox="1">
            <a:spLocks/>
          </p:cNvSpPr>
          <p:nvPr/>
        </p:nvSpPr>
        <p:spPr bwMode="auto">
          <a:xfrm>
            <a:off x="446088" y="361950"/>
            <a:ext cx="8229600" cy="455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>
              <a:defRPr/>
            </a:pPr>
            <a:r>
              <a:rPr lang="ru-RU" kern="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Поразрядные сортировки</a:t>
            </a:r>
          </a:p>
        </p:txBody>
      </p:sp>
      <p:sp>
        <p:nvSpPr>
          <p:cNvPr id="5" name="Заголовок 1"/>
          <p:cNvSpPr txBox="1">
            <a:spLocks/>
          </p:cNvSpPr>
          <p:nvPr/>
        </p:nvSpPr>
        <p:spPr bwMode="auto">
          <a:xfrm>
            <a:off x="446088" y="3136900"/>
            <a:ext cx="8229600" cy="455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>
              <a:defRPr/>
            </a:pPr>
            <a:r>
              <a:rPr lang="ru-RU" kern="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Реализация извлечения в Си</a:t>
            </a:r>
          </a:p>
        </p:txBody>
      </p:sp>
      <p:sp>
        <p:nvSpPr>
          <p:cNvPr id="6" name="Содержимое 2"/>
          <p:cNvSpPr txBox="1">
            <a:spLocks/>
          </p:cNvSpPr>
          <p:nvPr/>
        </p:nvSpPr>
        <p:spPr bwMode="auto">
          <a:xfrm>
            <a:off x="446088" y="3940175"/>
            <a:ext cx="8229600" cy="2519363"/>
          </a:xfrm>
          <a:prstGeom prst="rect">
            <a:avLst/>
          </a:prstGeom>
          <a:solidFill>
            <a:schemeClr val="tx1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/>
          <a:lstStyle/>
          <a:p>
            <a:pPr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None/>
              <a:defRPr/>
            </a:pPr>
            <a:r>
              <a:rPr lang="en-US" i="1" dirty="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</a:rPr>
              <a:t>R = </a:t>
            </a:r>
            <a:r>
              <a:rPr lang="en-US" dirty="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</a:rPr>
              <a:t>10 </a:t>
            </a:r>
            <a:r>
              <a:rPr lang="en-US" b="0" i="1" dirty="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</a:rPr>
              <a:t>(</a:t>
            </a:r>
            <a:r>
              <a:rPr lang="ru-RU" b="0" i="1" dirty="0">
                <a:solidFill>
                  <a:schemeClr val="bg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</a:rPr>
              <a:t>при условии, что ключи состоят из одинакового количества цифр </a:t>
            </a:r>
            <a:r>
              <a:rPr lang="en-US" b="0" i="1" dirty="0">
                <a:solidFill>
                  <a:schemeClr val="bg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</a:rPr>
              <a:t>n</a:t>
            </a:r>
            <a:r>
              <a:rPr lang="en-US" b="0" i="1" dirty="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</a:rPr>
              <a:t>)</a:t>
            </a:r>
            <a:r>
              <a:rPr lang="ru-RU" b="0" i="1" dirty="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</a:rPr>
              <a:t> </a:t>
            </a:r>
            <a:endParaRPr lang="en-US" b="0" i="1" dirty="0">
              <a:solidFill>
                <a:schemeClr val="bg2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+mn-lt"/>
            </a:endParaRPr>
          </a:p>
          <a:p>
            <a:pPr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None/>
              <a:defRPr/>
            </a:pPr>
            <a:r>
              <a:rPr lang="en-US" b="0" i="1" dirty="0" err="1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</a:rPr>
              <a:t>int</a:t>
            </a:r>
            <a:r>
              <a:rPr lang="en-US" b="0" i="1" dirty="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</a:rPr>
              <a:t>  x = …, </a:t>
            </a:r>
            <a:r>
              <a:rPr lang="en-US" b="0" i="1" dirty="0" err="1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</a:rPr>
              <a:t>i,p</a:t>
            </a:r>
            <a:r>
              <a:rPr lang="en-US" b="0" i="1" dirty="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</a:rPr>
              <a:t>, n = …, R=10, k=1;</a:t>
            </a:r>
          </a:p>
          <a:p>
            <a:pPr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None/>
              <a:defRPr/>
            </a:pPr>
            <a:r>
              <a:rPr lang="en-US" b="0" i="1" dirty="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</a:rPr>
              <a:t>  for(</a:t>
            </a:r>
            <a:r>
              <a:rPr lang="en-US" b="0" i="1" dirty="0" err="1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</a:rPr>
              <a:t>i</a:t>
            </a:r>
            <a:r>
              <a:rPr lang="en-US" b="0" i="1" dirty="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</a:rPr>
              <a:t>=0;i&lt;</a:t>
            </a:r>
            <a:r>
              <a:rPr lang="en-US" b="0" i="1" dirty="0" err="1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</a:rPr>
              <a:t>n;i</a:t>
            </a:r>
            <a:r>
              <a:rPr lang="en-US" b="0" i="1" dirty="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</a:rPr>
              <a:t>++){ p=(x/k)%R;  k*=10;   </a:t>
            </a:r>
          </a:p>
          <a:p>
            <a:pPr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None/>
              <a:defRPr/>
            </a:pPr>
            <a:r>
              <a:rPr lang="en-US" b="0" i="1" dirty="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</a:rPr>
              <a:t>                            </a:t>
            </a:r>
            <a:r>
              <a:rPr lang="en-US" b="0" i="1" dirty="0" err="1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</a:rPr>
              <a:t>printf</a:t>
            </a:r>
            <a:r>
              <a:rPr lang="en-US" b="0" i="1" dirty="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</a:rPr>
              <a:t>("%d ",p);   }</a:t>
            </a:r>
            <a:endParaRPr lang="ru-RU" b="0" i="1" dirty="0">
              <a:solidFill>
                <a:schemeClr val="bg2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+mn-lt"/>
            </a:endParaRPr>
          </a:p>
          <a:p>
            <a:pPr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None/>
              <a:defRPr/>
            </a:pPr>
            <a:endParaRPr lang="ru-RU" dirty="0">
              <a:solidFill>
                <a:schemeClr val="bg2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+mn-lt"/>
            </a:endParaRPr>
          </a:p>
          <a:p>
            <a:pPr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None/>
              <a:defRPr/>
            </a:pPr>
            <a:endParaRPr lang="ru-RU" dirty="0">
              <a:solidFill>
                <a:schemeClr val="bg2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+mn-lt"/>
            </a:endParaRPr>
          </a:p>
          <a:p>
            <a:pPr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None/>
              <a:defRPr/>
            </a:pPr>
            <a:endParaRPr lang="ru-RU" b="0" kern="0" dirty="0">
              <a:effectLst>
                <a:outerShdw blurRad="38100" dist="38100" dir="2700000" algn="tl">
                  <a:srgbClr val="C0C0C0"/>
                </a:outerShdw>
              </a:effectLst>
              <a:latin typeface="+mn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nimBg="1"/>
      <p:bldP spid="4" grpId="0"/>
      <p:bldP spid="5" grpId="0"/>
      <p:bldP spid="6" grpId="0" build="p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1165225"/>
            <a:ext cx="8229600" cy="2921000"/>
          </a:xfrm>
          <a:solidFill>
            <a:schemeClr val="tx1"/>
          </a:solidFill>
          <a:ln>
            <a:solidFill>
              <a:srgbClr val="000000"/>
            </a:solidFill>
          </a:ln>
        </p:spPr>
        <p:txBody>
          <a:bodyPr/>
          <a:lstStyle/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sz="2800" b="1" i="1" kern="1200" dirty="0">
                <a:solidFill>
                  <a:schemeClr val="bg2"/>
                </a:solidFill>
              </a:rPr>
              <a:t>R = </a:t>
            </a:r>
            <a:r>
              <a:rPr lang="en-US" sz="2800" b="1" kern="1200" dirty="0">
                <a:solidFill>
                  <a:schemeClr val="bg2"/>
                </a:solidFill>
              </a:rPr>
              <a:t>10 </a:t>
            </a:r>
            <a:r>
              <a:rPr lang="en-US" sz="2800" i="1" kern="1200" dirty="0">
                <a:solidFill>
                  <a:schemeClr val="bg2"/>
                </a:solidFill>
              </a:rPr>
              <a:t>(</a:t>
            </a:r>
            <a:r>
              <a:rPr lang="ru-RU" sz="2800" i="1" kern="1200" dirty="0">
                <a:solidFill>
                  <a:schemeClr val="bg2"/>
                </a:solidFill>
              </a:rPr>
              <a:t> </a:t>
            </a:r>
            <a:r>
              <a:rPr lang="ru-RU" sz="2800" i="1" kern="1200" dirty="0">
                <a:solidFill>
                  <a:schemeClr val="bg2">
                    <a:lumMod val="60000"/>
                    <a:lumOff val="40000"/>
                  </a:schemeClr>
                </a:solidFill>
              </a:rPr>
              <a:t>при условии, что длина ключей не фиксирована </a:t>
            </a:r>
            <a:r>
              <a:rPr lang="en-US" sz="2800" i="1" kern="1200" dirty="0">
                <a:solidFill>
                  <a:schemeClr val="bg2"/>
                </a:solidFill>
              </a:rPr>
              <a:t>)</a:t>
            </a:r>
            <a:r>
              <a:rPr lang="ru-RU" sz="2800" i="1" kern="1200" dirty="0">
                <a:solidFill>
                  <a:schemeClr val="bg2"/>
                </a:solidFill>
              </a:rPr>
              <a:t> </a:t>
            </a:r>
            <a:endParaRPr lang="en-US" sz="2800" i="1" kern="1200" dirty="0">
              <a:solidFill>
                <a:schemeClr val="bg2"/>
              </a:solidFill>
            </a:endParaRPr>
          </a:p>
          <a:p>
            <a:pPr>
              <a:buFont typeface="Wingdings" panose="05000000000000000000" pitchFamily="2" charset="2"/>
              <a:buNone/>
              <a:defRPr/>
            </a:pPr>
            <a:r>
              <a:rPr lang="en-US" sz="2800" i="1" dirty="0" err="1">
                <a:solidFill>
                  <a:schemeClr val="bg2"/>
                </a:solidFill>
              </a:rPr>
              <a:t>int</a:t>
            </a:r>
            <a:r>
              <a:rPr lang="en-US" sz="2800" i="1" dirty="0">
                <a:solidFill>
                  <a:schemeClr val="bg2"/>
                </a:solidFill>
              </a:rPr>
              <a:t>  x = …, </a:t>
            </a:r>
            <a:r>
              <a:rPr lang="en-US" sz="2800" i="1" dirty="0" err="1">
                <a:solidFill>
                  <a:schemeClr val="bg2"/>
                </a:solidFill>
              </a:rPr>
              <a:t>i</a:t>
            </a:r>
            <a:r>
              <a:rPr lang="en-US" sz="2800" i="1" dirty="0">
                <a:solidFill>
                  <a:schemeClr val="bg2"/>
                </a:solidFill>
              </a:rPr>
              <a:t>,</a:t>
            </a:r>
            <a:r>
              <a:rPr lang="ru-RU" sz="2800" i="1" dirty="0">
                <a:solidFill>
                  <a:schemeClr val="bg2"/>
                </a:solidFill>
              </a:rPr>
              <a:t> </a:t>
            </a:r>
            <a:r>
              <a:rPr lang="en-US" sz="2800" i="1" dirty="0">
                <a:solidFill>
                  <a:schemeClr val="bg2"/>
                </a:solidFill>
              </a:rPr>
              <a:t>p,</a:t>
            </a:r>
            <a:r>
              <a:rPr lang="ru-RU" sz="2800" i="1" dirty="0">
                <a:solidFill>
                  <a:schemeClr val="bg2"/>
                </a:solidFill>
              </a:rPr>
              <a:t> </a:t>
            </a:r>
            <a:r>
              <a:rPr lang="en-US" sz="2800" i="1" dirty="0">
                <a:solidFill>
                  <a:schemeClr val="bg2"/>
                </a:solidFill>
              </a:rPr>
              <a:t>R=10, k=1;</a:t>
            </a:r>
          </a:p>
          <a:p>
            <a:pPr>
              <a:spcBef>
                <a:spcPts val="300"/>
              </a:spcBef>
              <a:buFont typeface="Wingdings" panose="05000000000000000000" pitchFamily="2" charset="2"/>
              <a:buNone/>
              <a:defRPr/>
            </a:pPr>
            <a:r>
              <a:rPr lang="pt-BR" sz="2800" i="1" dirty="0">
                <a:solidFill>
                  <a:schemeClr val="bg2"/>
                </a:solidFill>
              </a:rPr>
              <a:t>while (x&gt;0){</a:t>
            </a:r>
            <a:r>
              <a:rPr lang="ru-RU" sz="2800" i="1" dirty="0">
                <a:solidFill>
                  <a:schemeClr val="bg2"/>
                </a:solidFill>
              </a:rPr>
              <a:t> </a:t>
            </a:r>
            <a:r>
              <a:rPr lang="pt-BR" sz="2800" i="1" dirty="0">
                <a:solidFill>
                  <a:schemeClr val="bg2"/>
                </a:solidFill>
              </a:rPr>
              <a:t>p=x%R; </a:t>
            </a:r>
            <a:endParaRPr lang="ru-RU" sz="2800" i="1" dirty="0">
              <a:solidFill>
                <a:schemeClr val="bg2"/>
              </a:solidFill>
            </a:endParaRPr>
          </a:p>
          <a:p>
            <a:pPr>
              <a:spcBef>
                <a:spcPts val="300"/>
              </a:spcBef>
              <a:buFont typeface="Wingdings" panose="05000000000000000000" pitchFamily="2" charset="2"/>
              <a:buNone/>
              <a:defRPr/>
            </a:pPr>
            <a:r>
              <a:rPr lang="ru-RU" sz="2800" i="1" dirty="0">
                <a:solidFill>
                  <a:schemeClr val="bg2"/>
                </a:solidFill>
              </a:rPr>
              <a:t>			  </a:t>
            </a:r>
            <a:r>
              <a:rPr lang="pt-BR" sz="2800" i="1" dirty="0">
                <a:solidFill>
                  <a:schemeClr val="bg2"/>
                </a:solidFill>
              </a:rPr>
              <a:t>x = x/R;  </a:t>
            </a:r>
            <a:endParaRPr lang="ru-RU" sz="2800" i="1" dirty="0">
              <a:solidFill>
                <a:schemeClr val="bg2"/>
              </a:solidFill>
            </a:endParaRPr>
          </a:p>
          <a:p>
            <a:pPr>
              <a:spcBef>
                <a:spcPts val="300"/>
              </a:spcBef>
              <a:buFont typeface="Wingdings" panose="05000000000000000000" pitchFamily="2" charset="2"/>
              <a:buNone/>
              <a:defRPr/>
            </a:pPr>
            <a:r>
              <a:rPr lang="ru-RU" sz="2800" i="1" dirty="0">
                <a:solidFill>
                  <a:schemeClr val="bg2"/>
                </a:solidFill>
              </a:rPr>
              <a:t>                  </a:t>
            </a:r>
            <a:r>
              <a:rPr lang="pt-BR" sz="2800" i="1" dirty="0">
                <a:solidFill>
                  <a:schemeClr val="bg2"/>
                </a:solidFill>
              </a:rPr>
              <a:t>printf("%d ",p); }</a:t>
            </a:r>
            <a:endParaRPr lang="ru-RU" dirty="0"/>
          </a:p>
        </p:txBody>
      </p:sp>
      <p:sp>
        <p:nvSpPr>
          <p:cNvPr id="4" name="Заголовок 1"/>
          <p:cNvSpPr txBox="1">
            <a:spLocks/>
          </p:cNvSpPr>
          <p:nvPr/>
        </p:nvSpPr>
        <p:spPr bwMode="auto">
          <a:xfrm>
            <a:off x="482600" y="398463"/>
            <a:ext cx="8229600" cy="455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>
              <a:defRPr/>
            </a:pPr>
            <a:r>
              <a:rPr lang="ru-RU" kern="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Реализация извлечения в Си</a:t>
            </a:r>
          </a:p>
        </p:txBody>
      </p:sp>
      <p:sp>
        <p:nvSpPr>
          <p:cNvPr id="5" name="Содержимое 2"/>
          <p:cNvSpPr txBox="1">
            <a:spLocks/>
          </p:cNvSpPr>
          <p:nvPr/>
        </p:nvSpPr>
        <p:spPr bwMode="auto">
          <a:xfrm>
            <a:off x="446088" y="4560888"/>
            <a:ext cx="8229600" cy="1606550"/>
          </a:xfrm>
          <a:prstGeom prst="rect">
            <a:avLst/>
          </a:prstGeom>
          <a:solidFill>
            <a:schemeClr val="tx1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/>
          <a:lstStyle/>
          <a:p>
            <a:pPr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None/>
              <a:defRPr/>
            </a:pPr>
            <a:r>
              <a:rPr lang="ru-RU" dirty="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</a:rPr>
              <a:t>Строки символов – </a:t>
            </a:r>
            <a:r>
              <a:rPr lang="ru-RU" b="0" dirty="0">
                <a:solidFill>
                  <a:schemeClr val="bg2">
                    <a:lumMod val="60000"/>
                    <a:lumOff val="40000"/>
                  </a:schemeClr>
                </a:solidFill>
                <a:latin typeface="+mn-lt"/>
              </a:rPr>
              <a:t>обращение по индексу </a:t>
            </a:r>
          </a:p>
          <a:p>
            <a:pPr algn="ctr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None/>
              <a:defRPr/>
            </a:pPr>
            <a:r>
              <a:rPr lang="en-US" i="1" dirty="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</a:rPr>
              <a:t>x[</a:t>
            </a:r>
            <a:r>
              <a:rPr lang="en-US" i="1" dirty="0" err="1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</a:rPr>
              <a:t>i</a:t>
            </a:r>
            <a:r>
              <a:rPr lang="en-US" i="1" dirty="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</a:rPr>
              <a:t>]</a:t>
            </a:r>
            <a:r>
              <a:rPr lang="ru-RU" dirty="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</a:rPr>
              <a:t> </a:t>
            </a:r>
            <a:endParaRPr lang="en-US" b="0" dirty="0">
              <a:solidFill>
                <a:schemeClr val="bg2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+mn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1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7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23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29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 nodeType="afterGroup">
                            <p:stCondLst>
                              <p:cond delay="5000"/>
                            </p:stCondLst>
                            <p:childTnLst>
                              <p:par>
                                <p:cTn id="35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 nodeType="afterGroup">
                            <p:stCondLst>
                              <p:cond delay="6000"/>
                            </p:stCondLst>
                            <p:childTnLst>
                              <p:par>
                                <p:cTn id="41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54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60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1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nimBg="1"/>
      <p:bldP spid="4" grpId="0"/>
      <p:bldP spid="5" grpId="0" build="p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/>
          <p:cNvSpPr txBox="1">
            <a:spLocks/>
          </p:cNvSpPr>
          <p:nvPr/>
        </p:nvSpPr>
        <p:spPr bwMode="auto">
          <a:xfrm>
            <a:off x="482600" y="398463"/>
            <a:ext cx="8229600" cy="455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>
              <a:defRPr/>
            </a:pPr>
            <a:r>
              <a:rPr lang="ru-RU" kern="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Реализация извлечения в Си</a:t>
            </a:r>
          </a:p>
        </p:txBody>
      </p:sp>
      <p:sp>
        <p:nvSpPr>
          <p:cNvPr id="5" name="Содержимое 2"/>
          <p:cNvSpPr>
            <a:spLocks noGrp="1"/>
          </p:cNvSpPr>
          <p:nvPr>
            <p:ph idx="1"/>
          </p:nvPr>
        </p:nvSpPr>
        <p:spPr>
          <a:xfrm>
            <a:off x="457200" y="1238250"/>
            <a:ext cx="8229600" cy="3578225"/>
          </a:xfrm>
          <a:solidFill>
            <a:schemeClr val="tx1"/>
          </a:solidFill>
          <a:ln>
            <a:solidFill>
              <a:srgbClr val="000000"/>
            </a:solidFill>
          </a:ln>
        </p:spPr>
        <p:txBody>
          <a:bodyPr/>
          <a:lstStyle/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sz="2800" b="1" i="1" kern="1200" dirty="0">
                <a:solidFill>
                  <a:schemeClr val="bg2"/>
                </a:solidFill>
              </a:rPr>
              <a:t>R = </a:t>
            </a:r>
            <a:r>
              <a:rPr lang="en-US" sz="2800" b="1" kern="1200" dirty="0">
                <a:solidFill>
                  <a:schemeClr val="bg2"/>
                </a:solidFill>
              </a:rPr>
              <a:t>2 </a:t>
            </a:r>
            <a:r>
              <a:rPr lang="ru-RU" sz="2800" i="1" kern="1200" dirty="0">
                <a:solidFill>
                  <a:schemeClr val="bg2"/>
                </a:solidFill>
              </a:rPr>
              <a:t> </a:t>
            </a:r>
            <a:endParaRPr lang="en-US" sz="2800" i="1" kern="1200" dirty="0">
              <a:solidFill>
                <a:schemeClr val="bg2"/>
              </a:solidFill>
            </a:endParaRPr>
          </a:p>
          <a:p>
            <a:pPr>
              <a:spcBef>
                <a:spcPts val="300"/>
              </a:spcBef>
              <a:buFont typeface="Wingdings" panose="05000000000000000000" pitchFamily="2" charset="2"/>
              <a:buNone/>
              <a:defRPr/>
            </a:pPr>
            <a:r>
              <a:rPr lang="en-US" sz="2800" i="1" dirty="0" err="1">
                <a:solidFill>
                  <a:schemeClr val="bg2"/>
                </a:solidFill>
              </a:rPr>
              <a:t>int</a:t>
            </a:r>
            <a:r>
              <a:rPr lang="en-US" sz="2800" i="1" dirty="0">
                <a:solidFill>
                  <a:schemeClr val="bg2"/>
                </a:solidFill>
              </a:rPr>
              <a:t>   </a:t>
            </a:r>
            <a:r>
              <a:rPr lang="en-US" sz="2800" i="1" dirty="0" err="1">
                <a:solidFill>
                  <a:schemeClr val="bg2"/>
                </a:solidFill>
              </a:rPr>
              <a:t>i</a:t>
            </a:r>
            <a:r>
              <a:rPr lang="en-US" sz="2800" i="1" dirty="0">
                <a:solidFill>
                  <a:schemeClr val="bg2"/>
                </a:solidFill>
              </a:rPr>
              <a:t>,</a:t>
            </a:r>
            <a:r>
              <a:rPr lang="ru-RU" sz="2800" i="1" dirty="0">
                <a:solidFill>
                  <a:schemeClr val="bg2"/>
                </a:solidFill>
              </a:rPr>
              <a:t> </a:t>
            </a:r>
            <a:r>
              <a:rPr lang="en-US" sz="2800" i="1" dirty="0">
                <a:solidFill>
                  <a:schemeClr val="bg2"/>
                </a:solidFill>
              </a:rPr>
              <a:t>p; </a:t>
            </a:r>
          </a:p>
          <a:p>
            <a:pPr>
              <a:spcBef>
                <a:spcPts val="300"/>
              </a:spcBef>
              <a:buFont typeface="Wingdings" panose="05000000000000000000" pitchFamily="2" charset="2"/>
              <a:buNone/>
              <a:defRPr/>
            </a:pPr>
            <a:r>
              <a:rPr lang="en-US" sz="2800" i="1" dirty="0">
                <a:solidFill>
                  <a:schemeClr val="bg2"/>
                </a:solidFill>
              </a:rPr>
              <a:t>unsigned </a:t>
            </a:r>
            <a:r>
              <a:rPr lang="en-US" sz="2800" i="1" dirty="0" err="1">
                <a:solidFill>
                  <a:schemeClr val="bg2"/>
                </a:solidFill>
              </a:rPr>
              <a:t>int</a:t>
            </a:r>
            <a:r>
              <a:rPr lang="en-US" sz="2800" i="1" dirty="0">
                <a:solidFill>
                  <a:schemeClr val="bg2"/>
                </a:solidFill>
              </a:rPr>
              <a:t> y = …,y1;</a:t>
            </a:r>
          </a:p>
          <a:p>
            <a:pPr>
              <a:spcBef>
                <a:spcPts val="300"/>
              </a:spcBef>
              <a:buFont typeface="Wingdings" panose="05000000000000000000" pitchFamily="2" charset="2"/>
              <a:buNone/>
              <a:defRPr/>
            </a:pPr>
            <a:r>
              <a:rPr lang="en-US" sz="2800" i="1" dirty="0">
                <a:solidFill>
                  <a:schemeClr val="bg2"/>
                </a:solidFill>
              </a:rPr>
              <a:t>for(</a:t>
            </a:r>
            <a:r>
              <a:rPr lang="en-US" sz="2800" i="1" dirty="0" err="1">
                <a:solidFill>
                  <a:schemeClr val="bg2"/>
                </a:solidFill>
              </a:rPr>
              <a:t>i</a:t>
            </a:r>
            <a:r>
              <a:rPr lang="en-US" sz="2800" i="1" dirty="0">
                <a:solidFill>
                  <a:schemeClr val="bg2"/>
                </a:solidFill>
              </a:rPr>
              <a:t>=0;i&lt;</a:t>
            </a:r>
            <a:r>
              <a:rPr lang="en-US" sz="2800" i="1" dirty="0" err="1">
                <a:solidFill>
                  <a:schemeClr val="bg2"/>
                </a:solidFill>
              </a:rPr>
              <a:t>sizeof</a:t>
            </a:r>
            <a:r>
              <a:rPr lang="en-US" sz="2800" i="1" dirty="0">
                <a:solidFill>
                  <a:schemeClr val="bg2"/>
                </a:solidFill>
              </a:rPr>
              <a:t>(y)*8;i++){</a:t>
            </a:r>
          </a:p>
          <a:p>
            <a:pPr>
              <a:spcBef>
                <a:spcPts val="300"/>
              </a:spcBef>
              <a:buFont typeface="Wingdings" panose="05000000000000000000" pitchFamily="2" charset="2"/>
              <a:buNone/>
              <a:defRPr/>
            </a:pPr>
            <a:r>
              <a:rPr lang="en-US" sz="2800" i="1" dirty="0">
                <a:solidFill>
                  <a:schemeClr val="bg2"/>
                </a:solidFill>
              </a:rPr>
              <a:t>    y1=y&gt;&gt;</a:t>
            </a:r>
            <a:r>
              <a:rPr lang="en-US" sz="2800" i="1" dirty="0" err="1">
                <a:solidFill>
                  <a:schemeClr val="bg2"/>
                </a:solidFill>
              </a:rPr>
              <a:t>i</a:t>
            </a:r>
            <a:r>
              <a:rPr lang="en-US" sz="2800" i="1" dirty="0">
                <a:solidFill>
                  <a:schemeClr val="bg2"/>
                </a:solidFill>
              </a:rPr>
              <a:t>;  </a:t>
            </a:r>
            <a:r>
              <a:rPr lang="ru-RU" sz="2800" i="1" dirty="0">
                <a:solidFill>
                  <a:srgbClr val="0070C0"/>
                </a:solidFill>
                <a:effectLst/>
              </a:rPr>
              <a:t>// сдвиг вправо</a:t>
            </a:r>
            <a:endParaRPr lang="en-US" sz="2800" i="1" dirty="0">
              <a:solidFill>
                <a:srgbClr val="0070C0"/>
              </a:solidFill>
              <a:effectLst/>
            </a:endParaRPr>
          </a:p>
          <a:p>
            <a:pPr>
              <a:spcBef>
                <a:spcPts val="300"/>
              </a:spcBef>
              <a:buFont typeface="Wingdings" panose="05000000000000000000" pitchFamily="2" charset="2"/>
              <a:buNone/>
              <a:defRPr/>
            </a:pPr>
            <a:r>
              <a:rPr lang="en-US" sz="2800" i="1" dirty="0">
                <a:solidFill>
                  <a:schemeClr val="bg2"/>
                </a:solidFill>
              </a:rPr>
              <a:t>    p=y1&amp;1;</a:t>
            </a:r>
            <a:r>
              <a:rPr lang="ru-RU" sz="2800" i="1" dirty="0">
                <a:solidFill>
                  <a:schemeClr val="bg2"/>
                </a:solidFill>
              </a:rPr>
              <a:t>   </a:t>
            </a:r>
            <a:r>
              <a:rPr lang="ru-RU" sz="2800" i="1" dirty="0">
                <a:solidFill>
                  <a:srgbClr val="0070C0"/>
                </a:solidFill>
              </a:rPr>
              <a:t>// наложение маски</a:t>
            </a:r>
            <a:endParaRPr lang="en-US" sz="2800" i="1" dirty="0">
              <a:solidFill>
                <a:srgbClr val="0070C0"/>
              </a:solidFill>
            </a:endParaRPr>
          </a:p>
          <a:p>
            <a:pPr>
              <a:spcBef>
                <a:spcPts val="300"/>
              </a:spcBef>
              <a:buFont typeface="Wingdings" panose="05000000000000000000" pitchFamily="2" charset="2"/>
              <a:buNone/>
              <a:defRPr/>
            </a:pPr>
            <a:r>
              <a:rPr lang="en-US" sz="2800" i="1" dirty="0">
                <a:solidFill>
                  <a:schemeClr val="bg2"/>
                </a:solidFill>
              </a:rPr>
              <a:t>    </a:t>
            </a:r>
            <a:r>
              <a:rPr lang="en-US" sz="2800" i="1" dirty="0" err="1">
                <a:solidFill>
                  <a:schemeClr val="bg2"/>
                </a:solidFill>
              </a:rPr>
              <a:t>printf</a:t>
            </a:r>
            <a:r>
              <a:rPr lang="en-US" sz="2800" i="1" dirty="0">
                <a:solidFill>
                  <a:schemeClr val="bg2"/>
                </a:solidFill>
              </a:rPr>
              <a:t>("%</a:t>
            </a:r>
            <a:r>
              <a:rPr lang="en-US" sz="2800" i="1" dirty="0" err="1">
                <a:solidFill>
                  <a:schemeClr val="bg2"/>
                </a:solidFill>
              </a:rPr>
              <a:t>d",p</a:t>
            </a:r>
            <a:r>
              <a:rPr lang="en-US" sz="2800" i="1" dirty="0">
                <a:solidFill>
                  <a:schemeClr val="bg2"/>
                </a:solidFill>
              </a:rPr>
              <a:t>);     }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1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7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23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5" dur="10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 build="p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Содержимое 6"/>
          <p:cNvGraphicFramePr>
            <a:graphicFrameLocks noGrp="1"/>
          </p:cNvGraphicFramePr>
          <p:nvPr>
            <p:ph idx="1"/>
          </p:nvPr>
        </p:nvGraphicFramePr>
        <p:xfrm>
          <a:off x="153988" y="2005013"/>
          <a:ext cx="8799512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987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987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9987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9987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bg2"/>
                          </a:solidFill>
                        </a:rPr>
                        <a:t>‘a</a:t>
                      </a:r>
                      <a:r>
                        <a:rPr lang="en-US" sz="2400">
                          <a:solidFill>
                            <a:schemeClr val="bg2"/>
                          </a:solidFill>
                        </a:rPr>
                        <a:t>’  1100001</a:t>
                      </a:r>
                      <a:r>
                        <a:rPr lang="en-US" sz="2400" baseline="0">
                          <a:solidFill>
                            <a:schemeClr val="bg2"/>
                          </a:solidFill>
                        </a:rPr>
                        <a:t>  </a:t>
                      </a:r>
                      <a:endParaRPr lang="ru-RU" sz="2400" dirty="0">
                        <a:solidFill>
                          <a:schemeClr val="bg2"/>
                        </a:solidFill>
                      </a:endParaRPr>
                    </a:p>
                  </a:txBody>
                  <a:tcPr marL="91439" marR="91439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bg2"/>
                          </a:solidFill>
                        </a:rPr>
                        <a:t>‘b’ 1100010</a:t>
                      </a:r>
                      <a:endParaRPr lang="ru-RU" sz="2400" dirty="0">
                        <a:solidFill>
                          <a:schemeClr val="bg2"/>
                        </a:solidFill>
                      </a:endParaRPr>
                    </a:p>
                  </a:txBody>
                  <a:tcPr marL="91439" marR="91439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bg2"/>
                          </a:solidFill>
                        </a:rPr>
                        <a:t>‘c</a:t>
                      </a:r>
                      <a:r>
                        <a:rPr lang="en-US" sz="2400">
                          <a:solidFill>
                            <a:schemeClr val="bg2"/>
                          </a:solidFill>
                        </a:rPr>
                        <a:t>’ 1100011</a:t>
                      </a:r>
                      <a:endParaRPr lang="ru-RU" sz="2400" dirty="0">
                        <a:solidFill>
                          <a:schemeClr val="bg2"/>
                        </a:solidFill>
                      </a:endParaRPr>
                    </a:p>
                  </a:txBody>
                  <a:tcPr marL="91439" marR="91439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bg2"/>
                          </a:solidFill>
                        </a:rPr>
                        <a:t>‘d’ 1100100</a:t>
                      </a:r>
                      <a:endParaRPr lang="ru-RU" sz="2400" dirty="0">
                        <a:solidFill>
                          <a:schemeClr val="bg2"/>
                        </a:solidFill>
                      </a:endParaRPr>
                    </a:p>
                  </a:txBody>
                  <a:tcPr marL="91439" marR="91439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b="1" dirty="0">
                          <a:solidFill>
                            <a:schemeClr val="bg2"/>
                          </a:solidFill>
                        </a:rPr>
                        <a:t>‘e’  1100101</a:t>
                      </a:r>
                      <a:endParaRPr lang="ru-RU" sz="2400" b="1" dirty="0">
                        <a:solidFill>
                          <a:schemeClr val="bg2"/>
                        </a:solidFill>
                      </a:endParaRPr>
                    </a:p>
                  </a:txBody>
                  <a:tcPr marL="91439" marR="91439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1" dirty="0">
                          <a:solidFill>
                            <a:schemeClr val="bg2"/>
                          </a:solidFill>
                        </a:rPr>
                        <a:t>‘f’ 1100110</a:t>
                      </a:r>
                      <a:endParaRPr lang="ru-RU" sz="2400" b="1" dirty="0">
                        <a:solidFill>
                          <a:schemeClr val="bg2"/>
                        </a:solidFill>
                      </a:endParaRPr>
                    </a:p>
                  </a:txBody>
                  <a:tcPr marL="91439" marR="91439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1" dirty="0">
                          <a:solidFill>
                            <a:schemeClr val="bg2"/>
                          </a:solidFill>
                        </a:rPr>
                        <a:t>‘g’ 1100111</a:t>
                      </a:r>
                      <a:endParaRPr lang="ru-RU" sz="2400" b="1" dirty="0">
                        <a:solidFill>
                          <a:schemeClr val="bg2"/>
                        </a:solidFill>
                      </a:endParaRPr>
                    </a:p>
                  </a:txBody>
                  <a:tcPr marL="91439" marR="91439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1" dirty="0">
                          <a:solidFill>
                            <a:schemeClr val="bg2"/>
                          </a:solidFill>
                        </a:rPr>
                        <a:t>‘h’ 1101000</a:t>
                      </a:r>
                      <a:endParaRPr lang="ru-RU" sz="2400" b="1" dirty="0">
                        <a:solidFill>
                          <a:schemeClr val="bg2"/>
                        </a:solidFill>
                      </a:endParaRPr>
                    </a:p>
                  </a:txBody>
                  <a:tcPr marL="91439" marR="91439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" name="Заголовок 1"/>
          <p:cNvSpPr txBox="1">
            <a:spLocks/>
          </p:cNvSpPr>
          <p:nvPr/>
        </p:nvSpPr>
        <p:spPr bwMode="auto">
          <a:xfrm>
            <a:off x="482600" y="398463"/>
            <a:ext cx="8229600" cy="455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>
              <a:defRPr/>
            </a:pPr>
            <a:r>
              <a:rPr lang="ru-RU" kern="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Типы поразрядных сортировок</a:t>
            </a:r>
          </a:p>
        </p:txBody>
      </p:sp>
      <p:sp>
        <p:nvSpPr>
          <p:cNvPr id="6" name="Заголовок 1"/>
          <p:cNvSpPr txBox="1">
            <a:spLocks/>
          </p:cNvSpPr>
          <p:nvPr/>
        </p:nvSpPr>
        <p:spPr bwMode="auto">
          <a:xfrm>
            <a:off x="446088" y="1165225"/>
            <a:ext cx="8229600" cy="455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>
              <a:defRPr/>
            </a:pPr>
            <a:r>
              <a:rPr lang="ru-RU" kern="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Двоичная быстрая сортировка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2600" y="3355975"/>
            <a:ext cx="7631113" cy="52387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rgbClr val="000000"/>
            </a:solidFill>
          </a:ln>
        </p:spPr>
        <p:txBody>
          <a:bodyPr>
            <a:spAutoFit/>
          </a:bodyPr>
          <a:lstStyle/>
          <a:p>
            <a:pPr eaLnBrk="1" hangingPunct="1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None/>
              <a:defRPr/>
            </a:pPr>
            <a:r>
              <a:rPr lang="ru-RU" dirty="0">
                <a:solidFill>
                  <a:schemeClr val="bg2"/>
                </a:solidFill>
              </a:rPr>
              <a:t>Последовательность </a:t>
            </a:r>
            <a:r>
              <a:rPr lang="en-US" i="1" dirty="0">
                <a:solidFill>
                  <a:schemeClr val="bg2"/>
                </a:solidFill>
              </a:rPr>
              <a:t>e f d e c g h d a e </a:t>
            </a:r>
            <a:endParaRPr lang="ru-RU" dirty="0">
              <a:solidFill>
                <a:schemeClr val="bg2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1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4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/>
      <p:bldP spid="10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Таблица 3"/>
          <p:cNvGraphicFramePr>
            <a:graphicFrameLocks noGrp="1"/>
          </p:cNvGraphicFramePr>
          <p:nvPr/>
        </p:nvGraphicFramePr>
        <p:xfrm>
          <a:off x="336550" y="836613"/>
          <a:ext cx="2336800" cy="56705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87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80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67055">
                <a:tc>
                  <a:txBody>
                    <a:bodyPr/>
                    <a:lstStyle/>
                    <a:p>
                      <a:r>
                        <a:rPr lang="en-US" sz="2800" b="1" dirty="0">
                          <a:solidFill>
                            <a:schemeClr val="bg2">
                              <a:lumMod val="60000"/>
                              <a:lumOff val="40000"/>
                            </a:schemeClr>
                          </a:solidFill>
                        </a:rPr>
                        <a:t>110</a:t>
                      </a:r>
                      <a:r>
                        <a:rPr lang="en-US" sz="2800" b="1" dirty="0">
                          <a:solidFill>
                            <a:schemeClr val="bg2"/>
                          </a:solidFill>
                        </a:rPr>
                        <a:t>0101</a:t>
                      </a:r>
                      <a:endParaRPr lang="ru-RU" sz="2800" b="0" dirty="0">
                        <a:solidFill>
                          <a:schemeClr val="bg2"/>
                        </a:solidFill>
                      </a:endParaRPr>
                    </a:p>
                  </a:txBody>
                  <a:tcPr marL="91439" marR="91439" marT="45717" marB="45717">
                    <a:lnL w="28575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b="1" dirty="0">
                          <a:solidFill>
                            <a:schemeClr val="bg2"/>
                          </a:solidFill>
                        </a:rPr>
                        <a:t>e</a:t>
                      </a:r>
                      <a:endParaRPr lang="ru-RU" sz="2800" b="1" dirty="0">
                        <a:solidFill>
                          <a:schemeClr val="bg2"/>
                        </a:solidFill>
                      </a:endParaRPr>
                    </a:p>
                  </a:txBody>
                  <a:tcPr marL="91439" marR="91439" marT="45717" marB="45717">
                    <a:lnL w="28575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7055">
                <a:tc>
                  <a:txBody>
                    <a:bodyPr/>
                    <a:lstStyle/>
                    <a:p>
                      <a:r>
                        <a:rPr lang="en-US" sz="2800" b="1" dirty="0">
                          <a:solidFill>
                            <a:schemeClr val="bg2">
                              <a:lumMod val="60000"/>
                              <a:lumOff val="40000"/>
                            </a:schemeClr>
                          </a:solidFill>
                        </a:rPr>
                        <a:t>110</a:t>
                      </a:r>
                      <a:r>
                        <a:rPr lang="en-US" sz="2800" b="1" dirty="0">
                          <a:solidFill>
                            <a:schemeClr val="bg2"/>
                          </a:solidFill>
                        </a:rPr>
                        <a:t>0110</a:t>
                      </a:r>
                      <a:endParaRPr lang="ru-RU" sz="2800" dirty="0">
                        <a:solidFill>
                          <a:schemeClr val="bg2"/>
                        </a:solidFill>
                      </a:endParaRPr>
                    </a:p>
                  </a:txBody>
                  <a:tcPr marL="91439" marR="91439" marT="45717" marB="45717">
                    <a:lnL w="28575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b="1" dirty="0">
                          <a:solidFill>
                            <a:schemeClr val="bg2"/>
                          </a:solidFill>
                        </a:rPr>
                        <a:t>f</a:t>
                      </a:r>
                      <a:endParaRPr lang="ru-RU" sz="2800" b="1" dirty="0">
                        <a:solidFill>
                          <a:schemeClr val="bg2"/>
                        </a:solidFill>
                      </a:endParaRPr>
                    </a:p>
                  </a:txBody>
                  <a:tcPr marL="91439" marR="91439" marT="45717" marB="45717">
                    <a:lnL w="28575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7055">
                <a:tc>
                  <a:txBody>
                    <a:bodyPr/>
                    <a:lstStyle/>
                    <a:p>
                      <a:r>
                        <a:rPr lang="en-US" sz="2800" b="1" dirty="0">
                          <a:solidFill>
                            <a:schemeClr val="bg2">
                              <a:lumMod val="60000"/>
                              <a:lumOff val="40000"/>
                            </a:schemeClr>
                          </a:solidFill>
                        </a:rPr>
                        <a:t>110</a:t>
                      </a:r>
                      <a:r>
                        <a:rPr lang="en-US" sz="2800" b="1" dirty="0">
                          <a:solidFill>
                            <a:schemeClr val="bg2"/>
                          </a:solidFill>
                        </a:rPr>
                        <a:t>0100</a:t>
                      </a:r>
                      <a:endParaRPr lang="ru-RU" sz="2800" b="1" dirty="0">
                        <a:solidFill>
                          <a:schemeClr val="bg2"/>
                        </a:solidFill>
                      </a:endParaRPr>
                    </a:p>
                  </a:txBody>
                  <a:tcPr marL="91439" marR="91439" marT="45717" marB="45717">
                    <a:lnL w="28575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b="1" dirty="0">
                          <a:solidFill>
                            <a:schemeClr val="bg2"/>
                          </a:solidFill>
                        </a:rPr>
                        <a:t>d</a:t>
                      </a:r>
                      <a:endParaRPr lang="ru-RU" sz="2800" b="1" dirty="0">
                        <a:solidFill>
                          <a:schemeClr val="bg2"/>
                        </a:solidFill>
                      </a:endParaRPr>
                    </a:p>
                  </a:txBody>
                  <a:tcPr marL="91439" marR="91439" marT="45717" marB="45717">
                    <a:lnL w="28575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7055">
                <a:tc>
                  <a:txBody>
                    <a:bodyPr/>
                    <a:lstStyle/>
                    <a:p>
                      <a:r>
                        <a:rPr lang="en-US" sz="2800" b="1" dirty="0">
                          <a:solidFill>
                            <a:schemeClr val="bg2">
                              <a:lumMod val="60000"/>
                              <a:lumOff val="40000"/>
                            </a:schemeClr>
                          </a:solidFill>
                        </a:rPr>
                        <a:t>110</a:t>
                      </a:r>
                      <a:r>
                        <a:rPr lang="en-US" sz="2800" b="1" dirty="0">
                          <a:solidFill>
                            <a:schemeClr val="bg2"/>
                          </a:solidFill>
                        </a:rPr>
                        <a:t>0101</a:t>
                      </a:r>
                      <a:endParaRPr lang="ru-RU" sz="2800" b="1" dirty="0">
                        <a:solidFill>
                          <a:schemeClr val="bg2"/>
                        </a:solidFill>
                      </a:endParaRPr>
                    </a:p>
                  </a:txBody>
                  <a:tcPr marL="91439" marR="91439" marT="45717" marB="45717">
                    <a:lnL w="28575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b="1" dirty="0">
                          <a:solidFill>
                            <a:schemeClr val="bg2"/>
                          </a:solidFill>
                        </a:rPr>
                        <a:t>e</a:t>
                      </a:r>
                      <a:endParaRPr lang="ru-RU" sz="2800" b="1" dirty="0">
                        <a:solidFill>
                          <a:schemeClr val="bg2"/>
                        </a:solidFill>
                      </a:endParaRPr>
                    </a:p>
                  </a:txBody>
                  <a:tcPr marL="91439" marR="91439" marT="45717" marB="45717">
                    <a:lnL w="28575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7055">
                <a:tc>
                  <a:txBody>
                    <a:bodyPr/>
                    <a:lstStyle/>
                    <a:p>
                      <a:r>
                        <a:rPr lang="en-US" sz="2800" b="1" dirty="0">
                          <a:solidFill>
                            <a:schemeClr val="bg2">
                              <a:lumMod val="60000"/>
                              <a:lumOff val="40000"/>
                            </a:schemeClr>
                          </a:solidFill>
                        </a:rPr>
                        <a:t>110</a:t>
                      </a:r>
                      <a:r>
                        <a:rPr lang="en-US" sz="2800" b="1" dirty="0">
                          <a:solidFill>
                            <a:schemeClr val="bg2"/>
                          </a:solidFill>
                        </a:rPr>
                        <a:t>0011</a:t>
                      </a:r>
                      <a:endParaRPr lang="ru-RU" sz="2800" b="1" dirty="0">
                        <a:solidFill>
                          <a:schemeClr val="bg2"/>
                        </a:solidFill>
                      </a:endParaRPr>
                    </a:p>
                  </a:txBody>
                  <a:tcPr marL="91439" marR="91439" marT="45717" marB="45717">
                    <a:lnL w="28575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b="1" dirty="0">
                          <a:solidFill>
                            <a:schemeClr val="bg2"/>
                          </a:solidFill>
                        </a:rPr>
                        <a:t>c</a:t>
                      </a:r>
                      <a:endParaRPr lang="ru-RU" sz="2800" b="1" dirty="0">
                        <a:solidFill>
                          <a:schemeClr val="bg2"/>
                        </a:solidFill>
                      </a:endParaRPr>
                    </a:p>
                  </a:txBody>
                  <a:tcPr marL="91439" marR="91439" marT="45717" marB="45717">
                    <a:lnL w="28575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7055">
                <a:tc>
                  <a:txBody>
                    <a:bodyPr/>
                    <a:lstStyle/>
                    <a:p>
                      <a:r>
                        <a:rPr lang="en-US" sz="2800" b="1" dirty="0">
                          <a:solidFill>
                            <a:schemeClr val="bg2">
                              <a:lumMod val="60000"/>
                              <a:lumOff val="40000"/>
                            </a:schemeClr>
                          </a:solidFill>
                        </a:rPr>
                        <a:t>110</a:t>
                      </a:r>
                      <a:r>
                        <a:rPr lang="en-US" sz="2800" b="1" dirty="0">
                          <a:solidFill>
                            <a:schemeClr val="bg2"/>
                          </a:solidFill>
                        </a:rPr>
                        <a:t>0111</a:t>
                      </a:r>
                      <a:endParaRPr lang="ru-RU" sz="2800" b="1" dirty="0">
                        <a:solidFill>
                          <a:schemeClr val="bg2"/>
                        </a:solidFill>
                      </a:endParaRPr>
                    </a:p>
                  </a:txBody>
                  <a:tcPr marL="91439" marR="91439" marT="45717" marB="45717">
                    <a:lnL w="28575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b="1" dirty="0">
                          <a:solidFill>
                            <a:schemeClr val="bg2"/>
                          </a:solidFill>
                        </a:rPr>
                        <a:t>g</a:t>
                      </a:r>
                      <a:endParaRPr lang="ru-RU" sz="2800" b="1" dirty="0">
                        <a:solidFill>
                          <a:schemeClr val="bg2"/>
                        </a:solidFill>
                      </a:endParaRPr>
                    </a:p>
                  </a:txBody>
                  <a:tcPr marL="91439" marR="91439" marT="45717" marB="45717">
                    <a:lnL w="28575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67055">
                <a:tc>
                  <a:txBody>
                    <a:bodyPr/>
                    <a:lstStyle/>
                    <a:p>
                      <a:r>
                        <a:rPr lang="en-US" sz="2800" b="1" dirty="0">
                          <a:solidFill>
                            <a:schemeClr val="bg2">
                              <a:lumMod val="60000"/>
                              <a:lumOff val="40000"/>
                            </a:schemeClr>
                          </a:solidFill>
                        </a:rPr>
                        <a:t>110</a:t>
                      </a:r>
                      <a:r>
                        <a:rPr lang="en-US" sz="2800" b="1" dirty="0">
                          <a:solidFill>
                            <a:schemeClr val="bg2"/>
                          </a:solidFill>
                        </a:rPr>
                        <a:t>1000</a:t>
                      </a:r>
                      <a:endParaRPr lang="ru-RU" sz="2800" b="1" dirty="0">
                        <a:solidFill>
                          <a:schemeClr val="bg2"/>
                        </a:solidFill>
                      </a:endParaRPr>
                    </a:p>
                  </a:txBody>
                  <a:tcPr marL="91439" marR="91439" marT="45717" marB="45717">
                    <a:lnL w="28575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b="1" dirty="0">
                          <a:solidFill>
                            <a:schemeClr val="bg2"/>
                          </a:solidFill>
                        </a:rPr>
                        <a:t>h</a:t>
                      </a:r>
                      <a:endParaRPr lang="ru-RU" sz="2800" b="1" dirty="0">
                        <a:solidFill>
                          <a:schemeClr val="bg2"/>
                        </a:solidFill>
                      </a:endParaRPr>
                    </a:p>
                  </a:txBody>
                  <a:tcPr marL="91439" marR="91439" marT="45717" marB="45717">
                    <a:lnL w="28575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67055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b="1" dirty="0">
                          <a:solidFill>
                            <a:schemeClr val="bg2">
                              <a:lumMod val="60000"/>
                              <a:lumOff val="40000"/>
                            </a:schemeClr>
                          </a:solidFill>
                        </a:rPr>
                        <a:t>110</a:t>
                      </a:r>
                      <a:r>
                        <a:rPr lang="en-US" sz="2800" b="1" dirty="0">
                          <a:solidFill>
                            <a:schemeClr val="bg2"/>
                          </a:solidFill>
                        </a:rPr>
                        <a:t>0100</a:t>
                      </a:r>
                      <a:endParaRPr lang="ru-RU" sz="2800" b="1" dirty="0">
                        <a:solidFill>
                          <a:schemeClr val="bg2"/>
                        </a:solidFill>
                      </a:endParaRPr>
                    </a:p>
                  </a:txBody>
                  <a:tcPr marL="91439" marR="91439" marT="45717" marB="45717">
                    <a:lnL w="28575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b="1" dirty="0">
                          <a:solidFill>
                            <a:schemeClr val="bg2"/>
                          </a:solidFill>
                        </a:rPr>
                        <a:t>d</a:t>
                      </a:r>
                      <a:endParaRPr lang="ru-RU" sz="2800" b="1" dirty="0">
                        <a:solidFill>
                          <a:schemeClr val="bg2"/>
                        </a:solidFill>
                      </a:endParaRPr>
                    </a:p>
                  </a:txBody>
                  <a:tcPr marL="91439" marR="91439" marT="45717" marB="45717">
                    <a:lnL w="28575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67055">
                <a:tc>
                  <a:txBody>
                    <a:bodyPr/>
                    <a:lstStyle/>
                    <a:p>
                      <a:r>
                        <a:rPr lang="en-US" sz="2800" b="1" dirty="0">
                          <a:solidFill>
                            <a:schemeClr val="bg2">
                              <a:lumMod val="60000"/>
                              <a:lumOff val="40000"/>
                            </a:schemeClr>
                          </a:solidFill>
                        </a:rPr>
                        <a:t>110</a:t>
                      </a:r>
                      <a:r>
                        <a:rPr lang="en-US" sz="2800" b="1" dirty="0">
                          <a:solidFill>
                            <a:schemeClr val="bg2"/>
                          </a:solidFill>
                        </a:rPr>
                        <a:t>0001</a:t>
                      </a:r>
                      <a:endParaRPr lang="ru-RU" sz="2800" b="1" dirty="0">
                        <a:solidFill>
                          <a:schemeClr val="bg2"/>
                        </a:solidFill>
                      </a:endParaRPr>
                    </a:p>
                  </a:txBody>
                  <a:tcPr marL="91439" marR="91439" marT="45717" marB="45717">
                    <a:lnL w="28575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b="1" dirty="0">
                          <a:solidFill>
                            <a:schemeClr val="bg2"/>
                          </a:solidFill>
                        </a:rPr>
                        <a:t>a</a:t>
                      </a:r>
                      <a:endParaRPr lang="ru-RU" sz="2800" b="1" dirty="0">
                        <a:solidFill>
                          <a:schemeClr val="bg2"/>
                        </a:solidFill>
                      </a:endParaRPr>
                    </a:p>
                  </a:txBody>
                  <a:tcPr marL="91439" marR="91439" marT="45717" marB="45717">
                    <a:lnL w="28575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567055">
                <a:tc>
                  <a:txBody>
                    <a:bodyPr/>
                    <a:lstStyle/>
                    <a:p>
                      <a:r>
                        <a:rPr lang="en-US" sz="2800" b="1" dirty="0">
                          <a:solidFill>
                            <a:schemeClr val="bg2">
                              <a:lumMod val="60000"/>
                              <a:lumOff val="40000"/>
                            </a:schemeClr>
                          </a:solidFill>
                        </a:rPr>
                        <a:t>110</a:t>
                      </a:r>
                      <a:r>
                        <a:rPr lang="en-US" sz="2800" b="1" dirty="0">
                          <a:solidFill>
                            <a:schemeClr val="bg2"/>
                          </a:solidFill>
                        </a:rPr>
                        <a:t>0101</a:t>
                      </a:r>
                      <a:endParaRPr lang="ru-RU" sz="2800" b="1" dirty="0">
                        <a:solidFill>
                          <a:schemeClr val="bg2"/>
                        </a:solidFill>
                      </a:endParaRPr>
                    </a:p>
                  </a:txBody>
                  <a:tcPr marL="91439" marR="91439" marT="45717" marB="45717">
                    <a:lnL w="28575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b="1" dirty="0">
                          <a:solidFill>
                            <a:schemeClr val="bg2"/>
                          </a:solidFill>
                        </a:rPr>
                        <a:t>e</a:t>
                      </a:r>
                      <a:endParaRPr lang="ru-RU" sz="2800" b="1" dirty="0">
                        <a:solidFill>
                          <a:schemeClr val="bg2"/>
                        </a:solidFill>
                      </a:endParaRPr>
                    </a:p>
                  </a:txBody>
                  <a:tcPr marL="91439" marR="91439" marT="45717" marB="45717">
                    <a:lnL w="28575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5" name="Заголовок 1"/>
          <p:cNvSpPr txBox="1">
            <a:spLocks/>
          </p:cNvSpPr>
          <p:nvPr/>
        </p:nvSpPr>
        <p:spPr bwMode="auto">
          <a:xfrm>
            <a:off x="482600" y="179388"/>
            <a:ext cx="8229600" cy="455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>
              <a:defRPr/>
            </a:pPr>
            <a:r>
              <a:rPr lang="ru-RU" kern="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Двоичная быстрая сортировка</a:t>
            </a:r>
          </a:p>
        </p:txBody>
      </p:sp>
      <p:sp>
        <p:nvSpPr>
          <p:cNvPr id="6" name="Стрелка вниз 5"/>
          <p:cNvSpPr/>
          <p:nvPr/>
        </p:nvSpPr>
        <p:spPr bwMode="auto">
          <a:xfrm>
            <a:off x="2819400" y="873125"/>
            <a:ext cx="365125" cy="1350963"/>
          </a:xfrm>
          <a:prstGeom prst="downArrow">
            <a:avLst/>
          </a:prstGeom>
          <a:solidFill>
            <a:srgbClr val="FF000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 eaLnBrk="1" hangingPunct="1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None/>
              <a:defRPr/>
            </a:pPr>
            <a:endParaRPr lang="ru-RU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7" name="Стрелка вниз 6"/>
          <p:cNvSpPr/>
          <p:nvPr/>
        </p:nvSpPr>
        <p:spPr bwMode="auto">
          <a:xfrm rot="10800000">
            <a:off x="2782888" y="5035550"/>
            <a:ext cx="365125" cy="1460500"/>
          </a:xfrm>
          <a:prstGeom prst="downArrow">
            <a:avLst/>
          </a:prstGeom>
          <a:solidFill>
            <a:srgbClr val="FF000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 eaLnBrk="1" hangingPunct="1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None/>
              <a:defRPr/>
            </a:pPr>
            <a:endParaRPr lang="ru-RU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8" name="Овал 7"/>
          <p:cNvSpPr/>
          <p:nvPr/>
        </p:nvSpPr>
        <p:spPr bwMode="auto">
          <a:xfrm>
            <a:off x="2855913" y="4451350"/>
            <a:ext cx="182562" cy="146050"/>
          </a:xfrm>
          <a:prstGeom prst="ellipse">
            <a:avLst/>
          </a:prstGeom>
          <a:solidFill>
            <a:srgbClr val="FF000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 eaLnBrk="1" hangingPunct="1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None/>
              <a:defRPr/>
            </a:pPr>
            <a:endParaRPr lang="ru-RU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9" name="Овал 8"/>
          <p:cNvSpPr/>
          <p:nvPr/>
        </p:nvSpPr>
        <p:spPr bwMode="auto">
          <a:xfrm>
            <a:off x="2855913" y="6203950"/>
            <a:ext cx="182562" cy="146050"/>
          </a:xfrm>
          <a:prstGeom prst="ellipse">
            <a:avLst/>
          </a:prstGeom>
          <a:solidFill>
            <a:srgbClr val="0070C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 eaLnBrk="1" hangingPunct="1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None/>
              <a:defRPr/>
            </a:pPr>
            <a:endParaRPr lang="ru-RU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aphicFrame>
        <p:nvGraphicFramePr>
          <p:cNvPr id="10" name="Таблица 9"/>
          <p:cNvGraphicFramePr>
            <a:graphicFrameLocks noGrp="1"/>
          </p:cNvGraphicFramePr>
          <p:nvPr/>
        </p:nvGraphicFramePr>
        <p:xfrm>
          <a:off x="3403600" y="836613"/>
          <a:ext cx="2336800" cy="56705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87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80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67055">
                <a:tc>
                  <a:txBody>
                    <a:bodyPr/>
                    <a:lstStyle/>
                    <a:p>
                      <a:r>
                        <a:rPr lang="en-US" sz="2800" b="1" dirty="0">
                          <a:solidFill>
                            <a:schemeClr val="bg2"/>
                          </a:solidFill>
                        </a:rPr>
                        <a:t>1100</a:t>
                      </a:r>
                      <a:r>
                        <a:rPr lang="en-US" sz="2800" b="1" dirty="0">
                          <a:solidFill>
                            <a:schemeClr val="bg2">
                              <a:lumMod val="60000"/>
                              <a:lumOff val="40000"/>
                            </a:schemeClr>
                          </a:solidFill>
                        </a:rPr>
                        <a:t>1</a:t>
                      </a:r>
                      <a:r>
                        <a:rPr lang="en-US" sz="2800" b="1" dirty="0">
                          <a:solidFill>
                            <a:schemeClr val="bg2"/>
                          </a:solidFill>
                        </a:rPr>
                        <a:t>01</a:t>
                      </a:r>
                      <a:endParaRPr lang="ru-RU" sz="2800" b="0" dirty="0">
                        <a:solidFill>
                          <a:schemeClr val="bg2"/>
                        </a:solidFill>
                      </a:endParaRPr>
                    </a:p>
                  </a:txBody>
                  <a:tcPr marL="91439" marR="91439" marT="45717" marB="45717">
                    <a:lnL w="28575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b="1" dirty="0">
                          <a:solidFill>
                            <a:schemeClr val="bg2"/>
                          </a:solidFill>
                        </a:rPr>
                        <a:t>e</a:t>
                      </a:r>
                      <a:endParaRPr lang="ru-RU" sz="2800" b="1" dirty="0">
                        <a:solidFill>
                          <a:schemeClr val="bg2"/>
                        </a:solidFill>
                      </a:endParaRPr>
                    </a:p>
                  </a:txBody>
                  <a:tcPr marL="91439" marR="91439" marT="45717" marB="45717">
                    <a:lnL w="28575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7055">
                <a:tc>
                  <a:txBody>
                    <a:bodyPr/>
                    <a:lstStyle/>
                    <a:p>
                      <a:r>
                        <a:rPr lang="en-US" sz="2800" b="1" dirty="0">
                          <a:solidFill>
                            <a:schemeClr val="bg2"/>
                          </a:solidFill>
                        </a:rPr>
                        <a:t>1100</a:t>
                      </a:r>
                      <a:r>
                        <a:rPr lang="en-US" sz="2800" b="1" dirty="0">
                          <a:solidFill>
                            <a:schemeClr val="bg2">
                              <a:lumMod val="60000"/>
                              <a:lumOff val="40000"/>
                            </a:schemeClr>
                          </a:solidFill>
                        </a:rPr>
                        <a:t>1</a:t>
                      </a:r>
                      <a:r>
                        <a:rPr lang="en-US" sz="2800" b="1" dirty="0">
                          <a:solidFill>
                            <a:schemeClr val="bg2"/>
                          </a:solidFill>
                        </a:rPr>
                        <a:t>10</a:t>
                      </a:r>
                      <a:endParaRPr lang="ru-RU" sz="2800" dirty="0">
                        <a:solidFill>
                          <a:schemeClr val="bg2"/>
                        </a:solidFill>
                      </a:endParaRPr>
                    </a:p>
                  </a:txBody>
                  <a:tcPr marL="91439" marR="91439" marT="45717" marB="45717">
                    <a:lnL w="28575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b="1" dirty="0">
                          <a:solidFill>
                            <a:schemeClr val="bg2"/>
                          </a:solidFill>
                        </a:rPr>
                        <a:t>f</a:t>
                      </a:r>
                      <a:endParaRPr lang="ru-RU" sz="2800" b="1" dirty="0">
                        <a:solidFill>
                          <a:schemeClr val="bg2"/>
                        </a:solidFill>
                      </a:endParaRPr>
                    </a:p>
                  </a:txBody>
                  <a:tcPr marL="91439" marR="91439" marT="45717" marB="45717">
                    <a:lnL w="28575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7055">
                <a:tc>
                  <a:txBody>
                    <a:bodyPr/>
                    <a:lstStyle/>
                    <a:p>
                      <a:r>
                        <a:rPr lang="en-US" sz="2800" b="1" dirty="0">
                          <a:solidFill>
                            <a:schemeClr val="bg2"/>
                          </a:solidFill>
                        </a:rPr>
                        <a:t>1100</a:t>
                      </a:r>
                      <a:r>
                        <a:rPr lang="en-US" sz="2800" b="1" dirty="0">
                          <a:solidFill>
                            <a:schemeClr val="bg2">
                              <a:lumMod val="60000"/>
                              <a:lumOff val="40000"/>
                            </a:schemeClr>
                          </a:solidFill>
                        </a:rPr>
                        <a:t>1</a:t>
                      </a:r>
                      <a:r>
                        <a:rPr lang="en-US" sz="2800" b="1" dirty="0">
                          <a:solidFill>
                            <a:schemeClr val="bg2"/>
                          </a:solidFill>
                        </a:rPr>
                        <a:t>00</a:t>
                      </a:r>
                      <a:endParaRPr lang="ru-RU" sz="2800" b="1" dirty="0">
                        <a:solidFill>
                          <a:schemeClr val="bg2"/>
                        </a:solidFill>
                      </a:endParaRPr>
                    </a:p>
                  </a:txBody>
                  <a:tcPr marL="91439" marR="91439" marT="45717" marB="45717">
                    <a:lnL w="28575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b="1" dirty="0">
                          <a:solidFill>
                            <a:schemeClr val="bg2"/>
                          </a:solidFill>
                        </a:rPr>
                        <a:t>d</a:t>
                      </a:r>
                      <a:endParaRPr lang="ru-RU" sz="2800" b="1" dirty="0">
                        <a:solidFill>
                          <a:schemeClr val="bg2"/>
                        </a:solidFill>
                      </a:endParaRPr>
                    </a:p>
                  </a:txBody>
                  <a:tcPr marL="91439" marR="91439" marT="45717" marB="45717">
                    <a:lnL w="28575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7055">
                <a:tc>
                  <a:txBody>
                    <a:bodyPr/>
                    <a:lstStyle/>
                    <a:p>
                      <a:r>
                        <a:rPr lang="en-US" sz="2800" b="1" dirty="0">
                          <a:solidFill>
                            <a:schemeClr val="bg2"/>
                          </a:solidFill>
                        </a:rPr>
                        <a:t>1100</a:t>
                      </a:r>
                      <a:r>
                        <a:rPr lang="en-US" sz="2800" b="1" dirty="0">
                          <a:solidFill>
                            <a:schemeClr val="bg2">
                              <a:lumMod val="60000"/>
                              <a:lumOff val="40000"/>
                            </a:schemeClr>
                          </a:solidFill>
                        </a:rPr>
                        <a:t>1</a:t>
                      </a:r>
                      <a:r>
                        <a:rPr lang="en-US" sz="2800" b="1" dirty="0">
                          <a:solidFill>
                            <a:schemeClr val="bg2"/>
                          </a:solidFill>
                        </a:rPr>
                        <a:t>01</a:t>
                      </a:r>
                      <a:endParaRPr lang="ru-RU" sz="2800" b="1" dirty="0">
                        <a:solidFill>
                          <a:schemeClr val="bg2"/>
                        </a:solidFill>
                      </a:endParaRPr>
                    </a:p>
                  </a:txBody>
                  <a:tcPr marL="91439" marR="91439" marT="45717" marB="45717">
                    <a:lnL w="28575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b="1" dirty="0">
                          <a:solidFill>
                            <a:schemeClr val="bg2"/>
                          </a:solidFill>
                        </a:rPr>
                        <a:t>e</a:t>
                      </a:r>
                      <a:endParaRPr lang="ru-RU" sz="2800" b="1" dirty="0">
                        <a:solidFill>
                          <a:schemeClr val="bg2"/>
                        </a:solidFill>
                      </a:endParaRPr>
                    </a:p>
                  </a:txBody>
                  <a:tcPr marL="91439" marR="91439" marT="45717" marB="45717">
                    <a:lnL w="28575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7055">
                <a:tc>
                  <a:txBody>
                    <a:bodyPr/>
                    <a:lstStyle/>
                    <a:p>
                      <a:r>
                        <a:rPr lang="en-US" sz="2800" b="1" dirty="0">
                          <a:solidFill>
                            <a:schemeClr val="bg2"/>
                          </a:solidFill>
                        </a:rPr>
                        <a:t>1100</a:t>
                      </a:r>
                      <a:r>
                        <a:rPr lang="en-US" sz="2800" b="1" dirty="0">
                          <a:solidFill>
                            <a:schemeClr val="bg2">
                              <a:lumMod val="60000"/>
                              <a:lumOff val="40000"/>
                            </a:schemeClr>
                          </a:solidFill>
                        </a:rPr>
                        <a:t>0</a:t>
                      </a:r>
                      <a:r>
                        <a:rPr lang="en-US" sz="2800" b="1" dirty="0">
                          <a:solidFill>
                            <a:schemeClr val="bg2"/>
                          </a:solidFill>
                        </a:rPr>
                        <a:t>11</a:t>
                      </a:r>
                      <a:endParaRPr lang="ru-RU" sz="2800" b="1" dirty="0">
                        <a:solidFill>
                          <a:schemeClr val="bg2"/>
                        </a:solidFill>
                      </a:endParaRPr>
                    </a:p>
                  </a:txBody>
                  <a:tcPr marL="91439" marR="91439" marT="45717" marB="45717">
                    <a:lnL w="28575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b="1" dirty="0">
                          <a:solidFill>
                            <a:schemeClr val="bg2"/>
                          </a:solidFill>
                        </a:rPr>
                        <a:t>c</a:t>
                      </a:r>
                      <a:endParaRPr lang="ru-RU" sz="2800" b="1" dirty="0">
                        <a:solidFill>
                          <a:schemeClr val="bg2"/>
                        </a:solidFill>
                      </a:endParaRPr>
                    </a:p>
                  </a:txBody>
                  <a:tcPr marL="91439" marR="91439" marT="45717" marB="45717">
                    <a:lnL w="28575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7055">
                <a:tc>
                  <a:txBody>
                    <a:bodyPr/>
                    <a:lstStyle/>
                    <a:p>
                      <a:r>
                        <a:rPr lang="en-US" sz="2800" b="1" dirty="0">
                          <a:solidFill>
                            <a:schemeClr val="bg2"/>
                          </a:solidFill>
                        </a:rPr>
                        <a:t>1100</a:t>
                      </a:r>
                      <a:r>
                        <a:rPr lang="en-US" sz="2800" b="1" dirty="0">
                          <a:solidFill>
                            <a:schemeClr val="bg2">
                              <a:lumMod val="60000"/>
                              <a:lumOff val="40000"/>
                            </a:schemeClr>
                          </a:solidFill>
                        </a:rPr>
                        <a:t>1</a:t>
                      </a:r>
                      <a:r>
                        <a:rPr lang="en-US" sz="2800" b="1" dirty="0">
                          <a:solidFill>
                            <a:schemeClr val="bg2"/>
                          </a:solidFill>
                        </a:rPr>
                        <a:t>11</a:t>
                      </a:r>
                      <a:endParaRPr lang="ru-RU" sz="2800" b="1" dirty="0">
                        <a:solidFill>
                          <a:schemeClr val="bg2"/>
                        </a:solidFill>
                      </a:endParaRPr>
                    </a:p>
                  </a:txBody>
                  <a:tcPr marL="91439" marR="91439" marT="45717" marB="45717">
                    <a:lnL w="28575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b="1" dirty="0">
                          <a:solidFill>
                            <a:schemeClr val="bg2"/>
                          </a:solidFill>
                        </a:rPr>
                        <a:t>g</a:t>
                      </a:r>
                      <a:endParaRPr lang="ru-RU" sz="2800" b="1" dirty="0">
                        <a:solidFill>
                          <a:schemeClr val="bg2"/>
                        </a:solidFill>
                      </a:endParaRPr>
                    </a:p>
                  </a:txBody>
                  <a:tcPr marL="91439" marR="91439" marT="45717" marB="45717">
                    <a:lnL w="28575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67055">
                <a:tc>
                  <a:txBody>
                    <a:bodyPr/>
                    <a:lstStyle/>
                    <a:p>
                      <a:r>
                        <a:rPr lang="en-US" sz="2800" b="1" dirty="0">
                          <a:solidFill>
                            <a:schemeClr val="bg2"/>
                          </a:solidFill>
                        </a:rPr>
                        <a:t>1100</a:t>
                      </a:r>
                      <a:r>
                        <a:rPr lang="en-US" sz="2800" b="1" dirty="0">
                          <a:solidFill>
                            <a:schemeClr val="bg2">
                              <a:lumMod val="60000"/>
                              <a:lumOff val="40000"/>
                            </a:schemeClr>
                          </a:solidFill>
                        </a:rPr>
                        <a:t>1</a:t>
                      </a:r>
                      <a:r>
                        <a:rPr lang="en-US" sz="2800" b="1" dirty="0">
                          <a:solidFill>
                            <a:schemeClr val="bg2"/>
                          </a:solidFill>
                        </a:rPr>
                        <a:t>01</a:t>
                      </a:r>
                      <a:endParaRPr lang="ru-RU" sz="2800" b="1" dirty="0">
                        <a:solidFill>
                          <a:schemeClr val="bg2"/>
                        </a:solidFill>
                      </a:endParaRPr>
                    </a:p>
                  </a:txBody>
                  <a:tcPr marL="91439" marR="91439" marT="45717" marB="45717">
                    <a:lnL w="28575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b="1" dirty="0">
                          <a:solidFill>
                            <a:schemeClr val="bg2"/>
                          </a:solidFill>
                        </a:rPr>
                        <a:t>e</a:t>
                      </a:r>
                      <a:endParaRPr lang="ru-RU" sz="2800" b="1" dirty="0">
                        <a:solidFill>
                          <a:schemeClr val="bg2"/>
                        </a:solidFill>
                      </a:endParaRPr>
                    </a:p>
                  </a:txBody>
                  <a:tcPr marL="91439" marR="91439" marT="45717" marB="45717">
                    <a:lnL w="28575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67055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b="1" dirty="0">
                          <a:solidFill>
                            <a:schemeClr val="bg2"/>
                          </a:solidFill>
                        </a:rPr>
                        <a:t>1100</a:t>
                      </a:r>
                      <a:r>
                        <a:rPr lang="en-US" sz="2800" b="1" dirty="0">
                          <a:solidFill>
                            <a:schemeClr val="bg2">
                              <a:lumMod val="60000"/>
                              <a:lumOff val="40000"/>
                            </a:schemeClr>
                          </a:solidFill>
                        </a:rPr>
                        <a:t>1</a:t>
                      </a:r>
                      <a:r>
                        <a:rPr lang="en-US" sz="2800" b="1" dirty="0">
                          <a:solidFill>
                            <a:schemeClr val="bg2"/>
                          </a:solidFill>
                        </a:rPr>
                        <a:t>00</a:t>
                      </a:r>
                      <a:endParaRPr lang="ru-RU" sz="2800" b="1" dirty="0">
                        <a:solidFill>
                          <a:schemeClr val="bg2"/>
                        </a:solidFill>
                      </a:endParaRPr>
                    </a:p>
                  </a:txBody>
                  <a:tcPr marL="91439" marR="91439" marT="45717" marB="45717">
                    <a:lnL w="28575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b="1" dirty="0">
                          <a:solidFill>
                            <a:schemeClr val="bg2"/>
                          </a:solidFill>
                        </a:rPr>
                        <a:t>d</a:t>
                      </a:r>
                      <a:endParaRPr lang="ru-RU" sz="2800" b="1" dirty="0">
                        <a:solidFill>
                          <a:schemeClr val="bg2"/>
                        </a:solidFill>
                      </a:endParaRPr>
                    </a:p>
                  </a:txBody>
                  <a:tcPr marL="91439" marR="91439" marT="45717" marB="45717">
                    <a:lnL w="28575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67055">
                <a:tc>
                  <a:txBody>
                    <a:bodyPr/>
                    <a:lstStyle/>
                    <a:p>
                      <a:r>
                        <a:rPr lang="en-US" sz="2800" b="1" dirty="0">
                          <a:solidFill>
                            <a:schemeClr val="bg2"/>
                          </a:solidFill>
                        </a:rPr>
                        <a:t>1100</a:t>
                      </a:r>
                      <a:r>
                        <a:rPr lang="en-US" sz="2800" b="1" dirty="0">
                          <a:solidFill>
                            <a:schemeClr val="bg2">
                              <a:lumMod val="60000"/>
                              <a:lumOff val="40000"/>
                            </a:schemeClr>
                          </a:solidFill>
                        </a:rPr>
                        <a:t>0</a:t>
                      </a:r>
                      <a:r>
                        <a:rPr lang="en-US" sz="2800" b="1" dirty="0">
                          <a:solidFill>
                            <a:schemeClr val="bg2"/>
                          </a:solidFill>
                        </a:rPr>
                        <a:t>01</a:t>
                      </a:r>
                      <a:endParaRPr lang="ru-RU" sz="2800" b="1" dirty="0">
                        <a:solidFill>
                          <a:schemeClr val="bg2"/>
                        </a:solidFill>
                      </a:endParaRPr>
                    </a:p>
                  </a:txBody>
                  <a:tcPr marL="91439" marR="91439" marT="45717" marB="45717">
                    <a:lnL w="28575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b="1" dirty="0">
                          <a:solidFill>
                            <a:schemeClr val="bg2"/>
                          </a:solidFill>
                        </a:rPr>
                        <a:t>a</a:t>
                      </a:r>
                      <a:endParaRPr lang="ru-RU" sz="2800" b="1" dirty="0">
                        <a:solidFill>
                          <a:schemeClr val="bg2"/>
                        </a:solidFill>
                      </a:endParaRPr>
                    </a:p>
                  </a:txBody>
                  <a:tcPr marL="91439" marR="91439" marT="45717" marB="45717">
                    <a:lnL w="28575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567055">
                <a:tc>
                  <a:txBody>
                    <a:bodyPr/>
                    <a:lstStyle/>
                    <a:p>
                      <a:r>
                        <a:rPr lang="en-US" sz="2800" b="1" dirty="0">
                          <a:solidFill>
                            <a:schemeClr val="bg2"/>
                          </a:solidFill>
                        </a:rPr>
                        <a:t>1101</a:t>
                      </a:r>
                      <a:r>
                        <a:rPr lang="en-US" sz="2800" b="1" dirty="0">
                          <a:solidFill>
                            <a:schemeClr val="bg2">
                              <a:lumMod val="60000"/>
                              <a:lumOff val="40000"/>
                            </a:schemeClr>
                          </a:solidFill>
                        </a:rPr>
                        <a:t>0</a:t>
                      </a:r>
                      <a:r>
                        <a:rPr lang="en-US" sz="2800" b="1" dirty="0">
                          <a:solidFill>
                            <a:schemeClr val="bg2"/>
                          </a:solidFill>
                        </a:rPr>
                        <a:t>00</a:t>
                      </a:r>
                      <a:endParaRPr lang="ru-RU" sz="2800" b="1" dirty="0">
                        <a:solidFill>
                          <a:schemeClr val="bg2"/>
                        </a:solidFill>
                      </a:endParaRPr>
                    </a:p>
                  </a:txBody>
                  <a:tcPr marL="91439" marR="91439" marT="45717" marB="45717">
                    <a:lnL w="28575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b="1" dirty="0">
                          <a:solidFill>
                            <a:schemeClr val="bg2"/>
                          </a:solidFill>
                        </a:rPr>
                        <a:t>h</a:t>
                      </a:r>
                      <a:endParaRPr lang="ru-RU" sz="2800" b="1" dirty="0">
                        <a:solidFill>
                          <a:schemeClr val="bg2"/>
                        </a:solidFill>
                      </a:endParaRPr>
                    </a:p>
                  </a:txBody>
                  <a:tcPr marL="91439" marR="91439" marT="45717" marB="45717">
                    <a:lnL w="28575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graphicFrame>
        <p:nvGraphicFramePr>
          <p:cNvPr id="11" name="Таблица 10"/>
          <p:cNvGraphicFramePr>
            <a:graphicFrameLocks noGrp="1"/>
          </p:cNvGraphicFramePr>
          <p:nvPr/>
        </p:nvGraphicFramePr>
        <p:xfrm>
          <a:off x="6178550" y="836613"/>
          <a:ext cx="2336800" cy="56705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87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80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67055">
                <a:tc>
                  <a:txBody>
                    <a:bodyPr/>
                    <a:lstStyle/>
                    <a:p>
                      <a:r>
                        <a:rPr lang="en-US" sz="2800" b="1" dirty="0">
                          <a:solidFill>
                            <a:schemeClr val="bg2"/>
                          </a:solidFill>
                        </a:rPr>
                        <a:t>1100</a:t>
                      </a:r>
                      <a:r>
                        <a:rPr lang="en-US" sz="2800" b="1" dirty="0">
                          <a:solidFill>
                            <a:schemeClr val="bg2">
                              <a:lumMod val="60000"/>
                              <a:lumOff val="40000"/>
                            </a:schemeClr>
                          </a:solidFill>
                        </a:rPr>
                        <a:t>0</a:t>
                      </a:r>
                      <a:r>
                        <a:rPr lang="en-US" sz="2800" b="1" dirty="0">
                          <a:solidFill>
                            <a:schemeClr val="bg2"/>
                          </a:solidFill>
                        </a:rPr>
                        <a:t>01</a:t>
                      </a:r>
                      <a:endParaRPr lang="ru-RU" sz="2800" b="1" dirty="0">
                        <a:solidFill>
                          <a:schemeClr val="bg2"/>
                        </a:solidFill>
                      </a:endParaRPr>
                    </a:p>
                  </a:txBody>
                  <a:tcPr marL="91439" marR="91439" marT="45717" marB="45717">
                    <a:lnL w="28575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b="1" dirty="0">
                          <a:solidFill>
                            <a:schemeClr val="bg2"/>
                          </a:solidFill>
                        </a:rPr>
                        <a:t>a</a:t>
                      </a:r>
                      <a:endParaRPr lang="ru-RU" sz="2800" b="1" dirty="0">
                        <a:solidFill>
                          <a:schemeClr val="bg2"/>
                        </a:solidFill>
                      </a:endParaRPr>
                    </a:p>
                  </a:txBody>
                  <a:tcPr marL="91439" marR="91439" marT="45717" marB="45717">
                    <a:lnL w="28575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7055">
                <a:tc>
                  <a:txBody>
                    <a:bodyPr/>
                    <a:lstStyle/>
                    <a:p>
                      <a:r>
                        <a:rPr lang="en-US" sz="2800" b="1" dirty="0">
                          <a:solidFill>
                            <a:schemeClr val="bg2"/>
                          </a:solidFill>
                        </a:rPr>
                        <a:t>1100</a:t>
                      </a:r>
                      <a:r>
                        <a:rPr lang="en-US" sz="2800" b="1" dirty="0">
                          <a:solidFill>
                            <a:schemeClr val="bg2">
                              <a:lumMod val="60000"/>
                              <a:lumOff val="40000"/>
                            </a:schemeClr>
                          </a:solidFill>
                        </a:rPr>
                        <a:t>0</a:t>
                      </a:r>
                      <a:r>
                        <a:rPr lang="en-US" sz="2800" b="1" dirty="0">
                          <a:solidFill>
                            <a:schemeClr val="bg2"/>
                          </a:solidFill>
                        </a:rPr>
                        <a:t>11</a:t>
                      </a:r>
                      <a:endParaRPr lang="ru-RU" sz="2800" b="1" dirty="0">
                        <a:solidFill>
                          <a:schemeClr val="bg2"/>
                        </a:solidFill>
                      </a:endParaRPr>
                    </a:p>
                  </a:txBody>
                  <a:tcPr marL="91439" marR="91439" marT="45717" marB="45717">
                    <a:lnL w="28575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b="1" dirty="0">
                          <a:solidFill>
                            <a:schemeClr val="bg2"/>
                          </a:solidFill>
                        </a:rPr>
                        <a:t>c</a:t>
                      </a:r>
                      <a:endParaRPr lang="ru-RU" sz="2800" b="1" dirty="0">
                        <a:solidFill>
                          <a:schemeClr val="bg2"/>
                        </a:solidFill>
                      </a:endParaRPr>
                    </a:p>
                  </a:txBody>
                  <a:tcPr marL="91439" marR="91439" marT="45717" marB="45717">
                    <a:lnL w="28575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7055">
                <a:tc>
                  <a:txBody>
                    <a:bodyPr/>
                    <a:lstStyle/>
                    <a:p>
                      <a:r>
                        <a:rPr lang="en-US" sz="2800" b="1" dirty="0">
                          <a:solidFill>
                            <a:schemeClr val="bg2"/>
                          </a:solidFill>
                        </a:rPr>
                        <a:t>1100</a:t>
                      </a:r>
                      <a:r>
                        <a:rPr lang="en-US" sz="2800" b="1" dirty="0">
                          <a:solidFill>
                            <a:schemeClr val="bg2">
                              <a:lumMod val="60000"/>
                              <a:lumOff val="40000"/>
                            </a:schemeClr>
                          </a:solidFill>
                        </a:rPr>
                        <a:t>1</a:t>
                      </a:r>
                      <a:r>
                        <a:rPr lang="en-US" sz="2800" b="1" dirty="0">
                          <a:solidFill>
                            <a:schemeClr val="bg2"/>
                          </a:solidFill>
                        </a:rPr>
                        <a:t>00</a:t>
                      </a:r>
                      <a:endParaRPr lang="ru-RU" sz="2800" b="1" dirty="0">
                        <a:solidFill>
                          <a:schemeClr val="bg2"/>
                        </a:solidFill>
                      </a:endParaRPr>
                    </a:p>
                  </a:txBody>
                  <a:tcPr marL="91439" marR="91439" marT="45717" marB="45717">
                    <a:lnL w="28575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b="1" dirty="0">
                          <a:solidFill>
                            <a:schemeClr val="bg2"/>
                          </a:solidFill>
                        </a:rPr>
                        <a:t>d</a:t>
                      </a:r>
                      <a:endParaRPr lang="ru-RU" sz="2800" b="1" dirty="0">
                        <a:solidFill>
                          <a:schemeClr val="bg2"/>
                        </a:solidFill>
                      </a:endParaRPr>
                    </a:p>
                  </a:txBody>
                  <a:tcPr marL="91439" marR="91439" marT="45717" marB="45717">
                    <a:lnL w="28575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7055">
                <a:tc>
                  <a:txBody>
                    <a:bodyPr/>
                    <a:lstStyle/>
                    <a:p>
                      <a:r>
                        <a:rPr lang="en-US" sz="2800" b="1" dirty="0">
                          <a:solidFill>
                            <a:schemeClr val="bg2"/>
                          </a:solidFill>
                        </a:rPr>
                        <a:t>1100</a:t>
                      </a:r>
                      <a:r>
                        <a:rPr lang="en-US" sz="2800" b="1" dirty="0">
                          <a:solidFill>
                            <a:schemeClr val="bg2">
                              <a:lumMod val="60000"/>
                              <a:lumOff val="40000"/>
                            </a:schemeClr>
                          </a:solidFill>
                        </a:rPr>
                        <a:t>1</a:t>
                      </a:r>
                      <a:r>
                        <a:rPr lang="en-US" sz="2800" b="1" dirty="0">
                          <a:solidFill>
                            <a:schemeClr val="bg2"/>
                          </a:solidFill>
                        </a:rPr>
                        <a:t>01</a:t>
                      </a:r>
                      <a:endParaRPr lang="ru-RU" sz="2800" b="1" dirty="0">
                        <a:solidFill>
                          <a:schemeClr val="bg2"/>
                        </a:solidFill>
                      </a:endParaRPr>
                    </a:p>
                  </a:txBody>
                  <a:tcPr marL="91439" marR="91439" marT="45717" marB="45717">
                    <a:lnL w="28575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b="1" dirty="0">
                          <a:solidFill>
                            <a:schemeClr val="bg2"/>
                          </a:solidFill>
                        </a:rPr>
                        <a:t>e</a:t>
                      </a:r>
                      <a:endParaRPr lang="ru-RU" sz="2800" b="1" dirty="0">
                        <a:solidFill>
                          <a:schemeClr val="bg2"/>
                        </a:solidFill>
                      </a:endParaRPr>
                    </a:p>
                  </a:txBody>
                  <a:tcPr marL="91439" marR="91439" marT="45717" marB="45717">
                    <a:lnL w="28575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7055">
                <a:tc>
                  <a:txBody>
                    <a:bodyPr/>
                    <a:lstStyle/>
                    <a:p>
                      <a:r>
                        <a:rPr lang="en-US" sz="2800" b="1" dirty="0">
                          <a:solidFill>
                            <a:schemeClr val="bg2"/>
                          </a:solidFill>
                        </a:rPr>
                        <a:t>1100</a:t>
                      </a:r>
                      <a:r>
                        <a:rPr lang="en-US" sz="2800" b="1" dirty="0">
                          <a:solidFill>
                            <a:schemeClr val="bg2">
                              <a:lumMod val="60000"/>
                              <a:lumOff val="40000"/>
                            </a:schemeClr>
                          </a:solidFill>
                        </a:rPr>
                        <a:t>1</a:t>
                      </a:r>
                      <a:r>
                        <a:rPr lang="en-US" sz="2800" b="1" dirty="0">
                          <a:solidFill>
                            <a:schemeClr val="bg2"/>
                          </a:solidFill>
                        </a:rPr>
                        <a:t>10</a:t>
                      </a:r>
                      <a:endParaRPr lang="ru-RU" sz="2800" dirty="0">
                        <a:solidFill>
                          <a:schemeClr val="bg2"/>
                        </a:solidFill>
                      </a:endParaRPr>
                    </a:p>
                  </a:txBody>
                  <a:tcPr marL="91439" marR="91439" marT="45717" marB="45717">
                    <a:lnL w="28575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b="1" dirty="0">
                          <a:solidFill>
                            <a:schemeClr val="bg2"/>
                          </a:solidFill>
                        </a:rPr>
                        <a:t>f</a:t>
                      </a:r>
                      <a:endParaRPr lang="ru-RU" sz="2800" b="1" dirty="0">
                        <a:solidFill>
                          <a:schemeClr val="bg2"/>
                        </a:solidFill>
                      </a:endParaRPr>
                    </a:p>
                  </a:txBody>
                  <a:tcPr marL="91439" marR="91439" marT="45717" marB="45717">
                    <a:lnL w="28575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7055">
                <a:tc>
                  <a:txBody>
                    <a:bodyPr/>
                    <a:lstStyle/>
                    <a:p>
                      <a:r>
                        <a:rPr lang="en-US" sz="2800" b="1" dirty="0">
                          <a:solidFill>
                            <a:schemeClr val="bg2"/>
                          </a:solidFill>
                        </a:rPr>
                        <a:t>1100</a:t>
                      </a:r>
                      <a:r>
                        <a:rPr lang="en-US" sz="2800" b="1" dirty="0">
                          <a:solidFill>
                            <a:schemeClr val="bg2">
                              <a:lumMod val="60000"/>
                              <a:lumOff val="40000"/>
                            </a:schemeClr>
                          </a:solidFill>
                        </a:rPr>
                        <a:t>1</a:t>
                      </a:r>
                      <a:r>
                        <a:rPr lang="en-US" sz="2800" b="1" dirty="0">
                          <a:solidFill>
                            <a:schemeClr val="bg2"/>
                          </a:solidFill>
                        </a:rPr>
                        <a:t>11</a:t>
                      </a:r>
                      <a:endParaRPr lang="ru-RU" sz="2800" b="1" dirty="0">
                        <a:solidFill>
                          <a:schemeClr val="bg2"/>
                        </a:solidFill>
                      </a:endParaRPr>
                    </a:p>
                  </a:txBody>
                  <a:tcPr marL="91439" marR="91439" marT="45717" marB="45717">
                    <a:lnL w="28575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b="1" dirty="0">
                          <a:solidFill>
                            <a:schemeClr val="bg2"/>
                          </a:solidFill>
                        </a:rPr>
                        <a:t>g</a:t>
                      </a:r>
                      <a:endParaRPr lang="ru-RU" sz="2800" b="1" dirty="0">
                        <a:solidFill>
                          <a:schemeClr val="bg2"/>
                        </a:solidFill>
                      </a:endParaRPr>
                    </a:p>
                  </a:txBody>
                  <a:tcPr marL="91439" marR="91439" marT="45717" marB="45717">
                    <a:lnL w="28575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67055">
                <a:tc>
                  <a:txBody>
                    <a:bodyPr/>
                    <a:lstStyle/>
                    <a:p>
                      <a:r>
                        <a:rPr lang="en-US" sz="2800" b="1" dirty="0">
                          <a:solidFill>
                            <a:schemeClr val="bg2"/>
                          </a:solidFill>
                        </a:rPr>
                        <a:t>1100</a:t>
                      </a:r>
                      <a:r>
                        <a:rPr lang="en-US" sz="2800" b="1" dirty="0">
                          <a:solidFill>
                            <a:schemeClr val="bg2">
                              <a:lumMod val="60000"/>
                              <a:lumOff val="40000"/>
                            </a:schemeClr>
                          </a:solidFill>
                        </a:rPr>
                        <a:t>1</a:t>
                      </a:r>
                      <a:r>
                        <a:rPr lang="en-US" sz="2800" b="1" dirty="0">
                          <a:solidFill>
                            <a:schemeClr val="bg2"/>
                          </a:solidFill>
                        </a:rPr>
                        <a:t>01</a:t>
                      </a:r>
                      <a:endParaRPr lang="ru-RU" sz="2800" b="1" dirty="0">
                        <a:solidFill>
                          <a:schemeClr val="bg2"/>
                        </a:solidFill>
                      </a:endParaRPr>
                    </a:p>
                  </a:txBody>
                  <a:tcPr marL="91439" marR="91439" marT="45717" marB="45717">
                    <a:lnL w="28575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b="1" dirty="0">
                          <a:solidFill>
                            <a:schemeClr val="bg2"/>
                          </a:solidFill>
                        </a:rPr>
                        <a:t>e</a:t>
                      </a:r>
                      <a:endParaRPr lang="ru-RU" sz="2800" b="1" dirty="0">
                        <a:solidFill>
                          <a:schemeClr val="bg2"/>
                        </a:solidFill>
                      </a:endParaRPr>
                    </a:p>
                  </a:txBody>
                  <a:tcPr marL="91439" marR="91439" marT="45717" marB="45717">
                    <a:lnL w="28575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67055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b="1" dirty="0">
                          <a:solidFill>
                            <a:schemeClr val="bg2"/>
                          </a:solidFill>
                        </a:rPr>
                        <a:t>1100</a:t>
                      </a:r>
                      <a:r>
                        <a:rPr lang="en-US" sz="2800" b="1" dirty="0">
                          <a:solidFill>
                            <a:schemeClr val="bg2">
                              <a:lumMod val="60000"/>
                              <a:lumOff val="40000"/>
                            </a:schemeClr>
                          </a:solidFill>
                        </a:rPr>
                        <a:t>1</a:t>
                      </a:r>
                      <a:r>
                        <a:rPr lang="en-US" sz="2800" b="1" dirty="0">
                          <a:solidFill>
                            <a:schemeClr val="bg2"/>
                          </a:solidFill>
                        </a:rPr>
                        <a:t>00</a:t>
                      </a:r>
                      <a:endParaRPr lang="ru-RU" sz="2800" b="1" dirty="0">
                        <a:solidFill>
                          <a:schemeClr val="bg2"/>
                        </a:solidFill>
                      </a:endParaRPr>
                    </a:p>
                  </a:txBody>
                  <a:tcPr marL="91439" marR="91439" marT="45717" marB="45717">
                    <a:lnL w="28575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b="1" dirty="0">
                          <a:solidFill>
                            <a:schemeClr val="bg2"/>
                          </a:solidFill>
                        </a:rPr>
                        <a:t>d</a:t>
                      </a:r>
                      <a:endParaRPr lang="ru-RU" sz="2800" b="1" dirty="0">
                        <a:solidFill>
                          <a:schemeClr val="bg2"/>
                        </a:solidFill>
                      </a:endParaRPr>
                    </a:p>
                  </a:txBody>
                  <a:tcPr marL="91439" marR="91439" marT="45717" marB="45717">
                    <a:lnL w="28575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67055">
                <a:tc>
                  <a:txBody>
                    <a:bodyPr/>
                    <a:lstStyle/>
                    <a:p>
                      <a:r>
                        <a:rPr lang="en-US" sz="2800" b="1" dirty="0">
                          <a:solidFill>
                            <a:schemeClr val="bg2"/>
                          </a:solidFill>
                        </a:rPr>
                        <a:t>1100</a:t>
                      </a:r>
                      <a:r>
                        <a:rPr lang="en-US" sz="2800" b="1" dirty="0">
                          <a:solidFill>
                            <a:schemeClr val="bg2">
                              <a:lumMod val="60000"/>
                              <a:lumOff val="40000"/>
                            </a:schemeClr>
                          </a:solidFill>
                        </a:rPr>
                        <a:t>1</a:t>
                      </a:r>
                      <a:r>
                        <a:rPr lang="en-US" sz="2800" b="1" dirty="0">
                          <a:solidFill>
                            <a:schemeClr val="bg2"/>
                          </a:solidFill>
                        </a:rPr>
                        <a:t>01</a:t>
                      </a:r>
                      <a:endParaRPr lang="ru-RU" sz="2800" b="0" dirty="0">
                        <a:solidFill>
                          <a:schemeClr val="bg2"/>
                        </a:solidFill>
                      </a:endParaRPr>
                    </a:p>
                  </a:txBody>
                  <a:tcPr marL="91439" marR="91439" marT="45717" marB="45717">
                    <a:lnL w="28575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b="1" dirty="0">
                          <a:solidFill>
                            <a:schemeClr val="bg2"/>
                          </a:solidFill>
                        </a:rPr>
                        <a:t>e</a:t>
                      </a:r>
                      <a:endParaRPr lang="ru-RU" sz="2800" b="1" dirty="0">
                        <a:solidFill>
                          <a:schemeClr val="bg2"/>
                        </a:solidFill>
                      </a:endParaRPr>
                    </a:p>
                  </a:txBody>
                  <a:tcPr marL="91439" marR="91439" marT="45717" marB="45717">
                    <a:lnL w="28575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567055">
                <a:tc>
                  <a:txBody>
                    <a:bodyPr/>
                    <a:lstStyle/>
                    <a:p>
                      <a:r>
                        <a:rPr lang="en-US" sz="2800" b="1" dirty="0">
                          <a:solidFill>
                            <a:schemeClr val="bg2"/>
                          </a:solidFill>
                        </a:rPr>
                        <a:t>1101</a:t>
                      </a:r>
                      <a:r>
                        <a:rPr lang="en-US" sz="2800" b="1" dirty="0">
                          <a:solidFill>
                            <a:schemeClr val="bg2">
                              <a:lumMod val="60000"/>
                              <a:lumOff val="40000"/>
                            </a:schemeClr>
                          </a:solidFill>
                        </a:rPr>
                        <a:t>0</a:t>
                      </a:r>
                      <a:r>
                        <a:rPr lang="en-US" sz="2800" b="1" dirty="0">
                          <a:solidFill>
                            <a:schemeClr val="bg2"/>
                          </a:solidFill>
                        </a:rPr>
                        <a:t>00</a:t>
                      </a:r>
                      <a:endParaRPr lang="ru-RU" sz="2800" b="1" dirty="0">
                        <a:solidFill>
                          <a:schemeClr val="bg2"/>
                        </a:solidFill>
                      </a:endParaRPr>
                    </a:p>
                  </a:txBody>
                  <a:tcPr marL="91439" marR="91439" marT="45717" marB="45717">
                    <a:lnL w="28575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b="1" dirty="0">
                          <a:solidFill>
                            <a:schemeClr val="bg2"/>
                          </a:solidFill>
                        </a:rPr>
                        <a:t>h</a:t>
                      </a:r>
                      <a:endParaRPr lang="ru-RU" sz="2800" b="1" dirty="0">
                        <a:solidFill>
                          <a:schemeClr val="bg2"/>
                        </a:solidFill>
                      </a:endParaRPr>
                    </a:p>
                  </a:txBody>
                  <a:tcPr marL="91439" marR="91439" marT="45717" marB="45717">
                    <a:lnL w="28575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 animBg="1"/>
      <p:bldP spid="7" grpId="0" animBg="1"/>
      <p:bldP spid="8" grpId="0" animBg="1"/>
      <p:bldP spid="9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1"/>
          <p:cNvSpPr txBox="1">
            <a:spLocks/>
          </p:cNvSpPr>
          <p:nvPr/>
        </p:nvSpPr>
        <p:spPr bwMode="auto">
          <a:xfrm>
            <a:off x="482600" y="179388"/>
            <a:ext cx="8229600" cy="455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>
              <a:defRPr/>
            </a:pPr>
            <a:r>
              <a:rPr lang="ru-RU" kern="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Двоичная быстрая сортировка</a:t>
            </a:r>
          </a:p>
        </p:txBody>
      </p:sp>
      <p:graphicFrame>
        <p:nvGraphicFramePr>
          <p:cNvPr id="6" name="Таблица 5"/>
          <p:cNvGraphicFramePr>
            <a:graphicFrameLocks noGrp="1"/>
          </p:cNvGraphicFramePr>
          <p:nvPr/>
        </p:nvGraphicFramePr>
        <p:xfrm>
          <a:off x="300038" y="909638"/>
          <a:ext cx="2336800" cy="56705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87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80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67055">
                <a:tc>
                  <a:txBody>
                    <a:bodyPr/>
                    <a:lstStyle/>
                    <a:p>
                      <a:r>
                        <a:rPr lang="en-US" sz="2800" b="1" dirty="0">
                          <a:solidFill>
                            <a:schemeClr val="bg2"/>
                          </a:solidFill>
                        </a:rPr>
                        <a:t>11000</a:t>
                      </a:r>
                      <a:r>
                        <a:rPr lang="en-US" sz="2800" b="1" dirty="0">
                          <a:solidFill>
                            <a:schemeClr val="bg2">
                              <a:lumMod val="60000"/>
                              <a:lumOff val="40000"/>
                            </a:schemeClr>
                          </a:solidFill>
                        </a:rPr>
                        <a:t>0</a:t>
                      </a:r>
                      <a:r>
                        <a:rPr lang="en-US" sz="2800" b="1" dirty="0">
                          <a:solidFill>
                            <a:schemeClr val="bg2"/>
                          </a:solidFill>
                        </a:rPr>
                        <a:t>1</a:t>
                      </a:r>
                      <a:endParaRPr lang="ru-RU" sz="2800" b="1" dirty="0">
                        <a:solidFill>
                          <a:schemeClr val="bg2"/>
                        </a:solidFill>
                      </a:endParaRPr>
                    </a:p>
                  </a:txBody>
                  <a:tcPr marL="91439" marR="91439" marT="45717" marB="45717">
                    <a:lnL w="28575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b="1" dirty="0">
                          <a:solidFill>
                            <a:schemeClr val="bg2"/>
                          </a:solidFill>
                        </a:rPr>
                        <a:t>a</a:t>
                      </a:r>
                      <a:endParaRPr lang="ru-RU" sz="2800" b="1" dirty="0">
                        <a:solidFill>
                          <a:schemeClr val="bg2"/>
                        </a:solidFill>
                      </a:endParaRPr>
                    </a:p>
                  </a:txBody>
                  <a:tcPr marL="91439" marR="91439" marT="45717" marB="45717">
                    <a:lnL w="28575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7055">
                <a:tc>
                  <a:txBody>
                    <a:bodyPr/>
                    <a:lstStyle/>
                    <a:p>
                      <a:r>
                        <a:rPr lang="en-US" sz="2800" b="1" dirty="0">
                          <a:solidFill>
                            <a:schemeClr val="bg2"/>
                          </a:solidFill>
                        </a:rPr>
                        <a:t>11000</a:t>
                      </a:r>
                      <a:r>
                        <a:rPr lang="en-US" sz="2800" b="1" dirty="0">
                          <a:solidFill>
                            <a:schemeClr val="bg2">
                              <a:lumMod val="60000"/>
                              <a:lumOff val="40000"/>
                            </a:schemeClr>
                          </a:solidFill>
                        </a:rPr>
                        <a:t>1</a:t>
                      </a:r>
                      <a:r>
                        <a:rPr lang="en-US" sz="2800" b="1" dirty="0">
                          <a:solidFill>
                            <a:schemeClr val="bg2"/>
                          </a:solidFill>
                        </a:rPr>
                        <a:t>1</a:t>
                      </a:r>
                      <a:endParaRPr lang="ru-RU" sz="2800" b="1" dirty="0">
                        <a:solidFill>
                          <a:schemeClr val="bg2"/>
                        </a:solidFill>
                      </a:endParaRPr>
                    </a:p>
                  </a:txBody>
                  <a:tcPr marL="91439" marR="91439" marT="45717" marB="45717">
                    <a:lnL w="28575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b="1" dirty="0">
                          <a:solidFill>
                            <a:schemeClr val="bg2"/>
                          </a:solidFill>
                        </a:rPr>
                        <a:t>c</a:t>
                      </a:r>
                      <a:endParaRPr lang="ru-RU" sz="2800" b="1" dirty="0">
                        <a:solidFill>
                          <a:schemeClr val="bg2"/>
                        </a:solidFill>
                      </a:endParaRPr>
                    </a:p>
                  </a:txBody>
                  <a:tcPr marL="91439" marR="91439" marT="45717" marB="45717">
                    <a:lnL w="28575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7055">
                <a:tc>
                  <a:txBody>
                    <a:bodyPr/>
                    <a:lstStyle/>
                    <a:p>
                      <a:r>
                        <a:rPr lang="en-US" sz="2800" b="1" dirty="0">
                          <a:solidFill>
                            <a:schemeClr val="bg2"/>
                          </a:solidFill>
                        </a:rPr>
                        <a:t>11001</a:t>
                      </a:r>
                      <a:r>
                        <a:rPr lang="en-US" sz="2800" b="1" dirty="0">
                          <a:solidFill>
                            <a:schemeClr val="bg2">
                              <a:lumMod val="60000"/>
                              <a:lumOff val="40000"/>
                            </a:schemeClr>
                          </a:solidFill>
                        </a:rPr>
                        <a:t>0</a:t>
                      </a:r>
                      <a:r>
                        <a:rPr lang="en-US" sz="2800" b="1" dirty="0">
                          <a:solidFill>
                            <a:schemeClr val="bg2"/>
                          </a:solidFill>
                        </a:rPr>
                        <a:t>0</a:t>
                      </a:r>
                      <a:endParaRPr lang="ru-RU" sz="2800" b="1" dirty="0">
                        <a:solidFill>
                          <a:schemeClr val="bg2"/>
                        </a:solidFill>
                      </a:endParaRPr>
                    </a:p>
                  </a:txBody>
                  <a:tcPr marL="91439" marR="91439" marT="45717" marB="45717">
                    <a:lnL w="28575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b="1" dirty="0">
                          <a:solidFill>
                            <a:schemeClr val="bg2"/>
                          </a:solidFill>
                        </a:rPr>
                        <a:t>d</a:t>
                      </a:r>
                      <a:endParaRPr lang="ru-RU" sz="2800" b="1" dirty="0">
                        <a:solidFill>
                          <a:schemeClr val="bg2"/>
                        </a:solidFill>
                      </a:endParaRPr>
                    </a:p>
                  </a:txBody>
                  <a:tcPr marL="91439" marR="91439" marT="45717" marB="45717">
                    <a:lnL w="28575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7055">
                <a:tc>
                  <a:txBody>
                    <a:bodyPr/>
                    <a:lstStyle/>
                    <a:p>
                      <a:r>
                        <a:rPr lang="en-US" sz="2800" b="1" dirty="0">
                          <a:solidFill>
                            <a:schemeClr val="bg2"/>
                          </a:solidFill>
                        </a:rPr>
                        <a:t>11001</a:t>
                      </a:r>
                      <a:r>
                        <a:rPr lang="en-US" sz="2800" b="1" dirty="0">
                          <a:solidFill>
                            <a:schemeClr val="bg2">
                              <a:lumMod val="60000"/>
                              <a:lumOff val="40000"/>
                            </a:schemeClr>
                          </a:solidFill>
                        </a:rPr>
                        <a:t>0</a:t>
                      </a:r>
                      <a:r>
                        <a:rPr lang="en-US" sz="2800" b="1" dirty="0">
                          <a:solidFill>
                            <a:schemeClr val="bg2"/>
                          </a:solidFill>
                        </a:rPr>
                        <a:t>1</a:t>
                      </a:r>
                      <a:endParaRPr lang="ru-RU" sz="2800" b="1" dirty="0">
                        <a:solidFill>
                          <a:schemeClr val="bg2"/>
                        </a:solidFill>
                      </a:endParaRPr>
                    </a:p>
                  </a:txBody>
                  <a:tcPr marL="91439" marR="91439" marT="45717" marB="45717">
                    <a:lnL w="28575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b="1" dirty="0">
                          <a:solidFill>
                            <a:schemeClr val="bg2"/>
                          </a:solidFill>
                        </a:rPr>
                        <a:t>e</a:t>
                      </a:r>
                      <a:endParaRPr lang="ru-RU" sz="2800" b="1" dirty="0">
                        <a:solidFill>
                          <a:schemeClr val="bg2"/>
                        </a:solidFill>
                      </a:endParaRPr>
                    </a:p>
                  </a:txBody>
                  <a:tcPr marL="91439" marR="91439" marT="45717" marB="45717">
                    <a:lnL w="28575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7055">
                <a:tc>
                  <a:txBody>
                    <a:bodyPr/>
                    <a:lstStyle/>
                    <a:p>
                      <a:r>
                        <a:rPr lang="en-US" sz="2800" b="1" dirty="0">
                          <a:solidFill>
                            <a:schemeClr val="bg2"/>
                          </a:solidFill>
                        </a:rPr>
                        <a:t>11001</a:t>
                      </a:r>
                      <a:r>
                        <a:rPr lang="en-US" sz="2800" b="1" dirty="0">
                          <a:solidFill>
                            <a:schemeClr val="bg2">
                              <a:lumMod val="60000"/>
                              <a:lumOff val="40000"/>
                            </a:schemeClr>
                          </a:solidFill>
                        </a:rPr>
                        <a:t>1</a:t>
                      </a:r>
                      <a:r>
                        <a:rPr lang="en-US" sz="2800" b="1" dirty="0">
                          <a:solidFill>
                            <a:schemeClr val="bg2"/>
                          </a:solidFill>
                        </a:rPr>
                        <a:t>0</a:t>
                      </a:r>
                      <a:endParaRPr lang="ru-RU" sz="2800" dirty="0">
                        <a:solidFill>
                          <a:schemeClr val="bg2"/>
                        </a:solidFill>
                      </a:endParaRPr>
                    </a:p>
                  </a:txBody>
                  <a:tcPr marL="91439" marR="91439" marT="45717" marB="45717">
                    <a:lnL w="28575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b="1" dirty="0">
                          <a:solidFill>
                            <a:schemeClr val="bg2"/>
                          </a:solidFill>
                        </a:rPr>
                        <a:t>f</a:t>
                      </a:r>
                      <a:endParaRPr lang="ru-RU" sz="2800" b="1" dirty="0">
                        <a:solidFill>
                          <a:schemeClr val="bg2"/>
                        </a:solidFill>
                      </a:endParaRPr>
                    </a:p>
                  </a:txBody>
                  <a:tcPr marL="91439" marR="91439" marT="45717" marB="45717">
                    <a:lnL w="28575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7055">
                <a:tc>
                  <a:txBody>
                    <a:bodyPr/>
                    <a:lstStyle/>
                    <a:p>
                      <a:r>
                        <a:rPr lang="en-US" sz="2800" b="1" dirty="0">
                          <a:solidFill>
                            <a:schemeClr val="bg2"/>
                          </a:solidFill>
                        </a:rPr>
                        <a:t>11001</a:t>
                      </a:r>
                      <a:r>
                        <a:rPr lang="en-US" sz="2800" b="1" dirty="0">
                          <a:solidFill>
                            <a:schemeClr val="bg2">
                              <a:lumMod val="60000"/>
                              <a:lumOff val="40000"/>
                            </a:schemeClr>
                          </a:solidFill>
                        </a:rPr>
                        <a:t>1</a:t>
                      </a:r>
                      <a:r>
                        <a:rPr lang="en-US" sz="2800" b="1" dirty="0">
                          <a:solidFill>
                            <a:schemeClr val="bg2"/>
                          </a:solidFill>
                        </a:rPr>
                        <a:t>1</a:t>
                      </a:r>
                      <a:endParaRPr lang="ru-RU" sz="2800" b="1" dirty="0">
                        <a:solidFill>
                          <a:schemeClr val="bg2"/>
                        </a:solidFill>
                      </a:endParaRPr>
                    </a:p>
                  </a:txBody>
                  <a:tcPr marL="91439" marR="91439" marT="45717" marB="45717">
                    <a:lnL w="28575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b="1" dirty="0">
                          <a:solidFill>
                            <a:schemeClr val="bg2"/>
                          </a:solidFill>
                        </a:rPr>
                        <a:t>g</a:t>
                      </a:r>
                      <a:endParaRPr lang="ru-RU" sz="2800" b="1" dirty="0">
                        <a:solidFill>
                          <a:schemeClr val="bg2"/>
                        </a:solidFill>
                      </a:endParaRPr>
                    </a:p>
                  </a:txBody>
                  <a:tcPr marL="91439" marR="91439" marT="45717" marB="45717">
                    <a:lnL w="28575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67055">
                <a:tc>
                  <a:txBody>
                    <a:bodyPr/>
                    <a:lstStyle/>
                    <a:p>
                      <a:r>
                        <a:rPr lang="en-US" sz="2800" b="1" dirty="0">
                          <a:solidFill>
                            <a:schemeClr val="bg2"/>
                          </a:solidFill>
                        </a:rPr>
                        <a:t>11001</a:t>
                      </a:r>
                      <a:r>
                        <a:rPr lang="en-US" sz="2800" b="1" dirty="0">
                          <a:solidFill>
                            <a:schemeClr val="bg2">
                              <a:lumMod val="60000"/>
                              <a:lumOff val="40000"/>
                            </a:schemeClr>
                          </a:solidFill>
                        </a:rPr>
                        <a:t>0</a:t>
                      </a:r>
                      <a:r>
                        <a:rPr lang="en-US" sz="2800" b="1" dirty="0">
                          <a:solidFill>
                            <a:schemeClr val="bg2"/>
                          </a:solidFill>
                        </a:rPr>
                        <a:t>1</a:t>
                      </a:r>
                      <a:endParaRPr lang="ru-RU" sz="2800" b="1" dirty="0">
                        <a:solidFill>
                          <a:schemeClr val="bg2"/>
                        </a:solidFill>
                      </a:endParaRPr>
                    </a:p>
                  </a:txBody>
                  <a:tcPr marL="91439" marR="91439" marT="45717" marB="45717">
                    <a:lnL w="28575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b="1" dirty="0">
                          <a:solidFill>
                            <a:schemeClr val="bg2"/>
                          </a:solidFill>
                        </a:rPr>
                        <a:t>e</a:t>
                      </a:r>
                      <a:endParaRPr lang="ru-RU" sz="2800" b="1" dirty="0">
                        <a:solidFill>
                          <a:schemeClr val="bg2"/>
                        </a:solidFill>
                      </a:endParaRPr>
                    </a:p>
                  </a:txBody>
                  <a:tcPr marL="91439" marR="91439" marT="45717" marB="45717">
                    <a:lnL w="28575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67055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b="1" dirty="0">
                          <a:solidFill>
                            <a:schemeClr val="bg2"/>
                          </a:solidFill>
                        </a:rPr>
                        <a:t>11001</a:t>
                      </a:r>
                      <a:r>
                        <a:rPr lang="en-US" sz="2800" b="1" dirty="0">
                          <a:solidFill>
                            <a:schemeClr val="bg2">
                              <a:lumMod val="60000"/>
                              <a:lumOff val="40000"/>
                            </a:schemeClr>
                          </a:solidFill>
                        </a:rPr>
                        <a:t>0</a:t>
                      </a:r>
                      <a:r>
                        <a:rPr lang="en-US" sz="2800" b="1" dirty="0">
                          <a:solidFill>
                            <a:schemeClr val="bg2"/>
                          </a:solidFill>
                        </a:rPr>
                        <a:t>0</a:t>
                      </a:r>
                      <a:endParaRPr lang="ru-RU" sz="2800" b="1" dirty="0">
                        <a:solidFill>
                          <a:schemeClr val="bg2"/>
                        </a:solidFill>
                      </a:endParaRPr>
                    </a:p>
                  </a:txBody>
                  <a:tcPr marL="91439" marR="91439" marT="45717" marB="45717">
                    <a:lnL w="28575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b="1" dirty="0">
                          <a:solidFill>
                            <a:schemeClr val="bg2"/>
                          </a:solidFill>
                        </a:rPr>
                        <a:t>d</a:t>
                      </a:r>
                      <a:endParaRPr lang="ru-RU" sz="2800" b="1" dirty="0">
                        <a:solidFill>
                          <a:schemeClr val="bg2"/>
                        </a:solidFill>
                      </a:endParaRPr>
                    </a:p>
                  </a:txBody>
                  <a:tcPr marL="91439" marR="91439" marT="45717" marB="45717">
                    <a:lnL w="28575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67055">
                <a:tc>
                  <a:txBody>
                    <a:bodyPr/>
                    <a:lstStyle/>
                    <a:p>
                      <a:r>
                        <a:rPr lang="en-US" sz="2800" b="1" dirty="0">
                          <a:solidFill>
                            <a:schemeClr val="bg2"/>
                          </a:solidFill>
                        </a:rPr>
                        <a:t>11001</a:t>
                      </a:r>
                      <a:r>
                        <a:rPr lang="en-US" sz="2800" b="1" dirty="0">
                          <a:solidFill>
                            <a:schemeClr val="bg2">
                              <a:lumMod val="60000"/>
                              <a:lumOff val="40000"/>
                            </a:schemeClr>
                          </a:solidFill>
                        </a:rPr>
                        <a:t>0</a:t>
                      </a:r>
                      <a:r>
                        <a:rPr lang="en-US" sz="2800" b="1" dirty="0">
                          <a:solidFill>
                            <a:schemeClr val="bg2"/>
                          </a:solidFill>
                        </a:rPr>
                        <a:t>1</a:t>
                      </a:r>
                      <a:endParaRPr lang="ru-RU" sz="2800" b="0" dirty="0">
                        <a:solidFill>
                          <a:schemeClr val="bg2"/>
                        </a:solidFill>
                      </a:endParaRPr>
                    </a:p>
                  </a:txBody>
                  <a:tcPr marL="91439" marR="91439" marT="45717" marB="45717">
                    <a:lnL w="28575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b="1" dirty="0">
                          <a:solidFill>
                            <a:schemeClr val="bg2"/>
                          </a:solidFill>
                        </a:rPr>
                        <a:t>e</a:t>
                      </a:r>
                      <a:endParaRPr lang="ru-RU" sz="2800" b="1" dirty="0">
                        <a:solidFill>
                          <a:schemeClr val="bg2"/>
                        </a:solidFill>
                      </a:endParaRPr>
                    </a:p>
                  </a:txBody>
                  <a:tcPr marL="91439" marR="91439" marT="45717" marB="45717">
                    <a:lnL w="28575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567055">
                <a:tc>
                  <a:txBody>
                    <a:bodyPr/>
                    <a:lstStyle/>
                    <a:p>
                      <a:r>
                        <a:rPr lang="en-US" sz="2800" b="1" dirty="0">
                          <a:solidFill>
                            <a:schemeClr val="bg2"/>
                          </a:solidFill>
                        </a:rPr>
                        <a:t>1101000</a:t>
                      </a:r>
                      <a:endParaRPr lang="ru-RU" sz="2800" b="1" dirty="0">
                        <a:solidFill>
                          <a:schemeClr val="bg2"/>
                        </a:solidFill>
                      </a:endParaRPr>
                    </a:p>
                  </a:txBody>
                  <a:tcPr marL="91439" marR="91439" marT="45717" marB="45717">
                    <a:lnL w="28575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b="1" dirty="0">
                          <a:solidFill>
                            <a:schemeClr val="bg2"/>
                          </a:solidFill>
                        </a:rPr>
                        <a:t>h</a:t>
                      </a:r>
                      <a:endParaRPr lang="ru-RU" sz="2800" b="1" dirty="0">
                        <a:solidFill>
                          <a:schemeClr val="bg2"/>
                        </a:solidFill>
                      </a:endParaRPr>
                    </a:p>
                  </a:txBody>
                  <a:tcPr marL="91439" marR="91439" marT="45717" marB="45717">
                    <a:lnL w="28575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graphicFrame>
        <p:nvGraphicFramePr>
          <p:cNvPr id="7" name="Таблица 6"/>
          <p:cNvGraphicFramePr>
            <a:graphicFrameLocks noGrp="1"/>
          </p:cNvGraphicFramePr>
          <p:nvPr/>
        </p:nvGraphicFramePr>
        <p:xfrm>
          <a:off x="3001963" y="909638"/>
          <a:ext cx="2336800" cy="56705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87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80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67055">
                <a:tc>
                  <a:txBody>
                    <a:bodyPr/>
                    <a:lstStyle/>
                    <a:p>
                      <a:r>
                        <a:rPr lang="en-US" sz="2800" b="1" dirty="0">
                          <a:solidFill>
                            <a:schemeClr val="bg2"/>
                          </a:solidFill>
                        </a:rPr>
                        <a:t>1100001</a:t>
                      </a:r>
                      <a:endParaRPr lang="ru-RU" sz="2800" b="1" dirty="0">
                        <a:solidFill>
                          <a:schemeClr val="bg2"/>
                        </a:solidFill>
                      </a:endParaRPr>
                    </a:p>
                  </a:txBody>
                  <a:tcPr marL="91439" marR="91439" marT="45717" marB="45717">
                    <a:lnL w="28575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b="1" dirty="0">
                          <a:solidFill>
                            <a:schemeClr val="bg2"/>
                          </a:solidFill>
                        </a:rPr>
                        <a:t>a</a:t>
                      </a:r>
                      <a:endParaRPr lang="ru-RU" sz="2800" b="1" dirty="0">
                        <a:solidFill>
                          <a:schemeClr val="bg2"/>
                        </a:solidFill>
                      </a:endParaRPr>
                    </a:p>
                  </a:txBody>
                  <a:tcPr marL="91439" marR="91439" marT="45717" marB="45717">
                    <a:lnL w="28575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7055">
                <a:tc>
                  <a:txBody>
                    <a:bodyPr/>
                    <a:lstStyle/>
                    <a:p>
                      <a:r>
                        <a:rPr lang="en-US" sz="2800" b="1" dirty="0">
                          <a:solidFill>
                            <a:schemeClr val="bg2"/>
                          </a:solidFill>
                        </a:rPr>
                        <a:t>1100011</a:t>
                      </a:r>
                      <a:endParaRPr lang="ru-RU" sz="2800" b="1" dirty="0">
                        <a:solidFill>
                          <a:schemeClr val="bg2"/>
                        </a:solidFill>
                      </a:endParaRPr>
                    </a:p>
                  </a:txBody>
                  <a:tcPr marL="91439" marR="91439" marT="45717" marB="45717">
                    <a:lnL w="28575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b="1" dirty="0">
                          <a:solidFill>
                            <a:schemeClr val="bg2"/>
                          </a:solidFill>
                        </a:rPr>
                        <a:t>c</a:t>
                      </a:r>
                      <a:endParaRPr lang="ru-RU" sz="2800" b="1" dirty="0">
                        <a:solidFill>
                          <a:schemeClr val="bg2"/>
                        </a:solidFill>
                      </a:endParaRPr>
                    </a:p>
                  </a:txBody>
                  <a:tcPr marL="91439" marR="91439" marT="45717" marB="45717">
                    <a:lnL w="28575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7055">
                <a:tc>
                  <a:txBody>
                    <a:bodyPr/>
                    <a:lstStyle/>
                    <a:p>
                      <a:r>
                        <a:rPr lang="en-US" sz="2800" b="1" dirty="0">
                          <a:solidFill>
                            <a:schemeClr val="bg2"/>
                          </a:solidFill>
                        </a:rPr>
                        <a:t>110010</a:t>
                      </a:r>
                      <a:r>
                        <a:rPr lang="en-US" sz="2800" b="1" dirty="0">
                          <a:solidFill>
                            <a:schemeClr val="bg2">
                              <a:lumMod val="60000"/>
                              <a:lumOff val="40000"/>
                            </a:schemeClr>
                          </a:solidFill>
                        </a:rPr>
                        <a:t>0</a:t>
                      </a:r>
                      <a:endParaRPr lang="ru-RU" sz="2800" b="1" dirty="0">
                        <a:solidFill>
                          <a:schemeClr val="bg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marL="91439" marR="91439" marT="45717" marB="45717">
                    <a:lnL w="28575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b="1" dirty="0">
                          <a:solidFill>
                            <a:schemeClr val="bg2"/>
                          </a:solidFill>
                        </a:rPr>
                        <a:t>d</a:t>
                      </a:r>
                      <a:endParaRPr lang="ru-RU" sz="2800" b="1" dirty="0">
                        <a:solidFill>
                          <a:schemeClr val="bg2"/>
                        </a:solidFill>
                      </a:endParaRPr>
                    </a:p>
                  </a:txBody>
                  <a:tcPr marL="91439" marR="91439" marT="45717" marB="45717">
                    <a:lnL w="28575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7055">
                <a:tc>
                  <a:txBody>
                    <a:bodyPr/>
                    <a:lstStyle/>
                    <a:p>
                      <a:r>
                        <a:rPr lang="en-US" sz="2800" b="1" dirty="0">
                          <a:solidFill>
                            <a:schemeClr val="bg2"/>
                          </a:solidFill>
                        </a:rPr>
                        <a:t>110010</a:t>
                      </a:r>
                      <a:r>
                        <a:rPr lang="en-US" sz="2800" b="1" dirty="0">
                          <a:solidFill>
                            <a:schemeClr val="bg2">
                              <a:lumMod val="60000"/>
                              <a:lumOff val="40000"/>
                            </a:schemeClr>
                          </a:solidFill>
                        </a:rPr>
                        <a:t>1</a:t>
                      </a:r>
                      <a:endParaRPr lang="ru-RU" sz="2800" b="1" dirty="0">
                        <a:solidFill>
                          <a:schemeClr val="bg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marL="91439" marR="91439" marT="45717" marB="45717">
                    <a:lnL w="28575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b="1" dirty="0">
                          <a:solidFill>
                            <a:schemeClr val="bg2"/>
                          </a:solidFill>
                        </a:rPr>
                        <a:t>e</a:t>
                      </a:r>
                      <a:endParaRPr lang="ru-RU" sz="2800" b="1" dirty="0">
                        <a:solidFill>
                          <a:schemeClr val="bg2"/>
                        </a:solidFill>
                      </a:endParaRPr>
                    </a:p>
                  </a:txBody>
                  <a:tcPr marL="91439" marR="91439" marT="45717" marB="45717">
                    <a:lnL w="28575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7055">
                <a:tc>
                  <a:txBody>
                    <a:bodyPr/>
                    <a:lstStyle/>
                    <a:p>
                      <a:r>
                        <a:rPr lang="en-US" sz="2800" b="1" dirty="0">
                          <a:solidFill>
                            <a:schemeClr val="bg2"/>
                          </a:solidFill>
                        </a:rPr>
                        <a:t>110010</a:t>
                      </a:r>
                      <a:r>
                        <a:rPr lang="en-US" sz="2800" b="1" dirty="0">
                          <a:solidFill>
                            <a:schemeClr val="bg2">
                              <a:lumMod val="60000"/>
                              <a:lumOff val="40000"/>
                            </a:schemeClr>
                          </a:solidFill>
                        </a:rPr>
                        <a:t>1</a:t>
                      </a:r>
                      <a:endParaRPr lang="ru-RU" sz="2800" b="0" dirty="0">
                        <a:solidFill>
                          <a:schemeClr val="bg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marL="91439" marR="91439" marT="45717" marB="45717">
                    <a:lnL w="28575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b="1" dirty="0">
                          <a:solidFill>
                            <a:schemeClr val="bg2"/>
                          </a:solidFill>
                        </a:rPr>
                        <a:t>e</a:t>
                      </a:r>
                      <a:endParaRPr lang="ru-RU" sz="2800" b="1" dirty="0">
                        <a:solidFill>
                          <a:schemeClr val="bg2"/>
                        </a:solidFill>
                      </a:endParaRPr>
                    </a:p>
                  </a:txBody>
                  <a:tcPr marL="91439" marR="91439" marT="45717" marB="45717">
                    <a:lnL w="28575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7055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b="1" dirty="0">
                          <a:solidFill>
                            <a:schemeClr val="bg2"/>
                          </a:solidFill>
                        </a:rPr>
                        <a:t>110010</a:t>
                      </a:r>
                      <a:r>
                        <a:rPr lang="en-US" sz="2800" b="1" dirty="0">
                          <a:solidFill>
                            <a:schemeClr val="bg2">
                              <a:lumMod val="60000"/>
                              <a:lumOff val="40000"/>
                            </a:schemeClr>
                          </a:solidFill>
                        </a:rPr>
                        <a:t>0</a:t>
                      </a:r>
                      <a:endParaRPr lang="ru-RU" sz="2800" b="1" dirty="0">
                        <a:solidFill>
                          <a:schemeClr val="bg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marL="91439" marR="91439" marT="45717" marB="45717">
                    <a:lnL w="28575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b="1" dirty="0">
                          <a:solidFill>
                            <a:schemeClr val="bg2"/>
                          </a:solidFill>
                        </a:rPr>
                        <a:t>d</a:t>
                      </a:r>
                      <a:endParaRPr lang="ru-RU" sz="2800" b="1" dirty="0">
                        <a:solidFill>
                          <a:schemeClr val="bg2"/>
                        </a:solidFill>
                      </a:endParaRPr>
                    </a:p>
                  </a:txBody>
                  <a:tcPr marL="91439" marR="91439" marT="45717" marB="45717">
                    <a:lnL w="28575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67055">
                <a:tc>
                  <a:txBody>
                    <a:bodyPr/>
                    <a:lstStyle/>
                    <a:p>
                      <a:r>
                        <a:rPr lang="en-US" sz="2800" b="1" dirty="0">
                          <a:solidFill>
                            <a:schemeClr val="bg2"/>
                          </a:solidFill>
                        </a:rPr>
                        <a:t>110010</a:t>
                      </a:r>
                      <a:r>
                        <a:rPr lang="en-US" sz="2800" b="1" dirty="0">
                          <a:solidFill>
                            <a:schemeClr val="bg2">
                              <a:lumMod val="60000"/>
                              <a:lumOff val="40000"/>
                            </a:schemeClr>
                          </a:solidFill>
                        </a:rPr>
                        <a:t>1</a:t>
                      </a:r>
                      <a:endParaRPr lang="ru-RU" sz="2800" b="1" dirty="0">
                        <a:solidFill>
                          <a:schemeClr val="bg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marL="91439" marR="91439" marT="45717" marB="45717">
                    <a:lnL w="28575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b="1" dirty="0">
                          <a:solidFill>
                            <a:schemeClr val="bg2"/>
                          </a:solidFill>
                        </a:rPr>
                        <a:t>e</a:t>
                      </a:r>
                      <a:endParaRPr lang="ru-RU" sz="2800" b="1" dirty="0">
                        <a:solidFill>
                          <a:schemeClr val="bg2"/>
                        </a:solidFill>
                      </a:endParaRPr>
                    </a:p>
                  </a:txBody>
                  <a:tcPr marL="91439" marR="91439" marT="45717" marB="45717">
                    <a:lnL w="28575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67055">
                <a:tc>
                  <a:txBody>
                    <a:bodyPr/>
                    <a:lstStyle/>
                    <a:p>
                      <a:r>
                        <a:rPr lang="en-US" sz="2800" b="1" dirty="0">
                          <a:solidFill>
                            <a:schemeClr val="bg2"/>
                          </a:solidFill>
                        </a:rPr>
                        <a:t>110011</a:t>
                      </a:r>
                      <a:r>
                        <a:rPr lang="en-US" sz="2800" b="1" dirty="0">
                          <a:solidFill>
                            <a:schemeClr val="bg2">
                              <a:lumMod val="60000"/>
                              <a:lumOff val="40000"/>
                            </a:schemeClr>
                          </a:solidFill>
                        </a:rPr>
                        <a:t>1</a:t>
                      </a:r>
                      <a:endParaRPr lang="ru-RU" sz="2800" b="1" dirty="0">
                        <a:solidFill>
                          <a:schemeClr val="bg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marL="91439" marR="91439" marT="45717" marB="45717">
                    <a:lnL w="28575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b="1" dirty="0">
                          <a:solidFill>
                            <a:schemeClr val="bg2"/>
                          </a:solidFill>
                        </a:rPr>
                        <a:t>g</a:t>
                      </a:r>
                      <a:endParaRPr lang="ru-RU" sz="2800" b="1" dirty="0">
                        <a:solidFill>
                          <a:schemeClr val="bg2"/>
                        </a:solidFill>
                      </a:endParaRPr>
                    </a:p>
                  </a:txBody>
                  <a:tcPr marL="91439" marR="91439" marT="45717" marB="45717">
                    <a:lnL w="28575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67055">
                <a:tc>
                  <a:txBody>
                    <a:bodyPr/>
                    <a:lstStyle/>
                    <a:p>
                      <a:r>
                        <a:rPr lang="en-US" sz="2800" b="1" dirty="0">
                          <a:solidFill>
                            <a:schemeClr val="bg2"/>
                          </a:solidFill>
                        </a:rPr>
                        <a:t>110011</a:t>
                      </a:r>
                      <a:r>
                        <a:rPr lang="en-US" sz="2800" b="1" dirty="0">
                          <a:solidFill>
                            <a:schemeClr val="bg2">
                              <a:lumMod val="60000"/>
                              <a:lumOff val="40000"/>
                            </a:schemeClr>
                          </a:solidFill>
                        </a:rPr>
                        <a:t>0</a:t>
                      </a:r>
                      <a:endParaRPr lang="ru-RU" sz="2800" dirty="0">
                        <a:solidFill>
                          <a:schemeClr val="bg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marL="91439" marR="91439" marT="45717" marB="45717">
                    <a:lnL w="28575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b="1" dirty="0">
                          <a:solidFill>
                            <a:schemeClr val="bg2"/>
                          </a:solidFill>
                        </a:rPr>
                        <a:t>f</a:t>
                      </a:r>
                      <a:endParaRPr lang="ru-RU" sz="2800" b="1" dirty="0">
                        <a:solidFill>
                          <a:schemeClr val="bg2"/>
                        </a:solidFill>
                      </a:endParaRPr>
                    </a:p>
                  </a:txBody>
                  <a:tcPr marL="91439" marR="91439" marT="45717" marB="45717">
                    <a:lnL w="28575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567055">
                <a:tc>
                  <a:txBody>
                    <a:bodyPr/>
                    <a:lstStyle/>
                    <a:p>
                      <a:r>
                        <a:rPr lang="en-US" sz="2800" b="1" dirty="0">
                          <a:solidFill>
                            <a:schemeClr val="bg2"/>
                          </a:solidFill>
                        </a:rPr>
                        <a:t>1101000</a:t>
                      </a:r>
                      <a:endParaRPr lang="ru-RU" sz="2800" b="1" dirty="0">
                        <a:solidFill>
                          <a:schemeClr val="bg2"/>
                        </a:solidFill>
                      </a:endParaRPr>
                    </a:p>
                  </a:txBody>
                  <a:tcPr marL="91439" marR="91439" marT="45717" marB="45717">
                    <a:lnL w="28575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b="1" dirty="0">
                          <a:solidFill>
                            <a:schemeClr val="bg2"/>
                          </a:solidFill>
                        </a:rPr>
                        <a:t>h</a:t>
                      </a:r>
                      <a:endParaRPr lang="ru-RU" sz="2800" b="1" dirty="0">
                        <a:solidFill>
                          <a:schemeClr val="bg2"/>
                        </a:solidFill>
                      </a:endParaRPr>
                    </a:p>
                  </a:txBody>
                  <a:tcPr marL="91439" marR="91439" marT="45717" marB="45717">
                    <a:lnL w="28575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graphicFrame>
        <p:nvGraphicFramePr>
          <p:cNvPr id="8" name="Таблица 7"/>
          <p:cNvGraphicFramePr>
            <a:graphicFrameLocks noGrp="1"/>
          </p:cNvGraphicFramePr>
          <p:nvPr/>
        </p:nvGraphicFramePr>
        <p:xfrm>
          <a:off x="5849938" y="946150"/>
          <a:ext cx="2336800" cy="56705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87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80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67055">
                <a:tc>
                  <a:txBody>
                    <a:bodyPr/>
                    <a:lstStyle/>
                    <a:p>
                      <a:r>
                        <a:rPr lang="en-US" sz="2800" b="1" dirty="0">
                          <a:solidFill>
                            <a:schemeClr val="bg2"/>
                          </a:solidFill>
                        </a:rPr>
                        <a:t>1100001</a:t>
                      </a:r>
                      <a:endParaRPr lang="ru-RU" sz="2800" b="1" dirty="0">
                        <a:solidFill>
                          <a:schemeClr val="bg2"/>
                        </a:solidFill>
                      </a:endParaRPr>
                    </a:p>
                  </a:txBody>
                  <a:tcPr marL="91439" marR="91439" marT="45717" marB="45717">
                    <a:lnL w="28575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b="1" dirty="0">
                          <a:solidFill>
                            <a:schemeClr val="bg2"/>
                          </a:solidFill>
                        </a:rPr>
                        <a:t>a</a:t>
                      </a:r>
                      <a:endParaRPr lang="ru-RU" sz="2800" b="1" dirty="0">
                        <a:solidFill>
                          <a:schemeClr val="bg2"/>
                        </a:solidFill>
                      </a:endParaRPr>
                    </a:p>
                  </a:txBody>
                  <a:tcPr marL="91439" marR="91439" marT="45717" marB="45717">
                    <a:lnL w="28575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7055">
                <a:tc>
                  <a:txBody>
                    <a:bodyPr/>
                    <a:lstStyle/>
                    <a:p>
                      <a:r>
                        <a:rPr lang="en-US" sz="2800" b="1" dirty="0">
                          <a:solidFill>
                            <a:schemeClr val="bg2"/>
                          </a:solidFill>
                        </a:rPr>
                        <a:t>1100011</a:t>
                      </a:r>
                      <a:endParaRPr lang="ru-RU" sz="2800" b="1" dirty="0">
                        <a:solidFill>
                          <a:schemeClr val="bg2"/>
                        </a:solidFill>
                      </a:endParaRPr>
                    </a:p>
                  </a:txBody>
                  <a:tcPr marL="91439" marR="91439" marT="45717" marB="45717">
                    <a:lnL w="28575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b="1" dirty="0">
                          <a:solidFill>
                            <a:schemeClr val="bg2"/>
                          </a:solidFill>
                        </a:rPr>
                        <a:t>c</a:t>
                      </a:r>
                      <a:endParaRPr lang="ru-RU" sz="2800" b="1" dirty="0">
                        <a:solidFill>
                          <a:schemeClr val="bg2"/>
                        </a:solidFill>
                      </a:endParaRPr>
                    </a:p>
                  </a:txBody>
                  <a:tcPr marL="91439" marR="91439" marT="45717" marB="45717">
                    <a:lnL w="28575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7055">
                <a:tc>
                  <a:txBody>
                    <a:bodyPr/>
                    <a:lstStyle/>
                    <a:p>
                      <a:r>
                        <a:rPr lang="en-US" sz="2800" b="1" dirty="0">
                          <a:solidFill>
                            <a:schemeClr val="bg2"/>
                          </a:solidFill>
                        </a:rPr>
                        <a:t>110010</a:t>
                      </a:r>
                      <a:r>
                        <a:rPr lang="en-US" sz="2800" b="1" dirty="0">
                          <a:solidFill>
                            <a:schemeClr val="bg2">
                              <a:lumMod val="60000"/>
                              <a:lumOff val="40000"/>
                            </a:schemeClr>
                          </a:solidFill>
                        </a:rPr>
                        <a:t>0</a:t>
                      </a:r>
                      <a:endParaRPr lang="ru-RU" sz="2800" b="1" dirty="0">
                        <a:solidFill>
                          <a:schemeClr val="bg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marL="91439" marR="91439" marT="45717" marB="45717">
                    <a:lnL w="28575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b="1" dirty="0">
                          <a:solidFill>
                            <a:schemeClr val="bg2"/>
                          </a:solidFill>
                        </a:rPr>
                        <a:t>d</a:t>
                      </a:r>
                      <a:endParaRPr lang="ru-RU" sz="2800" b="1" dirty="0">
                        <a:solidFill>
                          <a:schemeClr val="bg2"/>
                        </a:solidFill>
                      </a:endParaRPr>
                    </a:p>
                  </a:txBody>
                  <a:tcPr marL="91439" marR="91439" marT="45717" marB="45717">
                    <a:lnL w="28575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7055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b="1" dirty="0">
                          <a:solidFill>
                            <a:schemeClr val="bg2"/>
                          </a:solidFill>
                        </a:rPr>
                        <a:t>110010</a:t>
                      </a:r>
                      <a:r>
                        <a:rPr lang="en-US" sz="2800" b="1" dirty="0">
                          <a:solidFill>
                            <a:schemeClr val="bg2">
                              <a:lumMod val="60000"/>
                              <a:lumOff val="40000"/>
                            </a:schemeClr>
                          </a:solidFill>
                        </a:rPr>
                        <a:t>0</a:t>
                      </a:r>
                      <a:endParaRPr lang="ru-RU" sz="2800" b="1" dirty="0">
                        <a:solidFill>
                          <a:schemeClr val="bg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marL="91439" marR="91439" marT="45717" marB="45717">
                    <a:lnL w="28575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b="1" dirty="0">
                          <a:solidFill>
                            <a:schemeClr val="bg2"/>
                          </a:solidFill>
                        </a:rPr>
                        <a:t>d</a:t>
                      </a:r>
                      <a:endParaRPr lang="ru-RU" sz="2800" b="1" dirty="0">
                        <a:solidFill>
                          <a:schemeClr val="bg2"/>
                        </a:solidFill>
                      </a:endParaRPr>
                    </a:p>
                  </a:txBody>
                  <a:tcPr marL="91439" marR="91439" marT="45717" marB="45717">
                    <a:lnL w="28575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7055">
                <a:tc>
                  <a:txBody>
                    <a:bodyPr/>
                    <a:lstStyle/>
                    <a:p>
                      <a:r>
                        <a:rPr lang="en-US" sz="2800" b="1" dirty="0">
                          <a:solidFill>
                            <a:schemeClr val="bg2"/>
                          </a:solidFill>
                        </a:rPr>
                        <a:t>110010</a:t>
                      </a:r>
                      <a:r>
                        <a:rPr lang="en-US" sz="2800" b="1" dirty="0">
                          <a:solidFill>
                            <a:schemeClr val="bg2">
                              <a:lumMod val="60000"/>
                              <a:lumOff val="40000"/>
                            </a:schemeClr>
                          </a:solidFill>
                        </a:rPr>
                        <a:t>1</a:t>
                      </a:r>
                      <a:endParaRPr lang="ru-RU" sz="2800" b="0" dirty="0">
                        <a:solidFill>
                          <a:schemeClr val="bg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marL="91439" marR="91439" marT="45717" marB="45717">
                    <a:lnL w="28575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b="1" dirty="0">
                          <a:solidFill>
                            <a:schemeClr val="bg2"/>
                          </a:solidFill>
                        </a:rPr>
                        <a:t>e</a:t>
                      </a:r>
                      <a:endParaRPr lang="ru-RU" sz="2800" b="1" dirty="0">
                        <a:solidFill>
                          <a:schemeClr val="bg2"/>
                        </a:solidFill>
                      </a:endParaRPr>
                    </a:p>
                  </a:txBody>
                  <a:tcPr marL="91439" marR="91439" marT="45717" marB="45717">
                    <a:lnL w="28575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7055">
                <a:tc>
                  <a:txBody>
                    <a:bodyPr/>
                    <a:lstStyle/>
                    <a:p>
                      <a:r>
                        <a:rPr lang="en-US" sz="2800" b="1" dirty="0">
                          <a:solidFill>
                            <a:schemeClr val="bg2"/>
                          </a:solidFill>
                        </a:rPr>
                        <a:t>110010</a:t>
                      </a:r>
                      <a:r>
                        <a:rPr lang="en-US" sz="2800" b="1" dirty="0">
                          <a:solidFill>
                            <a:schemeClr val="bg2">
                              <a:lumMod val="60000"/>
                              <a:lumOff val="40000"/>
                            </a:schemeClr>
                          </a:solidFill>
                        </a:rPr>
                        <a:t>1</a:t>
                      </a:r>
                      <a:endParaRPr lang="ru-RU" sz="2800" b="1" dirty="0">
                        <a:solidFill>
                          <a:schemeClr val="bg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marL="91439" marR="91439" marT="45717" marB="45717">
                    <a:lnL w="28575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b="1" dirty="0">
                          <a:solidFill>
                            <a:schemeClr val="bg2"/>
                          </a:solidFill>
                        </a:rPr>
                        <a:t>e</a:t>
                      </a:r>
                      <a:endParaRPr lang="ru-RU" sz="2800" b="1" dirty="0">
                        <a:solidFill>
                          <a:schemeClr val="bg2"/>
                        </a:solidFill>
                      </a:endParaRPr>
                    </a:p>
                  </a:txBody>
                  <a:tcPr marL="91439" marR="91439" marT="45717" marB="45717">
                    <a:lnL w="28575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67055">
                <a:tc>
                  <a:txBody>
                    <a:bodyPr/>
                    <a:lstStyle/>
                    <a:p>
                      <a:r>
                        <a:rPr lang="en-US" sz="2800" b="1" dirty="0">
                          <a:solidFill>
                            <a:schemeClr val="bg2"/>
                          </a:solidFill>
                        </a:rPr>
                        <a:t>110010</a:t>
                      </a:r>
                      <a:r>
                        <a:rPr lang="en-US" sz="2800" b="1" dirty="0">
                          <a:solidFill>
                            <a:schemeClr val="bg2">
                              <a:lumMod val="60000"/>
                              <a:lumOff val="40000"/>
                            </a:schemeClr>
                          </a:solidFill>
                        </a:rPr>
                        <a:t>1</a:t>
                      </a:r>
                      <a:endParaRPr lang="ru-RU" sz="2800" b="1" dirty="0">
                        <a:solidFill>
                          <a:schemeClr val="bg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marL="91439" marR="91439" marT="45717" marB="45717">
                    <a:lnL w="28575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b="1" dirty="0">
                          <a:solidFill>
                            <a:schemeClr val="bg2"/>
                          </a:solidFill>
                        </a:rPr>
                        <a:t>e</a:t>
                      </a:r>
                      <a:endParaRPr lang="ru-RU" sz="2800" b="1" dirty="0">
                        <a:solidFill>
                          <a:schemeClr val="bg2"/>
                        </a:solidFill>
                      </a:endParaRPr>
                    </a:p>
                  </a:txBody>
                  <a:tcPr marL="91439" marR="91439" marT="45717" marB="45717">
                    <a:lnL w="28575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67055">
                <a:tc>
                  <a:txBody>
                    <a:bodyPr/>
                    <a:lstStyle/>
                    <a:p>
                      <a:r>
                        <a:rPr lang="en-US" sz="2800" b="1" dirty="0">
                          <a:solidFill>
                            <a:schemeClr val="bg2"/>
                          </a:solidFill>
                        </a:rPr>
                        <a:t>110011</a:t>
                      </a:r>
                      <a:r>
                        <a:rPr lang="en-US" sz="2800" b="1" dirty="0">
                          <a:solidFill>
                            <a:schemeClr val="bg2">
                              <a:lumMod val="60000"/>
                              <a:lumOff val="40000"/>
                            </a:schemeClr>
                          </a:solidFill>
                        </a:rPr>
                        <a:t>0</a:t>
                      </a:r>
                      <a:endParaRPr lang="ru-RU" sz="2800" dirty="0">
                        <a:solidFill>
                          <a:schemeClr val="bg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marL="91439" marR="91439" marT="45717" marB="45717">
                    <a:lnL w="28575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b="1" dirty="0">
                          <a:solidFill>
                            <a:schemeClr val="bg2"/>
                          </a:solidFill>
                        </a:rPr>
                        <a:t>f</a:t>
                      </a:r>
                      <a:endParaRPr lang="ru-RU" sz="2800" b="1" dirty="0">
                        <a:solidFill>
                          <a:schemeClr val="bg2"/>
                        </a:solidFill>
                      </a:endParaRPr>
                    </a:p>
                  </a:txBody>
                  <a:tcPr marL="91439" marR="91439" marT="45717" marB="45717">
                    <a:lnL w="28575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67055">
                <a:tc>
                  <a:txBody>
                    <a:bodyPr/>
                    <a:lstStyle/>
                    <a:p>
                      <a:r>
                        <a:rPr lang="en-US" sz="2800" b="1" dirty="0">
                          <a:solidFill>
                            <a:schemeClr val="bg2"/>
                          </a:solidFill>
                        </a:rPr>
                        <a:t>110011</a:t>
                      </a:r>
                      <a:r>
                        <a:rPr lang="en-US" sz="2800" b="1" dirty="0">
                          <a:solidFill>
                            <a:schemeClr val="bg2">
                              <a:lumMod val="60000"/>
                              <a:lumOff val="40000"/>
                            </a:schemeClr>
                          </a:solidFill>
                        </a:rPr>
                        <a:t>1</a:t>
                      </a:r>
                      <a:endParaRPr lang="ru-RU" sz="2800" b="1" dirty="0">
                        <a:solidFill>
                          <a:schemeClr val="bg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marL="91439" marR="91439" marT="45717" marB="45717">
                    <a:lnL w="28575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b="1" dirty="0">
                          <a:solidFill>
                            <a:schemeClr val="bg2"/>
                          </a:solidFill>
                        </a:rPr>
                        <a:t>g</a:t>
                      </a:r>
                      <a:endParaRPr lang="ru-RU" sz="2800" b="1" dirty="0">
                        <a:solidFill>
                          <a:schemeClr val="bg2"/>
                        </a:solidFill>
                      </a:endParaRPr>
                    </a:p>
                  </a:txBody>
                  <a:tcPr marL="91439" marR="91439" marT="45717" marB="45717">
                    <a:lnL w="28575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567055">
                <a:tc>
                  <a:txBody>
                    <a:bodyPr/>
                    <a:lstStyle/>
                    <a:p>
                      <a:r>
                        <a:rPr lang="en-US" sz="2800" b="1" dirty="0">
                          <a:solidFill>
                            <a:schemeClr val="bg2"/>
                          </a:solidFill>
                        </a:rPr>
                        <a:t>1101000</a:t>
                      </a:r>
                      <a:endParaRPr lang="ru-RU" sz="2800" b="1" dirty="0">
                        <a:solidFill>
                          <a:schemeClr val="bg2"/>
                        </a:solidFill>
                      </a:endParaRPr>
                    </a:p>
                  </a:txBody>
                  <a:tcPr marL="91439" marR="91439" marT="45717" marB="45717">
                    <a:lnL w="28575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b="1" dirty="0">
                          <a:solidFill>
                            <a:schemeClr val="bg2"/>
                          </a:solidFill>
                        </a:rPr>
                        <a:t>h</a:t>
                      </a:r>
                      <a:endParaRPr lang="ru-RU" sz="2800" b="1" dirty="0">
                        <a:solidFill>
                          <a:schemeClr val="bg2"/>
                        </a:solidFill>
                      </a:endParaRPr>
                    </a:p>
                  </a:txBody>
                  <a:tcPr marL="91439" marR="91439" marT="45717" marB="45717">
                    <a:lnL w="28575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1055688"/>
            <a:ext cx="8229600" cy="5040312"/>
          </a:xfrm>
          <a:solidFill>
            <a:schemeClr val="tx1"/>
          </a:solidFill>
          <a:ln>
            <a:solidFill>
              <a:schemeClr val="bg2"/>
            </a:solidFill>
          </a:ln>
        </p:spPr>
        <p:txBody>
          <a:bodyPr/>
          <a:lstStyle/>
          <a:p>
            <a:pPr marL="0" algn="ctr" eaLnBrk="1" fontAlgn="t" hangingPunct="1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None/>
              <a:defRPr/>
            </a:pPr>
            <a:r>
              <a:rPr lang="en-US" b="1" kern="1200" dirty="0">
                <a:solidFill>
                  <a:schemeClr val="bg2"/>
                </a:solidFill>
              </a:rPr>
              <a:t>e f d e c g h d a e</a:t>
            </a:r>
          </a:p>
          <a:p>
            <a:pPr marL="0" eaLnBrk="1" fontAlgn="t" hangingPunct="1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None/>
              <a:defRPr/>
            </a:pPr>
            <a:endParaRPr lang="en-US" b="1" kern="1200" dirty="0">
              <a:solidFill>
                <a:schemeClr val="bg2"/>
              </a:solidFill>
            </a:endParaRPr>
          </a:p>
          <a:p>
            <a:pPr marL="0" eaLnBrk="1" fontAlgn="t" hangingPunct="1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None/>
              <a:defRPr/>
            </a:pPr>
            <a:r>
              <a:rPr lang="en-US" b="1" kern="1200" dirty="0">
                <a:solidFill>
                  <a:schemeClr val="bg2"/>
                </a:solidFill>
              </a:rPr>
              <a:t>      e f d e c g e d a</a:t>
            </a:r>
            <a:endParaRPr lang="ru-RU" b="1" kern="1200" dirty="0">
              <a:solidFill>
                <a:schemeClr val="bg2"/>
              </a:solidFill>
            </a:endParaRPr>
          </a:p>
          <a:p>
            <a:pPr marL="0" eaLnBrk="1" fontAlgn="t" hangingPunct="1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None/>
              <a:defRPr/>
            </a:pPr>
            <a:endParaRPr lang="en-US" b="1" kern="1200" dirty="0">
              <a:solidFill>
                <a:schemeClr val="bg2"/>
              </a:solidFill>
            </a:endParaRPr>
          </a:p>
          <a:p>
            <a:pPr marL="0" eaLnBrk="1" fontAlgn="t" hangingPunct="1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None/>
              <a:defRPr/>
            </a:pPr>
            <a:r>
              <a:rPr lang="en-US" b="1" dirty="0">
                <a:solidFill>
                  <a:schemeClr val="bg2"/>
                </a:solidFill>
              </a:rPr>
              <a:t>                   d e f g e d e</a:t>
            </a:r>
          </a:p>
          <a:p>
            <a:pPr eaLnBrk="1" fontAlgn="t" hangingPunct="1">
              <a:buFont typeface="Wingdings" panose="05000000000000000000" pitchFamily="2" charset="2"/>
              <a:buNone/>
              <a:defRPr/>
            </a:pPr>
            <a:r>
              <a:rPr lang="en-US" b="1" dirty="0">
                <a:solidFill>
                  <a:schemeClr val="bg2"/>
                </a:solidFill>
              </a:rPr>
              <a:t>        </a:t>
            </a:r>
          </a:p>
          <a:p>
            <a:pPr eaLnBrk="1" fontAlgn="t" hangingPunct="1">
              <a:buFont typeface="Wingdings" panose="05000000000000000000" pitchFamily="2" charset="2"/>
              <a:buNone/>
              <a:defRPr/>
            </a:pPr>
            <a:r>
              <a:rPr lang="en-US" b="1" dirty="0">
                <a:solidFill>
                  <a:schemeClr val="bg2"/>
                </a:solidFill>
              </a:rPr>
              <a:t>            d e </a:t>
            </a:r>
            <a:r>
              <a:rPr lang="en-US" b="1" dirty="0" err="1">
                <a:solidFill>
                  <a:schemeClr val="bg2"/>
                </a:solidFill>
              </a:rPr>
              <a:t>e</a:t>
            </a:r>
            <a:r>
              <a:rPr lang="en-US" b="1" dirty="0">
                <a:solidFill>
                  <a:schemeClr val="bg2"/>
                </a:solidFill>
              </a:rPr>
              <a:t> d e               g f</a:t>
            </a:r>
          </a:p>
          <a:p>
            <a:pPr eaLnBrk="1" fontAlgn="t" hangingPunct="1">
              <a:buFont typeface="Wingdings" panose="05000000000000000000" pitchFamily="2" charset="2"/>
              <a:buNone/>
              <a:defRPr/>
            </a:pPr>
            <a:endParaRPr lang="en-US" b="1" dirty="0">
              <a:solidFill>
                <a:schemeClr val="bg2"/>
              </a:solidFill>
            </a:endParaRPr>
          </a:p>
          <a:p>
            <a:pPr eaLnBrk="1" fontAlgn="t" hangingPunct="1">
              <a:buFont typeface="Wingdings" panose="05000000000000000000" pitchFamily="2" charset="2"/>
              <a:buNone/>
              <a:defRPr/>
            </a:pPr>
            <a:r>
              <a:rPr lang="en-US" b="1" dirty="0">
                <a:solidFill>
                  <a:schemeClr val="bg2"/>
                </a:solidFill>
              </a:rPr>
              <a:t>a c      d </a:t>
            </a:r>
            <a:r>
              <a:rPr lang="en-US" b="1" dirty="0" err="1">
                <a:solidFill>
                  <a:schemeClr val="bg2"/>
                </a:solidFill>
              </a:rPr>
              <a:t>d</a:t>
            </a:r>
            <a:r>
              <a:rPr lang="en-US" b="1" dirty="0">
                <a:solidFill>
                  <a:schemeClr val="bg2"/>
                </a:solidFill>
              </a:rPr>
              <a:t>      e </a:t>
            </a:r>
            <a:r>
              <a:rPr lang="en-US" b="1" dirty="0" err="1">
                <a:solidFill>
                  <a:schemeClr val="bg2"/>
                </a:solidFill>
              </a:rPr>
              <a:t>e</a:t>
            </a:r>
            <a:r>
              <a:rPr lang="en-US" b="1" dirty="0">
                <a:solidFill>
                  <a:schemeClr val="bg2"/>
                </a:solidFill>
              </a:rPr>
              <a:t> </a:t>
            </a:r>
            <a:r>
              <a:rPr lang="en-US" b="1" dirty="0" err="1">
                <a:solidFill>
                  <a:schemeClr val="bg2"/>
                </a:solidFill>
              </a:rPr>
              <a:t>e</a:t>
            </a:r>
            <a:r>
              <a:rPr lang="en-US" b="1" dirty="0">
                <a:solidFill>
                  <a:schemeClr val="bg2"/>
                </a:solidFill>
              </a:rPr>
              <a:t>           f        g            h</a:t>
            </a:r>
            <a:endParaRPr lang="ru-RU" b="1" dirty="0">
              <a:solidFill>
                <a:schemeClr val="bg2"/>
              </a:solidFill>
            </a:endParaRPr>
          </a:p>
          <a:p>
            <a:pPr eaLnBrk="1" fontAlgn="t" hangingPunct="1">
              <a:buFont typeface="Wingdings" panose="05000000000000000000" pitchFamily="2" charset="2"/>
              <a:buNone/>
              <a:defRPr/>
            </a:pPr>
            <a:endParaRPr lang="ru-RU" b="1" dirty="0">
              <a:solidFill>
                <a:schemeClr val="bg2"/>
              </a:solidFill>
            </a:endParaRPr>
          </a:p>
          <a:p>
            <a:pPr marL="0" eaLnBrk="1" fontAlgn="t" hangingPunct="1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None/>
              <a:defRPr/>
            </a:pPr>
            <a:endParaRPr lang="ru-RU" b="1" dirty="0">
              <a:solidFill>
                <a:schemeClr val="bg2"/>
              </a:solidFill>
            </a:endParaRPr>
          </a:p>
          <a:p>
            <a:pPr marL="0" eaLnBrk="1" fontAlgn="t" hangingPunct="1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None/>
              <a:defRPr/>
            </a:pPr>
            <a:endParaRPr lang="ru-RU" b="1" kern="1200" dirty="0">
              <a:solidFill>
                <a:schemeClr val="bg2"/>
              </a:solidFill>
            </a:endParaRPr>
          </a:p>
          <a:p>
            <a:pPr marL="0" algn="ctr" eaLnBrk="1" fontAlgn="t" hangingPunct="1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None/>
              <a:defRPr/>
            </a:pPr>
            <a:r>
              <a:rPr lang="en-US" b="1" kern="1200" dirty="0">
                <a:solidFill>
                  <a:schemeClr val="bg2"/>
                </a:solidFill>
              </a:rPr>
              <a:t> </a:t>
            </a:r>
            <a:endParaRPr lang="ru-RU" dirty="0">
              <a:effectLst/>
            </a:endParaRPr>
          </a:p>
        </p:txBody>
      </p:sp>
      <p:sp>
        <p:nvSpPr>
          <p:cNvPr id="4" name="Заголовок 1"/>
          <p:cNvSpPr txBox="1">
            <a:spLocks/>
          </p:cNvSpPr>
          <p:nvPr/>
        </p:nvSpPr>
        <p:spPr bwMode="auto">
          <a:xfrm>
            <a:off x="519113" y="288925"/>
            <a:ext cx="8229600" cy="455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>
              <a:defRPr/>
            </a:pPr>
            <a:r>
              <a:rPr lang="ru-RU" kern="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Двоичная быстрая сортировка</a:t>
            </a:r>
          </a:p>
        </p:txBody>
      </p:sp>
      <p:cxnSp>
        <p:nvCxnSpPr>
          <p:cNvPr id="7" name="Прямая со стрелкой 6"/>
          <p:cNvCxnSpPr>
            <a:cxnSpLocks noChangeShapeType="1"/>
          </p:cNvCxnSpPr>
          <p:nvPr/>
        </p:nvCxnSpPr>
        <p:spPr bwMode="auto">
          <a:xfrm rot="10800000" flipV="1">
            <a:off x="2198688" y="1639888"/>
            <a:ext cx="1643062" cy="511175"/>
          </a:xfrm>
          <a:prstGeom prst="straightConnector1">
            <a:avLst/>
          </a:prstGeom>
          <a:noFill/>
          <a:ln w="9525" algn="ctr">
            <a:solidFill>
              <a:srgbClr val="000000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9" name="Прямая со стрелкой 8"/>
          <p:cNvCxnSpPr>
            <a:cxnSpLocks noChangeShapeType="1"/>
          </p:cNvCxnSpPr>
          <p:nvPr/>
        </p:nvCxnSpPr>
        <p:spPr bwMode="auto">
          <a:xfrm rot="16200000" flipH="1">
            <a:off x="5119688" y="2114550"/>
            <a:ext cx="3760788" cy="2738437"/>
          </a:xfrm>
          <a:prstGeom prst="straightConnector1">
            <a:avLst/>
          </a:prstGeom>
          <a:noFill/>
          <a:ln w="9525" algn="ctr">
            <a:solidFill>
              <a:srgbClr val="000000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3" name="Прямая со стрелкой 12"/>
          <p:cNvCxnSpPr>
            <a:cxnSpLocks noChangeShapeType="1"/>
          </p:cNvCxnSpPr>
          <p:nvPr/>
        </p:nvCxnSpPr>
        <p:spPr bwMode="auto">
          <a:xfrm rot="5400000">
            <a:off x="7938" y="3319462"/>
            <a:ext cx="2921000" cy="1387475"/>
          </a:xfrm>
          <a:prstGeom prst="straightConnector1">
            <a:avLst/>
          </a:prstGeom>
          <a:noFill/>
          <a:ln w="9525" algn="ctr">
            <a:solidFill>
              <a:srgbClr val="000000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5" name="Прямая со стрелкой 14"/>
          <p:cNvCxnSpPr>
            <a:cxnSpLocks noChangeShapeType="1"/>
          </p:cNvCxnSpPr>
          <p:nvPr/>
        </p:nvCxnSpPr>
        <p:spPr bwMode="auto">
          <a:xfrm>
            <a:off x="3330575" y="2589213"/>
            <a:ext cx="620713" cy="547687"/>
          </a:xfrm>
          <a:prstGeom prst="straightConnector1">
            <a:avLst/>
          </a:prstGeom>
          <a:noFill/>
          <a:ln w="9525" algn="ctr">
            <a:solidFill>
              <a:srgbClr val="000000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9" name="Прямая со стрелкой 18"/>
          <p:cNvCxnSpPr>
            <a:cxnSpLocks noChangeShapeType="1"/>
          </p:cNvCxnSpPr>
          <p:nvPr/>
        </p:nvCxnSpPr>
        <p:spPr bwMode="auto">
          <a:xfrm rot="10800000" flipV="1">
            <a:off x="2563813" y="3575050"/>
            <a:ext cx="1022350" cy="693738"/>
          </a:xfrm>
          <a:prstGeom prst="straightConnector1">
            <a:avLst/>
          </a:prstGeom>
          <a:noFill/>
          <a:ln w="9525" algn="ctr">
            <a:solidFill>
              <a:srgbClr val="000000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1" name="Прямая со стрелкой 20"/>
          <p:cNvCxnSpPr>
            <a:cxnSpLocks noChangeShapeType="1"/>
          </p:cNvCxnSpPr>
          <p:nvPr/>
        </p:nvCxnSpPr>
        <p:spPr bwMode="auto">
          <a:xfrm>
            <a:off x="4572000" y="3575050"/>
            <a:ext cx="985838" cy="620713"/>
          </a:xfrm>
          <a:prstGeom prst="straightConnector1">
            <a:avLst/>
          </a:prstGeom>
          <a:noFill/>
          <a:ln w="9525" algn="ctr">
            <a:solidFill>
              <a:srgbClr val="000000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7" name="Прямая со стрелкой 26"/>
          <p:cNvCxnSpPr>
            <a:cxnSpLocks noChangeShapeType="1"/>
          </p:cNvCxnSpPr>
          <p:nvPr/>
        </p:nvCxnSpPr>
        <p:spPr bwMode="auto">
          <a:xfrm rot="5400000">
            <a:off x="1979613" y="4926013"/>
            <a:ext cx="730250" cy="292100"/>
          </a:xfrm>
          <a:prstGeom prst="straightConnector1">
            <a:avLst/>
          </a:prstGeom>
          <a:noFill/>
          <a:ln w="9525" algn="ctr">
            <a:solidFill>
              <a:srgbClr val="000000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9" name="Прямая со стрелкой 28"/>
          <p:cNvCxnSpPr>
            <a:cxnSpLocks noChangeShapeType="1"/>
          </p:cNvCxnSpPr>
          <p:nvPr/>
        </p:nvCxnSpPr>
        <p:spPr bwMode="auto">
          <a:xfrm rot="16200000" flipH="1">
            <a:off x="3148013" y="4852988"/>
            <a:ext cx="730250" cy="438150"/>
          </a:xfrm>
          <a:prstGeom prst="straightConnector1">
            <a:avLst/>
          </a:prstGeom>
          <a:noFill/>
          <a:ln w="9525" algn="ctr">
            <a:solidFill>
              <a:srgbClr val="000000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1" name="Прямая со стрелкой 30"/>
          <p:cNvCxnSpPr>
            <a:cxnSpLocks noChangeShapeType="1"/>
          </p:cNvCxnSpPr>
          <p:nvPr/>
        </p:nvCxnSpPr>
        <p:spPr bwMode="auto">
          <a:xfrm rot="5400000">
            <a:off x="5302250" y="4926013"/>
            <a:ext cx="620713" cy="255587"/>
          </a:xfrm>
          <a:prstGeom prst="straightConnector1">
            <a:avLst/>
          </a:prstGeom>
          <a:noFill/>
          <a:ln w="9525" algn="ctr">
            <a:solidFill>
              <a:srgbClr val="000000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3" name="Прямая со стрелкой 32"/>
          <p:cNvCxnSpPr>
            <a:cxnSpLocks noChangeShapeType="1"/>
          </p:cNvCxnSpPr>
          <p:nvPr/>
        </p:nvCxnSpPr>
        <p:spPr bwMode="auto">
          <a:xfrm rot="16200000" flipH="1">
            <a:off x="5977731" y="4761707"/>
            <a:ext cx="657225" cy="620712"/>
          </a:xfrm>
          <a:prstGeom prst="straightConnector1">
            <a:avLst/>
          </a:prstGeom>
          <a:noFill/>
          <a:ln w="9525" algn="ctr">
            <a:solidFill>
              <a:srgbClr val="000000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8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1019175"/>
            <a:ext cx="8229600" cy="5076825"/>
          </a:xfrm>
          <a:solidFill>
            <a:schemeClr val="tx1"/>
          </a:solidFill>
          <a:ln>
            <a:solidFill>
              <a:srgbClr val="000000"/>
            </a:solidFill>
          </a:ln>
        </p:spPr>
        <p:txBody>
          <a:bodyPr/>
          <a:lstStyle/>
          <a:p>
            <a:pPr>
              <a:buFont typeface="Wingdings" panose="05000000000000000000" pitchFamily="2" charset="2"/>
              <a:buNone/>
              <a:defRPr/>
            </a:pPr>
            <a:r>
              <a:rPr lang="ru-RU" sz="2800" i="1">
                <a:solidFill>
                  <a:schemeClr val="bg2"/>
                </a:solidFill>
              </a:rPr>
              <a:t>Radix_bin(X,F,L,d)</a:t>
            </a:r>
            <a:r>
              <a:rPr lang="en-US" sz="2800" i="1">
                <a:solidFill>
                  <a:schemeClr val="bg2"/>
                </a:solidFill>
              </a:rPr>
              <a:t> // </a:t>
            </a:r>
            <a:r>
              <a:rPr lang="en-US" sz="2800" i="1">
                <a:solidFill>
                  <a:srgbClr val="0A85FF"/>
                </a:solidFill>
              </a:rPr>
              <a:t>X – </a:t>
            </a:r>
            <a:r>
              <a:rPr lang="ru-RU" sz="2800" i="1">
                <a:solidFill>
                  <a:srgbClr val="0A85FF"/>
                </a:solidFill>
              </a:rPr>
              <a:t>массив, </a:t>
            </a:r>
            <a:r>
              <a:rPr lang="en-US" sz="2800" i="1">
                <a:solidFill>
                  <a:srgbClr val="0A85FF"/>
                </a:solidFill>
              </a:rPr>
              <a:t>F</a:t>
            </a:r>
            <a:r>
              <a:rPr lang="ru-RU" sz="2800" i="1">
                <a:solidFill>
                  <a:srgbClr val="0A85FF"/>
                </a:solidFill>
              </a:rPr>
              <a:t>, </a:t>
            </a:r>
            <a:r>
              <a:rPr lang="en-US" sz="2800" i="1">
                <a:solidFill>
                  <a:srgbClr val="0A85FF"/>
                </a:solidFill>
              </a:rPr>
              <a:t>L – </a:t>
            </a:r>
            <a:r>
              <a:rPr lang="ru-RU" sz="2800" i="1">
                <a:solidFill>
                  <a:srgbClr val="0A85FF"/>
                </a:solidFill>
              </a:rPr>
              <a:t>начало и конец подмассива, </a:t>
            </a:r>
            <a:r>
              <a:rPr lang="en-US" sz="2800" i="1">
                <a:solidFill>
                  <a:srgbClr val="0A85FF"/>
                </a:solidFill>
              </a:rPr>
              <a:t>d – </a:t>
            </a:r>
            <a:r>
              <a:rPr lang="ru-RU" sz="2800" i="1">
                <a:solidFill>
                  <a:srgbClr val="0A85FF"/>
                </a:solidFill>
              </a:rPr>
              <a:t>номер рассматриваемого разряда</a:t>
            </a:r>
          </a:p>
          <a:p>
            <a:pPr>
              <a:buFont typeface="Wingdings" panose="05000000000000000000" pitchFamily="2" charset="2"/>
              <a:buNone/>
              <a:defRPr/>
            </a:pPr>
            <a:r>
              <a:rPr lang="ru-RU" sz="2800" u="sng">
                <a:solidFill>
                  <a:schemeClr val="bg2"/>
                </a:solidFill>
              </a:rPr>
              <a:t>Если</a:t>
            </a:r>
            <a:r>
              <a:rPr lang="ru-RU" sz="2800">
                <a:solidFill>
                  <a:schemeClr val="bg2"/>
                </a:solidFill>
              </a:rPr>
              <a:t> d&lt;0 </a:t>
            </a:r>
            <a:r>
              <a:rPr lang="ru-RU" sz="2800" u="sng">
                <a:solidFill>
                  <a:schemeClr val="bg2"/>
                </a:solidFill>
              </a:rPr>
              <a:t>или</a:t>
            </a:r>
            <a:r>
              <a:rPr lang="ru-RU" sz="2800">
                <a:solidFill>
                  <a:schemeClr val="bg2"/>
                </a:solidFill>
              </a:rPr>
              <a:t> F==L </a:t>
            </a:r>
            <a:r>
              <a:rPr lang="ru-RU" sz="2800" u="sng">
                <a:solidFill>
                  <a:schemeClr val="bg2"/>
                </a:solidFill>
              </a:rPr>
              <a:t>то</a:t>
            </a:r>
            <a:r>
              <a:rPr lang="ru-RU" sz="2800">
                <a:solidFill>
                  <a:schemeClr val="bg2"/>
                </a:solidFill>
              </a:rPr>
              <a:t> выход</a:t>
            </a:r>
          </a:p>
          <a:p>
            <a:pPr>
              <a:buFont typeface="Wingdings" panose="05000000000000000000" pitchFamily="2" charset="2"/>
              <a:buNone/>
              <a:defRPr/>
            </a:pPr>
            <a:r>
              <a:rPr lang="ru-RU" sz="2800">
                <a:solidFill>
                  <a:schemeClr val="bg2"/>
                </a:solidFill>
              </a:rPr>
              <a:t>I=F, J = L</a:t>
            </a:r>
          </a:p>
          <a:p>
            <a:pPr>
              <a:buFont typeface="Wingdings" panose="05000000000000000000" pitchFamily="2" charset="2"/>
              <a:buNone/>
              <a:defRPr/>
            </a:pPr>
            <a:r>
              <a:rPr lang="ru-RU" sz="2800" u="sng">
                <a:solidFill>
                  <a:schemeClr val="bg2"/>
                </a:solidFill>
              </a:rPr>
              <a:t>пока</a:t>
            </a:r>
            <a:r>
              <a:rPr lang="ru-RU" sz="2800">
                <a:solidFill>
                  <a:schemeClr val="bg2"/>
                </a:solidFill>
              </a:rPr>
              <a:t> </a:t>
            </a:r>
            <a:r>
              <a:rPr lang="en-US" sz="2800">
                <a:solidFill>
                  <a:schemeClr val="bg2"/>
                </a:solidFill>
              </a:rPr>
              <a:t>I&lt; J </a:t>
            </a:r>
            <a:r>
              <a:rPr lang="ru-RU" sz="2800" u="sng">
                <a:solidFill>
                  <a:schemeClr val="bg2"/>
                </a:solidFill>
              </a:rPr>
              <a:t>нц</a:t>
            </a:r>
          </a:p>
          <a:p>
            <a:pPr>
              <a:buFont typeface="Wingdings" panose="05000000000000000000" pitchFamily="2" charset="2"/>
              <a:buNone/>
              <a:defRPr/>
            </a:pPr>
            <a:r>
              <a:rPr lang="ru-RU" sz="2800" u="sng">
                <a:solidFill>
                  <a:schemeClr val="bg2"/>
                </a:solidFill>
              </a:rPr>
              <a:t>пока</a:t>
            </a:r>
            <a:r>
              <a:rPr lang="ru-RU" sz="2800">
                <a:solidFill>
                  <a:schemeClr val="bg2"/>
                </a:solidFill>
              </a:rPr>
              <a:t> бит </a:t>
            </a:r>
            <a:r>
              <a:rPr lang="en-US" sz="2800">
                <a:solidFill>
                  <a:schemeClr val="bg2"/>
                </a:solidFill>
              </a:rPr>
              <a:t>d </a:t>
            </a:r>
            <a:r>
              <a:rPr lang="ru-RU" sz="2800">
                <a:solidFill>
                  <a:schemeClr val="bg2"/>
                </a:solidFill>
              </a:rPr>
              <a:t>в </a:t>
            </a:r>
            <a:r>
              <a:rPr lang="en-US" sz="2800">
                <a:solidFill>
                  <a:schemeClr val="bg2"/>
                </a:solidFill>
              </a:rPr>
              <a:t>X[I]</a:t>
            </a:r>
            <a:r>
              <a:rPr lang="ru-RU" sz="2800">
                <a:solidFill>
                  <a:schemeClr val="bg2"/>
                </a:solidFill>
              </a:rPr>
              <a:t> </a:t>
            </a:r>
            <a:r>
              <a:rPr lang="en-US" sz="2800">
                <a:solidFill>
                  <a:schemeClr val="bg2"/>
                </a:solidFill>
              </a:rPr>
              <a:t>== 0 </a:t>
            </a:r>
            <a:endParaRPr lang="ru-RU" sz="2800">
              <a:solidFill>
                <a:schemeClr val="bg2"/>
              </a:solidFill>
            </a:endParaRPr>
          </a:p>
          <a:p>
            <a:pPr>
              <a:buFont typeface="Wingdings" panose="05000000000000000000" pitchFamily="2" charset="2"/>
              <a:buNone/>
              <a:defRPr/>
            </a:pPr>
            <a:r>
              <a:rPr lang="ru-RU" sz="2800" u="sng">
                <a:solidFill>
                  <a:schemeClr val="bg2"/>
                </a:solidFill>
              </a:rPr>
              <a:t>нц </a:t>
            </a:r>
            <a:r>
              <a:rPr lang="ru-RU" sz="2800">
                <a:solidFill>
                  <a:schemeClr val="bg2"/>
                </a:solidFill>
              </a:rPr>
              <a:t>I++ </a:t>
            </a:r>
            <a:r>
              <a:rPr lang="ru-RU" sz="2800" u="sng">
                <a:solidFill>
                  <a:schemeClr val="bg2"/>
                </a:solidFill>
              </a:rPr>
              <a:t>кц</a:t>
            </a:r>
          </a:p>
          <a:p>
            <a:pPr>
              <a:buFont typeface="Wingdings" panose="05000000000000000000" pitchFamily="2" charset="2"/>
              <a:buNone/>
              <a:defRPr/>
            </a:pPr>
            <a:r>
              <a:rPr lang="ru-RU" sz="2800" u="sng">
                <a:solidFill>
                  <a:schemeClr val="bg2"/>
                </a:solidFill>
              </a:rPr>
              <a:t>пока</a:t>
            </a:r>
            <a:r>
              <a:rPr lang="ru-RU" sz="2800">
                <a:solidFill>
                  <a:schemeClr val="bg2"/>
                </a:solidFill>
              </a:rPr>
              <a:t> бит </a:t>
            </a:r>
            <a:r>
              <a:rPr lang="en-US" sz="2800">
                <a:solidFill>
                  <a:schemeClr val="bg2"/>
                </a:solidFill>
              </a:rPr>
              <a:t>d </a:t>
            </a:r>
            <a:r>
              <a:rPr lang="ru-RU" sz="2800">
                <a:solidFill>
                  <a:schemeClr val="bg2"/>
                </a:solidFill>
              </a:rPr>
              <a:t>в Х[</a:t>
            </a:r>
            <a:r>
              <a:rPr lang="en-US" sz="2800">
                <a:solidFill>
                  <a:schemeClr val="bg2"/>
                </a:solidFill>
              </a:rPr>
              <a:t>J</a:t>
            </a:r>
            <a:r>
              <a:rPr lang="ru-RU" sz="2800">
                <a:solidFill>
                  <a:schemeClr val="bg2"/>
                </a:solidFill>
              </a:rPr>
              <a:t>] </a:t>
            </a:r>
            <a:r>
              <a:rPr lang="en-US" sz="2800">
                <a:solidFill>
                  <a:schemeClr val="bg2"/>
                </a:solidFill>
              </a:rPr>
              <a:t>== </a:t>
            </a:r>
            <a:r>
              <a:rPr lang="ru-RU" sz="2800">
                <a:solidFill>
                  <a:schemeClr val="bg2"/>
                </a:solidFill>
              </a:rPr>
              <a:t>1</a:t>
            </a:r>
            <a:r>
              <a:rPr lang="en-US" sz="2800">
                <a:solidFill>
                  <a:schemeClr val="bg2"/>
                </a:solidFill>
              </a:rPr>
              <a:t> </a:t>
            </a:r>
            <a:endParaRPr lang="ru-RU" sz="2800">
              <a:solidFill>
                <a:schemeClr val="bg2"/>
              </a:solidFill>
            </a:endParaRPr>
          </a:p>
          <a:p>
            <a:pPr>
              <a:buFont typeface="Wingdings" panose="05000000000000000000" pitchFamily="2" charset="2"/>
              <a:buNone/>
              <a:defRPr/>
            </a:pPr>
            <a:r>
              <a:rPr lang="ru-RU" sz="2800" u="sng">
                <a:solidFill>
                  <a:schemeClr val="bg2"/>
                </a:solidFill>
              </a:rPr>
              <a:t>нц</a:t>
            </a:r>
            <a:r>
              <a:rPr lang="ru-RU" sz="2800">
                <a:solidFill>
                  <a:schemeClr val="bg2"/>
                </a:solidFill>
              </a:rPr>
              <a:t> J-- </a:t>
            </a:r>
            <a:r>
              <a:rPr lang="ru-RU" sz="2800" u="sng">
                <a:solidFill>
                  <a:schemeClr val="bg2"/>
                </a:solidFill>
              </a:rPr>
              <a:t>кц</a:t>
            </a:r>
          </a:p>
          <a:p>
            <a:pPr>
              <a:buFont typeface="Wingdings" panose="05000000000000000000" pitchFamily="2" charset="2"/>
              <a:buNone/>
              <a:defRPr/>
            </a:pPr>
            <a:endParaRPr lang="ru-RU" sz="2800">
              <a:solidFill>
                <a:schemeClr val="bg2"/>
              </a:solidFill>
            </a:endParaRPr>
          </a:p>
        </p:txBody>
      </p:sp>
      <p:sp>
        <p:nvSpPr>
          <p:cNvPr id="4" name="Заголовок 1"/>
          <p:cNvSpPr txBox="1">
            <a:spLocks/>
          </p:cNvSpPr>
          <p:nvPr/>
        </p:nvSpPr>
        <p:spPr bwMode="auto">
          <a:xfrm>
            <a:off x="519113" y="288925"/>
            <a:ext cx="8229600" cy="455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>
              <a:defRPr/>
            </a:pPr>
            <a:r>
              <a:rPr lang="ru-RU" kern="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Двоичная быстрая сортировка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5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 nodeType="clickPar">
                      <p:stCondLst>
                        <p:cond delay="indefinite"/>
                      </p:stCondLst>
                      <p:childTnLst>
                        <p:par>
                          <p:cTn id="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8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2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nimBg="1"/>
      <p:bldP spid="4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982663"/>
            <a:ext cx="8229600" cy="5113337"/>
          </a:xfrm>
          <a:solidFill>
            <a:schemeClr val="tx1"/>
          </a:solidFill>
          <a:ln>
            <a:solidFill>
              <a:srgbClr val="000000"/>
            </a:solidFill>
          </a:ln>
        </p:spPr>
        <p:txBody>
          <a:bodyPr/>
          <a:lstStyle/>
          <a:p>
            <a:pPr>
              <a:buFont typeface="Wingdings" panose="05000000000000000000" pitchFamily="2" charset="2"/>
              <a:buNone/>
              <a:defRPr/>
            </a:pPr>
            <a:r>
              <a:rPr lang="ru-RU" dirty="0">
                <a:solidFill>
                  <a:schemeClr val="bg2"/>
                </a:solidFill>
              </a:rPr>
              <a:t>Если I&lt;=J то поменять местами </a:t>
            </a:r>
            <a:r>
              <a:rPr lang="ru-RU" dirty="0" err="1">
                <a:solidFill>
                  <a:schemeClr val="bg2"/>
                </a:solidFill>
              </a:rPr>
              <a:t>x</a:t>
            </a:r>
            <a:r>
              <a:rPr lang="ru-RU" dirty="0">
                <a:solidFill>
                  <a:schemeClr val="bg2"/>
                </a:solidFill>
              </a:rPr>
              <a:t>[I] и </a:t>
            </a:r>
            <a:r>
              <a:rPr lang="ru-RU" dirty="0" err="1">
                <a:solidFill>
                  <a:schemeClr val="bg2"/>
                </a:solidFill>
              </a:rPr>
              <a:t>x</a:t>
            </a:r>
            <a:r>
              <a:rPr lang="ru-RU" dirty="0">
                <a:solidFill>
                  <a:schemeClr val="bg2"/>
                </a:solidFill>
              </a:rPr>
              <a:t>[J]</a:t>
            </a:r>
          </a:p>
          <a:p>
            <a:pPr>
              <a:buFont typeface="Wingdings" panose="05000000000000000000" pitchFamily="2" charset="2"/>
              <a:buNone/>
              <a:defRPr/>
            </a:pPr>
            <a:r>
              <a:rPr lang="ru-RU" u="sng" dirty="0" err="1">
                <a:solidFill>
                  <a:schemeClr val="bg2"/>
                </a:solidFill>
              </a:rPr>
              <a:t>кц</a:t>
            </a:r>
            <a:endParaRPr lang="ru-RU" u="sng" dirty="0">
              <a:solidFill>
                <a:schemeClr val="bg2"/>
              </a:solidFill>
            </a:endParaRPr>
          </a:p>
          <a:p>
            <a:pPr>
              <a:buFont typeface="Wingdings" panose="05000000000000000000" pitchFamily="2" charset="2"/>
              <a:buNone/>
              <a:defRPr/>
            </a:pPr>
            <a:r>
              <a:rPr lang="en-US" dirty="0">
                <a:solidFill>
                  <a:schemeClr val="bg2"/>
                </a:solidFill>
              </a:rPr>
              <a:t>R</a:t>
            </a:r>
            <a:r>
              <a:rPr lang="ru-RU" dirty="0" err="1">
                <a:solidFill>
                  <a:schemeClr val="bg2"/>
                </a:solidFill>
              </a:rPr>
              <a:t>adix_bin</a:t>
            </a:r>
            <a:r>
              <a:rPr lang="ru-RU" dirty="0">
                <a:solidFill>
                  <a:schemeClr val="bg2"/>
                </a:solidFill>
              </a:rPr>
              <a:t>(X,F,J,d-1)</a:t>
            </a:r>
          </a:p>
          <a:p>
            <a:pPr>
              <a:buFont typeface="Wingdings" panose="05000000000000000000" pitchFamily="2" charset="2"/>
              <a:buNone/>
              <a:defRPr/>
            </a:pPr>
            <a:r>
              <a:rPr lang="en-US" dirty="0">
                <a:solidFill>
                  <a:schemeClr val="bg2"/>
                </a:solidFill>
              </a:rPr>
              <a:t>R</a:t>
            </a:r>
            <a:r>
              <a:rPr lang="ru-RU" dirty="0" err="1">
                <a:solidFill>
                  <a:schemeClr val="bg2"/>
                </a:solidFill>
              </a:rPr>
              <a:t>adix_bin</a:t>
            </a:r>
            <a:r>
              <a:rPr lang="ru-RU" dirty="0">
                <a:solidFill>
                  <a:schemeClr val="bg2"/>
                </a:solidFill>
              </a:rPr>
              <a:t>(X,I,L,d-1)</a:t>
            </a:r>
          </a:p>
          <a:p>
            <a:pPr>
              <a:buFont typeface="Wingdings" panose="05000000000000000000" pitchFamily="2" charset="2"/>
              <a:buNone/>
              <a:defRPr/>
            </a:pPr>
            <a:r>
              <a:rPr lang="ru-RU" u="sng" dirty="0">
                <a:solidFill>
                  <a:schemeClr val="bg2"/>
                </a:solidFill>
              </a:rPr>
              <a:t>конец</a:t>
            </a:r>
          </a:p>
          <a:p>
            <a:pPr>
              <a:buFont typeface="Wingdings" panose="05000000000000000000" pitchFamily="2" charset="2"/>
              <a:buNone/>
              <a:defRPr/>
            </a:pPr>
            <a:endParaRPr lang="ru-RU" dirty="0"/>
          </a:p>
        </p:txBody>
      </p:sp>
      <p:sp>
        <p:nvSpPr>
          <p:cNvPr id="4" name="Заголовок 1"/>
          <p:cNvSpPr txBox="1">
            <a:spLocks/>
          </p:cNvSpPr>
          <p:nvPr/>
        </p:nvSpPr>
        <p:spPr bwMode="auto">
          <a:xfrm>
            <a:off x="519113" y="288925"/>
            <a:ext cx="8229600" cy="455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>
              <a:defRPr/>
            </a:pPr>
            <a:r>
              <a:rPr lang="ru-RU" kern="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Двоичная быстрая сортировка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nimBg="1"/>
      <p:bldP spid="4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1019175"/>
            <a:ext cx="8229600" cy="1679575"/>
          </a:xfrm>
          <a:solidFill>
            <a:schemeClr val="tx1"/>
          </a:solidFill>
          <a:ln>
            <a:solidFill>
              <a:srgbClr val="000000"/>
            </a:solidFill>
          </a:ln>
        </p:spPr>
        <p:txBody>
          <a:bodyPr/>
          <a:lstStyle/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b="1" dirty="0">
                <a:solidFill>
                  <a:schemeClr val="bg2">
                    <a:lumMod val="60000"/>
                    <a:lumOff val="40000"/>
                  </a:schemeClr>
                </a:solidFill>
                <a:effectLst/>
              </a:rPr>
              <a:t>M</a:t>
            </a:r>
            <a:r>
              <a:rPr lang="en-US" b="1" dirty="0">
                <a:solidFill>
                  <a:schemeClr val="bg2"/>
                </a:solidFill>
                <a:effectLst/>
              </a:rPr>
              <a:t>ost </a:t>
            </a:r>
            <a:r>
              <a:rPr lang="en-US" b="1" dirty="0">
                <a:solidFill>
                  <a:schemeClr val="bg2">
                    <a:lumMod val="60000"/>
                    <a:lumOff val="40000"/>
                  </a:schemeClr>
                </a:solidFill>
                <a:effectLst/>
              </a:rPr>
              <a:t>S</a:t>
            </a:r>
            <a:r>
              <a:rPr lang="en-US" b="1" dirty="0">
                <a:solidFill>
                  <a:schemeClr val="bg2"/>
                </a:solidFill>
                <a:effectLst/>
              </a:rPr>
              <a:t>ignificant </a:t>
            </a:r>
            <a:r>
              <a:rPr lang="en-US" b="1" dirty="0">
                <a:solidFill>
                  <a:schemeClr val="bg2">
                    <a:lumMod val="60000"/>
                    <a:lumOff val="40000"/>
                  </a:schemeClr>
                </a:solidFill>
                <a:effectLst/>
              </a:rPr>
              <a:t>D</a:t>
            </a:r>
            <a:r>
              <a:rPr lang="en-US" b="1" dirty="0">
                <a:solidFill>
                  <a:schemeClr val="bg2"/>
                </a:solidFill>
                <a:effectLst/>
              </a:rPr>
              <a:t>igit radix sort</a:t>
            </a:r>
            <a:r>
              <a:rPr lang="ru-RU" b="1" dirty="0">
                <a:solidFill>
                  <a:schemeClr val="bg2"/>
                </a:solidFill>
                <a:effectLst/>
              </a:rPr>
              <a:t> – поразрядная сортировка </a:t>
            </a:r>
            <a:r>
              <a:rPr lang="ru-RU" b="1" dirty="0">
                <a:solidFill>
                  <a:schemeClr val="bg2">
                    <a:lumMod val="60000"/>
                    <a:lumOff val="40000"/>
                  </a:schemeClr>
                </a:solidFill>
                <a:effectLst/>
              </a:rPr>
              <a:t>сначала по старшей цифре</a:t>
            </a:r>
            <a:r>
              <a:rPr lang="en-US" b="1" dirty="0">
                <a:solidFill>
                  <a:schemeClr val="bg2">
                    <a:lumMod val="60000"/>
                    <a:lumOff val="40000"/>
                  </a:schemeClr>
                </a:solidFill>
                <a:effectLst/>
              </a:rPr>
              <a:t>.</a:t>
            </a:r>
          </a:p>
          <a:p>
            <a:pPr marL="0" indent="0">
              <a:buFont typeface="Wingdings" panose="05000000000000000000" pitchFamily="2" charset="2"/>
              <a:buNone/>
              <a:defRPr/>
            </a:pPr>
            <a:endParaRPr lang="ru-RU" b="1" dirty="0">
              <a:solidFill>
                <a:schemeClr val="bg2">
                  <a:lumMod val="60000"/>
                  <a:lumOff val="40000"/>
                </a:schemeClr>
              </a:solidFill>
              <a:effectLst/>
            </a:endParaRPr>
          </a:p>
        </p:txBody>
      </p:sp>
      <p:sp>
        <p:nvSpPr>
          <p:cNvPr id="4" name="Заголовок 1"/>
          <p:cNvSpPr txBox="1">
            <a:spLocks/>
          </p:cNvSpPr>
          <p:nvPr/>
        </p:nvSpPr>
        <p:spPr bwMode="auto">
          <a:xfrm>
            <a:off x="519113" y="288925"/>
            <a:ext cx="8229600" cy="455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>
              <a:defRPr/>
            </a:pPr>
            <a:r>
              <a:rPr lang="ru-RU" sz="3600" kern="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Поразрядная </a:t>
            </a:r>
            <a:r>
              <a:rPr lang="en-US" sz="3600" i="1" kern="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MSD - </a:t>
            </a:r>
            <a:r>
              <a:rPr lang="ru-RU" sz="3600" kern="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сортировка</a:t>
            </a:r>
          </a:p>
        </p:txBody>
      </p:sp>
      <p:sp>
        <p:nvSpPr>
          <p:cNvPr id="5" name="Содержимое 2"/>
          <p:cNvSpPr txBox="1">
            <a:spLocks/>
          </p:cNvSpPr>
          <p:nvPr/>
        </p:nvSpPr>
        <p:spPr bwMode="auto">
          <a:xfrm>
            <a:off x="409575" y="2954338"/>
            <a:ext cx="8229600" cy="3249612"/>
          </a:xfrm>
          <a:prstGeom prst="rect">
            <a:avLst/>
          </a:prstGeom>
          <a:solidFill>
            <a:schemeClr val="tx1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/>
          <a:lstStyle/>
          <a:p>
            <a:pPr>
              <a:spcBef>
                <a:spcPct val="20000"/>
              </a:spcBef>
              <a:buSzPct val="100000"/>
              <a:buFont typeface="Arial" pitchFamily="34" charset="0"/>
              <a:buChar char="•"/>
              <a:defRPr/>
            </a:pPr>
            <a:r>
              <a:rPr lang="en-US" sz="3200" kern="0" dirty="0">
                <a:solidFill>
                  <a:schemeClr val="bg2"/>
                </a:solidFill>
                <a:latin typeface="+mn-lt"/>
              </a:rPr>
              <a:t> </a:t>
            </a:r>
            <a:r>
              <a:rPr lang="ru-RU" sz="3200" kern="0" dirty="0">
                <a:solidFill>
                  <a:schemeClr val="bg2"/>
                </a:solidFill>
                <a:latin typeface="+mn-lt"/>
              </a:rPr>
              <a:t>обобщает понятие поразрядной сортировки по произвольному основанию  </a:t>
            </a:r>
            <a:r>
              <a:rPr lang="ru-RU" sz="3200" i="1" kern="0" dirty="0">
                <a:solidFill>
                  <a:schemeClr val="bg2"/>
                </a:solidFill>
                <a:latin typeface="+mn-lt"/>
              </a:rPr>
              <a:t>R;</a:t>
            </a:r>
            <a:endParaRPr lang="en-US" sz="3200" kern="0" dirty="0">
              <a:solidFill>
                <a:schemeClr val="bg2"/>
              </a:solidFill>
              <a:latin typeface="+mn-lt"/>
            </a:endParaRPr>
          </a:p>
          <a:p>
            <a:pPr>
              <a:spcBef>
                <a:spcPct val="20000"/>
              </a:spcBef>
              <a:buSzPct val="100000"/>
              <a:buFont typeface="Arial" pitchFamily="34" charset="0"/>
              <a:buChar char="•"/>
              <a:defRPr/>
            </a:pPr>
            <a:r>
              <a:rPr lang="en-US" sz="3200" kern="0" dirty="0">
                <a:solidFill>
                  <a:schemeClr val="bg2"/>
                </a:solidFill>
                <a:latin typeface="+mn-lt"/>
              </a:rPr>
              <a:t> </a:t>
            </a:r>
            <a:r>
              <a:rPr lang="ru-RU" sz="3200" kern="0" dirty="0">
                <a:solidFill>
                  <a:schemeClr val="bg2"/>
                </a:solidFill>
                <a:latin typeface="+mn-lt"/>
              </a:rPr>
              <a:t>производит разделение всего массива на </a:t>
            </a:r>
            <a:r>
              <a:rPr lang="ru-RU" sz="3200" i="1" kern="0" dirty="0">
                <a:solidFill>
                  <a:schemeClr val="bg2"/>
                </a:solidFill>
                <a:latin typeface="+mn-lt"/>
              </a:rPr>
              <a:t>R</a:t>
            </a:r>
            <a:r>
              <a:rPr lang="ru-RU" sz="3200" kern="0" dirty="0">
                <a:solidFill>
                  <a:schemeClr val="bg2"/>
                </a:solidFill>
                <a:latin typeface="+mn-lt"/>
              </a:rPr>
              <a:t> </a:t>
            </a:r>
            <a:r>
              <a:rPr lang="ru-RU" sz="3200" kern="0" dirty="0" err="1">
                <a:solidFill>
                  <a:schemeClr val="bg2"/>
                </a:solidFill>
                <a:latin typeface="+mn-lt"/>
              </a:rPr>
              <a:t>подмассивов</a:t>
            </a:r>
            <a:r>
              <a:rPr lang="ru-RU" sz="3200" kern="0" dirty="0">
                <a:solidFill>
                  <a:schemeClr val="bg2"/>
                </a:solidFill>
                <a:latin typeface="+mn-lt"/>
              </a:rPr>
              <a:t>;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1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7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nimBg="1"/>
      <p:bldP spid="4" grpId="0"/>
      <p:bldP spid="5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Содержимое 4"/>
          <p:cNvGraphicFramePr>
            <a:graphicFrameLocks noGrp="1"/>
          </p:cNvGraphicFramePr>
          <p:nvPr>
            <p:ph idx="1"/>
          </p:nvPr>
        </p:nvGraphicFramePr>
        <p:xfrm>
          <a:off x="336550" y="1019175"/>
          <a:ext cx="1814513" cy="47831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145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683305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400" dirty="0">
                          <a:solidFill>
                            <a:schemeClr val="bg2"/>
                          </a:solidFill>
                        </a:rPr>
                        <a:t>.</a:t>
                      </a:r>
                      <a:r>
                        <a:rPr lang="ru-RU" sz="2400" dirty="0">
                          <a:solidFill>
                            <a:srgbClr val="FF0000"/>
                          </a:solidFill>
                        </a:rPr>
                        <a:t>3</a:t>
                      </a:r>
                      <a:r>
                        <a:rPr lang="ru-RU" sz="2400" dirty="0">
                          <a:solidFill>
                            <a:schemeClr val="bg2"/>
                          </a:solidFill>
                        </a:rPr>
                        <a:t>452876</a:t>
                      </a:r>
                    </a:p>
                  </a:txBody>
                  <a:tcPr marL="91442" marR="91442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3305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400" b="1" dirty="0">
                          <a:solidFill>
                            <a:schemeClr val="bg2"/>
                          </a:solidFill>
                        </a:rPr>
                        <a:t>.</a:t>
                      </a:r>
                      <a:r>
                        <a:rPr lang="ru-RU" sz="2400" b="1" dirty="0">
                          <a:solidFill>
                            <a:srgbClr val="FF0000"/>
                          </a:solidFill>
                        </a:rPr>
                        <a:t>5</a:t>
                      </a:r>
                      <a:r>
                        <a:rPr lang="ru-RU" sz="2400" b="1" dirty="0">
                          <a:solidFill>
                            <a:schemeClr val="bg2"/>
                          </a:solidFill>
                        </a:rPr>
                        <a:t>428764</a:t>
                      </a:r>
                    </a:p>
                  </a:txBody>
                  <a:tcPr marL="91442" marR="91442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3305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400" b="1" dirty="0"/>
                        <a:t>.</a:t>
                      </a:r>
                      <a:r>
                        <a:rPr lang="ru-RU" sz="2400" b="1" dirty="0">
                          <a:solidFill>
                            <a:srgbClr val="FF0000"/>
                          </a:solidFill>
                        </a:rPr>
                        <a:t>0</a:t>
                      </a:r>
                      <a:r>
                        <a:rPr lang="ru-RU" sz="2400" b="1" dirty="0"/>
                        <a:t>234567</a:t>
                      </a:r>
                    </a:p>
                  </a:txBody>
                  <a:tcPr marL="91442" marR="91442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3305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400" b="1" dirty="0"/>
                        <a:t>.</a:t>
                      </a:r>
                      <a:r>
                        <a:rPr lang="ru-RU" sz="2400" b="1" dirty="0">
                          <a:solidFill>
                            <a:srgbClr val="FF0000"/>
                          </a:solidFill>
                        </a:rPr>
                        <a:t>1</a:t>
                      </a:r>
                      <a:r>
                        <a:rPr lang="ru-RU" sz="2400" b="1" dirty="0"/>
                        <a:t>098754</a:t>
                      </a:r>
                    </a:p>
                  </a:txBody>
                  <a:tcPr marL="91442" marR="91442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83305">
                <a:tc>
                  <a:txBody>
                    <a:bodyPr/>
                    <a:lstStyle/>
                    <a:p>
                      <a:r>
                        <a:rPr lang="ru-RU" sz="2400" b="1" dirty="0"/>
                        <a:t>.</a:t>
                      </a:r>
                      <a:r>
                        <a:rPr lang="ru-RU" sz="2400" b="1" dirty="0">
                          <a:solidFill>
                            <a:srgbClr val="FF0000"/>
                          </a:solidFill>
                        </a:rPr>
                        <a:t>0</a:t>
                      </a:r>
                      <a:r>
                        <a:rPr lang="ru-RU" sz="2400" b="1" dirty="0"/>
                        <a:t>278564</a:t>
                      </a:r>
                      <a:endParaRPr lang="ru-RU" sz="2400" b="1" dirty="0">
                        <a:solidFill>
                          <a:schemeClr val="bg2"/>
                        </a:solidFill>
                      </a:endParaRPr>
                    </a:p>
                  </a:txBody>
                  <a:tcPr marL="91442" marR="91442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83305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400" b="1" dirty="0"/>
                        <a:t>.</a:t>
                      </a:r>
                      <a:r>
                        <a:rPr lang="ru-RU" sz="2400" b="1" dirty="0">
                          <a:solidFill>
                            <a:srgbClr val="FF0000"/>
                          </a:solidFill>
                        </a:rPr>
                        <a:t>5</a:t>
                      </a:r>
                      <a:r>
                        <a:rPr lang="ru-RU" sz="2400" b="1" dirty="0"/>
                        <a:t>462376</a:t>
                      </a:r>
                    </a:p>
                  </a:txBody>
                  <a:tcPr marL="91442" marR="91442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83305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400" b="1" dirty="0"/>
                        <a:t>.</a:t>
                      </a:r>
                      <a:r>
                        <a:rPr lang="ru-RU" sz="2400" b="1" dirty="0">
                          <a:solidFill>
                            <a:srgbClr val="FF0000"/>
                          </a:solidFill>
                        </a:rPr>
                        <a:t>2</a:t>
                      </a:r>
                      <a:r>
                        <a:rPr lang="ru-RU" sz="2400" b="1" dirty="0"/>
                        <a:t>894561</a:t>
                      </a:r>
                    </a:p>
                  </a:txBody>
                  <a:tcPr marL="91442" marR="91442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" name="Заголовок 1"/>
          <p:cNvSpPr txBox="1">
            <a:spLocks/>
          </p:cNvSpPr>
          <p:nvPr/>
        </p:nvSpPr>
        <p:spPr bwMode="auto">
          <a:xfrm>
            <a:off x="519113" y="288925"/>
            <a:ext cx="8229600" cy="455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>
              <a:defRPr/>
            </a:pPr>
            <a:r>
              <a:rPr lang="ru-RU" sz="3600" kern="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Поразрядная </a:t>
            </a:r>
            <a:r>
              <a:rPr lang="en-US" sz="3600" i="1" kern="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MSD - </a:t>
            </a:r>
            <a:r>
              <a:rPr lang="ru-RU" sz="3600" kern="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сортировка</a:t>
            </a:r>
          </a:p>
        </p:txBody>
      </p:sp>
      <p:graphicFrame>
        <p:nvGraphicFramePr>
          <p:cNvPr id="7" name="Содержимое 4"/>
          <p:cNvGraphicFramePr>
            <a:graphicFrameLocks/>
          </p:cNvGraphicFramePr>
          <p:nvPr/>
        </p:nvGraphicFramePr>
        <p:xfrm>
          <a:off x="2673350" y="1019175"/>
          <a:ext cx="1814513" cy="47831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145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683305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400" b="1" dirty="0">
                          <a:solidFill>
                            <a:schemeClr val="bg2"/>
                          </a:solidFill>
                        </a:rPr>
                        <a:t>.0</a:t>
                      </a:r>
                      <a:r>
                        <a:rPr lang="ru-RU" sz="2400" b="1" dirty="0">
                          <a:solidFill>
                            <a:srgbClr val="FF0000"/>
                          </a:solidFill>
                        </a:rPr>
                        <a:t>2</a:t>
                      </a:r>
                      <a:r>
                        <a:rPr lang="ru-RU" sz="2400" b="1" dirty="0">
                          <a:solidFill>
                            <a:schemeClr val="bg2"/>
                          </a:solidFill>
                        </a:rPr>
                        <a:t>34567</a:t>
                      </a:r>
                    </a:p>
                  </a:txBody>
                  <a:tcPr marL="91442" marR="91442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3305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400" b="1" dirty="0">
                          <a:solidFill>
                            <a:schemeClr val="bg2"/>
                          </a:solidFill>
                        </a:rPr>
                        <a:t>.0</a:t>
                      </a:r>
                      <a:r>
                        <a:rPr lang="ru-RU" sz="2400" b="1" dirty="0">
                          <a:solidFill>
                            <a:srgbClr val="FF0000"/>
                          </a:solidFill>
                        </a:rPr>
                        <a:t>2</a:t>
                      </a:r>
                      <a:r>
                        <a:rPr lang="ru-RU" sz="2400" b="1" dirty="0">
                          <a:solidFill>
                            <a:schemeClr val="bg2"/>
                          </a:solidFill>
                        </a:rPr>
                        <a:t>78564</a:t>
                      </a:r>
                    </a:p>
                  </a:txBody>
                  <a:tcPr marL="91442" marR="91442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3305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400" b="1" dirty="0">
                          <a:solidFill>
                            <a:schemeClr val="bg2"/>
                          </a:solidFill>
                        </a:rPr>
                        <a:t>.1098754</a:t>
                      </a:r>
                    </a:p>
                  </a:txBody>
                  <a:tcPr marL="91442" marR="91442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3305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400" b="1" dirty="0">
                          <a:solidFill>
                            <a:schemeClr val="bg2"/>
                          </a:solidFill>
                        </a:rPr>
                        <a:t>.2894561</a:t>
                      </a:r>
                    </a:p>
                  </a:txBody>
                  <a:tcPr marL="91442" marR="91442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83305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400" b="1" dirty="0">
                          <a:solidFill>
                            <a:schemeClr val="bg2"/>
                          </a:solidFill>
                        </a:rPr>
                        <a:t>.3452876</a:t>
                      </a:r>
                    </a:p>
                  </a:txBody>
                  <a:tcPr marL="91442" marR="91442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83305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400" b="1" dirty="0">
                          <a:solidFill>
                            <a:schemeClr val="bg2"/>
                          </a:solidFill>
                        </a:rPr>
                        <a:t>.5</a:t>
                      </a:r>
                      <a:r>
                        <a:rPr lang="ru-RU" sz="2400" b="1" dirty="0">
                          <a:solidFill>
                            <a:srgbClr val="FF0000"/>
                          </a:solidFill>
                        </a:rPr>
                        <a:t>4</a:t>
                      </a:r>
                      <a:r>
                        <a:rPr lang="ru-RU" sz="2400" b="1" dirty="0">
                          <a:solidFill>
                            <a:schemeClr val="bg2"/>
                          </a:solidFill>
                        </a:rPr>
                        <a:t>28764</a:t>
                      </a:r>
                    </a:p>
                  </a:txBody>
                  <a:tcPr marL="91442" marR="91442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83305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400" b="1" dirty="0">
                          <a:solidFill>
                            <a:schemeClr val="bg2"/>
                          </a:solidFill>
                        </a:rPr>
                        <a:t>.5</a:t>
                      </a:r>
                      <a:r>
                        <a:rPr lang="ru-RU" sz="2400" b="1" dirty="0">
                          <a:solidFill>
                            <a:srgbClr val="FF0000"/>
                          </a:solidFill>
                        </a:rPr>
                        <a:t>4</a:t>
                      </a:r>
                      <a:r>
                        <a:rPr lang="ru-RU" sz="2400" b="1" dirty="0">
                          <a:solidFill>
                            <a:schemeClr val="bg2"/>
                          </a:solidFill>
                        </a:rPr>
                        <a:t>62376</a:t>
                      </a:r>
                    </a:p>
                  </a:txBody>
                  <a:tcPr marL="91442" marR="91442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8" name="Прямоугольник 7"/>
          <p:cNvSpPr/>
          <p:nvPr/>
        </p:nvSpPr>
        <p:spPr bwMode="auto">
          <a:xfrm>
            <a:off x="701675" y="6094413"/>
            <a:ext cx="876300" cy="547687"/>
          </a:xfrm>
          <a:prstGeom prst="rect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 eaLnBrk="1" hangingPunct="1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None/>
              <a:defRPr/>
            </a:pPr>
            <a:r>
              <a:rPr lang="ru-RU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7</a:t>
            </a:r>
          </a:p>
        </p:txBody>
      </p:sp>
      <p:sp>
        <p:nvSpPr>
          <p:cNvPr id="9" name="Прямоугольник 8"/>
          <p:cNvSpPr/>
          <p:nvPr/>
        </p:nvSpPr>
        <p:spPr bwMode="auto">
          <a:xfrm>
            <a:off x="3038475" y="6057900"/>
            <a:ext cx="876300" cy="547688"/>
          </a:xfrm>
          <a:prstGeom prst="rect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 eaLnBrk="1" hangingPunct="1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None/>
              <a:defRPr/>
            </a:pPr>
            <a:r>
              <a:rPr lang="ru-RU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4</a:t>
            </a:r>
          </a:p>
        </p:txBody>
      </p:sp>
      <p:graphicFrame>
        <p:nvGraphicFramePr>
          <p:cNvPr id="10" name="Содержимое 4"/>
          <p:cNvGraphicFramePr>
            <a:graphicFrameLocks/>
          </p:cNvGraphicFramePr>
          <p:nvPr/>
        </p:nvGraphicFramePr>
        <p:xfrm>
          <a:off x="5302250" y="1019175"/>
          <a:ext cx="1814513" cy="47831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145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683305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400" b="1" dirty="0">
                          <a:solidFill>
                            <a:schemeClr val="bg2"/>
                          </a:solidFill>
                        </a:rPr>
                        <a:t>.02</a:t>
                      </a:r>
                      <a:r>
                        <a:rPr lang="ru-RU" sz="2400" b="1" dirty="0">
                          <a:solidFill>
                            <a:srgbClr val="FF0000"/>
                          </a:solidFill>
                        </a:rPr>
                        <a:t>3</a:t>
                      </a:r>
                      <a:r>
                        <a:rPr lang="ru-RU" sz="2400" b="1" dirty="0">
                          <a:solidFill>
                            <a:schemeClr val="bg2"/>
                          </a:solidFill>
                        </a:rPr>
                        <a:t>4567</a:t>
                      </a:r>
                    </a:p>
                  </a:txBody>
                  <a:tcPr marL="91442" marR="91442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3305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400" b="1" dirty="0">
                          <a:solidFill>
                            <a:schemeClr val="bg2"/>
                          </a:solidFill>
                        </a:rPr>
                        <a:t>.02</a:t>
                      </a:r>
                      <a:r>
                        <a:rPr lang="ru-RU" sz="2400" b="1" dirty="0">
                          <a:solidFill>
                            <a:srgbClr val="FF0000"/>
                          </a:solidFill>
                        </a:rPr>
                        <a:t>7</a:t>
                      </a:r>
                      <a:r>
                        <a:rPr lang="ru-RU" sz="2400" b="1" dirty="0">
                          <a:solidFill>
                            <a:schemeClr val="bg2"/>
                          </a:solidFill>
                        </a:rPr>
                        <a:t>8564</a:t>
                      </a:r>
                    </a:p>
                  </a:txBody>
                  <a:tcPr marL="91442" marR="91442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3305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400" b="1" dirty="0">
                          <a:solidFill>
                            <a:schemeClr val="bg2"/>
                          </a:solidFill>
                        </a:rPr>
                        <a:t>.1098754</a:t>
                      </a:r>
                    </a:p>
                  </a:txBody>
                  <a:tcPr marL="91442" marR="91442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3305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400" b="1" dirty="0">
                          <a:solidFill>
                            <a:schemeClr val="bg2"/>
                          </a:solidFill>
                        </a:rPr>
                        <a:t>.2894561</a:t>
                      </a:r>
                    </a:p>
                  </a:txBody>
                  <a:tcPr marL="91442" marR="91442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83305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400" b="1" dirty="0">
                          <a:solidFill>
                            <a:schemeClr val="bg2"/>
                          </a:solidFill>
                        </a:rPr>
                        <a:t>.3452876</a:t>
                      </a:r>
                    </a:p>
                  </a:txBody>
                  <a:tcPr marL="91442" marR="91442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83305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400" b="1" dirty="0">
                          <a:solidFill>
                            <a:schemeClr val="bg2"/>
                          </a:solidFill>
                        </a:rPr>
                        <a:t>.54</a:t>
                      </a:r>
                      <a:r>
                        <a:rPr lang="ru-RU" sz="2400" b="1" dirty="0">
                          <a:solidFill>
                            <a:srgbClr val="FF0000"/>
                          </a:solidFill>
                        </a:rPr>
                        <a:t>2</a:t>
                      </a:r>
                      <a:r>
                        <a:rPr lang="ru-RU" sz="2400" b="1" dirty="0">
                          <a:solidFill>
                            <a:schemeClr val="bg2"/>
                          </a:solidFill>
                        </a:rPr>
                        <a:t>8764</a:t>
                      </a:r>
                    </a:p>
                  </a:txBody>
                  <a:tcPr marL="91442" marR="91442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83305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400" b="1" dirty="0">
                          <a:solidFill>
                            <a:schemeClr val="bg2"/>
                          </a:solidFill>
                        </a:rPr>
                        <a:t>.54</a:t>
                      </a:r>
                      <a:r>
                        <a:rPr lang="ru-RU" sz="2400" b="1" dirty="0">
                          <a:solidFill>
                            <a:srgbClr val="FF0000"/>
                          </a:solidFill>
                        </a:rPr>
                        <a:t>6</a:t>
                      </a:r>
                      <a:r>
                        <a:rPr lang="ru-RU" sz="2400" b="1" dirty="0">
                          <a:solidFill>
                            <a:schemeClr val="bg2"/>
                          </a:solidFill>
                        </a:rPr>
                        <a:t>2376</a:t>
                      </a:r>
                    </a:p>
                  </a:txBody>
                  <a:tcPr marL="91442" marR="91442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1" name="Прямоугольник 10"/>
          <p:cNvSpPr/>
          <p:nvPr/>
        </p:nvSpPr>
        <p:spPr bwMode="auto">
          <a:xfrm>
            <a:off x="5776913" y="6057900"/>
            <a:ext cx="876300" cy="547688"/>
          </a:xfrm>
          <a:prstGeom prst="rect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 eaLnBrk="1" hangingPunct="1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None/>
              <a:defRPr/>
            </a:pPr>
            <a:r>
              <a:rPr lang="ru-RU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4</a:t>
            </a:r>
          </a:p>
        </p:txBody>
      </p:sp>
      <p:sp>
        <p:nvSpPr>
          <p:cNvPr id="12" name="Прямоугольник 11"/>
          <p:cNvSpPr/>
          <p:nvPr/>
        </p:nvSpPr>
        <p:spPr bwMode="auto">
          <a:xfrm>
            <a:off x="7712075" y="2771775"/>
            <a:ext cx="876300" cy="547688"/>
          </a:xfrm>
          <a:prstGeom prst="rect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 eaLnBrk="1" hangingPunct="1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None/>
              <a:defRPr/>
            </a:pPr>
            <a:r>
              <a:rPr lang="ru-RU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15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1" presetID="5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8" grpId="0" animBg="1"/>
      <p:bldP spid="9" grpId="0" animBg="1"/>
      <p:bldP spid="11" grpId="0" animBg="1"/>
      <p:bldP spid="12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1019175"/>
            <a:ext cx="8229600" cy="5076825"/>
          </a:xfrm>
          <a:solidFill>
            <a:schemeClr val="tx1"/>
          </a:solidFill>
          <a:ln>
            <a:solidFill>
              <a:srgbClr val="000000"/>
            </a:solidFill>
          </a:ln>
        </p:spPr>
        <p:txBody>
          <a:bodyPr/>
          <a:lstStyle/>
          <a:p>
            <a:pPr>
              <a:buFont typeface="Wingdings" panose="05000000000000000000" pitchFamily="2" charset="2"/>
              <a:buNone/>
              <a:defRPr/>
            </a:pPr>
            <a:r>
              <a:rPr lang="en-US" b="1" dirty="0" err="1">
                <a:solidFill>
                  <a:schemeClr val="bg2"/>
                </a:solidFill>
                <a:effectLst/>
              </a:rPr>
              <a:t>Msd_Sort</a:t>
            </a:r>
            <a:r>
              <a:rPr lang="en-US" b="1" dirty="0">
                <a:solidFill>
                  <a:schemeClr val="bg2"/>
                </a:solidFill>
                <a:effectLst/>
              </a:rPr>
              <a:t>(</a:t>
            </a:r>
            <a:r>
              <a:rPr lang="en-US" b="1" dirty="0" err="1">
                <a:solidFill>
                  <a:schemeClr val="bg2"/>
                </a:solidFill>
                <a:effectLst/>
              </a:rPr>
              <a:t>X,F,L,d</a:t>
            </a:r>
            <a:r>
              <a:rPr lang="en-US" b="1" dirty="0">
                <a:solidFill>
                  <a:schemeClr val="bg2"/>
                </a:solidFill>
                <a:effectLst/>
              </a:rPr>
              <a:t>)</a:t>
            </a:r>
          </a:p>
          <a:p>
            <a:pPr>
              <a:buFont typeface="Wingdings" panose="05000000000000000000" pitchFamily="2" charset="2"/>
              <a:buNone/>
              <a:defRPr/>
            </a:pPr>
            <a:r>
              <a:rPr lang="ru-RU" b="1" u="sng" dirty="0">
                <a:solidFill>
                  <a:schemeClr val="bg2"/>
                </a:solidFill>
                <a:effectLst/>
              </a:rPr>
              <a:t>Если</a:t>
            </a:r>
            <a:r>
              <a:rPr lang="ru-RU" b="1" dirty="0">
                <a:solidFill>
                  <a:schemeClr val="bg2"/>
                </a:solidFill>
                <a:effectLst/>
              </a:rPr>
              <a:t> </a:t>
            </a:r>
            <a:r>
              <a:rPr lang="en-US" b="1" dirty="0">
                <a:solidFill>
                  <a:schemeClr val="bg2"/>
                </a:solidFill>
                <a:effectLst/>
              </a:rPr>
              <a:t>d&lt;0 </a:t>
            </a:r>
            <a:r>
              <a:rPr lang="ru-RU" b="1" u="sng" dirty="0">
                <a:solidFill>
                  <a:schemeClr val="bg2"/>
                </a:solidFill>
                <a:effectLst/>
              </a:rPr>
              <a:t>или</a:t>
            </a:r>
            <a:r>
              <a:rPr lang="ru-RU" b="1" dirty="0">
                <a:solidFill>
                  <a:schemeClr val="bg2"/>
                </a:solidFill>
                <a:effectLst/>
              </a:rPr>
              <a:t> </a:t>
            </a:r>
            <a:r>
              <a:rPr lang="en-US" b="1" dirty="0">
                <a:solidFill>
                  <a:schemeClr val="bg2"/>
                </a:solidFill>
                <a:effectLst/>
              </a:rPr>
              <a:t>F&gt;L </a:t>
            </a:r>
            <a:r>
              <a:rPr lang="ru-RU" b="1" u="sng" dirty="0">
                <a:solidFill>
                  <a:schemeClr val="bg2"/>
                </a:solidFill>
                <a:effectLst/>
              </a:rPr>
              <a:t>то</a:t>
            </a:r>
            <a:r>
              <a:rPr lang="ru-RU" b="1" dirty="0">
                <a:solidFill>
                  <a:schemeClr val="bg2"/>
                </a:solidFill>
                <a:effectLst/>
              </a:rPr>
              <a:t> выход</a:t>
            </a:r>
          </a:p>
          <a:p>
            <a:pPr>
              <a:buFont typeface="Wingdings" panose="05000000000000000000" pitchFamily="2" charset="2"/>
              <a:buNone/>
              <a:defRPr/>
            </a:pPr>
            <a:r>
              <a:rPr lang="ru-RU" b="1" dirty="0">
                <a:solidFill>
                  <a:schemeClr val="bg2"/>
                </a:solidFill>
                <a:effectLst/>
              </a:rPr>
              <a:t>Сортировать </a:t>
            </a:r>
            <a:r>
              <a:rPr lang="en-US" b="1" dirty="0">
                <a:solidFill>
                  <a:schemeClr val="bg2"/>
                </a:solidFill>
                <a:effectLst/>
              </a:rPr>
              <a:t>X </a:t>
            </a:r>
            <a:r>
              <a:rPr lang="ru-RU" b="1" dirty="0">
                <a:solidFill>
                  <a:schemeClr val="bg2"/>
                </a:solidFill>
                <a:effectLst/>
              </a:rPr>
              <a:t>по разряду </a:t>
            </a:r>
            <a:r>
              <a:rPr lang="en-US" b="1" dirty="0">
                <a:solidFill>
                  <a:schemeClr val="bg2"/>
                </a:solidFill>
                <a:effectLst/>
              </a:rPr>
              <a:t>d</a:t>
            </a:r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b="1" dirty="0">
                <a:solidFill>
                  <a:schemeClr val="bg2"/>
                </a:solidFill>
                <a:effectLst/>
              </a:rPr>
              <a:t>C</a:t>
            </a:r>
            <a:r>
              <a:rPr lang="ru-RU" b="1" dirty="0">
                <a:solidFill>
                  <a:schemeClr val="bg2"/>
                </a:solidFill>
                <a:effectLst/>
              </a:rPr>
              <a:t>формировать массив точек разделения отсортированного массива </a:t>
            </a:r>
            <a:r>
              <a:rPr lang="en-US" b="1" i="1" dirty="0">
                <a:solidFill>
                  <a:schemeClr val="bg2"/>
                </a:solidFill>
                <a:effectLst/>
              </a:rPr>
              <a:t>X – r[R+1]</a:t>
            </a:r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ru-RU" b="1" i="1" u="sng" dirty="0">
                <a:solidFill>
                  <a:schemeClr val="bg2"/>
                </a:solidFill>
                <a:effectLst/>
              </a:rPr>
              <a:t>Для</a:t>
            </a:r>
            <a:r>
              <a:rPr lang="ru-RU" b="1" i="1" dirty="0">
                <a:solidFill>
                  <a:schemeClr val="bg2"/>
                </a:solidFill>
                <a:effectLst/>
              </a:rPr>
              <a:t> </a:t>
            </a:r>
            <a:r>
              <a:rPr lang="en-US" b="1" i="1" dirty="0" err="1">
                <a:solidFill>
                  <a:schemeClr val="bg2"/>
                </a:solidFill>
                <a:effectLst/>
              </a:rPr>
              <a:t>i</a:t>
            </a:r>
            <a:r>
              <a:rPr lang="en-US" b="1" i="1" dirty="0">
                <a:solidFill>
                  <a:schemeClr val="bg2"/>
                </a:solidFill>
                <a:effectLst/>
              </a:rPr>
              <a:t>=0 </a:t>
            </a:r>
            <a:r>
              <a:rPr lang="ru-RU" b="1" i="1" u="sng" dirty="0">
                <a:solidFill>
                  <a:schemeClr val="bg2"/>
                </a:solidFill>
                <a:effectLst/>
              </a:rPr>
              <a:t>до </a:t>
            </a:r>
            <a:r>
              <a:rPr lang="en-US" b="1" i="1" dirty="0">
                <a:solidFill>
                  <a:schemeClr val="bg2"/>
                </a:solidFill>
                <a:effectLst/>
              </a:rPr>
              <a:t>R </a:t>
            </a:r>
            <a:r>
              <a:rPr lang="ru-RU" b="1" i="1" u="sng" dirty="0" err="1">
                <a:solidFill>
                  <a:schemeClr val="bg2"/>
                </a:solidFill>
                <a:effectLst/>
              </a:rPr>
              <a:t>нц</a:t>
            </a:r>
            <a:endParaRPr lang="en-US" b="1" i="1" u="sng" dirty="0">
              <a:solidFill>
                <a:schemeClr val="bg2"/>
              </a:solidFill>
              <a:effectLst/>
            </a:endParaRPr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ru-RU" b="1" dirty="0">
                <a:solidFill>
                  <a:schemeClr val="bg2"/>
                </a:solidFill>
                <a:effectLst/>
              </a:rPr>
              <a:t>    </a:t>
            </a:r>
            <a:r>
              <a:rPr lang="en-US" b="1" dirty="0" err="1">
                <a:solidFill>
                  <a:schemeClr val="bg2"/>
                </a:solidFill>
                <a:effectLst/>
              </a:rPr>
              <a:t>Msd_Sort</a:t>
            </a:r>
            <a:r>
              <a:rPr lang="en-US" b="1" dirty="0">
                <a:solidFill>
                  <a:schemeClr val="bg2"/>
                </a:solidFill>
                <a:effectLst/>
              </a:rPr>
              <a:t>(X, r[</a:t>
            </a:r>
            <a:r>
              <a:rPr lang="en-US" b="1" dirty="0" err="1">
                <a:solidFill>
                  <a:schemeClr val="bg2"/>
                </a:solidFill>
                <a:effectLst/>
              </a:rPr>
              <a:t>i</a:t>
            </a:r>
            <a:r>
              <a:rPr lang="en-US" b="1" dirty="0">
                <a:solidFill>
                  <a:schemeClr val="bg2"/>
                </a:solidFill>
                <a:effectLst/>
              </a:rPr>
              <a:t>], r[i+1]-1, d-1) </a:t>
            </a:r>
            <a:r>
              <a:rPr lang="ru-RU" b="1" u="sng" dirty="0" err="1">
                <a:solidFill>
                  <a:schemeClr val="bg2"/>
                </a:solidFill>
                <a:effectLst/>
              </a:rPr>
              <a:t>кц</a:t>
            </a:r>
            <a:r>
              <a:rPr lang="ru-RU" b="1" dirty="0">
                <a:solidFill>
                  <a:schemeClr val="bg2"/>
                </a:solidFill>
                <a:effectLst/>
              </a:rPr>
              <a:t>   </a:t>
            </a:r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ru-RU" b="1" u="sng" dirty="0">
                <a:solidFill>
                  <a:schemeClr val="bg2"/>
                </a:solidFill>
                <a:effectLst/>
              </a:rPr>
              <a:t>конец</a:t>
            </a:r>
          </a:p>
        </p:txBody>
      </p:sp>
      <p:sp>
        <p:nvSpPr>
          <p:cNvPr id="4" name="Заголовок 1"/>
          <p:cNvSpPr txBox="1">
            <a:spLocks/>
          </p:cNvSpPr>
          <p:nvPr/>
        </p:nvSpPr>
        <p:spPr bwMode="auto">
          <a:xfrm>
            <a:off x="519113" y="288925"/>
            <a:ext cx="8229600" cy="455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>
              <a:defRPr/>
            </a:pPr>
            <a:r>
              <a:rPr lang="ru-RU" sz="3600" kern="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Поразрядная </a:t>
            </a:r>
            <a:r>
              <a:rPr lang="en-US" sz="3600" i="1" kern="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MSD - </a:t>
            </a:r>
            <a:r>
              <a:rPr lang="ru-RU" sz="3600" kern="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сортировка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nimBg="1"/>
      <p:bldP spid="4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1092200"/>
            <a:ext cx="8229600" cy="5003800"/>
          </a:xfrm>
          <a:solidFill>
            <a:schemeClr val="tx1"/>
          </a:solidFill>
          <a:ln>
            <a:solidFill>
              <a:srgbClr val="000000"/>
            </a:solidFill>
          </a:ln>
        </p:spPr>
        <p:txBody>
          <a:bodyPr/>
          <a:lstStyle/>
          <a:p>
            <a:pPr marL="0" indent="0">
              <a:buClrTx/>
              <a:buSzPct val="100000"/>
              <a:buFont typeface="Arial" panose="020B0604020202020204" pitchFamily="34" charset="0"/>
              <a:buChar char="•"/>
            </a:pPr>
            <a:r>
              <a:rPr lang="ru-RU" altLang="ru-RU" sz="2800" b="1">
                <a:solidFill>
                  <a:schemeClr val="bg2"/>
                </a:solidFill>
                <a:effectLst/>
              </a:rPr>
              <a:t> В качестве сортировки внутри разряда может использоваться сортировка подсчетом</a:t>
            </a:r>
          </a:p>
          <a:p>
            <a:pPr marL="0" indent="0">
              <a:buClrTx/>
              <a:buSzPct val="100000"/>
              <a:buFont typeface="Arial" panose="020B0604020202020204" pitchFamily="34" charset="0"/>
              <a:buChar char="•"/>
            </a:pPr>
            <a:r>
              <a:rPr lang="ru-RU" altLang="ru-RU" sz="2800" b="1">
                <a:solidFill>
                  <a:schemeClr val="bg2"/>
                </a:solidFill>
                <a:effectLst/>
              </a:rPr>
              <a:t> Можно определить вспомогательный массив </a:t>
            </a:r>
            <a:r>
              <a:rPr lang="en-US" altLang="ru-RU" sz="2800" b="1" i="1">
                <a:solidFill>
                  <a:schemeClr val="bg2"/>
                </a:solidFill>
                <a:effectLst/>
              </a:rPr>
              <a:t>c, </a:t>
            </a:r>
            <a:r>
              <a:rPr lang="ru-RU" altLang="ru-RU" sz="2800" b="1">
                <a:solidFill>
                  <a:schemeClr val="bg2"/>
                </a:solidFill>
                <a:effectLst/>
              </a:rPr>
              <a:t>в </a:t>
            </a:r>
            <a:r>
              <a:rPr lang="en-US" altLang="ru-RU" sz="2800" b="1" i="1">
                <a:solidFill>
                  <a:schemeClr val="bg2"/>
                </a:solidFill>
                <a:effectLst/>
              </a:rPr>
              <a:t>i</a:t>
            </a:r>
            <a:r>
              <a:rPr lang="ru-RU" altLang="ru-RU" sz="2800" b="1" i="1">
                <a:solidFill>
                  <a:schemeClr val="bg2"/>
                </a:solidFill>
                <a:effectLst/>
              </a:rPr>
              <a:t> </a:t>
            </a:r>
            <a:r>
              <a:rPr lang="en-US" altLang="ru-RU" sz="2800" b="1">
                <a:solidFill>
                  <a:schemeClr val="bg2"/>
                </a:solidFill>
                <a:effectLst/>
              </a:rPr>
              <a:t>-</a:t>
            </a:r>
            <a:r>
              <a:rPr lang="ru-RU" altLang="ru-RU" sz="2800" b="1">
                <a:solidFill>
                  <a:schemeClr val="bg2"/>
                </a:solidFill>
                <a:effectLst/>
              </a:rPr>
              <a:t>том элементе которого сохраняется количество элементов массива, разряд </a:t>
            </a:r>
            <a:r>
              <a:rPr lang="en-US" altLang="ru-RU" sz="2800" b="1" i="1">
                <a:solidFill>
                  <a:schemeClr val="bg2"/>
                </a:solidFill>
                <a:effectLst/>
              </a:rPr>
              <a:t>d</a:t>
            </a:r>
            <a:r>
              <a:rPr lang="en-US" altLang="ru-RU" sz="2800" b="1">
                <a:solidFill>
                  <a:schemeClr val="bg2"/>
                </a:solidFill>
                <a:effectLst/>
              </a:rPr>
              <a:t> </a:t>
            </a:r>
            <a:r>
              <a:rPr lang="ru-RU" altLang="ru-RU" sz="2800" b="1">
                <a:solidFill>
                  <a:schemeClr val="bg2"/>
                </a:solidFill>
                <a:effectLst/>
              </a:rPr>
              <a:t>которых равен </a:t>
            </a:r>
            <a:r>
              <a:rPr lang="en-US" altLang="ru-RU" sz="2800" b="1" i="1">
                <a:solidFill>
                  <a:schemeClr val="bg2"/>
                </a:solidFill>
                <a:effectLst/>
              </a:rPr>
              <a:t>i.</a:t>
            </a:r>
          </a:p>
          <a:p>
            <a:pPr marL="0" indent="0">
              <a:buClrTx/>
              <a:buSzPct val="100000"/>
              <a:buFont typeface="Arial" panose="020B0604020202020204" pitchFamily="34" charset="0"/>
              <a:buChar char="•"/>
            </a:pPr>
            <a:r>
              <a:rPr lang="en-US" altLang="ru-RU" sz="2800" b="1" i="1">
                <a:solidFill>
                  <a:schemeClr val="bg2"/>
                </a:solidFill>
                <a:effectLst/>
              </a:rPr>
              <a:t> </a:t>
            </a:r>
            <a:r>
              <a:rPr lang="ru-RU" altLang="ru-RU" sz="2800" b="1">
                <a:solidFill>
                  <a:schemeClr val="bg2"/>
                </a:solidFill>
                <a:effectLst/>
              </a:rPr>
              <a:t>Для перестановки элементов массива можно использовать еще один массив </a:t>
            </a:r>
            <a:r>
              <a:rPr lang="en-US" altLang="ru-RU" sz="2800" b="1" i="1">
                <a:solidFill>
                  <a:schemeClr val="bg2"/>
                </a:solidFill>
                <a:effectLst/>
              </a:rPr>
              <a:t>p, </a:t>
            </a:r>
            <a:r>
              <a:rPr lang="ru-RU" altLang="ru-RU" sz="2800" b="1" i="1">
                <a:solidFill>
                  <a:schemeClr val="bg2"/>
                </a:solidFill>
                <a:effectLst/>
              </a:rPr>
              <a:t>элементы которого </a:t>
            </a:r>
            <a:r>
              <a:rPr lang="ru-RU" altLang="ru-RU" sz="2800" b="1">
                <a:solidFill>
                  <a:schemeClr val="bg2"/>
                </a:solidFill>
                <a:effectLst/>
              </a:rPr>
              <a:t>формируются по правилу </a:t>
            </a:r>
            <a:r>
              <a:rPr lang="en-US" altLang="ru-RU" sz="2800" b="1" i="1">
                <a:solidFill>
                  <a:schemeClr val="bg2"/>
                </a:solidFill>
                <a:effectLst/>
              </a:rPr>
              <a:t>p</a:t>
            </a:r>
            <a:r>
              <a:rPr lang="en-US" altLang="ru-RU" sz="2800" b="1">
                <a:solidFill>
                  <a:schemeClr val="bg2"/>
                </a:solidFill>
                <a:effectLst/>
              </a:rPr>
              <a:t>[0]=</a:t>
            </a:r>
            <a:r>
              <a:rPr lang="en-US" altLang="ru-RU" sz="2800" b="1" i="1">
                <a:solidFill>
                  <a:schemeClr val="bg2"/>
                </a:solidFill>
                <a:effectLst/>
              </a:rPr>
              <a:t>c</a:t>
            </a:r>
            <a:r>
              <a:rPr lang="en-US" altLang="ru-RU" sz="2800" b="1">
                <a:solidFill>
                  <a:schemeClr val="bg2"/>
                </a:solidFill>
                <a:effectLst/>
              </a:rPr>
              <a:t>[0], </a:t>
            </a:r>
            <a:r>
              <a:rPr lang="en-US" altLang="ru-RU" sz="2800" b="1" i="1">
                <a:solidFill>
                  <a:schemeClr val="bg2"/>
                </a:solidFill>
                <a:effectLst/>
              </a:rPr>
              <a:t>p</a:t>
            </a:r>
            <a:r>
              <a:rPr lang="en-US" altLang="ru-RU" sz="2800" b="1">
                <a:solidFill>
                  <a:schemeClr val="bg2"/>
                </a:solidFill>
                <a:effectLst/>
              </a:rPr>
              <a:t>[</a:t>
            </a:r>
            <a:r>
              <a:rPr lang="en-US" altLang="ru-RU" sz="2800" b="1" i="1">
                <a:solidFill>
                  <a:schemeClr val="bg2"/>
                </a:solidFill>
                <a:effectLst/>
              </a:rPr>
              <a:t>i </a:t>
            </a:r>
            <a:r>
              <a:rPr lang="en-US" altLang="ru-RU" sz="2800" b="1">
                <a:solidFill>
                  <a:schemeClr val="bg2"/>
                </a:solidFill>
                <a:effectLst/>
              </a:rPr>
              <a:t>]=</a:t>
            </a:r>
            <a:r>
              <a:rPr lang="en-US" altLang="ru-RU" sz="2800" b="1" i="1">
                <a:solidFill>
                  <a:schemeClr val="bg2"/>
                </a:solidFill>
                <a:effectLst/>
              </a:rPr>
              <a:t>p</a:t>
            </a:r>
            <a:r>
              <a:rPr lang="en-US" altLang="ru-RU" sz="2800" b="1">
                <a:solidFill>
                  <a:schemeClr val="bg2"/>
                </a:solidFill>
                <a:effectLst/>
              </a:rPr>
              <a:t>[</a:t>
            </a:r>
            <a:r>
              <a:rPr lang="en-US" altLang="ru-RU" sz="2800" b="1" i="1">
                <a:solidFill>
                  <a:schemeClr val="bg2"/>
                </a:solidFill>
                <a:effectLst/>
              </a:rPr>
              <a:t>i</a:t>
            </a:r>
            <a:r>
              <a:rPr lang="en-US" altLang="ru-RU" sz="2800" b="1">
                <a:solidFill>
                  <a:schemeClr val="bg2"/>
                </a:solidFill>
                <a:effectLst/>
              </a:rPr>
              <a:t>-1]+</a:t>
            </a:r>
            <a:r>
              <a:rPr lang="en-US" altLang="ru-RU" sz="2800" b="1" i="1">
                <a:solidFill>
                  <a:schemeClr val="bg2"/>
                </a:solidFill>
                <a:effectLst/>
              </a:rPr>
              <a:t>c</a:t>
            </a:r>
            <a:r>
              <a:rPr lang="en-US" altLang="ru-RU" sz="2800" b="1">
                <a:solidFill>
                  <a:schemeClr val="bg2"/>
                </a:solidFill>
                <a:effectLst/>
              </a:rPr>
              <a:t>[</a:t>
            </a:r>
            <a:r>
              <a:rPr lang="en-US" altLang="ru-RU" sz="2800" b="1" i="1">
                <a:solidFill>
                  <a:schemeClr val="bg2"/>
                </a:solidFill>
                <a:effectLst/>
              </a:rPr>
              <a:t>i </a:t>
            </a:r>
            <a:r>
              <a:rPr lang="en-US" altLang="ru-RU" sz="2800" b="1">
                <a:solidFill>
                  <a:schemeClr val="bg2"/>
                </a:solidFill>
                <a:effectLst/>
              </a:rPr>
              <a:t>]</a:t>
            </a:r>
            <a:endParaRPr lang="ru-RU" altLang="ru-RU" sz="2800" b="1">
              <a:solidFill>
                <a:schemeClr val="bg2"/>
              </a:solidFill>
              <a:effectLst/>
            </a:endParaRPr>
          </a:p>
        </p:txBody>
      </p:sp>
      <p:sp>
        <p:nvSpPr>
          <p:cNvPr id="5" name="Заголовок 1"/>
          <p:cNvSpPr txBox="1">
            <a:spLocks/>
          </p:cNvSpPr>
          <p:nvPr/>
        </p:nvSpPr>
        <p:spPr bwMode="auto">
          <a:xfrm>
            <a:off x="519113" y="288925"/>
            <a:ext cx="8229600" cy="455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>
              <a:defRPr/>
            </a:pPr>
            <a:r>
              <a:rPr lang="ru-RU" sz="3600" kern="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Поразрядная </a:t>
            </a:r>
            <a:r>
              <a:rPr lang="en-US" sz="3600" i="1" kern="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MSD - </a:t>
            </a:r>
            <a:r>
              <a:rPr lang="ru-RU" sz="3600" kern="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сортировка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1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nimBg="1"/>
      <p:bldP spid="5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1055688"/>
            <a:ext cx="8229600" cy="5294312"/>
          </a:xfrm>
          <a:solidFill>
            <a:schemeClr val="tx1"/>
          </a:solidFill>
          <a:ln>
            <a:solidFill>
              <a:srgbClr val="000000"/>
            </a:solidFill>
          </a:ln>
        </p:spPr>
        <p:txBody>
          <a:bodyPr/>
          <a:lstStyle/>
          <a:p>
            <a:pPr marL="0" indent="0" algn="just">
              <a:buClr>
                <a:schemeClr val="bg2"/>
              </a:buClr>
              <a:buSzPct val="100000"/>
              <a:buFont typeface="Arial" panose="020B0604020202020204" pitchFamily="34" charset="0"/>
              <a:buChar char="•"/>
            </a:pPr>
            <a:r>
              <a:rPr lang="ru-RU" altLang="ru-RU" sz="2800" b="1">
                <a:solidFill>
                  <a:schemeClr val="bg2"/>
                </a:solidFill>
                <a:effectLst/>
              </a:rPr>
              <a:t> Далее просматривается основной массив – если первая цифра </a:t>
            </a:r>
            <a:r>
              <a:rPr lang="en-US" altLang="ru-RU" sz="2800" b="1" i="1">
                <a:solidFill>
                  <a:schemeClr val="bg2"/>
                </a:solidFill>
                <a:effectLst/>
              </a:rPr>
              <a:t>i</a:t>
            </a:r>
            <a:r>
              <a:rPr lang="ru-RU" altLang="ru-RU" sz="2800" b="1">
                <a:solidFill>
                  <a:schemeClr val="bg2"/>
                </a:solidFill>
                <a:effectLst/>
              </a:rPr>
              <a:t>, то выставляем элемент </a:t>
            </a:r>
            <a:r>
              <a:rPr lang="en-US" altLang="ru-RU" sz="2800" b="1" i="1">
                <a:solidFill>
                  <a:schemeClr val="bg2"/>
                </a:solidFill>
                <a:effectLst/>
              </a:rPr>
              <a:t>d</a:t>
            </a:r>
            <a:r>
              <a:rPr lang="ru-RU" altLang="ru-RU" sz="2800" b="1">
                <a:solidFill>
                  <a:schemeClr val="bg2"/>
                </a:solidFill>
                <a:effectLst/>
              </a:rPr>
              <a:t> </a:t>
            </a:r>
            <a:r>
              <a:rPr lang="en-US" altLang="ru-RU" sz="2800" b="1">
                <a:solidFill>
                  <a:schemeClr val="bg2"/>
                </a:solidFill>
                <a:effectLst/>
              </a:rPr>
              <a:t>(</a:t>
            </a:r>
            <a:r>
              <a:rPr lang="en-US" altLang="ru-RU" sz="2800" b="1" i="1">
                <a:solidFill>
                  <a:schemeClr val="bg2"/>
                </a:solidFill>
                <a:effectLst/>
              </a:rPr>
              <a:t>p[i] -1) </a:t>
            </a:r>
            <a:r>
              <a:rPr lang="ru-RU" altLang="ru-RU" sz="2800" b="1" i="1">
                <a:solidFill>
                  <a:schemeClr val="bg2"/>
                </a:solidFill>
                <a:effectLst/>
              </a:rPr>
              <a:t>позицию, </a:t>
            </a:r>
            <a:r>
              <a:rPr lang="en-US" altLang="ru-RU" sz="2800" b="1" i="1">
                <a:solidFill>
                  <a:schemeClr val="bg2"/>
                </a:solidFill>
                <a:effectLst/>
              </a:rPr>
              <a:t>p[i]=p[i]-1.</a:t>
            </a:r>
          </a:p>
          <a:p>
            <a:pPr marL="0" indent="0" algn="just">
              <a:buClr>
                <a:schemeClr val="bg2"/>
              </a:buClr>
              <a:buSzPct val="100000"/>
              <a:buFont typeface="Wingdings" panose="05000000000000000000" pitchFamily="2" charset="2"/>
              <a:buNone/>
            </a:pPr>
            <a:r>
              <a:rPr lang="ru-RU" altLang="ru-RU" sz="2400" b="1" i="1">
                <a:solidFill>
                  <a:schemeClr val="bg2"/>
                </a:solidFill>
                <a:effectLst/>
              </a:rPr>
              <a:t>Например:</a:t>
            </a:r>
          </a:p>
          <a:p>
            <a:pPr marL="0" indent="0" algn="just">
              <a:buClr>
                <a:schemeClr val="bg2"/>
              </a:buClr>
              <a:buSzPct val="100000"/>
              <a:buFont typeface="Wingdings" panose="05000000000000000000" pitchFamily="2" charset="2"/>
              <a:buNone/>
            </a:pPr>
            <a:r>
              <a:rPr lang="en-US" altLang="ru-RU" sz="2800" b="1">
                <a:solidFill>
                  <a:schemeClr val="bg2"/>
                </a:solidFill>
                <a:effectLst/>
              </a:rPr>
              <a:t>8467 6334 6500 9169 5724 1478 9358 6962 4464 5705 8145 3281 6827 9961 2995 1942 4827 5436 2391 4604</a:t>
            </a:r>
          </a:p>
          <a:p>
            <a:pPr marL="0" indent="0" algn="just">
              <a:buClr>
                <a:schemeClr val="bg2"/>
              </a:buClr>
              <a:buSzPct val="100000"/>
              <a:buFont typeface="Wingdings" panose="05000000000000000000" pitchFamily="2" charset="2"/>
              <a:buNone/>
            </a:pPr>
            <a:endParaRPr lang="ru-RU" altLang="ru-RU" sz="2800" b="1" i="1">
              <a:solidFill>
                <a:schemeClr val="bg2"/>
              </a:solidFill>
              <a:effectLst/>
            </a:endParaRPr>
          </a:p>
          <a:p>
            <a:pPr marL="0" indent="0" algn="just">
              <a:buClr>
                <a:schemeClr val="bg2"/>
              </a:buClr>
              <a:buSzPct val="100000"/>
              <a:buFont typeface="Wingdings" panose="05000000000000000000" pitchFamily="2" charset="2"/>
              <a:buNone/>
            </a:pPr>
            <a:endParaRPr lang="en-US" altLang="ru-RU" sz="2800" b="1" i="1">
              <a:solidFill>
                <a:schemeClr val="bg2"/>
              </a:solidFill>
              <a:effectLst/>
            </a:endParaRPr>
          </a:p>
          <a:p>
            <a:pPr marL="0" indent="0" algn="just">
              <a:buClr>
                <a:schemeClr val="bg2"/>
              </a:buClr>
              <a:buSzPct val="100000"/>
              <a:buFont typeface="Wingdings" panose="05000000000000000000" pitchFamily="2" charset="2"/>
              <a:buNone/>
            </a:pPr>
            <a:endParaRPr lang="en-US" altLang="ru-RU" sz="2800" b="1" i="1">
              <a:solidFill>
                <a:schemeClr val="bg2"/>
              </a:solidFill>
              <a:effectLst/>
            </a:endParaRPr>
          </a:p>
        </p:txBody>
      </p:sp>
      <p:sp>
        <p:nvSpPr>
          <p:cNvPr id="4" name="Заголовок 1"/>
          <p:cNvSpPr txBox="1">
            <a:spLocks/>
          </p:cNvSpPr>
          <p:nvPr/>
        </p:nvSpPr>
        <p:spPr bwMode="auto">
          <a:xfrm>
            <a:off x="519113" y="288925"/>
            <a:ext cx="8229600" cy="455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>
              <a:defRPr/>
            </a:pPr>
            <a:r>
              <a:rPr lang="ru-RU" sz="3600" kern="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Поразрядная </a:t>
            </a:r>
            <a:r>
              <a:rPr lang="en-US" sz="3600" i="1" kern="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MSD - </a:t>
            </a:r>
            <a:r>
              <a:rPr lang="ru-RU" sz="3600" kern="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сортировка</a:t>
            </a:r>
          </a:p>
        </p:txBody>
      </p:sp>
      <p:graphicFrame>
        <p:nvGraphicFramePr>
          <p:cNvPr id="6" name="Таблица 5"/>
          <p:cNvGraphicFramePr>
            <a:graphicFrameLocks noGrp="1"/>
          </p:cNvGraphicFramePr>
          <p:nvPr/>
        </p:nvGraphicFramePr>
        <p:xfrm>
          <a:off x="1760538" y="4232275"/>
          <a:ext cx="6789740" cy="88900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67897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897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7897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7897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7897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7897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7897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78974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78974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78974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bg2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bg2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bg2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bg2"/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bg2"/>
                          </a:solidFill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bg2"/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bg2"/>
                          </a:solidFill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bg2"/>
                          </a:solidFill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bg2"/>
                          </a:solidFill>
                        </a:rP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bg2"/>
                          </a:solidFill>
                        </a:rPr>
                        <a:t>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2800" b="1" dirty="0">
                          <a:solidFill>
                            <a:schemeClr val="bg2">
                              <a:lumMod val="60000"/>
                              <a:lumOff val="40000"/>
                            </a:schemeClr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800" b="1" dirty="0">
                          <a:solidFill>
                            <a:schemeClr val="bg2">
                              <a:lumMod val="60000"/>
                              <a:lumOff val="40000"/>
                            </a:schemeClr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800" b="1" dirty="0">
                          <a:solidFill>
                            <a:schemeClr val="bg2">
                              <a:lumMod val="60000"/>
                              <a:lumOff val="40000"/>
                            </a:schemeClr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800" b="1" dirty="0">
                          <a:solidFill>
                            <a:schemeClr val="bg2">
                              <a:lumMod val="60000"/>
                              <a:lumOff val="40000"/>
                            </a:schemeClr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800" b="1" dirty="0">
                          <a:solidFill>
                            <a:schemeClr val="bg2">
                              <a:lumMod val="60000"/>
                              <a:lumOff val="40000"/>
                            </a:schemeClr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800" b="1" dirty="0">
                          <a:solidFill>
                            <a:schemeClr val="bg2">
                              <a:lumMod val="60000"/>
                              <a:lumOff val="40000"/>
                            </a:schemeClr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800" b="1" dirty="0">
                          <a:solidFill>
                            <a:schemeClr val="bg2">
                              <a:lumMod val="60000"/>
                              <a:lumOff val="40000"/>
                            </a:schemeClr>
                          </a:solidFill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800" b="1" dirty="0">
                          <a:solidFill>
                            <a:schemeClr val="bg2">
                              <a:lumMod val="60000"/>
                              <a:lumOff val="40000"/>
                            </a:schemeClr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800" b="1" dirty="0">
                          <a:solidFill>
                            <a:schemeClr val="bg2">
                              <a:lumMod val="60000"/>
                              <a:lumOff val="40000"/>
                            </a:schemeClr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800" b="1" dirty="0">
                          <a:solidFill>
                            <a:schemeClr val="bg2">
                              <a:lumMod val="60000"/>
                              <a:lumOff val="40000"/>
                            </a:schemeClr>
                          </a:solidFill>
                        </a:rPr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7" name="Прямоугольник 6"/>
          <p:cNvSpPr/>
          <p:nvPr/>
        </p:nvSpPr>
        <p:spPr bwMode="auto">
          <a:xfrm>
            <a:off x="701675" y="4487863"/>
            <a:ext cx="839788" cy="693737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 eaLnBrk="1" hangingPunct="1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None/>
              <a:defRPr/>
            </a:pPr>
            <a:r>
              <a:rPr lang="ru-RU" i="1" dirty="0">
                <a:solidFill>
                  <a:schemeClr val="bg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С</a:t>
            </a:r>
          </a:p>
        </p:txBody>
      </p:sp>
      <p:sp>
        <p:nvSpPr>
          <p:cNvPr id="8" name="Прямоугольник 7"/>
          <p:cNvSpPr/>
          <p:nvPr/>
        </p:nvSpPr>
        <p:spPr bwMode="auto">
          <a:xfrm>
            <a:off x="701675" y="5437188"/>
            <a:ext cx="839788" cy="693737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 eaLnBrk="1" hangingPunct="1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None/>
              <a:defRPr/>
            </a:pPr>
            <a:r>
              <a:rPr lang="en-US" i="1" dirty="0">
                <a:solidFill>
                  <a:schemeClr val="bg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</a:t>
            </a:r>
            <a:endParaRPr lang="ru-RU" i="1" dirty="0">
              <a:solidFill>
                <a:schemeClr val="bg2">
                  <a:lumMod val="60000"/>
                  <a:lumOff val="4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aphicFrame>
        <p:nvGraphicFramePr>
          <p:cNvPr id="10" name="Таблица 9"/>
          <p:cNvGraphicFramePr>
            <a:graphicFrameLocks noGrp="1"/>
          </p:cNvGraphicFramePr>
          <p:nvPr/>
        </p:nvGraphicFramePr>
        <p:xfrm>
          <a:off x="1797050" y="5327650"/>
          <a:ext cx="6789740" cy="88900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67897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897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7897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7897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7897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7897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7897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78974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78974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78974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bg2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bg2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bg2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bg2"/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bg2"/>
                          </a:solidFill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bg2"/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bg2"/>
                          </a:solidFill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bg2"/>
                          </a:solidFill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bg2"/>
                          </a:solidFill>
                        </a:rP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bg2"/>
                          </a:solidFill>
                        </a:rPr>
                        <a:t>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2800" b="1" dirty="0">
                          <a:solidFill>
                            <a:schemeClr val="bg2">
                              <a:lumMod val="60000"/>
                              <a:lumOff val="40000"/>
                            </a:schemeClr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800" b="1" dirty="0">
                          <a:solidFill>
                            <a:schemeClr val="bg2">
                              <a:lumMod val="60000"/>
                              <a:lumOff val="40000"/>
                            </a:schemeClr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b="1" dirty="0">
                          <a:solidFill>
                            <a:schemeClr val="bg2">
                              <a:lumMod val="60000"/>
                              <a:lumOff val="40000"/>
                            </a:schemeClr>
                          </a:solidFill>
                        </a:rPr>
                        <a:t>4</a:t>
                      </a:r>
                      <a:endParaRPr lang="ru-RU" sz="2800" b="1" dirty="0">
                        <a:solidFill>
                          <a:schemeClr val="bg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b="1" dirty="0">
                          <a:solidFill>
                            <a:schemeClr val="bg2">
                              <a:lumMod val="60000"/>
                              <a:lumOff val="40000"/>
                            </a:schemeClr>
                          </a:solidFill>
                        </a:rPr>
                        <a:t>5</a:t>
                      </a:r>
                      <a:endParaRPr lang="ru-RU" sz="2800" b="1" dirty="0">
                        <a:solidFill>
                          <a:schemeClr val="bg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b="1" dirty="0">
                          <a:solidFill>
                            <a:schemeClr val="bg2">
                              <a:lumMod val="60000"/>
                              <a:lumOff val="40000"/>
                            </a:schemeClr>
                          </a:solidFill>
                        </a:rPr>
                        <a:t>8</a:t>
                      </a:r>
                      <a:endParaRPr lang="ru-RU" sz="2800" b="1" dirty="0">
                        <a:solidFill>
                          <a:schemeClr val="bg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b="1" dirty="0">
                          <a:solidFill>
                            <a:schemeClr val="bg2">
                              <a:lumMod val="60000"/>
                              <a:lumOff val="40000"/>
                            </a:schemeClr>
                          </a:solidFill>
                        </a:rPr>
                        <a:t>11</a:t>
                      </a:r>
                      <a:endParaRPr lang="ru-RU" sz="2800" b="1" dirty="0">
                        <a:solidFill>
                          <a:schemeClr val="bg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b="1" dirty="0">
                          <a:solidFill>
                            <a:schemeClr val="bg2">
                              <a:lumMod val="60000"/>
                              <a:lumOff val="40000"/>
                            </a:schemeClr>
                          </a:solidFill>
                        </a:rPr>
                        <a:t>15</a:t>
                      </a:r>
                      <a:endParaRPr lang="ru-RU" sz="2800" b="1" dirty="0">
                        <a:solidFill>
                          <a:schemeClr val="bg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b="1" dirty="0">
                          <a:solidFill>
                            <a:schemeClr val="bg2">
                              <a:lumMod val="60000"/>
                              <a:lumOff val="40000"/>
                            </a:schemeClr>
                          </a:solidFill>
                        </a:rPr>
                        <a:t>15</a:t>
                      </a:r>
                      <a:endParaRPr lang="ru-RU" sz="2800" b="1" dirty="0">
                        <a:solidFill>
                          <a:schemeClr val="bg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b="1" dirty="0">
                          <a:solidFill>
                            <a:schemeClr val="bg2">
                              <a:lumMod val="60000"/>
                              <a:lumOff val="40000"/>
                            </a:schemeClr>
                          </a:solidFill>
                        </a:rPr>
                        <a:t>17</a:t>
                      </a:r>
                      <a:endParaRPr lang="ru-RU" sz="2800" b="1" dirty="0">
                        <a:solidFill>
                          <a:schemeClr val="bg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b="1" dirty="0">
                          <a:solidFill>
                            <a:schemeClr val="bg2">
                              <a:lumMod val="60000"/>
                              <a:lumOff val="40000"/>
                            </a:schemeClr>
                          </a:solidFill>
                        </a:rPr>
                        <a:t>20</a:t>
                      </a:r>
                      <a:endParaRPr lang="ru-RU" sz="2800" b="1" dirty="0">
                        <a:solidFill>
                          <a:schemeClr val="bg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1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9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nimBg="1"/>
      <p:bldP spid="4" grpId="0"/>
      <p:bldP spid="7" grpId="0" animBg="1"/>
      <p:bldP spid="8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Содержимое 6"/>
          <p:cNvGraphicFramePr>
            <a:graphicFrameLocks noGrp="1"/>
          </p:cNvGraphicFramePr>
          <p:nvPr>
            <p:ph idx="1"/>
          </p:nvPr>
        </p:nvGraphicFramePr>
        <p:xfrm>
          <a:off x="409575" y="2662238"/>
          <a:ext cx="8229600" cy="22637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65944">
                <a:tc>
                  <a:txBody>
                    <a:bodyPr/>
                    <a:lstStyle/>
                    <a:p>
                      <a:endParaRPr lang="ru-RU" sz="1800" dirty="0"/>
                    </a:p>
                  </a:txBody>
                  <a:tcPr marT="45719" marB="45719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2800" dirty="0">
                        <a:solidFill>
                          <a:schemeClr val="bg2"/>
                        </a:solidFill>
                      </a:endParaRPr>
                    </a:p>
                  </a:txBody>
                  <a:tcPr marT="45719" marB="45719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800" dirty="0"/>
                    </a:p>
                  </a:txBody>
                  <a:tcPr marT="45719" marB="45719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800" dirty="0"/>
                    </a:p>
                  </a:txBody>
                  <a:tcPr marT="45719" marB="45719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800" dirty="0"/>
                    </a:p>
                  </a:txBody>
                  <a:tcPr marT="45719" marB="45719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5944">
                <a:tc>
                  <a:txBody>
                    <a:bodyPr/>
                    <a:lstStyle/>
                    <a:p>
                      <a:endParaRPr lang="ru-RU" sz="1800"/>
                    </a:p>
                  </a:txBody>
                  <a:tcPr marT="45719" marB="45719"/>
                </a:tc>
                <a:tc>
                  <a:txBody>
                    <a:bodyPr/>
                    <a:lstStyle/>
                    <a:p>
                      <a:endParaRPr lang="ru-RU" sz="1800"/>
                    </a:p>
                  </a:txBody>
                  <a:tcPr marT="45719" marB="45719"/>
                </a:tc>
                <a:tc>
                  <a:txBody>
                    <a:bodyPr/>
                    <a:lstStyle/>
                    <a:p>
                      <a:endParaRPr lang="ru-RU" sz="1800"/>
                    </a:p>
                  </a:txBody>
                  <a:tcPr marT="45719" marB="45719"/>
                </a:tc>
                <a:tc>
                  <a:txBody>
                    <a:bodyPr/>
                    <a:lstStyle/>
                    <a:p>
                      <a:endParaRPr lang="ru-RU" sz="1800"/>
                    </a:p>
                  </a:txBody>
                  <a:tcPr marT="45719" marB="45719"/>
                </a:tc>
                <a:tc>
                  <a:txBody>
                    <a:bodyPr/>
                    <a:lstStyle/>
                    <a:p>
                      <a:endParaRPr lang="ru-RU" sz="1800"/>
                    </a:p>
                  </a:txBody>
                  <a:tcPr marT="45719" marB="45719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5944">
                <a:tc>
                  <a:txBody>
                    <a:bodyPr/>
                    <a:lstStyle/>
                    <a:p>
                      <a:endParaRPr lang="ru-RU" sz="1800"/>
                    </a:p>
                  </a:txBody>
                  <a:tcPr marT="45719" marB="45719"/>
                </a:tc>
                <a:tc>
                  <a:txBody>
                    <a:bodyPr/>
                    <a:lstStyle/>
                    <a:p>
                      <a:endParaRPr lang="ru-RU" sz="1800"/>
                    </a:p>
                  </a:txBody>
                  <a:tcPr marT="45719" marB="45719"/>
                </a:tc>
                <a:tc>
                  <a:txBody>
                    <a:bodyPr/>
                    <a:lstStyle/>
                    <a:p>
                      <a:endParaRPr lang="ru-RU" sz="1800" dirty="0"/>
                    </a:p>
                  </a:txBody>
                  <a:tcPr marT="45719" marB="45719"/>
                </a:tc>
                <a:tc>
                  <a:txBody>
                    <a:bodyPr/>
                    <a:lstStyle/>
                    <a:p>
                      <a:endParaRPr lang="ru-RU" sz="1800"/>
                    </a:p>
                  </a:txBody>
                  <a:tcPr marT="45719" marB="45719"/>
                </a:tc>
                <a:tc>
                  <a:txBody>
                    <a:bodyPr/>
                    <a:lstStyle/>
                    <a:p>
                      <a:endParaRPr lang="ru-RU" sz="1800" dirty="0"/>
                    </a:p>
                  </a:txBody>
                  <a:tcPr marT="45719" marB="45719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5944">
                <a:tc>
                  <a:txBody>
                    <a:bodyPr/>
                    <a:lstStyle/>
                    <a:p>
                      <a:endParaRPr lang="ru-RU" sz="1800"/>
                    </a:p>
                  </a:txBody>
                  <a:tcPr marT="45719" marB="45719"/>
                </a:tc>
                <a:tc>
                  <a:txBody>
                    <a:bodyPr/>
                    <a:lstStyle/>
                    <a:p>
                      <a:r>
                        <a:rPr lang="ru-RU" sz="2800" b="1" dirty="0"/>
                        <a:t>8467</a:t>
                      </a:r>
                    </a:p>
                  </a:txBody>
                  <a:tcPr marT="45719" marB="45719"/>
                </a:tc>
                <a:tc>
                  <a:txBody>
                    <a:bodyPr/>
                    <a:lstStyle/>
                    <a:p>
                      <a:endParaRPr lang="ru-RU" sz="1800"/>
                    </a:p>
                  </a:txBody>
                  <a:tcPr marT="45719" marB="45719"/>
                </a:tc>
                <a:tc>
                  <a:txBody>
                    <a:bodyPr/>
                    <a:lstStyle/>
                    <a:p>
                      <a:endParaRPr lang="ru-RU" sz="1800"/>
                    </a:p>
                  </a:txBody>
                  <a:tcPr marT="45719" marB="45719"/>
                </a:tc>
                <a:tc>
                  <a:txBody>
                    <a:bodyPr/>
                    <a:lstStyle/>
                    <a:p>
                      <a:endParaRPr lang="ru-RU" sz="1800" dirty="0"/>
                    </a:p>
                  </a:txBody>
                  <a:tcPr marT="45719" marB="45719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Заголовок 1"/>
          <p:cNvSpPr txBox="1">
            <a:spLocks/>
          </p:cNvSpPr>
          <p:nvPr/>
        </p:nvSpPr>
        <p:spPr bwMode="auto">
          <a:xfrm>
            <a:off x="519113" y="288925"/>
            <a:ext cx="8229600" cy="455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>
              <a:defRPr/>
            </a:pPr>
            <a:r>
              <a:rPr lang="ru-RU" sz="3600" kern="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Поразрядная </a:t>
            </a:r>
            <a:r>
              <a:rPr lang="en-US" sz="3600" i="1" kern="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MSD - </a:t>
            </a:r>
            <a:r>
              <a:rPr lang="ru-RU" sz="3600" kern="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сортировка</a:t>
            </a:r>
          </a:p>
        </p:txBody>
      </p:sp>
      <p:sp>
        <p:nvSpPr>
          <p:cNvPr id="5" name="Прямоугольник 4"/>
          <p:cNvSpPr/>
          <p:nvPr/>
        </p:nvSpPr>
        <p:spPr bwMode="auto">
          <a:xfrm>
            <a:off x="592138" y="1201738"/>
            <a:ext cx="839787" cy="693737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 eaLnBrk="1" hangingPunct="1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None/>
              <a:defRPr/>
            </a:pPr>
            <a:r>
              <a:rPr lang="en-US" i="1" dirty="0">
                <a:solidFill>
                  <a:schemeClr val="bg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</a:t>
            </a:r>
            <a:endParaRPr lang="ru-RU" i="1" dirty="0">
              <a:solidFill>
                <a:schemeClr val="bg2">
                  <a:lumMod val="60000"/>
                  <a:lumOff val="4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aphicFrame>
        <p:nvGraphicFramePr>
          <p:cNvPr id="6" name="Таблица 5"/>
          <p:cNvGraphicFramePr>
            <a:graphicFrameLocks noGrp="1"/>
          </p:cNvGraphicFramePr>
          <p:nvPr/>
        </p:nvGraphicFramePr>
        <p:xfrm>
          <a:off x="1687513" y="1092200"/>
          <a:ext cx="6789740" cy="88900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67897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897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7897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7897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7897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7897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7897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78974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78974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78974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bg2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bg2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bg2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bg2"/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bg2"/>
                          </a:solidFill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bg2"/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bg2"/>
                          </a:solidFill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bg2"/>
                          </a:solidFill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bg2"/>
                          </a:solidFill>
                        </a:rP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bg2"/>
                          </a:solidFill>
                        </a:rPr>
                        <a:t>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2800" b="1" dirty="0">
                          <a:solidFill>
                            <a:schemeClr val="bg2">
                              <a:lumMod val="60000"/>
                              <a:lumOff val="40000"/>
                            </a:schemeClr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800" b="1" dirty="0">
                          <a:solidFill>
                            <a:schemeClr val="bg2">
                              <a:lumMod val="60000"/>
                              <a:lumOff val="40000"/>
                            </a:schemeClr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b="1" dirty="0">
                          <a:solidFill>
                            <a:schemeClr val="bg2">
                              <a:lumMod val="60000"/>
                              <a:lumOff val="40000"/>
                            </a:schemeClr>
                          </a:solidFill>
                        </a:rPr>
                        <a:t>4</a:t>
                      </a:r>
                      <a:endParaRPr lang="ru-RU" sz="2800" b="1" dirty="0">
                        <a:solidFill>
                          <a:schemeClr val="bg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b="1" dirty="0">
                          <a:solidFill>
                            <a:schemeClr val="bg2">
                              <a:lumMod val="60000"/>
                              <a:lumOff val="40000"/>
                            </a:schemeClr>
                          </a:solidFill>
                        </a:rPr>
                        <a:t>5</a:t>
                      </a:r>
                      <a:endParaRPr lang="ru-RU" sz="2800" b="1" dirty="0">
                        <a:solidFill>
                          <a:schemeClr val="bg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b="1" dirty="0">
                          <a:solidFill>
                            <a:schemeClr val="bg2">
                              <a:lumMod val="60000"/>
                              <a:lumOff val="40000"/>
                            </a:schemeClr>
                          </a:solidFill>
                        </a:rPr>
                        <a:t>8</a:t>
                      </a:r>
                      <a:endParaRPr lang="ru-RU" sz="2800" b="1" dirty="0">
                        <a:solidFill>
                          <a:schemeClr val="bg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b="1" dirty="0">
                          <a:solidFill>
                            <a:schemeClr val="bg2">
                              <a:lumMod val="60000"/>
                              <a:lumOff val="40000"/>
                            </a:schemeClr>
                          </a:solidFill>
                        </a:rPr>
                        <a:t>11</a:t>
                      </a:r>
                      <a:endParaRPr lang="ru-RU" sz="2800" b="1" dirty="0">
                        <a:solidFill>
                          <a:schemeClr val="bg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b="1" dirty="0">
                          <a:solidFill>
                            <a:schemeClr val="bg2">
                              <a:lumMod val="60000"/>
                              <a:lumOff val="40000"/>
                            </a:schemeClr>
                          </a:solidFill>
                        </a:rPr>
                        <a:t>15</a:t>
                      </a:r>
                      <a:endParaRPr lang="ru-RU" sz="2800" b="1" dirty="0">
                        <a:solidFill>
                          <a:schemeClr val="bg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b="1" dirty="0">
                          <a:solidFill>
                            <a:schemeClr val="bg2">
                              <a:lumMod val="60000"/>
                              <a:lumOff val="40000"/>
                            </a:schemeClr>
                          </a:solidFill>
                        </a:rPr>
                        <a:t>15</a:t>
                      </a:r>
                      <a:endParaRPr lang="ru-RU" sz="2800" b="1" dirty="0">
                        <a:solidFill>
                          <a:schemeClr val="bg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b="1" dirty="0">
                          <a:solidFill>
                            <a:schemeClr val="bg2">
                              <a:lumMod val="60000"/>
                              <a:lumOff val="40000"/>
                            </a:schemeClr>
                          </a:solidFill>
                        </a:rPr>
                        <a:t>17</a:t>
                      </a:r>
                      <a:endParaRPr lang="ru-RU" sz="2800" b="1" dirty="0">
                        <a:solidFill>
                          <a:schemeClr val="bg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b="1" dirty="0">
                          <a:solidFill>
                            <a:schemeClr val="bg2">
                              <a:lumMod val="60000"/>
                              <a:lumOff val="40000"/>
                            </a:schemeClr>
                          </a:solidFill>
                        </a:rPr>
                        <a:t>20</a:t>
                      </a:r>
                      <a:endParaRPr lang="ru-RU" sz="2800" b="1" dirty="0">
                        <a:solidFill>
                          <a:schemeClr val="bg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3623" name="Прямоугольник 9"/>
          <p:cNvSpPr>
            <a:spLocks noChangeArrowheads="1"/>
          </p:cNvSpPr>
          <p:nvPr/>
        </p:nvSpPr>
        <p:spPr bwMode="auto">
          <a:xfrm>
            <a:off x="0" y="5386388"/>
            <a:ext cx="8734425" cy="1471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buFont typeface="Wingdings" panose="05000000000000000000" pitchFamily="2" charset="2"/>
              <a:buNone/>
            </a:pPr>
            <a:r>
              <a:rPr lang="ru-RU" altLang="ru-RU" sz="2800">
                <a:solidFill>
                  <a:schemeClr val="bg2"/>
                </a:solidFill>
              </a:rPr>
              <a:t>8467 6334 6500 9169 5724 1478 9358 6962</a:t>
            </a:r>
            <a:endParaRPr lang="en-US" altLang="ru-RU" sz="2800">
              <a:solidFill>
                <a:schemeClr val="bg2"/>
              </a:solidFill>
            </a:endParaRPr>
          </a:p>
          <a:p>
            <a:pPr algn="ctr" eaLnBrk="1" hangingPunct="1">
              <a:buFont typeface="Wingdings" panose="05000000000000000000" pitchFamily="2" charset="2"/>
              <a:buNone/>
            </a:pPr>
            <a:r>
              <a:rPr lang="ru-RU" altLang="ru-RU" sz="2800">
                <a:solidFill>
                  <a:schemeClr val="bg2"/>
                </a:solidFill>
              </a:rPr>
              <a:t> 4464 5705 8145 3281 6827 9961 2995 1942 4827 5436 2391 4604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Содержимое 6"/>
          <p:cNvGraphicFramePr>
            <a:graphicFrameLocks noGrp="1"/>
          </p:cNvGraphicFramePr>
          <p:nvPr>
            <p:ph idx="1"/>
          </p:nvPr>
        </p:nvGraphicFramePr>
        <p:xfrm>
          <a:off x="409575" y="2662238"/>
          <a:ext cx="8229600" cy="22637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65944">
                <a:tc>
                  <a:txBody>
                    <a:bodyPr/>
                    <a:lstStyle/>
                    <a:p>
                      <a:endParaRPr lang="ru-RU" sz="1800" dirty="0"/>
                    </a:p>
                  </a:txBody>
                  <a:tcPr marT="45719" marB="45719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2800" dirty="0">
                        <a:solidFill>
                          <a:schemeClr val="bg2"/>
                        </a:solidFill>
                      </a:endParaRPr>
                    </a:p>
                  </a:txBody>
                  <a:tcPr marT="45719" marB="45719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800" dirty="0"/>
                    </a:p>
                  </a:txBody>
                  <a:tcPr marT="45719" marB="45719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800" dirty="0"/>
                    </a:p>
                  </a:txBody>
                  <a:tcPr marT="45719" marB="45719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800" dirty="0"/>
                    </a:p>
                  </a:txBody>
                  <a:tcPr marT="45719" marB="45719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5944">
                <a:tc>
                  <a:txBody>
                    <a:bodyPr/>
                    <a:lstStyle/>
                    <a:p>
                      <a:endParaRPr lang="ru-RU" sz="1800"/>
                    </a:p>
                  </a:txBody>
                  <a:tcPr marT="45719" marB="45719"/>
                </a:tc>
                <a:tc>
                  <a:txBody>
                    <a:bodyPr/>
                    <a:lstStyle/>
                    <a:p>
                      <a:endParaRPr lang="ru-RU" sz="1800"/>
                    </a:p>
                  </a:txBody>
                  <a:tcPr marT="45719" marB="45719"/>
                </a:tc>
                <a:tc>
                  <a:txBody>
                    <a:bodyPr/>
                    <a:lstStyle/>
                    <a:p>
                      <a:endParaRPr lang="ru-RU" sz="1800"/>
                    </a:p>
                  </a:txBody>
                  <a:tcPr marT="45719" marB="45719"/>
                </a:tc>
                <a:tc>
                  <a:txBody>
                    <a:bodyPr/>
                    <a:lstStyle/>
                    <a:p>
                      <a:endParaRPr lang="ru-RU" sz="1800"/>
                    </a:p>
                  </a:txBody>
                  <a:tcPr marT="45719" marB="45719"/>
                </a:tc>
                <a:tc>
                  <a:txBody>
                    <a:bodyPr/>
                    <a:lstStyle/>
                    <a:p>
                      <a:endParaRPr lang="ru-RU" sz="1800"/>
                    </a:p>
                  </a:txBody>
                  <a:tcPr marT="45719" marB="45719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5944">
                <a:tc>
                  <a:txBody>
                    <a:bodyPr/>
                    <a:lstStyle/>
                    <a:p>
                      <a:endParaRPr lang="ru-RU" sz="1800"/>
                    </a:p>
                  </a:txBody>
                  <a:tcPr marT="45719" marB="45719"/>
                </a:tc>
                <a:tc>
                  <a:txBody>
                    <a:bodyPr/>
                    <a:lstStyle/>
                    <a:p>
                      <a:endParaRPr lang="ru-RU" sz="1800"/>
                    </a:p>
                  </a:txBody>
                  <a:tcPr marT="45719" marB="45719"/>
                </a:tc>
                <a:tc>
                  <a:txBody>
                    <a:bodyPr/>
                    <a:lstStyle/>
                    <a:p>
                      <a:endParaRPr lang="ru-RU" sz="1800" dirty="0"/>
                    </a:p>
                  </a:txBody>
                  <a:tcPr marT="45719" marB="45719"/>
                </a:tc>
                <a:tc>
                  <a:txBody>
                    <a:bodyPr/>
                    <a:lstStyle/>
                    <a:p>
                      <a:endParaRPr lang="ru-RU" sz="1800"/>
                    </a:p>
                  </a:txBody>
                  <a:tcPr marT="45719" marB="45719"/>
                </a:tc>
                <a:tc>
                  <a:txBody>
                    <a:bodyPr/>
                    <a:lstStyle/>
                    <a:p>
                      <a:r>
                        <a:rPr lang="ru-RU" sz="2800" b="1" dirty="0"/>
                        <a:t>6334</a:t>
                      </a:r>
                    </a:p>
                  </a:txBody>
                  <a:tcPr marT="45719" marB="45719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5944">
                <a:tc>
                  <a:txBody>
                    <a:bodyPr/>
                    <a:lstStyle/>
                    <a:p>
                      <a:endParaRPr lang="ru-RU" sz="1800"/>
                    </a:p>
                  </a:txBody>
                  <a:tcPr marT="45719" marB="45719"/>
                </a:tc>
                <a:tc>
                  <a:txBody>
                    <a:bodyPr/>
                    <a:lstStyle/>
                    <a:p>
                      <a:r>
                        <a:rPr lang="ru-RU" sz="2800" b="1" dirty="0"/>
                        <a:t>8467</a:t>
                      </a:r>
                    </a:p>
                  </a:txBody>
                  <a:tcPr marT="45719" marB="45719"/>
                </a:tc>
                <a:tc>
                  <a:txBody>
                    <a:bodyPr/>
                    <a:lstStyle/>
                    <a:p>
                      <a:endParaRPr lang="ru-RU" sz="1800"/>
                    </a:p>
                  </a:txBody>
                  <a:tcPr marT="45719" marB="45719"/>
                </a:tc>
                <a:tc>
                  <a:txBody>
                    <a:bodyPr/>
                    <a:lstStyle/>
                    <a:p>
                      <a:endParaRPr lang="ru-RU" sz="1800"/>
                    </a:p>
                  </a:txBody>
                  <a:tcPr marT="45719" marB="45719"/>
                </a:tc>
                <a:tc>
                  <a:txBody>
                    <a:bodyPr/>
                    <a:lstStyle/>
                    <a:p>
                      <a:endParaRPr lang="ru-RU" sz="1800" dirty="0"/>
                    </a:p>
                  </a:txBody>
                  <a:tcPr marT="45719" marB="45719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Заголовок 1"/>
          <p:cNvSpPr txBox="1">
            <a:spLocks/>
          </p:cNvSpPr>
          <p:nvPr/>
        </p:nvSpPr>
        <p:spPr bwMode="auto">
          <a:xfrm>
            <a:off x="519113" y="288925"/>
            <a:ext cx="8229600" cy="455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>
              <a:defRPr/>
            </a:pPr>
            <a:r>
              <a:rPr lang="ru-RU" sz="3600" kern="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Поразрядная </a:t>
            </a:r>
            <a:r>
              <a:rPr lang="en-US" sz="3600" i="1" kern="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MSD - </a:t>
            </a:r>
            <a:r>
              <a:rPr lang="ru-RU" sz="3600" kern="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сортировка</a:t>
            </a:r>
          </a:p>
        </p:txBody>
      </p:sp>
      <p:sp>
        <p:nvSpPr>
          <p:cNvPr id="5" name="Прямоугольник 4"/>
          <p:cNvSpPr/>
          <p:nvPr/>
        </p:nvSpPr>
        <p:spPr bwMode="auto">
          <a:xfrm>
            <a:off x="592138" y="1201738"/>
            <a:ext cx="839787" cy="693737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 eaLnBrk="1" hangingPunct="1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None/>
              <a:defRPr/>
            </a:pPr>
            <a:r>
              <a:rPr lang="en-US" i="1" dirty="0">
                <a:solidFill>
                  <a:schemeClr val="bg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</a:t>
            </a:r>
            <a:endParaRPr lang="ru-RU" i="1" dirty="0">
              <a:solidFill>
                <a:schemeClr val="bg2">
                  <a:lumMod val="60000"/>
                  <a:lumOff val="4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aphicFrame>
        <p:nvGraphicFramePr>
          <p:cNvPr id="6" name="Таблица 5"/>
          <p:cNvGraphicFramePr>
            <a:graphicFrameLocks noGrp="1"/>
          </p:cNvGraphicFramePr>
          <p:nvPr/>
        </p:nvGraphicFramePr>
        <p:xfrm>
          <a:off x="1687513" y="1092200"/>
          <a:ext cx="6789740" cy="88900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67897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897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7897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7897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7897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7897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7897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78974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78974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78974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bg2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bg2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bg2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bg2"/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bg2"/>
                          </a:solidFill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bg2"/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bg2"/>
                          </a:solidFill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bg2"/>
                          </a:solidFill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bg2"/>
                          </a:solidFill>
                        </a:rP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bg2"/>
                          </a:solidFill>
                        </a:rPr>
                        <a:t>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2800" b="1" dirty="0">
                          <a:solidFill>
                            <a:schemeClr val="bg2">
                              <a:lumMod val="60000"/>
                              <a:lumOff val="40000"/>
                            </a:schemeClr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800" b="1" dirty="0">
                          <a:solidFill>
                            <a:schemeClr val="bg2">
                              <a:lumMod val="60000"/>
                              <a:lumOff val="40000"/>
                            </a:schemeClr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b="1" dirty="0">
                          <a:solidFill>
                            <a:schemeClr val="bg2">
                              <a:lumMod val="60000"/>
                              <a:lumOff val="40000"/>
                            </a:schemeClr>
                          </a:solidFill>
                        </a:rPr>
                        <a:t>4</a:t>
                      </a:r>
                      <a:endParaRPr lang="ru-RU" sz="2800" b="1" dirty="0">
                        <a:solidFill>
                          <a:schemeClr val="bg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b="1" dirty="0">
                          <a:solidFill>
                            <a:schemeClr val="bg2">
                              <a:lumMod val="60000"/>
                              <a:lumOff val="40000"/>
                            </a:schemeClr>
                          </a:solidFill>
                        </a:rPr>
                        <a:t>5</a:t>
                      </a:r>
                      <a:endParaRPr lang="ru-RU" sz="2800" b="1" dirty="0">
                        <a:solidFill>
                          <a:schemeClr val="bg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b="1" dirty="0">
                          <a:solidFill>
                            <a:schemeClr val="bg2">
                              <a:lumMod val="60000"/>
                              <a:lumOff val="40000"/>
                            </a:schemeClr>
                          </a:solidFill>
                        </a:rPr>
                        <a:t>8</a:t>
                      </a:r>
                      <a:endParaRPr lang="ru-RU" sz="2800" b="1" dirty="0">
                        <a:solidFill>
                          <a:schemeClr val="bg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b="1" dirty="0">
                          <a:solidFill>
                            <a:schemeClr val="bg2">
                              <a:lumMod val="60000"/>
                              <a:lumOff val="40000"/>
                            </a:schemeClr>
                          </a:solidFill>
                        </a:rPr>
                        <a:t>11</a:t>
                      </a:r>
                      <a:endParaRPr lang="ru-RU" sz="2800" b="1" dirty="0">
                        <a:solidFill>
                          <a:schemeClr val="bg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b="1" dirty="0">
                          <a:solidFill>
                            <a:schemeClr val="bg2">
                              <a:lumMod val="60000"/>
                              <a:lumOff val="40000"/>
                            </a:schemeClr>
                          </a:solidFill>
                        </a:rPr>
                        <a:t>15</a:t>
                      </a:r>
                      <a:endParaRPr lang="ru-RU" sz="2800" b="1" dirty="0">
                        <a:solidFill>
                          <a:schemeClr val="bg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b="1" dirty="0">
                          <a:solidFill>
                            <a:schemeClr val="bg2">
                              <a:lumMod val="60000"/>
                              <a:lumOff val="40000"/>
                            </a:schemeClr>
                          </a:solidFill>
                        </a:rPr>
                        <a:t>15</a:t>
                      </a:r>
                      <a:endParaRPr lang="ru-RU" sz="2800" b="1" dirty="0">
                        <a:solidFill>
                          <a:schemeClr val="bg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b="1" dirty="0">
                          <a:solidFill>
                            <a:schemeClr val="bg2">
                              <a:lumMod val="60000"/>
                              <a:lumOff val="40000"/>
                            </a:schemeClr>
                          </a:solidFill>
                        </a:rPr>
                        <a:t>16</a:t>
                      </a:r>
                      <a:endParaRPr lang="ru-RU" sz="2800" b="1" dirty="0">
                        <a:solidFill>
                          <a:schemeClr val="bg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b="1" dirty="0">
                          <a:solidFill>
                            <a:schemeClr val="bg2">
                              <a:lumMod val="60000"/>
                              <a:lumOff val="40000"/>
                            </a:schemeClr>
                          </a:solidFill>
                        </a:rPr>
                        <a:t>20</a:t>
                      </a:r>
                      <a:endParaRPr lang="ru-RU" sz="2800" b="1" dirty="0">
                        <a:solidFill>
                          <a:schemeClr val="bg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4647" name="Прямоугольник 9"/>
          <p:cNvSpPr>
            <a:spLocks noChangeArrowheads="1"/>
          </p:cNvSpPr>
          <p:nvPr/>
        </p:nvSpPr>
        <p:spPr bwMode="auto">
          <a:xfrm>
            <a:off x="0" y="5386388"/>
            <a:ext cx="8734425" cy="1471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buFont typeface="Wingdings" panose="05000000000000000000" pitchFamily="2" charset="2"/>
              <a:buNone/>
            </a:pPr>
            <a:r>
              <a:rPr lang="ru-RU" altLang="ru-RU" sz="2800">
                <a:solidFill>
                  <a:schemeClr val="bg2"/>
                </a:solidFill>
              </a:rPr>
              <a:t>6334 6500 9169 5724 1478 9358 6962</a:t>
            </a:r>
            <a:endParaRPr lang="en-US" altLang="ru-RU" sz="2800">
              <a:solidFill>
                <a:schemeClr val="bg2"/>
              </a:solidFill>
            </a:endParaRPr>
          </a:p>
          <a:p>
            <a:pPr algn="ctr" eaLnBrk="1" hangingPunct="1">
              <a:buFont typeface="Wingdings" panose="05000000000000000000" pitchFamily="2" charset="2"/>
              <a:buNone/>
            </a:pPr>
            <a:r>
              <a:rPr lang="ru-RU" altLang="ru-RU" sz="2800">
                <a:solidFill>
                  <a:schemeClr val="bg2"/>
                </a:solidFill>
              </a:rPr>
              <a:t> 4464 5705 8145 3281 6827 9961 2995 1942 4827 5436 2391 4604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Содержимое 6"/>
          <p:cNvGraphicFramePr>
            <a:graphicFrameLocks noGrp="1"/>
          </p:cNvGraphicFramePr>
          <p:nvPr>
            <p:ph idx="1"/>
          </p:nvPr>
        </p:nvGraphicFramePr>
        <p:xfrm>
          <a:off x="409575" y="2662238"/>
          <a:ext cx="8229600" cy="2263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65944">
                <a:tc>
                  <a:txBody>
                    <a:bodyPr/>
                    <a:lstStyle/>
                    <a:p>
                      <a:endParaRPr lang="ru-RU" sz="1800" dirty="0"/>
                    </a:p>
                  </a:txBody>
                  <a:tcPr marT="45719" marB="45719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2800" dirty="0">
                        <a:solidFill>
                          <a:schemeClr val="bg2"/>
                        </a:solidFill>
                      </a:endParaRPr>
                    </a:p>
                  </a:txBody>
                  <a:tcPr marT="45719" marB="45719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800" dirty="0"/>
                    </a:p>
                  </a:txBody>
                  <a:tcPr marT="45719" marB="45719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800" dirty="0"/>
                    </a:p>
                  </a:txBody>
                  <a:tcPr marT="45719" marB="45719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800" dirty="0"/>
                    </a:p>
                  </a:txBody>
                  <a:tcPr marT="45719" marB="45719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5944">
                <a:tc>
                  <a:txBody>
                    <a:bodyPr/>
                    <a:lstStyle/>
                    <a:p>
                      <a:endParaRPr lang="ru-RU" sz="1800"/>
                    </a:p>
                  </a:txBody>
                  <a:tcPr marT="45719" marB="45719"/>
                </a:tc>
                <a:tc>
                  <a:txBody>
                    <a:bodyPr/>
                    <a:lstStyle/>
                    <a:p>
                      <a:endParaRPr lang="ru-RU" sz="1800"/>
                    </a:p>
                  </a:txBody>
                  <a:tcPr marT="45719" marB="45719"/>
                </a:tc>
                <a:tc>
                  <a:txBody>
                    <a:bodyPr/>
                    <a:lstStyle/>
                    <a:p>
                      <a:endParaRPr lang="ru-RU" sz="1800"/>
                    </a:p>
                  </a:txBody>
                  <a:tcPr marT="45719" marB="45719"/>
                </a:tc>
                <a:tc>
                  <a:txBody>
                    <a:bodyPr/>
                    <a:lstStyle/>
                    <a:p>
                      <a:endParaRPr lang="ru-RU" sz="1800"/>
                    </a:p>
                  </a:txBody>
                  <a:tcPr marT="45719" marB="45719"/>
                </a:tc>
                <a:tc>
                  <a:txBody>
                    <a:bodyPr/>
                    <a:lstStyle/>
                    <a:p>
                      <a:endParaRPr lang="ru-RU" sz="1800"/>
                    </a:p>
                  </a:txBody>
                  <a:tcPr marT="45719" marB="45719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5944">
                <a:tc>
                  <a:txBody>
                    <a:bodyPr/>
                    <a:lstStyle/>
                    <a:p>
                      <a:endParaRPr lang="ru-RU" sz="1800"/>
                    </a:p>
                  </a:txBody>
                  <a:tcPr marT="45719" marB="45719"/>
                </a:tc>
                <a:tc>
                  <a:txBody>
                    <a:bodyPr/>
                    <a:lstStyle/>
                    <a:p>
                      <a:endParaRPr lang="ru-RU" sz="1800"/>
                    </a:p>
                  </a:txBody>
                  <a:tcPr marT="45719" marB="45719"/>
                </a:tc>
                <a:tc>
                  <a:txBody>
                    <a:bodyPr/>
                    <a:lstStyle/>
                    <a:p>
                      <a:endParaRPr lang="ru-RU" sz="1800" dirty="0"/>
                    </a:p>
                  </a:txBody>
                  <a:tcPr marT="45719" marB="45719"/>
                </a:tc>
                <a:tc>
                  <a:txBody>
                    <a:bodyPr/>
                    <a:lstStyle/>
                    <a:p>
                      <a:r>
                        <a:rPr lang="ru-RU" sz="2800" b="1" dirty="0">
                          <a:solidFill>
                            <a:schemeClr val="bg2"/>
                          </a:solidFill>
                        </a:rPr>
                        <a:t>6500</a:t>
                      </a:r>
                    </a:p>
                  </a:txBody>
                  <a:tcPr marT="45719" marB="45719"/>
                </a:tc>
                <a:tc>
                  <a:txBody>
                    <a:bodyPr/>
                    <a:lstStyle/>
                    <a:p>
                      <a:r>
                        <a:rPr lang="ru-RU" sz="2800" b="1" dirty="0"/>
                        <a:t>6334</a:t>
                      </a:r>
                    </a:p>
                  </a:txBody>
                  <a:tcPr marT="45719" marB="45719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5944">
                <a:tc>
                  <a:txBody>
                    <a:bodyPr/>
                    <a:lstStyle/>
                    <a:p>
                      <a:endParaRPr lang="ru-RU" sz="1800"/>
                    </a:p>
                  </a:txBody>
                  <a:tcPr marT="45719" marB="45719"/>
                </a:tc>
                <a:tc>
                  <a:txBody>
                    <a:bodyPr/>
                    <a:lstStyle/>
                    <a:p>
                      <a:r>
                        <a:rPr lang="ru-RU" sz="2800" b="1" dirty="0"/>
                        <a:t>8467</a:t>
                      </a:r>
                    </a:p>
                  </a:txBody>
                  <a:tcPr marT="45719" marB="45719"/>
                </a:tc>
                <a:tc>
                  <a:txBody>
                    <a:bodyPr/>
                    <a:lstStyle/>
                    <a:p>
                      <a:endParaRPr lang="ru-RU" sz="1800" dirty="0"/>
                    </a:p>
                  </a:txBody>
                  <a:tcPr marT="45719" marB="45719"/>
                </a:tc>
                <a:tc>
                  <a:txBody>
                    <a:bodyPr/>
                    <a:lstStyle/>
                    <a:p>
                      <a:endParaRPr lang="ru-RU" sz="1800"/>
                    </a:p>
                  </a:txBody>
                  <a:tcPr marT="45719" marB="45719"/>
                </a:tc>
                <a:tc>
                  <a:txBody>
                    <a:bodyPr/>
                    <a:lstStyle/>
                    <a:p>
                      <a:endParaRPr lang="ru-RU" sz="1800" dirty="0"/>
                    </a:p>
                  </a:txBody>
                  <a:tcPr marT="45719" marB="45719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Заголовок 1"/>
          <p:cNvSpPr txBox="1">
            <a:spLocks/>
          </p:cNvSpPr>
          <p:nvPr/>
        </p:nvSpPr>
        <p:spPr bwMode="auto">
          <a:xfrm>
            <a:off x="519113" y="288925"/>
            <a:ext cx="8229600" cy="455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>
              <a:defRPr/>
            </a:pPr>
            <a:r>
              <a:rPr lang="ru-RU" sz="3600" kern="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Поразрядная </a:t>
            </a:r>
            <a:r>
              <a:rPr lang="en-US" sz="3600" i="1" kern="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MSD - </a:t>
            </a:r>
            <a:r>
              <a:rPr lang="ru-RU" sz="3600" kern="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сортировка</a:t>
            </a:r>
          </a:p>
        </p:txBody>
      </p:sp>
      <p:sp>
        <p:nvSpPr>
          <p:cNvPr id="5" name="Прямоугольник 4"/>
          <p:cNvSpPr/>
          <p:nvPr/>
        </p:nvSpPr>
        <p:spPr bwMode="auto">
          <a:xfrm>
            <a:off x="592138" y="1201738"/>
            <a:ext cx="839787" cy="693737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 eaLnBrk="1" hangingPunct="1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None/>
              <a:defRPr/>
            </a:pPr>
            <a:r>
              <a:rPr lang="en-US" i="1" dirty="0">
                <a:solidFill>
                  <a:schemeClr val="bg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</a:t>
            </a:r>
            <a:endParaRPr lang="ru-RU" i="1" dirty="0">
              <a:solidFill>
                <a:schemeClr val="bg2">
                  <a:lumMod val="60000"/>
                  <a:lumOff val="4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aphicFrame>
        <p:nvGraphicFramePr>
          <p:cNvPr id="6" name="Таблица 5"/>
          <p:cNvGraphicFramePr>
            <a:graphicFrameLocks noGrp="1"/>
          </p:cNvGraphicFramePr>
          <p:nvPr/>
        </p:nvGraphicFramePr>
        <p:xfrm>
          <a:off x="1687513" y="1092200"/>
          <a:ext cx="6789737" cy="88900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67897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897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7897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7897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7897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7897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7897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78974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78974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78974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bg2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bg2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bg2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bg2"/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bg2"/>
                          </a:solidFill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bg2"/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bg2"/>
                          </a:solidFill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bg2"/>
                          </a:solidFill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bg2"/>
                          </a:solidFill>
                        </a:rP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bg2"/>
                          </a:solidFill>
                        </a:rPr>
                        <a:t>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2800" b="1" dirty="0">
                          <a:solidFill>
                            <a:schemeClr val="bg2">
                              <a:lumMod val="60000"/>
                              <a:lumOff val="40000"/>
                            </a:schemeClr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800" b="1" dirty="0">
                          <a:solidFill>
                            <a:schemeClr val="bg2">
                              <a:lumMod val="60000"/>
                              <a:lumOff val="40000"/>
                            </a:schemeClr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b="1" dirty="0">
                          <a:solidFill>
                            <a:schemeClr val="bg2">
                              <a:lumMod val="60000"/>
                              <a:lumOff val="40000"/>
                            </a:schemeClr>
                          </a:solidFill>
                        </a:rPr>
                        <a:t>4</a:t>
                      </a:r>
                      <a:endParaRPr lang="ru-RU" sz="2800" b="1" dirty="0">
                        <a:solidFill>
                          <a:schemeClr val="bg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b="1" dirty="0">
                          <a:solidFill>
                            <a:schemeClr val="bg2">
                              <a:lumMod val="60000"/>
                              <a:lumOff val="40000"/>
                            </a:schemeClr>
                          </a:solidFill>
                        </a:rPr>
                        <a:t>5</a:t>
                      </a:r>
                      <a:endParaRPr lang="ru-RU" sz="2800" b="1" dirty="0">
                        <a:solidFill>
                          <a:schemeClr val="bg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b="1" dirty="0">
                          <a:solidFill>
                            <a:schemeClr val="bg2">
                              <a:lumMod val="60000"/>
                              <a:lumOff val="40000"/>
                            </a:schemeClr>
                          </a:solidFill>
                        </a:rPr>
                        <a:t>8</a:t>
                      </a:r>
                      <a:endParaRPr lang="ru-RU" sz="2800" b="1" dirty="0">
                        <a:solidFill>
                          <a:schemeClr val="bg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b="1" dirty="0">
                          <a:solidFill>
                            <a:schemeClr val="bg2">
                              <a:lumMod val="60000"/>
                              <a:lumOff val="40000"/>
                            </a:schemeClr>
                          </a:solidFill>
                        </a:rPr>
                        <a:t>11</a:t>
                      </a:r>
                      <a:endParaRPr lang="ru-RU" sz="2800" b="1" dirty="0">
                        <a:solidFill>
                          <a:schemeClr val="bg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b="1" dirty="0">
                          <a:solidFill>
                            <a:schemeClr val="bg2">
                              <a:lumMod val="60000"/>
                              <a:lumOff val="40000"/>
                            </a:schemeClr>
                          </a:solidFill>
                        </a:rPr>
                        <a:t>14</a:t>
                      </a:r>
                      <a:endParaRPr lang="ru-RU" sz="2800" b="1" dirty="0">
                        <a:solidFill>
                          <a:schemeClr val="bg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b="1" dirty="0">
                          <a:solidFill>
                            <a:schemeClr val="bg2">
                              <a:lumMod val="60000"/>
                              <a:lumOff val="40000"/>
                            </a:schemeClr>
                          </a:solidFill>
                        </a:rPr>
                        <a:t>15</a:t>
                      </a:r>
                      <a:endParaRPr lang="ru-RU" sz="2800" b="1" dirty="0">
                        <a:solidFill>
                          <a:schemeClr val="bg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b="1" dirty="0">
                          <a:solidFill>
                            <a:schemeClr val="bg2">
                              <a:lumMod val="60000"/>
                              <a:lumOff val="40000"/>
                            </a:schemeClr>
                          </a:solidFill>
                        </a:rPr>
                        <a:t>16</a:t>
                      </a:r>
                      <a:endParaRPr lang="ru-RU" sz="2800" b="1" dirty="0">
                        <a:solidFill>
                          <a:schemeClr val="bg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b="1" dirty="0">
                          <a:solidFill>
                            <a:schemeClr val="bg2">
                              <a:lumMod val="60000"/>
                              <a:lumOff val="40000"/>
                            </a:schemeClr>
                          </a:solidFill>
                        </a:rPr>
                        <a:t>20</a:t>
                      </a:r>
                      <a:endParaRPr lang="ru-RU" sz="2800" b="1" dirty="0">
                        <a:solidFill>
                          <a:schemeClr val="bg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5671" name="Прямоугольник 7"/>
          <p:cNvSpPr>
            <a:spLocks noChangeArrowheads="1"/>
          </p:cNvSpPr>
          <p:nvPr/>
        </p:nvSpPr>
        <p:spPr bwMode="auto">
          <a:xfrm>
            <a:off x="0" y="5386388"/>
            <a:ext cx="8734425" cy="1471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buFont typeface="Wingdings" panose="05000000000000000000" pitchFamily="2" charset="2"/>
              <a:buNone/>
            </a:pPr>
            <a:r>
              <a:rPr lang="ru-RU" altLang="ru-RU" sz="2800">
                <a:solidFill>
                  <a:schemeClr val="bg2"/>
                </a:solidFill>
              </a:rPr>
              <a:t>6500 9169 5724 1478 9358 6962</a:t>
            </a:r>
            <a:endParaRPr lang="en-US" altLang="ru-RU" sz="2800">
              <a:solidFill>
                <a:schemeClr val="bg2"/>
              </a:solidFill>
            </a:endParaRPr>
          </a:p>
          <a:p>
            <a:pPr algn="ctr" eaLnBrk="1" hangingPunct="1">
              <a:buFont typeface="Wingdings" panose="05000000000000000000" pitchFamily="2" charset="2"/>
              <a:buNone/>
            </a:pPr>
            <a:r>
              <a:rPr lang="ru-RU" altLang="ru-RU" sz="2800">
                <a:solidFill>
                  <a:schemeClr val="bg2"/>
                </a:solidFill>
              </a:rPr>
              <a:t> 4464 5705 8145 3281 6827 9961 2995 1942 4827 5436 2391 4604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Содержимое 6"/>
          <p:cNvGraphicFramePr>
            <a:graphicFrameLocks noGrp="1"/>
          </p:cNvGraphicFramePr>
          <p:nvPr>
            <p:ph idx="1"/>
          </p:nvPr>
        </p:nvGraphicFramePr>
        <p:xfrm>
          <a:off x="409575" y="2662238"/>
          <a:ext cx="8229600" cy="2263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65944">
                <a:tc>
                  <a:txBody>
                    <a:bodyPr/>
                    <a:lstStyle/>
                    <a:p>
                      <a:endParaRPr lang="ru-RU" sz="1800" dirty="0"/>
                    </a:p>
                  </a:txBody>
                  <a:tcPr marT="45719" marB="45719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2800" dirty="0">
                        <a:solidFill>
                          <a:schemeClr val="bg2"/>
                        </a:solidFill>
                      </a:endParaRPr>
                    </a:p>
                  </a:txBody>
                  <a:tcPr marT="45719" marB="45719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800" dirty="0"/>
                    </a:p>
                  </a:txBody>
                  <a:tcPr marT="45719" marB="45719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800" dirty="0"/>
                    </a:p>
                  </a:txBody>
                  <a:tcPr marT="45719" marB="45719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800" dirty="0"/>
                    </a:p>
                  </a:txBody>
                  <a:tcPr marT="45719" marB="45719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5944">
                <a:tc>
                  <a:txBody>
                    <a:bodyPr/>
                    <a:lstStyle/>
                    <a:p>
                      <a:endParaRPr lang="ru-RU" sz="1800"/>
                    </a:p>
                  </a:txBody>
                  <a:tcPr marT="45719" marB="45719"/>
                </a:tc>
                <a:tc>
                  <a:txBody>
                    <a:bodyPr/>
                    <a:lstStyle/>
                    <a:p>
                      <a:endParaRPr lang="ru-RU" sz="1800"/>
                    </a:p>
                  </a:txBody>
                  <a:tcPr marT="45719" marB="45719"/>
                </a:tc>
                <a:tc>
                  <a:txBody>
                    <a:bodyPr/>
                    <a:lstStyle/>
                    <a:p>
                      <a:endParaRPr lang="ru-RU" sz="1800"/>
                    </a:p>
                  </a:txBody>
                  <a:tcPr marT="45719" marB="45719"/>
                </a:tc>
                <a:tc>
                  <a:txBody>
                    <a:bodyPr/>
                    <a:lstStyle/>
                    <a:p>
                      <a:endParaRPr lang="ru-RU" sz="1800"/>
                    </a:p>
                  </a:txBody>
                  <a:tcPr marT="45719" marB="45719"/>
                </a:tc>
                <a:tc>
                  <a:txBody>
                    <a:bodyPr/>
                    <a:lstStyle/>
                    <a:p>
                      <a:endParaRPr lang="ru-RU" sz="1800"/>
                    </a:p>
                  </a:txBody>
                  <a:tcPr marT="45719" marB="45719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5944">
                <a:tc>
                  <a:txBody>
                    <a:bodyPr/>
                    <a:lstStyle/>
                    <a:p>
                      <a:endParaRPr lang="ru-RU" sz="1800"/>
                    </a:p>
                  </a:txBody>
                  <a:tcPr marT="45719" marB="45719"/>
                </a:tc>
                <a:tc>
                  <a:txBody>
                    <a:bodyPr/>
                    <a:lstStyle/>
                    <a:p>
                      <a:endParaRPr lang="ru-RU" sz="1800"/>
                    </a:p>
                  </a:txBody>
                  <a:tcPr marT="45719" marB="45719"/>
                </a:tc>
                <a:tc>
                  <a:txBody>
                    <a:bodyPr/>
                    <a:lstStyle/>
                    <a:p>
                      <a:endParaRPr lang="ru-RU" sz="1800" dirty="0"/>
                    </a:p>
                  </a:txBody>
                  <a:tcPr marT="45719" marB="45719"/>
                </a:tc>
                <a:tc>
                  <a:txBody>
                    <a:bodyPr/>
                    <a:lstStyle/>
                    <a:p>
                      <a:r>
                        <a:rPr lang="ru-RU" sz="2800" b="1" dirty="0">
                          <a:solidFill>
                            <a:schemeClr val="bg2"/>
                          </a:solidFill>
                        </a:rPr>
                        <a:t>6500</a:t>
                      </a:r>
                    </a:p>
                  </a:txBody>
                  <a:tcPr marT="45719" marB="45719"/>
                </a:tc>
                <a:tc>
                  <a:txBody>
                    <a:bodyPr/>
                    <a:lstStyle/>
                    <a:p>
                      <a:r>
                        <a:rPr lang="ru-RU" sz="2800" b="1" dirty="0"/>
                        <a:t>6334</a:t>
                      </a:r>
                    </a:p>
                  </a:txBody>
                  <a:tcPr marT="45719" marB="45719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5944">
                <a:tc>
                  <a:txBody>
                    <a:bodyPr/>
                    <a:lstStyle/>
                    <a:p>
                      <a:endParaRPr lang="ru-RU" sz="1800"/>
                    </a:p>
                  </a:txBody>
                  <a:tcPr marT="45719" marB="45719"/>
                </a:tc>
                <a:tc>
                  <a:txBody>
                    <a:bodyPr/>
                    <a:lstStyle/>
                    <a:p>
                      <a:r>
                        <a:rPr lang="ru-RU" sz="2800" b="1" dirty="0"/>
                        <a:t>8467</a:t>
                      </a:r>
                    </a:p>
                  </a:txBody>
                  <a:tcPr marT="45719" marB="45719"/>
                </a:tc>
                <a:tc>
                  <a:txBody>
                    <a:bodyPr/>
                    <a:lstStyle/>
                    <a:p>
                      <a:endParaRPr lang="ru-RU" sz="1800" dirty="0"/>
                    </a:p>
                  </a:txBody>
                  <a:tcPr marT="45719" marB="45719"/>
                </a:tc>
                <a:tc>
                  <a:txBody>
                    <a:bodyPr/>
                    <a:lstStyle/>
                    <a:p>
                      <a:endParaRPr lang="ru-RU" sz="1800"/>
                    </a:p>
                  </a:txBody>
                  <a:tcPr marT="45719" marB="45719"/>
                </a:tc>
                <a:tc>
                  <a:txBody>
                    <a:bodyPr/>
                    <a:lstStyle/>
                    <a:p>
                      <a:r>
                        <a:rPr lang="ru-RU" sz="2800" b="1" dirty="0">
                          <a:solidFill>
                            <a:schemeClr val="bg2"/>
                          </a:solidFill>
                        </a:rPr>
                        <a:t>9169</a:t>
                      </a:r>
                    </a:p>
                  </a:txBody>
                  <a:tcPr marT="45719" marB="45719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Заголовок 1"/>
          <p:cNvSpPr txBox="1">
            <a:spLocks/>
          </p:cNvSpPr>
          <p:nvPr/>
        </p:nvSpPr>
        <p:spPr bwMode="auto">
          <a:xfrm>
            <a:off x="519113" y="288925"/>
            <a:ext cx="8229600" cy="455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>
              <a:defRPr/>
            </a:pPr>
            <a:r>
              <a:rPr lang="ru-RU" sz="3600" kern="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Поразрядная </a:t>
            </a:r>
            <a:r>
              <a:rPr lang="en-US" sz="3600" i="1" kern="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MSD - </a:t>
            </a:r>
            <a:r>
              <a:rPr lang="ru-RU" sz="3600" kern="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сортировка</a:t>
            </a:r>
          </a:p>
        </p:txBody>
      </p:sp>
      <p:sp>
        <p:nvSpPr>
          <p:cNvPr id="5" name="Прямоугольник 4"/>
          <p:cNvSpPr/>
          <p:nvPr/>
        </p:nvSpPr>
        <p:spPr bwMode="auto">
          <a:xfrm>
            <a:off x="592138" y="1201738"/>
            <a:ext cx="839787" cy="693737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 eaLnBrk="1" hangingPunct="1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None/>
              <a:defRPr/>
            </a:pPr>
            <a:r>
              <a:rPr lang="en-US" i="1" dirty="0">
                <a:solidFill>
                  <a:schemeClr val="bg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</a:t>
            </a:r>
            <a:endParaRPr lang="ru-RU" i="1" dirty="0">
              <a:solidFill>
                <a:schemeClr val="bg2">
                  <a:lumMod val="60000"/>
                  <a:lumOff val="4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aphicFrame>
        <p:nvGraphicFramePr>
          <p:cNvPr id="6" name="Таблица 5"/>
          <p:cNvGraphicFramePr>
            <a:graphicFrameLocks noGrp="1"/>
          </p:cNvGraphicFramePr>
          <p:nvPr/>
        </p:nvGraphicFramePr>
        <p:xfrm>
          <a:off x="1687513" y="1092200"/>
          <a:ext cx="6789737" cy="88900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67897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897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7897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7897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7897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7897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7897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78974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78974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78974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bg2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bg2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bg2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bg2"/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bg2"/>
                          </a:solidFill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bg2"/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bg2"/>
                          </a:solidFill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bg2"/>
                          </a:solidFill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bg2"/>
                          </a:solidFill>
                        </a:rP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bg2"/>
                          </a:solidFill>
                        </a:rPr>
                        <a:t>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2800" b="1" dirty="0">
                          <a:solidFill>
                            <a:schemeClr val="bg2">
                              <a:lumMod val="60000"/>
                              <a:lumOff val="40000"/>
                            </a:schemeClr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800" b="1" dirty="0">
                          <a:solidFill>
                            <a:schemeClr val="bg2">
                              <a:lumMod val="60000"/>
                              <a:lumOff val="40000"/>
                            </a:schemeClr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b="1" dirty="0">
                          <a:solidFill>
                            <a:schemeClr val="bg2">
                              <a:lumMod val="60000"/>
                              <a:lumOff val="40000"/>
                            </a:schemeClr>
                          </a:solidFill>
                        </a:rPr>
                        <a:t>4</a:t>
                      </a:r>
                      <a:endParaRPr lang="ru-RU" sz="2800" b="1" dirty="0">
                        <a:solidFill>
                          <a:schemeClr val="bg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b="1" dirty="0">
                          <a:solidFill>
                            <a:schemeClr val="bg2">
                              <a:lumMod val="60000"/>
                              <a:lumOff val="40000"/>
                            </a:schemeClr>
                          </a:solidFill>
                        </a:rPr>
                        <a:t>5</a:t>
                      </a:r>
                      <a:endParaRPr lang="ru-RU" sz="2800" b="1" dirty="0">
                        <a:solidFill>
                          <a:schemeClr val="bg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b="1" dirty="0">
                          <a:solidFill>
                            <a:schemeClr val="bg2">
                              <a:lumMod val="60000"/>
                              <a:lumOff val="40000"/>
                            </a:schemeClr>
                          </a:solidFill>
                        </a:rPr>
                        <a:t>8</a:t>
                      </a:r>
                      <a:endParaRPr lang="ru-RU" sz="2800" b="1" dirty="0">
                        <a:solidFill>
                          <a:schemeClr val="bg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b="1" dirty="0">
                          <a:solidFill>
                            <a:schemeClr val="bg2">
                              <a:lumMod val="60000"/>
                              <a:lumOff val="40000"/>
                            </a:schemeClr>
                          </a:solidFill>
                        </a:rPr>
                        <a:t>11</a:t>
                      </a:r>
                      <a:endParaRPr lang="ru-RU" sz="2800" b="1" dirty="0">
                        <a:solidFill>
                          <a:schemeClr val="bg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b="1" dirty="0">
                          <a:solidFill>
                            <a:schemeClr val="bg2">
                              <a:lumMod val="60000"/>
                              <a:lumOff val="40000"/>
                            </a:schemeClr>
                          </a:solidFill>
                        </a:rPr>
                        <a:t>13</a:t>
                      </a:r>
                      <a:endParaRPr lang="ru-RU" sz="2800" b="1" dirty="0">
                        <a:solidFill>
                          <a:schemeClr val="bg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b="1" dirty="0">
                          <a:solidFill>
                            <a:schemeClr val="bg2">
                              <a:lumMod val="60000"/>
                              <a:lumOff val="40000"/>
                            </a:schemeClr>
                          </a:solidFill>
                        </a:rPr>
                        <a:t>15</a:t>
                      </a:r>
                      <a:endParaRPr lang="ru-RU" sz="2800" b="1" dirty="0">
                        <a:solidFill>
                          <a:schemeClr val="bg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b="1" dirty="0">
                          <a:solidFill>
                            <a:schemeClr val="bg2">
                              <a:lumMod val="60000"/>
                              <a:lumOff val="40000"/>
                            </a:schemeClr>
                          </a:solidFill>
                        </a:rPr>
                        <a:t>16</a:t>
                      </a:r>
                      <a:endParaRPr lang="ru-RU" sz="2800" b="1" dirty="0">
                        <a:solidFill>
                          <a:schemeClr val="bg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b="1" dirty="0">
                          <a:solidFill>
                            <a:schemeClr val="bg2">
                              <a:lumMod val="60000"/>
                              <a:lumOff val="40000"/>
                            </a:schemeClr>
                          </a:solidFill>
                        </a:rPr>
                        <a:t>20</a:t>
                      </a:r>
                      <a:endParaRPr lang="ru-RU" sz="2800" b="1" dirty="0">
                        <a:solidFill>
                          <a:schemeClr val="bg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6695" name="Прямоугольник 7"/>
          <p:cNvSpPr>
            <a:spLocks noChangeArrowheads="1"/>
          </p:cNvSpPr>
          <p:nvPr/>
        </p:nvSpPr>
        <p:spPr bwMode="auto">
          <a:xfrm>
            <a:off x="0" y="5386388"/>
            <a:ext cx="8734425" cy="1471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buFont typeface="Wingdings" panose="05000000000000000000" pitchFamily="2" charset="2"/>
              <a:buNone/>
            </a:pPr>
            <a:r>
              <a:rPr lang="ru-RU" altLang="ru-RU" sz="2800">
                <a:solidFill>
                  <a:schemeClr val="bg2"/>
                </a:solidFill>
              </a:rPr>
              <a:t>9169 5724 1478 9358 6962</a:t>
            </a:r>
            <a:endParaRPr lang="en-US" altLang="ru-RU" sz="2800">
              <a:solidFill>
                <a:schemeClr val="bg2"/>
              </a:solidFill>
            </a:endParaRPr>
          </a:p>
          <a:p>
            <a:pPr algn="ctr" eaLnBrk="1" hangingPunct="1">
              <a:buFont typeface="Wingdings" panose="05000000000000000000" pitchFamily="2" charset="2"/>
              <a:buNone/>
            </a:pPr>
            <a:r>
              <a:rPr lang="ru-RU" altLang="ru-RU" sz="2800">
                <a:solidFill>
                  <a:schemeClr val="bg2"/>
                </a:solidFill>
              </a:rPr>
              <a:t> 4464 5705 8145 3281 6827 9961 2995 1942 4827 5436 2391 4604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Содержимое 6"/>
          <p:cNvGraphicFramePr>
            <a:graphicFrameLocks noGrp="1"/>
          </p:cNvGraphicFramePr>
          <p:nvPr>
            <p:ph idx="1"/>
          </p:nvPr>
        </p:nvGraphicFramePr>
        <p:xfrm>
          <a:off x="409575" y="2662238"/>
          <a:ext cx="8229600" cy="2263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65944">
                <a:tc>
                  <a:txBody>
                    <a:bodyPr/>
                    <a:lstStyle/>
                    <a:p>
                      <a:endParaRPr lang="ru-RU" sz="2800" b="1" dirty="0">
                        <a:solidFill>
                          <a:schemeClr val="bg2"/>
                        </a:solidFill>
                      </a:endParaRPr>
                    </a:p>
                  </a:txBody>
                  <a:tcPr marT="45719" marB="45719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2800" b="1" dirty="0">
                        <a:solidFill>
                          <a:schemeClr val="bg2"/>
                        </a:solidFill>
                      </a:endParaRPr>
                    </a:p>
                  </a:txBody>
                  <a:tcPr marT="45719" marB="45719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2800" b="1" dirty="0">
                        <a:solidFill>
                          <a:schemeClr val="bg2"/>
                        </a:solidFill>
                      </a:endParaRPr>
                    </a:p>
                  </a:txBody>
                  <a:tcPr marT="45719" marB="45719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2800" b="1" dirty="0">
                        <a:solidFill>
                          <a:schemeClr val="bg2"/>
                        </a:solidFill>
                      </a:endParaRPr>
                    </a:p>
                  </a:txBody>
                  <a:tcPr marT="45719" marB="45719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2800" b="1" dirty="0">
                        <a:solidFill>
                          <a:schemeClr val="bg2"/>
                        </a:solidFill>
                      </a:endParaRPr>
                    </a:p>
                  </a:txBody>
                  <a:tcPr marT="45719" marB="45719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5944">
                <a:tc>
                  <a:txBody>
                    <a:bodyPr/>
                    <a:lstStyle/>
                    <a:p>
                      <a:endParaRPr lang="ru-RU" sz="2800" b="1">
                        <a:solidFill>
                          <a:schemeClr val="bg2"/>
                        </a:solidFill>
                      </a:endParaRPr>
                    </a:p>
                  </a:txBody>
                  <a:tcPr marT="45719" marB="45719"/>
                </a:tc>
                <a:tc>
                  <a:txBody>
                    <a:bodyPr/>
                    <a:lstStyle/>
                    <a:p>
                      <a:endParaRPr lang="ru-RU" sz="2800" b="1">
                        <a:solidFill>
                          <a:schemeClr val="bg2"/>
                        </a:solidFill>
                      </a:endParaRPr>
                    </a:p>
                  </a:txBody>
                  <a:tcPr marT="45719" marB="45719"/>
                </a:tc>
                <a:tc>
                  <a:txBody>
                    <a:bodyPr/>
                    <a:lstStyle/>
                    <a:p>
                      <a:endParaRPr lang="ru-RU" sz="2800" b="1" dirty="0">
                        <a:solidFill>
                          <a:schemeClr val="bg2"/>
                        </a:solidFill>
                      </a:endParaRPr>
                    </a:p>
                  </a:txBody>
                  <a:tcPr marT="45719" marB="45719"/>
                </a:tc>
                <a:tc>
                  <a:txBody>
                    <a:bodyPr/>
                    <a:lstStyle/>
                    <a:p>
                      <a:endParaRPr lang="ru-RU" sz="2800" b="1" dirty="0">
                        <a:solidFill>
                          <a:schemeClr val="bg2"/>
                        </a:solidFill>
                      </a:endParaRPr>
                    </a:p>
                  </a:txBody>
                  <a:tcPr marT="45719" marB="45719"/>
                </a:tc>
                <a:tc>
                  <a:txBody>
                    <a:bodyPr/>
                    <a:lstStyle/>
                    <a:p>
                      <a:endParaRPr lang="ru-RU" sz="2800" b="1" dirty="0">
                        <a:solidFill>
                          <a:schemeClr val="bg2"/>
                        </a:solidFill>
                      </a:endParaRPr>
                    </a:p>
                  </a:txBody>
                  <a:tcPr marT="45719" marB="45719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5944">
                <a:tc>
                  <a:txBody>
                    <a:bodyPr/>
                    <a:lstStyle/>
                    <a:p>
                      <a:r>
                        <a:rPr lang="ru-RU" sz="2800" b="1" dirty="0">
                          <a:solidFill>
                            <a:schemeClr val="bg2"/>
                          </a:solidFill>
                        </a:rPr>
                        <a:t>5724</a:t>
                      </a:r>
                    </a:p>
                  </a:txBody>
                  <a:tcPr marT="45719" marB="45719"/>
                </a:tc>
                <a:tc>
                  <a:txBody>
                    <a:bodyPr/>
                    <a:lstStyle/>
                    <a:p>
                      <a:endParaRPr lang="ru-RU" sz="2800" b="1">
                        <a:solidFill>
                          <a:schemeClr val="bg2"/>
                        </a:solidFill>
                      </a:endParaRPr>
                    </a:p>
                  </a:txBody>
                  <a:tcPr marT="45719" marB="45719"/>
                </a:tc>
                <a:tc>
                  <a:txBody>
                    <a:bodyPr/>
                    <a:lstStyle/>
                    <a:p>
                      <a:endParaRPr lang="ru-RU" sz="2800" b="1" dirty="0">
                        <a:solidFill>
                          <a:schemeClr val="bg2"/>
                        </a:solidFill>
                      </a:endParaRPr>
                    </a:p>
                  </a:txBody>
                  <a:tcPr marT="45719" marB="45719"/>
                </a:tc>
                <a:tc>
                  <a:txBody>
                    <a:bodyPr/>
                    <a:lstStyle/>
                    <a:p>
                      <a:r>
                        <a:rPr lang="ru-RU" sz="2800" b="1" dirty="0">
                          <a:solidFill>
                            <a:schemeClr val="bg2"/>
                          </a:solidFill>
                        </a:rPr>
                        <a:t>6500</a:t>
                      </a:r>
                    </a:p>
                  </a:txBody>
                  <a:tcPr marT="45719" marB="45719"/>
                </a:tc>
                <a:tc>
                  <a:txBody>
                    <a:bodyPr/>
                    <a:lstStyle/>
                    <a:p>
                      <a:r>
                        <a:rPr lang="ru-RU" sz="2800" b="1" dirty="0">
                          <a:solidFill>
                            <a:schemeClr val="bg2"/>
                          </a:solidFill>
                        </a:rPr>
                        <a:t>6334</a:t>
                      </a:r>
                    </a:p>
                  </a:txBody>
                  <a:tcPr marT="45719" marB="45719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5944">
                <a:tc>
                  <a:txBody>
                    <a:bodyPr/>
                    <a:lstStyle/>
                    <a:p>
                      <a:endParaRPr lang="ru-RU" sz="2800" b="1">
                        <a:solidFill>
                          <a:schemeClr val="bg2"/>
                        </a:solidFill>
                      </a:endParaRPr>
                    </a:p>
                  </a:txBody>
                  <a:tcPr marT="45719" marB="45719"/>
                </a:tc>
                <a:tc>
                  <a:txBody>
                    <a:bodyPr/>
                    <a:lstStyle/>
                    <a:p>
                      <a:r>
                        <a:rPr lang="ru-RU" sz="2800" b="1" dirty="0">
                          <a:solidFill>
                            <a:schemeClr val="bg2"/>
                          </a:solidFill>
                        </a:rPr>
                        <a:t>8467</a:t>
                      </a:r>
                    </a:p>
                  </a:txBody>
                  <a:tcPr marT="45719" marB="45719"/>
                </a:tc>
                <a:tc>
                  <a:txBody>
                    <a:bodyPr/>
                    <a:lstStyle/>
                    <a:p>
                      <a:endParaRPr lang="ru-RU" sz="2800" b="1" dirty="0">
                        <a:solidFill>
                          <a:schemeClr val="bg2"/>
                        </a:solidFill>
                      </a:endParaRPr>
                    </a:p>
                  </a:txBody>
                  <a:tcPr marT="45719" marB="45719"/>
                </a:tc>
                <a:tc>
                  <a:txBody>
                    <a:bodyPr/>
                    <a:lstStyle/>
                    <a:p>
                      <a:endParaRPr lang="ru-RU" sz="2800" b="1">
                        <a:solidFill>
                          <a:schemeClr val="bg2"/>
                        </a:solidFill>
                      </a:endParaRPr>
                    </a:p>
                  </a:txBody>
                  <a:tcPr marT="45719" marB="45719"/>
                </a:tc>
                <a:tc>
                  <a:txBody>
                    <a:bodyPr/>
                    <a:lstStyle/>
                    <a:p>
                      <a:r>
                        <a:rPr lang="ru-RU" sz="2800" b="1" dirty="0">
                          <a:solidFill>
                            <a:schemeClr val="bg2"/>
                          </a:solidFill>
                        </a:rPr>
                        <a:t>9169</a:t>
                      </a:r>
                    </a:p>
                  </a:txBody>
                  <a:tcPr marT="45719" marB="45719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Заголовок 1"/>
          <p:cNvSpPr txBox="1">
            <a:spLocks/>
          </p:cNvSpPr>
          <p:nvPr/>
        </p:nvSpPr>
        <p:spPr bwMode="auto">
          <a:xfrm>
            <a:off x="519113" y="288925"/>
            <a:ext cx="8229600" cy="455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>
              <a:defRPr/>
            </a:pPr>
            <a:r>
              <a:rPr lang="ru-RU" sz="3600" kern="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Поразрядная </a:t>
            </a:r>
            <a:r>
              <a:rPr lang="en-US" sz="3600" i="1" kern="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MSD - </a:t>
            </a:r>
            <a:r>
              <a:rPr lang="ru-RU" sz="3600" kern="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сортировка</a:t>
            </a:r>
          </a:p>
        </p:txBody>
      </p:sp>
      <p:sp>
        <p:nvSpPr>
          <p:cNvPr id="5" name="Прямоугольник 4"/>
          <p:cNvSpPr/>
          <p:nvPr/>
        </p:nvSpPr>
        <p:spPr bwMode="auto">
          <a:xfrm>
            <a:off x="592138" y="1201738"/>
            <a:ext cx="839787" cy="693737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 eaLnBrk="1" hangingPunct="1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None/>
              <a:defRPr/>
            </a:pPr>
            <a:r>
              <a:rPr lang="en-US" i="1" dirty="0">
                <a:solidFill>
                  <a:schemeClr val="bg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</a:t>
            </a:r>
            <a:endParaRPr lang="ru-RU" i="1" dirty="0">
              <a:solidFill>
                <a:schemeClr val="bg2">
                  <a:lumMod val="60000"/>
                  <a:lumOff val="4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aphicFrame>
        <p:nvGraphicFramePr>
          <p:cNvPr id="6" name="Таблица 5"/>
          <p:cNvGraphicFramePr>
            <a:graphicFrameLocks noGrp="1"/>
          </p:cNvGraphicFramePr>
          <p:nvPr/>
        </p:nvGraphicFramePr>
        <p:xfrm>
          <a:off x="1687513" y="1092200"/>
          <a:ext cx="6789737" cy="88900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67897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897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7897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7897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7897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7897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7897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78974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78974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78974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bg2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bg2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bg2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bg2"/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bg2"/>
                          </a:solidFill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bg2"/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bg2"/>
                          </a:solidFill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bg2"/>
                          </a:solidFill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bg2"/>
                          </a:solidFill>
                        </a:rP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bg2"/>
                          </a:solidFill>
                        </a:rPr>
                        <a:t>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2800" b="1" dirty="0">
                          <a:solidFill>
                            <a:schemeClr val="bg2">
                              <a:lumMod val="60000"/>
                              <a:lumOff val="40000"/>
                            </a:schemeClr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800" b="1" dirty="0">
                          <a:solidFill>
                            <a:schemeClr val="bg2">
                              <a:lumMod val="60000"/>
                              <a:lumOff val="40000"/>
                            </a:schemeClr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b="1" dirty="0">
                          <a:solidFill>
                            <a:schemeClr val="bg2">
                              <a:lumMod val="60000"/>
                              <a:lumOff val="40000"/>
                            </a:schemeClr>
                          </a:solidFill>
                        </a:rPr>
                        <a:t>4</a:t>
                      </a:r>
                      <a:endParaRPr lang="ru-RU" sz="2800" b="1" dirty="0">
                        <a:solidFill>
                          <a:schemeClr val="bg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b="1" dirty="0">
                          <a:solidFill>
                            <a:schemeClr val="bg2">
                              <a:lumMod val="60000"/>
                              <a:lumOff val="40000"/>
                            </a:schemeClr>
                          </a:solidFill>
                        </a:rPr>
                        <a:t>5</a:t>
                      </a:r>
                      <a:endParaRPr lang="ru-RU" sz="2800" b="1" dirty="0">
                        <a:solidFill>
                          <a:schemeClr val="bg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b="1" dirty="0">
                          <a:solidFill>
                            <a:schemeClr val="bg2">
                              <a:lumMod val="60000"/>
                              <a:lumOff val="40000"/>
                            </a:schemeClr>
                          </a:solidFill>
                        </a:rPr>
                        <a:t>8</a:t>
                      </a:r>
                      <a:endParaRPr lang="ru-RU" sz="2800" b="1" dirty="0">
                        <a:solidFill>
                          <a:schemeClr val="bg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b="1" dirty="0">
                          <a:solidFill>
                            <a:schemeClr val="bg2">
                              <a:lumMod val="60000"/>
                              <a:lumOff val="40000"/>
                            </a:schemeClr>
                          </a:solidFill>
                        </a:rPr>
                        <a:t>11</a:t>
                      </a:r>
                      <a:endParaRPr lang="ru-RU" sz="2800" b="1" dirty="0">
                        <a:solidFill>
                          <a:schemeClr val="bg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b="1" dirty="0">
                          <a:solidFill>
                            <a:schemeClr val="bg2">
                              <a:lumMod val="60000"/>
                              <a:lumOff val="40000"/>
                            </a:schemeClr>
                          </a:solidFill>
                        </a:rPr>
                        <a:t>13</a:t>
                      </a:r>
                      <a:endParaRPr lang="ru-RU" sz="2800" b="1" dirty="0">
                        <a:solidFill>
                          <a:schemeClr val="bg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b="1" dirty="0">
                          <a:solidFill>
                            <a:schemeClr val="bg2">
                              <a:lumMod val="60000"/>
                              <a:lumOff val="40000"/>
                            </a:schemeClr>
                          </a:solidFill>
                        </a:rPr>
                        <a:t>15</a:t>
                      </a:r>
                      <a:endParaRPr lang="ru-RU" sz="2800" b="1" dirty="0">
                        <a:solidFill>
                          <a:schemeClr val="bg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b="1" dirty="0">
                          <a:solidFill>
                            <a:schemeClr val="bg2">
                              <a:lumMod val="60000"/>
                              <a:lumOff val="40000"/>
                            </a:schemeClr>
                          </a:solidFill>
                        </a:rPr>
                        <a:t>16</a:t>
                      </a:r>
                      <a:endParaRPr lang="ru-RU" sz="2800" b="1" dirty="0">
                        <a:solidFill>
                          <a:schemeClr val="bg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b="1" dirty="0">
                          <a:solidFill>
                            <a:schemeClr val="bg2">
                              <a:lumMod val="60000"/>
                              <a:lumOff val="40000"/>
                            </a:schemeClr>
                          </a:solidFill>
                        </a:rPr>
                        <a:t>19</a:t>
                      </a:r>
                      <a:endParaRPr lang="ru-RU" sz="2800" b="1" dirty="0">
                        <a:solidFill>
                          <a:schemeClr val="bg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7719" name="Прямоугольник 7"/>
          <p:cNvSpPr>
            <a:spLocks noChangeArrowheads="1"/>
          </p:cNvSpPr>
          <p:nvPr/>
        </p:nvSpPr>
        <p:spPr bwMode="auto">
          <a:xfrm>
            <a:off x="0" y="5386388"/>
            <a:ext cx="8734425" cy="1471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buFont typeface="Wingdings" panose="05000000000000000000" pitchFamily="2" charset="2"/>
              <a:buNone/>
            </a:pPr>
            <a:r>
              <a:rPr lang="ru-RU" altLang="ru-RU" sz="2800">
                <a:solidFill>
                  <a:schemeClr val="bg2"/>
                </a:solidFill>
              </a:rPr>
              <a:t>5724 1478 9358 6962</a:t>
            </a:r>
            <a:endParaRPr lang="en-US" altLang="ru-RU" sz="2800">
              <a:solidFill>
                <a:schemeClr val="bg2"/>
              </a:solidFill>
            </a:endParaRPr>
          </a:p>
          <a:p>
            <a:pPr algn="ctr" eaLnBrk="1" hangingPunct="1">
              <a:buFont typeface="Wingdings" panose="05000000000000000000" pitchFamily="2" charset="2"/>
              <a:buNone/>
            </a:pPr>
            <a:r>
              <a:rPr lang="ru-RU" altLang="ru-RU" sz="2800">
                <a:solidFill>
                  <a:schemeClr val="bg2"/>
                </a:solidFill>
              </a:rPr>
              <a:t> 4464 5705 8145 3281 6827 9961 2995 1942 4827 5436 2391 4604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Содержимое 6"/>
          <p:cNvGraphicFramePr>
            <a:graphicFrameLocks noGrp="1"/>
          </p:cNvGraphicFramePr>
          <p:nvPr>
            <p:ph idx="1"/>
          </p:nvPr>
        </p:nvGraphicFramePr>
        <p:xfrm>
          <a:off x="409575" y="2662238"/>
          <a:ext cx="8229600" cy="2263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65944">
                <a:tc>
                  <a:txBody>
                    <a:bodyPr/>
                    <a:lstStyle/>
                    <a:p>
                      <a:endParaRPr lang="ru-RU" sz="2800" b="1" dirty="0">
                        <a:solidFill>
                          <a:schemeClr val="bg2"/>
                        </a:solidFill>
                      </a:endParaRPr>
                    </a:p>
                  </a:txBody>
                  <a:tcPr marT="45719" marB="45719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2800" b="1" dirty="0">
                          <a:solidFill>
                            <a:schemeClr val="bg2"/>
                          </a:solidFill>
                        </a:rPr>
                        <a:t>1478</a:t>
                      </a:r>
                    </a:p>
                  </a:txBody>
                  <a:tcPr marT="45719" marB="45719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2800" b="1" dirty="0">
                        <a:solidFill>
                          <a:schemeClr val="bg2"/>
                        </a:solidFill>
                      </a:endParaRPr>
                    </a:p>
                  </a:txBody>
                  <a:tcPr marT="45719" marB="45719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2800" b="1" dirty="0">
                        <a:solidFill>
                          <a:schemeClr val="bg2"/>
                        </a:solidFill>
                      </a:endParaRPr>
                    </a:p>
                  </a:txBody>
                  <a:tcPr marT="45719" marB="45719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2800" b="1" dirty="0">
                        <a:solidFill>
                          <a:schemeClr val="bg2"/>
                        </a:solidFill>
                      </a:endParaRPr>
                    </a:p>
                  </a:txBody>
                  <a:tcPr marT="45719" marB="45719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5944">
                <a:tc>
                  <a:txBody>
                    <a:bodyPr/>
                    <a:lstStyle/>
                    <a:p>
                      <a:endParaRPr lang="ru-RU" sz="2800" b="1">
                        <a:solidFill>
                          <a:schemeClr val="bg2"/>
                        </a:solidFill>
                      </a:endParaRPr>
                    </a:p>
                  </a:txBody>
                  <a:tcPr marT="45719" marB="45719"/>
                </a:tc>
                <a:tc>
                  <a:txBody>
                    <a:bodyPr/>
                    <a:lstStyle/>
                    <a:p>
                      <a:endParaRPr lang="ru-RU" sz="2800" b="1">
                        <a:solidFill>
                          <a:schemeClr val="bg2"/>
                        </a:solidFill>
                      </a:endParaRPr>
                    </a:p>
                  </a:txBody>
                  <a:tcPr marT="45719" marB="45719"/>
                </a:tc>
                <a:tc>
                  <a:txBody>
                    <a:bodyPr/>
                    <a:lstStyle/>
                    <a:p>
                      <a:endParaRPr lang="ru-RU" sz="2800" b="1" dirty="0">
                        <a:solidFill>
                          <a:schemeClr val="bg2"/>
                        </a:solidFill>
                      </a:endParaRPr>
                    </a:p>
                  </a:txBody>
                  <a:tcPr marT="45719" marB="45719"/>
                </a:tc>
                <a:tc>
                  <a:txBody>
                    <a:bodyPr/>
                    <a:lstStyle/>
                    <a:p>
                      <a:endParaRPr lang="ru-RU" sz="2800" b="1" dirty="0">
                        <a:solidFill>
                          <a:schemeClr val="bg2"/>
                        </a:solidFill>
                      </a:endParaRPr>
                    </a:p>
                  </a:txBody>
                  <a:tcPr marT="45719" marB="45719"/>
                </a:tc>
                <a:tc>
                  <a:txBody>
                    <a:bodyPr/>
                    <a:lstStyle/>
                    <a:p>
                      <a:endParaRPr lang="ru-RU" sz="2800" b="1" dirty="0">
                        <a:solidFill>
                          <a:schemeClr val="bg2"/>
                        </a:solidFill>
                      </a:endParaRPr>
                    </a:p>
                  </a:txBody>
                  <a:tcPr marT="45719" marB="45719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5944">
                <a:tc>
                  <a:txBody>
                    <a:bodyPr/>
                    <a:lstStyle/>
                    <a:p>
                      <a:r>
                        <a:rPr lang="ru-RU" sz="2800" b="1" dirty="0">
                          <a:solidFill>
                            <a:schemeClr val="bg2"/>
                          </a:solidFill>
                        </a:rPr>
                        <a:t>5724</a:t>
                      </a:r>
                    </a:p>
                  </a:txBody>
                  <a:tcPr marT="45719" marB="45719"/>
                </a:tc>
                <a:tc>
                  <a:txBody>
                    <a:bodyPr/>
                    <a:lstStyle/>
                    <a:p>
                      <a:endParaRPr lang="ru-RU" sz="2800" b="1">
                        <a:solidFill>
                          <a:schemeClr val="bg2"/>
                        </a:solidFill>
                      </a:endParaRPr>
                    </a:p>
                  </a:txBody>
                  <a:tcPr marT="45719" marB="45719"/>
                </a:tc>
                <a:tc>
                  <a:txBody>
                    <a:bodyPr/>
                    <a:lstStyle/>
                    <a:p>
                      <a:endParaRPr lang="ru-RU" sz="2800" b="1" dirty="0">
                        <a:solidFill>
                          <a:schemeClr val="bg2"/>
                        </a:solidFill>
                      </a:endParaRPr>
                    </a:p>
                  </a:txBody>
                  <a:tcPr marT="45719" marB="45719"/>
                </a:tc>
                <a:tc>
                  <a:txBody>
                    <a:bodyPr/>
                    <a:lstStyle/>
                    <a:p>
                      <a:r>
                        <a:rPr lang="ru-RU" sz="2800" b="1" dirty="0">
                          <a:solidFill>
                            <a:schemeClr val="bg2"/>
                          </a:solidFill>
                        </a:rPr>
                        <a:t>6500</a:t>
                      </a:r>
                    </a:p>
                  </a:txBody>
                  <a:tcPr marT="45719" marB="45719"/>
                </a:tc>
                <a:tc>
                  <a:txBody>
                    <a:bodyPr/>
                    <a:lstStyle/>
                    <a:p>
                      <a:r>
                        <a:rPr lang="ru-RU" sz="2800" b="1" dirty="0">
                          <a:solidFill>
                            <a:schemeClr val="bg2"/>
                          </a:solidFill>
                        </a:rPr>
                        <a:t>6334</a:t>
                      </a:r>
                    </a:p>
                  </a:txBody>
                  <a:tcPr marT="45719" marB="45719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5944">
                <a:tc>
                  <a:txBody>
                    <a:bodyPr/>
                    <a:lstStyle/>
                    <a:p>
                      <a:endParaRPr lang="ru-RU" sz="2800" b="1" dirty="0">
                        <a:solidFill>
                          <a:schemeClr val="bg2"/>
                        </a:solidFill>
                      </a:endParaRPr>
                    </a:p>
                  </a:txBody>
                  <a:tcPr marT="45719" marB="45719"/>
                </a:tc>
                <a:tc>
                  <a:txBody>
                    <a:bodyPr/>
                    <a:lstStyle/>
                    <a:p>
                      <a:r>
                        <a:rPr lang="ru-RU" sz="2800" b="1" dirty="0">
                          <a:solidFill>
                            <a:schemeClr val="bg2"/>
                          </a:solidFill>
                        </a:rPr>
                        <a:t>8467</a:t>
                      </a:r>
                    </a:p>
                  </a:txBody>
                  <a:tcPr marT="45719" marB="45719"/>
                </a:tc>
                <a:tc>
                  <a:txBody>
                    <a:bodyPr/>
                    <a:lstStyle/>
                    <a:p>
                      <a:endParaRPr lang="ru-RU" sz="2800" b="1" dirty="0">
                        <a:solidFill>
                          <a:schemeClr val="bg2"/>
                        </a:solidFill>
                      </a:endParaRPr>
                    </a:p>
                  </a:txBody>
                  <a:tcPr marT="45719" marB="45719"/>
                </a:tc>
                <a:tc>
                  <a:txBody>
                    <a:bodyPr/>
                    <a:lstStyle/>
                    <a:p>
                      <a:endParaRPr lang="ru-RU" sz="2800" b="1">
                        <a:solidFill>
                          <a:schemeClr val="bg2"/>
                        </a:solidFill>
                      </a:endParaRPr>
                    </a:p>
                  </a:txBody>
                  <a:tcPr marT="45719" marB="45719"/>
                </a:tc>
                <a:tc>
                  <a:txBody>
                    <a:bodyPr/>
                    <a:lstStyle/>
                    <a:p>
                      <a:r>
                        <a:rPr lang="ru-RU" sz="2800" b="1" dirty="0">
                          <a:solidFill>
                            <a:schemeClr val="bg2"/>
                          </a:solidFill>
                        </a:rPr>
                        <a:t>9169</a:t>
                      </a:r>
                    </a:p>
                  </a:txBody>
                  <a:tcPr marT="45719" marB="45719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Заголовок 1"/>
          <p:cNvSpPr txBox="1">
            <a:spLocks/>
          </p:cNvSpPr>
          <p:nvPr/>
        </p:nvSpPr>
        <p:spPr bwMode="auto">
          <a:xfrm>
            <a:off x="519113" y="288925"/>
            <a:ext cx="8229600" cy="455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>
              <a:defRPr/>
            </a:pPr>
            <a:r>
              <a:rPr lang="ru-RU" sz="3600" kern="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Поразрядная </a:t>
            </a:r>
            <a:r>
              <a:rPr lang="en-US" sz="3600" i="1" kern="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MSD - </a:t>
            </a:r>
            <a:r>
              <a:rPr lang="ru-RU" sz="3600" kern="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сортировка</a:t>
            </a:r>
          </a:p>
        </p:txBody>
      </p:sp>
      <p:sp>
        <p:nvSpPr>
          <p:cNvPr id="5" name="Прямоугольник 4"/>
          <p:cNvSpPr/>
          <p:nvPr/>
        </p:nvSpPr>
        <p:spPr bwMode="auto">
          <a:xfrm>
            <a:off x="592138" y="1201738"/>
            <a:ext cx="839787" cy="693737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 eaLnBrk="1" hangingPunct="1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None/>
              <a:defRPr/>
            </a:pPr>
            <a:r>
              <a:rPr lang="en-US" i="1" dirty="0">
                <a:solidFill>
                  <a:schemeClr val="bg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</a:t>
            </a:r>
            <a:endParaRPr lang="ru-RU" i="1" dirty="0">
              <a:solidFill>
                <a:schemeClr val="bg2">
                  <a:lumMod val="60000"/>
                  <a:lumOff val="4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aphicFrame>
        <p:nvGraphicFramePr>
          <p:cNvPr id="6" name="Таблица 5"/>
          <p:cNvGraphicFramePr>
            <a:graphicFrameLocks noGrp="1"/>
          </p:cNvGraphicFramePr>
          <p:nvPr/>
        </p:nvGraphicFramePr>
        <p:xfrm>
          <a:off x="1687513" y="1092200"/>
          <a:ext cx="6789737" cy="88900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67897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897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7897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7897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7897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7897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7897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78974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78974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78974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bg2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bg2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bg2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bg2"/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bg2"/>
                          </a:solidFill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bg2"/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bg2"/>
                          </a:solidFill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bg2"/>
                          </a:solidFill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bg2"/>
                          </a:solidFill>
                        </a:rP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bg2"/>
                          </a:solidFill>
                        </a:rPr>
                        <a:t>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2800" b="1" dirty="0">
                          <a:solidFill>
                            <a:schemeClr val="bg2">
                              <a:lumMod val="60000"/>
                              <a:lumOff val="40000"/>
                            </a:schemeClr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800" b="1" dirty="0">
                          <a:solidFill>
                            <a:schemeClr val="bg2">
                              <a:lumMod val="60000"/>
                              <a:lumOff val="40000"/>
                            </a:schemeClr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b="1" dirty="0">
                          <a:solidFill>
                            <a:schemeClr val="bg2">
                              <a:lumMod val="60000"/>
                              <a:lumOff val="40000"/>
                            </a:schemeClr>
                          </a:solidFill>
                        </a:rPr>
                        <a:t>4</a:t>
                      </a:r>
                      <a:endParaRPr lang="ru-RU" sz="2800" b="1" dirty="0">
                        <a:solidFill>
                          <a:schemeClr val="bg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b="1" dirty="0">
                          <a:solidFill>
                            <a:schemeClr val="bg2">
                              <a:lumMod val="60000"/>
                              <a:lumOff val="40000"/>
                            </a:schemeClr>
                          </a:solidFill>
                        </a:rPr>
                        <a:t>5</a:t>
                      </a:r>
                      <a:endParaRPr lang="ru-RU" sz="2800" b="1" dirty="0">
                        <a:solidFill>
                          <a:schemeClr val="bg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b="1" dirty="0">
                          <a:solidFill>
                            <a:schemeClr val="bg2">
                              <a:lumMod val="60000"/>
                              <a:lumOff val="40000"/>
                            </a:schemeClr>
                          </a:solidFill>
                        </a:rPr>
                        <a:t>8</a:t>
                      </a:r>
                      <a:endParaRPr lang="ru-RU" sz="2800" b="1" dirty="0">
                        <a:solidFill>
                          <a:schemeClr val="bg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b="1" dirty="0">
                          <a:solidFill>
                            <a:schemeClr val="bg2">
                              <a:lumMod val="60000"/>
                              <a:lumOff val="40000"/>
                            </a:schemeClr>
                          </a:solidFill>
                        </a:rPr>
                        <a:t>10</a:t>
                      </a:r>
                      <a:endParaRPr lang="ru-RU" sz="2800" b="1" dirty="0">
                        <a:solidFill>
                          <a:schemeClr val="bg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b="1" dirty="0">
                          <a:solidFill>
                            <a:schemeClr val="bg2">
                              <a:lumMod val="60000"/>
                              <a:lumOff val="40000"/>
                            </a:schemeClr>
                          </a:solidFill>
                        </a:rPr>
                        <a:t>13</a:t>
                      </a:r>
                      <a:endParaRPr lang="ru-RU" sz="2800" b="1" dirty="0">
                        <a:solidFill>
                          <a:schemeClr val="bg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b="1" dirty="0">
                          <a:solidFill>
                            <a:schemeClr val="bg2">
                              <a:lumMod val="60000"/>
                              <a:lumOff val="40000"/>
                            </a:schemeClr>
                          </a:solidFill>
                        </a:rPr>
                        <a:t>15</a:t>
                      </a:r>
                      <a:endParaRPr lang="ru-RU" sz="2800" b="1" dirty="0">
                        <a:solidFill>
                          <a:schemeClr val="bg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b="1" dirty="0">
                          <a:solidFill>
                            <a:schemeClr val="bg2">
                              <a:lumMod val="60000"/>
                              <a:lumOff val="40000"/>
                            </a:schemeClr>
                          </a:solidFill>
                        </a:rPr>
                        <a:t>16</a:t>
                      </a:r>
                      <a:endParaRPr lang="ru-RU" sz="2800" b="1" dirty="0">
                        <a:solidFill>
                          <a:schemeClr val="bg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b="1" dirty="0">
                          <a:solidFill>
                            <a:schemeClr val="bg2">
                              <a:lumMod val="60000"/>
                              <a:lumOff val="40000"/>
                            </a:schemeClr>
                          </a:solidFill>
                        </a:rPr>
                        <a:t>19</a:t>
                      </a:r>
                      <a:endParaRPr lang="ru-RU" sz="2800" b="1" dirty="0">
                        <a:solidFill>
                          <a:schemeClr val="bg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8743" name="Прямоугольник 7"/>
          <p:cNvSpPr>
            <a:spLocks noChangeArrowheads="1"/>
          </p:cNvSpPr>
          <p:nvPr/>
        </p:nvSpPr>
        <p:spPr bwMode="auto">
          <a:xfrm>
            <a:off x="0" y="5386388"/>
            <a:ext cx="8734425" cy="1471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buFont typeface="Wingdings" panose="05000000000000000000" pitchFamily="2" charset="2"/>
              <a:buNone/>
            </a:pPr>
            <a:r>
              <a:rPr lang="ru-RU" altLang="ru-RU" sz="2800">
                <a:solidFill>
                  <a:schemeClr val="bg2"/>
                </a:solidFill>
              </a:rPr>
              <a:t>1478 9358 6962</a:t>
            </a:r>
            <a:endParaRPr lang="en-US" altLang="ru-RU" sz="2800">
              <a:solidFill>
                <a:schemeClr val="bg2"/>
              </a:solidFill>
            </a:endParaRPr>
          </a:p>
          <a:p>
            <a:pPr algn="ctr" eaLnBrk="1" hangingPunct="1">
              <a:buFont typeface="Wingdings" panose="05000000000000000000" pitchFamily="2" charset="2"/>
              <a:buNone/>
            </a:pPr>
            <a:r>
              <a:rPr lang="ru-RU" altLang="ru-RU" sz="2800">
                <a:solidFill>
                  <a:schemeClr val="bg2"/>
                </a:solidFill>
              </a:rPr>
              <a:t> 4464 5705 8145 3281 6827 9961 2995 1942 4827 5436 2391 4604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Содержимое 6"/>
          <p:cNvGraphicFramePr>
            <a:graphicFrameLocks noGrp="1"/>
          </p:cNvGraphicFramePr>
          <p:nvPr>
            <p:ph idx="1"/>
          </p:nvPr>
        </p:nvGraphicFramePr>
        <p:xfrm>
          <a:off x="409575" y="2662238"/>
          <a:ext cx="8229600" cy="2263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65944">
                <a:tc>
                  <a:txBody>
                    <a:bodyPr/>
                    <a:lstStyle/>
                    <a:p>
                      <a:endParaRPr lang="ru-RU" sz="2800" b="1" dirty="0">
                        <a:solidFill>
                          <a:schemeClr val="bg2"/>
                        </a:solidFill>
                      </a:endParaRPr>
                    </a:p>
                  </a:txBody>
                  <a:tcPr marT="45719" marB="45719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2800" b="1" dirty="0">
                          <a:solidFill>
                            <a:schemeClr val="bg2"/>
                          </a:solidFill>
                        </a:rPr>
                        <a:t>1478</a:t>
                      </a:r>
                    </a:p>
                  </a:txBody>
                  <a:tcPr marT="45719" marB="45719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2800" b="1" dirty="0">
                        <a:solidFill>
                          <a:schemeClr val="bg2"/>
                        </a:solidFill>
                      </a:endParaRPr>
                    </a:p>
                  </a:txBody>
                  <a:tcPr marT="45719" marB="45719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2800" b="1" dirty="0">
                        <a:solidFill>
                          <a:schemeClr val="bg2"/>
                        </a:solidFill>
                      </a:endParaRPr>
                    </a:p>
                  </a:txBody>
                  <a:tcPr marT="45719" marB="45719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2800" b="1" dirty="0">
                        <a:solidFill>
                          <a:schemeClr val="bg2"/>
                        </a:solidFill>
                      </a:endParaRPr>
                    </a:p>
                  </a:txBody>
                  <a:tcPr marT="45719" marB="45719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5944">
                <a:tc>
                  <a:txBody>
                    <a:bodyPr/>
                    <a:lstStyle/>
                    <a:p>
                      <a:endParaRPr lang="ru-RU" sz="2800" b="1">
                        <a:solidFill>
                          <a:schemeClr val="bg2"/>
                        </a:solidFill>
                      </a:endParaRPr>
                    </a:p>
                  </a:txBody>
                  <a:tcPr marT="45719" marB="45719"/>
                </a:tc>
                <a:tc>
                  <a:txBody>
                    <a:bodyPr/>
                    <a:lstStyle/>
                    <a:p>
                      <a:endParaRPr lang="ru-RU" sz="2800" b="1">
                        <a:solidFill>
                          <a:schemeClr val="bg2"/>
                        </a:solidFill>
                      </a:endParaRPr>
                    </a:p>
                  </a:txBody>
                  <a:tcPr marT="45719" marB="45719"/>
                </a:tc>
                <a:tc>
                  <a:txBody>
                    <a:bodyPr/>
                    <a:lstStyle/>
                    <a:p>
                      <a:endParaRPr lang="ru-RU" sz="2800" b="1" dirty="0">
                        <a:solidFill>
                          <a:schemeClr val="bg2"/>
                        </a:solidFill>
                      </a:endParaRPr>
                    </a:p>
                  </a:txBody>
                  <a:tcPr marT="45719" marB="45719"/>
                </a:tc>
                <a:tc>
                  <a:txBody>
                    <a:bodyPr/>
                    <a:lstStyle/>
                    <a:p>
                      <a:endParaRPr lang="ru-RU" sz="2800" b="1" dirty="0">
                        <a:solidFill>
                          <a:schemeClr val="bg2"/>
                        </a:solidFill>
                      </a:endParaRPr>
                    </a:p>
                  </a:txBody>
                  <a:tcPr marT="45719" marB="45719"/>
                </a:tc>
                <a:tc>
                  <a:txBody>
                    <a:bodyPr/>
                    <a:lstStyle/>
                    <a:p>
                      <a:endParaRPr lang="ru-RU" sz="2800" b="1" dirty="0">
                        <a:solidFill>
                          <a:schemeClr val="bg2"/>
                        </a:solidFill>
                      </a:endParaRPr>
                    </a:p>
                  </a:txBody>
                  <a:tcPr marT="45719" marB="45719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5944">
                <a:tc>
                  <a:txBody>
                    <a:bodyPr/>
                    <a:lstStyle/>
                    <a:p>
                      <a:r>
                        <a:rPr lang="ru-RU" sz="2800" b="1" dirty="0">
                          <a:solidFill>
                            <a:schemeClr val="bg2"/>
                          </a:solidFill>
                        </a:rPr>
                        <a:t>5724</a:t>
                      </a:r>
                    </a:p>
                  </a:txBody>
                  <a:tcPr marT="45719" marB="45719"/>
                </a:tc>
                <a:tc>
                  <a:txBody>
                    <a:bodyPr/>
                    <a:lstStyle/>
                    <a:p>
                      <a:endParaRPr lang="ru-RU" sz="2800" b="1">
                        <a:solidFill>
                          <a:schemeClr val="bg2"/>
                        </a:solidFill>
                      </a:endParaRPr>
                    </a:p>
                  </a:txBody>
                  <a:tcPr marT="45719" marB="45719"/>
                </a:tc>
                <a:tc>
                  <a:txBody>
                    <a:bodyPr/>
                    <a:lstStyle/>
                    <a:p>
                      <a:endParaRPr lang="ru-RU" sz="2800" b="1" dirty="0">
                        <a:solidFill>
                          <a:schemeClr val="bg2"/>
                        </a:solidFill>
                      </a:endParaRPr>
                    </a:p>
                  </a:txBody>
                  <a:tcPr marT="45719" marB="45719"/>
                </a:tc>
                <a:tc>
                  <a:txBody>
                    <a:bodyPr/>
                    <a:lstStyle/>
                    <a:p>
                      <a:r>
                        <a:rPr lang="ru-RU" sz="2800" b="1" dirty="0">
                          <a:solidFill>
                            <a:schemeClr val="bg2"/>
                          </a:solidFill>
                        </a:rPr>
                        <a:t>6500</a:t>
                      </a:r>
                    </a:p>
                  </a:txBody>
                  <a:tcPr marT="45719" marB="45719"/>
                </a:tc>
                <a:tc>
                  <a:txBody>
                    <a:bodyPr/>
                    <a:lstStyle/>
                    <a:p>
                      <a:r>
                        <a:rPr lang="ru-RU" sz="2800" b="1" dirty="0">
                          <a:solidFill>
                            <a:schemeClr val="bg2"/>
                          </a:solidFill>
                        </a:rPr>
                        <a:t>6334</a:t>
                      </a:r>
                    </a:p>
                  </a:txBody>
                  <a:tcPr marT="45719" marB="45719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5944">
                <a:tc>
                  <a:txBody>
                    <a:bodyPr/>
                    <a:lstStyle/>
                    <a:p>
                      <a:endParaRPr lang="ru-RU" sz="2800" b="1">
                        <a:solidFill>
                          <a:schemeClr val="bg2"/>
                        </a:solidFill>
                      </a:endParaRPr>
                    </a:p>
                  </a:txBody>
                  <a:tcPr marT="45719" marB="45719"/>
                </a:tc>
                <a:tc>
                  <a:txBody>
                    <a:bodyPr/>
                    <a:lstStyle/>
                    <a:p>
                      <a:r>
                        <a:rPr lang="ru-RU" sz="2800" b="1" dirty="0">
                          <a:solidFill>
                            <a:schemeClr val="bg2"/>
                          </a:solidFill>
                        </a:rPr>
                        <a:t>8467</a:t>
                      </a:r>
                    </a:p>
                  </a:txBody>
                  <a:tcPr marT="45719" marB="45719"/>
                </a:tc>
                <a:tc>
                  <a:txBody>
                    <a:bodyPr/>
                    <a:lstStyle/>
                    <a:p>
                      <a:endParaRPr lang="ru-RU" sz="2800" b="1" dirty="0">
                        <a:solidFill>
                          <a:schemeClr val="bg2"/>
                        </a:solidFill>
                      </a:endParaRPr>
                    </a:p>
                  </a:txBody>
                  <a:tcPr marT="45719" marB="45719"/>
                </a:tc>
                <a:tc>
                  <a:txBody>
                    <a:bodyPr/>
                    <a:lstStyle/>
                    <a:p>
                      <a:r>
                        <a:rPr lang="ru-RU" sz="2800" b="1" dirty="0">
                          <a:solidFill>
                            <a:schemeClr val="bg2"/>
                          </a:solidFill>
                        </a:rPr>
                        <a:t>9358</a:t>
                      </a:r>
                    </a:p>
                  </a:txBody>
                  <a:tcPr marT="45719" marB="45719"/>
                </a:tc>
                <a:tc>
                  <a:txBody>
                    <a:bodyPr/>
                    <a:lstStyle/>
                    <a:p>
                      <a:r>
                        <a:rPr lang="ru-RU" sz="2800" b="1" dirty="0">
                          <a:solidFill>
                            <a:schemeClr val="bg2"/>
                          </a:solidFill>
                        </a:rPr>
                        <a:t>9169</a:t>
                      </a:r>
                    </a:p>
                  </a:txBody>
                  <a:tcPr marT="45719" marB="45719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Заголовок 1"/>
          <p:cNvSpPr txBox="1">
            <a:spLocks/>
          </p:cNvSpPr>
          <p:nvPr/>
        </p:nvSpPr>
        <p:spPr bwMode="auto">
          <a:xfrm>
            <a:off x="519113" y="288925"/>
            <a:ext cx="8229600" cy="455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>
              <a:defRPr/>
            </a:pPr>
            <a:r>
              <a:rPr lang="ru-RU" sz="3600" kern="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Поразрядная </a:t>
            </a:r>
            <a:r>
              <a:rPr lang="en-US" sz="3600" i="1" kern="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MSD - </a:t>
            </a:r>
            <a:r>
              <a:rPr lang="ru-RU" sz="3600" kern="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сортировка</a:t>
            </a:r>
          </a:p>
        </p:txBody>
      </p:sp>
      <p:sp>
        <p:nvSpPr>
          <p:cNvPr id="5" name="Прямоугольник 4"/>
          <p:cNvSpPr/>
          <p:nvPr/>
        </p:nvSpPr>
        <p:spPr bwMode="auto">
          <a:xfrm>
            <a:off x="592138" y="1201738"/>
            <a:ext cx="839787" cy="693737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 eaLnBrk="1" hangingPunct="1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None/>
              <a:defRPr/>
            </a:pPr>
            <a:r>
              <a:rPr lang="en-US" i="1" dirty="0">
                <a:solidFill>
                  <a:schemeClr val="bg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</a:t>
            </a:r>
            <a:endParaRPr lang="ru-RU" i="1" dirty="0">
              <a:solidFill>
                <a:schemeClr val="bg2">
                  <a:lumMod val="60000"/>
                  <a:lumOff val="4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aphicFrame>
        <p:nvGraphicFramePr>
          <p:cNvPr id="6" name="Таблица 5"/>
          <p:cNvGraphicFramePr>
            <a:graphicFrameLocks noGrp="1"/>
          </p:cNvGraphicFramePr>
          <p:nvPr/>
        </p:nvGraphicFramePr>
        <p:xfrm>
          <a:off x="1687513" y="1092200"/>
          <a:ext cx="6789737" cy="88900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67897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897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7897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7897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7897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7897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7897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78974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78974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78974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bg2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bg2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bg2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bg2"/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bg2"/>
                          </a:solidFill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bg2"/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bg2"/>
                          </a:solidFill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bg2"/>
                          </a:solidFill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bg2"/>
                          </a:solidFill>
                        </a:rP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bg2"/>
                          </a:solidFill>
                        </a:rPr>
                        <a:t>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2800" b="1" dirty="0">
                          <a:solidFill>
                            <a:schemeClr val="bg2">
                              <a:lumMod val="60000"/>
                              <a:lumOff val="40000"/>
                            </a:schemeClr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b="1" dirty="0">
                          <a:solidFill>
                            <a:schemeClr val="bg2">
                              <a:lumMod val="60000"/>
                              <a:lumOff val="40000"/>
                            </a:schemeClr>
                          </a:solidFill>
                        </a:rPr>
                        <a:t>1</a:t>
                      </a:r>
                      <a:endParaRPr lang="ru-RU" sz="2800" b="1" dirty="0">
                        <a:solidFill>
                          <a:schemeClr val="bg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b="1" dirty="0">
                          <a:solidFill>
                            <a:schemeClr val="bg2">
                              <a:lumMod val="60000"/>
                              <a:lumOff val="40000"/>
                            </a:schemeClr>
                          </a:solidFill>
                        </a:rPr>
                        <a:t>4</a:t>
                      </a:r>
                      <a:endParaRPr lang="ru-RU" sz="2800" b="1" dirty="0">
                        <a:solidFill>
                          <a:schemeClr val="bg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b="1" dirty="0">
                          <a:solidFill>
                            <a:schemeClr val="bg2">
                              <a:lumMod val="60000"/>
                              <a:lumOff val="40000"/>
                            </a:schemeClr>
                          </a:solidFill>
                        </a:rPr>
                        <a:t>5</a:t>
                      </a:r>
                      <a:endParaRPr lang="ru-RU" sz="2800" b="1" dirty="0">
                        <a:solidFill>
                          <a:schemeClr val="bg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b="1" dirty="0">
                          <a:solidFill>
                            <a:schemeClr val="bg2">
                              <a:lumMod val="60000"/>
                              <a:lumOff val="40000"/>
                            </a:schemeClr>
                          </a:solidFill>
                        </a:rPr>
                        <a:t>8</a:t>
                      </a:r>
                      <a:endParaRPr lang="ru-RU" sz="2800" b="1" dirty="0">
                        <a:solidFill>
                          <a:schemeClr val="bg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b="1" dirty="0">
                          <a:solidFill>
                            <a:schemeClr val="bg2">
                              <a:lumMod val="60000"/>
                              <a:lumOff val="40000"/>
                            </a:schemeClr>
                          </a:solidFill>
                        </a:rPr>
                        <a:t>10</a:t>
                      </a:r>
                      <a:endParaRPr lang="ru-RU" sz="2800" b="1" dirty="0">
                        <a:solidFill>
                          <a:schemeClr val="bg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b="1" dirty="0">
                          <a:solidFill>
                            <a:schemeClr val="bg2">
                              <a:lumMod val="60000"/>
                              <a:lumOff val="40000"/>
                            </a:schemeClr>
                          </a:solidFill>
                        </a:rPr>
                        <a:t>13</a:t>
                      </a:r>
                      <a:endParaRPr lang="ru-RU" sz="2800" b="1" dirty="0">
                        <a:solidFill>
                          <a:schemeClr val="bg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b="1" dirty="0">
                          <a:solidFill>
                            <a:schemeClr val="bg2">
                              <a:lumMod val="60000"/>
                              <a:lumOff val="40000"/>
                            </a:schemeClr>
                          </a:solidFill>
                        </a:rPr>
                        <a:t>15</a:t>
                      </a:r>
                      <a:endParaRPr lang="ru-RU" sz="2800" b="1" dirty="0">
                        <a:solidFill>
                          <a:schemeClr val="bg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b="1" dirty="0">
                          <a:solidFill>
                            <a:schemeClr val="bg2">
                              <a:lumMod val="60000"/>
                              <a:lumOff val="40000"/>
                            </a:schemeClr>
                          </a:solidFill>
                        </a:rPr>
                        <a:t>16</a:t>
                      </a:r>
                      <a:endParaRPr lang="ru-RU" sz="2800" b="1" dirty="0">
                        <a:solidFill>
                          <a:schemeClr val="bg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b="1" dirty="0">
                          <a:solidFill>
                            <a:schemeClr val="bg2">
                              <a:lumMod val="60000"/>
                              <a:lumOff val="40000"/>
                            </a:schemeClr>
                          </a:solidFill>
                        </a:rPr>
                        <a:t>19</a:t>
                      </a:r>
                      <a:endParaRPr lang="ru-RU" sz="2800" b="1" dirty="0">
                        <a:solidFill>
                          <a:schemeClr val="bg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9767" name="Прямоугольник 7"/>
          <p:cNvSpPr>
            <a:spLocks noChangeArrowheads="1"/>
          </p:cNvSpPr>
          <p:nvPr/>
        </p:nvSpPr>
        <p:spPr bwMode="auto">
          <a:xfrm>
            <a:off x="0" y="5386388"/>
            <a:ext cx="8734425" cy="1471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buFont typeface="Wingdings" panose="05000000000000000000" pitchFamily="2" charset="2"/>
              <a:buNone/>
            </a:pPr>
            <a:r>
              <a:rPr lang="ru-RU" altLang="ru-RU" sz="2800">
                <a:solidFill>
                  <a:schemeClr val="bg2"/>
                </a:solidFill>
              </a:rPr>
              <a:t>9358 6962</a:t>
            </a:r>
            <a:endParaRPr lang="en-US" altLang="ru-RU" sz="2800">
              <a:solidFill>
                <a:schemeClr val="bg2"/>
              </a:solidFill>
            </a:endParaRPr>
          </a:p>
          <a:p>
            <a:pPr algn="ctr" eaLnBrk="1" hangingPunct="1">
              <a:buFont typeface="Wingdings" panose="05000000000000000000" pitchFamily="2" charset="2"/>
              <a:buNone/>
            </a:pPr>
            <a:r>
              <a:rPr lang="ru-RU" altLang="ru-RU" sz="2800">
                <a:solidFill>
                  <a:schemeClr val="bg2"/>
                </a:solidFill>
              </a:rPr>
              <a:t> 4464 5705 8145 3281 6827 9961 2995 1942 4827 5436 2391 4604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Содержимое 6"/>
          <p:cNvGraphicFramePr>
            <a:graphicFrameLocks noGrp="1"/>
          </p:cNvGraphicFramePr>
          <p:nvPr>
            <p:ph idx="1"/>
          </p:nvPr>
        </p:nvGraphicFramePr>
        <p:xfrm>
          <a:off x="409575" y="2662238"/>
          <a:ext cx="8229600" cy="2263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65944">
                <a:tc>
                  <a:txBody>
                    <a:bodyPr/>
                    <a:lstStyle/>
                    <a:p>
                      <a:endParaRPr lang="ru-RU" sz="2800" b="1" dirty="0">
                        <a:solidFill>
                          <a:schemeClr val="bg2"/>
                        </a:solidFill>
                      </a:endParaRPr>
                    </a:p>
                  </a:txBody>
                  <a:tcPr marT="45719" marB="45719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2800" b="1" dirty="0">
                          <a:solidFill>
                            <a:schemeClr val="bg2"/>
                          </a:solidFill>
                        </a:rPr>
                        <a:t>1478</a:t>
                      </a:r>
                    </a:p>
                  </a:txBody>
                  <a:tcPr marT="45719" marB="45719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2800" b="1" dirty="0">
                        <a:solidFill>
                          <a:schemeClr val="bg2"/>
                        </a:solidFill>
                      </a:endParaRPr>
                    </a:p>
                  </a:txBody>
                  <a:tcPr marT="45719" marB="45719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2800" b="1" dirty="0">
                        <a:solidFill>
                          <a:schemeClr val="bg2"/>
                        </a:solidFill>
                      </a:endParaRPr>
                    </a:p>
                  </a:txBody>
                  <a:tcPr marT="45719" marB="45719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2800" b="1" dirty="0">
                        <a:solidFill>
                          <a:schemeClr val="bg2"/>
                        </a:solidFill>
                      </a:endParaRPr>
                    </a:p>
                  </a:txBody>
                  <a:tcPr marT="45719" marB="45719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5944">
                <a:tc>
                  <a:txBody>
                    <a:bodyPr/>
                    <a:lstStyle/>
                    <a:p>
                      <a:endParaRPr lang="ru-RU" sz="2800" b="1">
                        <a:solidFill>
                          <a:schemeClr val="bg2"/>
                        </a:solidFill>
                      </a:endParaRPr>
                    </a:p>
                  </a:txBody>
                  <a:tcPr marT="45719" marB="45719"/>
                </a:tc>
                <a:tc>
                  <a:txBody>
                    <a:bodyPr/>
                    <a:lstStyle/>
                    <a:p>
                      <a:endParaRPr lang="ru-RU" sz="2800" b="1">
                        <a:solidFill>
                          <a:schemeClr val="bg2"/>
                        </a:solidFill>
                      </a:endParaRPr>
                    </a:p>
                  </a:txBody>
                  <a:tcPr marT="45719" marB="45719"/>
                </a:tc>
                <a:tc>
                  <a:txBody>
                    <a:bodyPr/>
                    <a:lstStyle/>
                    <a:p>
                      <a:endParaRPr lang="ru-RU" sz="2800" b="1" dirty="0">
                        <a:solidFill>
                          <a:schemeClr val="bg2"/>
                        </a:solidFill>
                      </a:endParaRPr>
                    </a:p>
                  </a:txBody>
                  <a:tcPr marT="45719" marB="45719"/>
                </a:tc>
                <a:tc>
                  <a:txBody>
                    <a:bodyPr/>
                    <a:lstStyle/>
                    <a:p>
                      <a:endParaRPr lang="ru-RU" sz="2800" b="1" dirty="0">
                        <a:solidFill>
                          <a:schemeClr val="bg2"/>
                        </a:solidFill>
                      </a:endParaRPr>
                    </a:p>
                  </a:txBody>
                  <a:tcPr marT="45719" marB="45719"/>
                </a:tc>
                <a:tc>
                  <a:txBody>
                    <a:bodyPr/>
                    <a:lstStyle/>
                    <a:p>
                      <a:endParaRPr lang="ru-RU" sz="2800" b="1" dirty="0">
                        <a:solidFill>
                          <a:schemeClr val="bg2"/>
                        </a:solidFill>
                      </a:endParaRPr>
                    </a:p>
                  </a:txBody>
                  <a:tcPr marT="45719" marB="45719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5944">
                <a:tc>
                  <a:txBody>
                    <a:bodyPr/>
                    <a:lstStyle/>
                    <a:p>
                      <a:r>
                        <a:rPr lang="ru-RU" sz="2800" b="1" dirty="0">
                          <a:solidFill>
                            <a:schemeClr val="bg2"/>
                          </a:solidFill>
                        </a:rPr>
                        <a:t>5724</a:t>
                      </a:r>
                    </a:p>
                  </a:txBody>
                  <a:tcPr marT="45719" marB="45719"/>
                </a:tc>
                <a:tc>
                  <a:txBody>
                    <a:bodyPr/>
                    <a:lstStyle/>
                    <a:p>
                      <a:endParaRPr lang="ru-RU" sz="2800" b="1">
                        <a:solidFill>
                          <a:schemeClr val="bg2"/>
                        </a:solidFill>
                      </a:endParaRPr>
                    </a:p>
                  </a:txBody>
                  <a:tcPr marT="45719" marB="45719"/>
                </a:tc>
                <a:tc>
                  <a:txBody>
                    <a:bodyPr/>
                    <a:lstStyle/>
                    <a:p>
                      <a:r>
                        <a:rPr lang="ru-RU" sz="2800" b="1" dirty="0">
                          <a:solidFill>
                            <a:schemeClr val="bg2"/>
                          </a:solidFill>
                        </a:rPr>
                        <a:t>6962</a:t>
                      </a:r>
                    </a:p>
                  </a:txBody>
                  <a:tcPr marT="45719" marB="45719"/>
                </a:tc>
                <a:tc>
                  <a:txBody>
                    <a:bodyPr/>
                    <a:lstStyle/>
                    <a:p>
                      <a:r>
                        <a:rPr lang="ru-RU" sz="2800" b="1" dirty="0">
                          <a:solidFill>
                            <a:schemeClr val="bg2"/>
                          </a:solidFill>
                        </a:rPr>
                        <a:t>6500</a:t>
                      </a:r>
                    </a:p>
                  </a:txBody>
                  <a:tcPr marT="45719" marB="45719"/>
                </a:tc>
                <a:tc>
                  <a:txBody>
                    <a:bodyPr/>
                    <a:lstStyle/>
                    <a:p>
                      <a:r>
                        <a:rPr lang="ru-RU" sz="2800" b="1" dirty="0">
                          <a:solidFill>
                            <a:schemeClr val="bg2"/>
                          </a:solidFill>
                        </a:rPr>
                        <a:t>6334</a:t>
                      </a:r>
                    </a:p>
                  </a:txBody>
                  <a:tcPr marT="45719" marB="45719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5944">
                <a:tc>
                  <a:txBody>
                    <a:bodyPr/>
                    <a:lstStyle/>
                    <a:p>
                      <a:endParaRPr lang="ru-RU" sz="2800" b="1">
                        <a:solidFill>
                          <a:schemeClr val="bg2"/>
                        </a:solidFill>
                      </a:endParaRPr>
                    </a:p>
                  </a:txBody>
                  <a:tcPr marT="45719" marB="45719"/>
                </a:tc>
                <a:tc>
                  <a:txBody>
                    <a:bodyPr/>
                    <a:lstStyle/>
                    <a:p>
                      <a:r>
                        <a:rPr lang="ru-RU" sz="2800" b="1" dirty="0">
                          <a:solidFill>
                            <a:schemeClr val="bg2"/>
                          </a:solidFill>
                        </a:rPr>
                        <a:t>8467</a:t>
                      </a:r>
                    </a:p>
                  </a:txBody>
                  <a:tcPr marT="45719" marB="45719"/>
                </a:tc>
                <a:tc>
                  <a:txBody>
                    <a:bodyPr/>
                    <a:lstStyle/>
                    <a:p>
                      <a:endParaRPr lang="ru-RU" sz="2800" b="1" dirty="0">
                        <a:solidFill>
                          <a:schemeClr val="bg2"/>
                        </a:solidFill>
                      </a:endParaRPr>
                    </a:p>
                  </a:txBody>
                  <a:tcPr marT="45719" marB="45719"/>
                </a:tc>
                <a:tc>
                  <a:txBody>
                    <a:bodyPr/>
                    <a:lstStyle/>
                    <a:p>
                      <a:r>
                        <a:rPr lang="ru-RU" sz="2800" b="1" dirty="0">
                          <a:solidFill>
                            <a:schemeClr val="bg2"/>
                          </a:solidFill>
                        </a:rPr>
                        <a:t>9358</a:t>
                      </a:r>
                    </a:p>
                  </a:txBody>
                  <a:tcPr marT="45719" marB="45719"/>
                </a:tc>
                <a:tc>
                  <a:txBody>
                    <a:bodyPr/>
                    <a:lstStyle/>
                    <a:p>
                      <a:r>
                        <a:rPr lang="ru-RU" sz="2800" b="1" dirty="0">
                          <a:solidFill>
                            <a:schemeClr val="bg2"/>
                          </a:solidFill>
                        </a:rPr>
                        <a:t>9169</a:t>
                      </a:r>
                    </a:p>
                  </a:txBody>
                  <a:tcPr marT="45719" marB="45719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Заголовок 1"/>
          <p:cNvSpPr txBox="1">
            <a:spLocks/>
          </p:cNvSpPr>
          <p:nvPr/>
        </p:nvSpPr>
        <p:spPr bwMode="auto">
          <a:xfrm>
            <a:off x="519113" y="288925"/>
            <a:ext cx="8229600" cy="455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>
              <a:defRPr/>
            </a:pPr>
            <a:r>
              <a:rPr lang="ru-RU" sz="3600" kern="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Поразрядная </a:t>
            </a:r>
            <a:r>
              <a:rPr lang="en-US" sz="3600" i="1" kern="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MSD - </a:t>
            </a:r>
            <a:r>
              <a:rPr lang="ru-RU" sz="3600" kern="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сортировка</a:t>
            </a:r>
          </a:p>
        </p:txBody>
      </p:sp>
      <p:sp>
        <p:nvSpPr>
          <p:cNvPr id="5" name="Прямоугольник 4"/>
          <p:cNvSpPr/>
          <p:nvPr/>
        </p:nvSpPr>
        <p:spPr bwMode="auto">
          <a:xfrm>
            <a:off x="592138" y="1201738"/>
            <a:ext cx="839787" cy="693737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 eaLnBrk="1" hangingPunct="1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None/>
              <a:defRPr/>
            </a:pPr>
            <a:r>
              <a:rPr lang="en-US" i="1" dirty="0">
                <a:solidFill>
                  <a:schemeClr val="bg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</a:t>
            </a:r>
            <a:endParaRPr lang="ru-RU" i="1" dirty="0">
              <a:solidFill>
                <a:schemeClr val="bg2">
                  <a:lumMod val="60000"/>
                  <a:lumOff val="4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aphicFrame>
        <p:nvGraphicFramePr>
          <p:cNvPr id="6" name="Таблица 5"/>
          <p:cNvGraphicFramePr>
            <a:graphicFrameLocks noGrp="1"/>
          </p:cNvGraphicFramePr>
          <p:nvPr/>
        </p:nvGraphicFramePr>
        <p:xfrm>
          <a:off x="1687513" y="1092200"/>
          <a:ext cx="6789737" cy="88900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67897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897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7897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7897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7897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7897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7897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78974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78974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78974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bg2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bg2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bg2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bg2"/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bg2"/>
                          </a:solidFill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bg2"/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bg2"/>
                          </a:solidFill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bg2"/>
                          </a:solidFill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bg2"/>
                          </a:solidFill>
                        </a:rP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bg2"/>
                          </a:solidFill>
                        </a:rPr>
                        <a:t>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2800" b="1" dirty="0">
                          <a:solidFill>
                            <a:schemeClr val="bg2">
                              <a:lumMod val="60000"/>
                              <a:lumOff val="40000"/>
                            </a:schemeClr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b="1" dirty="0">
                          <a:solidFill>
                            <a:schemeClr val="bg2">
                              <a:lumMod val="60000"/>
                              <a:lumOff val="40000"/>
                            </a:schemeClr>
                          </a:solidFill>
                        </a:rPr>
                        <a:t>1</a:t>
                      </a:r>
                      <a:endParaRPr lang="ru-RU" sz="2800" b="1" dirty="0">
                        <a:solidFill>
                          <a:schemeClr val="bg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b="1" dirty="0">
                          <a:solidFill>
                            <a:schemeClr val="bg2">
                              <a:lumMod val="60000"/>
                              <a:lumOff val="40000"/>
                            </a:schemeClr>
                          </a:solidFill>
                        </a:rPr>
                        <a:t>4</a:t>
                      </a:r>
                      <a:endParaRPr lang="ru-RU" sz="2800" b="1" dirty="0">
                        <a:solidFill>
                          <a:schemeClr val="bg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b="1" dirty="0">
                          <a:solidFill>
                            <a:schemeClr val="bg2">
                              <a:lumMod val="60000"/>
                              <a:lumOff val="40000"/>
                            </a:schemeClr>
                          </a:solidFill>
                        </a:rPr>
                        <a:t>5</a:t>
                      </a:r>
                      <a:endParaRPr lang="ru-RU" sz="2800" b="1" dirty="0">
                        <a:solidFill>
                          <a:schemeClr val="bg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b="1" dirty="0">
                          <a:solidFill>
                            <a:schemeClr val="bg2">
                              <a:lumMod val="60000"/>
                              <a:lumOff val="40000"/>
                            </a:schemeClr>
                          </a:solidFill>
                        </a:rPr>
                        <a:t>8</a:t>
                      </a:r>
                      <a:endParaRPr lang="ru-RU" sz="2800" b="1" dirty="0">
                        <a:solidFill>
                          <a:schemeClr val="bg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b="1" dirty="0">
                          <a:solidFill>
                            <a:schemeClr val="bg2">
                              <a:lumMod val="60000"/>
                              <a:lumOff val="40000"/>
                            </a:schemeClr>
                          </a:solidFill>
                        </a:rPr>
                        <a:t>10</a:t>
                      </a:r>
                      <a:endParaRPr lang="ru-RU" sz="2800" b="1" dirty="0">
                        <a:solidFill>
                          <a:schemeClr val="bg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b="1" dirty="0">
                          <a:solidFill>
                            <a:schemeClr val="bg2">
                              <a:lumMod val="60000"/>
                              <a:lumOff val="40000"/>
                            </a:schemeClr>
                          </a:solidFill>
                        </a:rPr>
                        <a:t>13</a:t>
                      </a:r>
                      <a:endParaRPr lang="ru-RU" sz="2800" b="1" dirty="0">
                        <a:solidFill>
                          <a:schemeClr val="bg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b="1" dirty="0">
                          <a:solidFill>
                            <a:schemeClr val="bg2">
                              <a:lumMod val="60000"/>
                              <a:lumOff val="40000"/>
                            </a:schemeClr>
                          </a:solidFill>
                        </a:rPr>
                        <a:t>15</a:t>
                      </a:r>
                      <a:endParaRPr lang="ru-RU" sz="2800" b="1" dirty="0">
                        <a:solidFill>
                          <a:schemeClr val="bg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b="1" dirty="0">
                          <a:solidFill>
                            <a:schemeClr val="bg2">
                              <a:lumMod val="60000"/>
                              <a:lumOff val="40000"/>
                            </a:schemeClr>
                          </a:solidFill>
                        </a:rPr>
                        <a:t>16</a:t>
                      </a:r>
                      <a:endParaRPr lang="ru-RU" sz="2800" b="1" dirty="0">
                        <a:solidFill>
                          <a:schemeClr val="bg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b="1" dirty="0">
                          <a:solidFill>
                            <a:schemeClr val="bg2">
                              <a:lumMod val="60000"/>
                              <a:lumOff val="40000"/>
                            </a:schemeClr>
                          </a:solidFill>
                        </a:rPr>
                        <a:t>18</a:t>
                      </a:r>
                      <a:endParaRPr lang="ru-RU" sz="2800" b="1" dirty="0">
                        <a:solidFill>
                          <a:schemeClr val="bg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0791" name="Прямоугольник 7"/>
          <p:cNvSpPr>
            <a:spLocks noChangeArrowheads="1"/>
          </p:cNvSpPr>
          <p:nvPr/>
        </p:nvSpPr>
        <p:spPr bwMode="auto">
          <a:xfrm>
            <a:off x="0" y="5386388"/>
            <a:ext cx="8734425" cy="1471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buFont typeface="Wingdings" panose="05000000000000000000" pitchFamily="2" charset="2"/>
              <a:buNone/>
            </a:pPr>
            <a:r>
              <a:rPr lang="ru-RU" altLang="ru-RU" sz="2800">
                <a:solidFill>
                  <a:schemeClr val="bg2"/>
                </a:solidFill>
              </a:rPr>
              <a:t>6962</a:t>
            </a:r>
            <a:endParaRPr lang="en-US" altLang="ru-RU" sz="2800">
              <a:solidFill>
                <a:schemeClr val="bg2"/>
              </a:solidFill>
            </a:endParaRPr>
          </a:p>
          <a:p>
            <a:pPr algn="ctr" eaLnBrk="1" hangingPunct="1">
              <a:buFont typeface="Wingdings" panose="05000000000000000000" pitchFamily="2" charset="2"/>
              <a:buNone/>
            </a:pPr>
            <a:r>
              <a:rPr lang="ru-RU" altLang="ru-RU" sz="2800">
                <a:solidFill>
                  <a:schemeClr val="bg2"/>
                </a:solidFill>
              </a:rPr>
              <a:t> 4464 5705 8145 3281 6827 9961 2995 1942 4827 5436 2391 4604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Содержимое 6"/>
          <p:cNvGraphicFramePr>
            <a:graphicFrameLocks noGrp="1"/>
          </p:cNvGraphicFramePr>
          <p:nvPr>
            <p:ph idx="1"/>
          </p:nvPr>
        </p:nvGraphicFramePr>
        <p:xfrm>
          <a:off x="409575" y="2662238"/>
          <a:ext cx="8229600" cy="2263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65944">
                <a:tc>
                  <a:txBody>
                    <a:bodyPr/>
                    <a:lstStyle/>
                    <a:p>
                      <a:endParaRPr lang="ru-RU" sz="2800" b="1" dirty="0">
                        <a:solidFill>
                          <a:schemeClr val="bg2"/>
                        </a:solidFill>
                      </a:endParaRPr>
                    </a:p>
                  </a:txBody>
                  <a:tcPr marT="45719" marB="45719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2800" b="1" dirty="0">
                          <a:solidFill>
                            <a:schemeClr val="bg2"/>
                          </a:solidFill>
                        </a:rPr>
                        <a:t>1478</a:t>
                      </a:r>
                    </a:p>
                  </a:txBody>
                  <a:tcPr marT="45719" marB="45719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2800" b="1" dirty="0">
                        <a:solidFill>
                          <a:schemeClr val="bg2"/>
                        </a:solidFill>
                      </a:endParaRPr>
                    </a:p>
                  </a:txBody>
                  <a:tcPr marT="45719" marB="45719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2800" b="1" dirty="0">
                        <a:solidFill>
                          <a:schemeClr val="bg2"/>
                        </a:solidFill>
                      </a:endParaRPr>
                    </a:p>
                  </a:txBody>
                  <a:tcPr marT="45719" marB="45719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2800" b="1" dirty="0">
                        <a:solidFill>
                          <a:schemeClr val="bg2"/>
                        </a:solidFill>
                      </a:endParaRPr>
                    </a:p>
                  </a:txBody>
                  <a:tcPr marT="45719" marB="45719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5944">
                <a:tc>
                  <a:txBody>
                    <a:bodyPr/>
                    <a:lstStyle/>
                    <a:p>
                      <a:endParaRPr lang="ru-RU" sz="2800" b="1">
                        <a:solidFill>
                          <a:schemeClr val="bg2"/>
                        </a:solidFill>
                      </a:endParaRPr>
                    </a:p>
                  </a:txBody>
                  <a:tcPr marT="45719" marB="45719"/>
                </a:tc>
                <a:tc>
                  <a:txBody>
                    <a:bodyPr/>
                    <a:lstStyle/>
                    <a:p>
                      <a:endParaRPr lang="ru-RU" sz="2800" b="1">
                        <a:solidFill>
                          <a:schemeClr val="bg2"/>
                        </a:solidFill>
                      </a:endParaRPr>
                    </a:p>
                  </a:txBody>
                  <a:tcPr marT="45719" marB="45719"/>
                </a:tc>
                <a:tc>
                  <a:txBody>
                    <a:bodyPr/>
                    <a:lstStyle/>
                    <a:p>
                      <a:r>
                        <a:rPr lang="ru-RU" sz="2800" b="1" dirty="0">
                          <a:solidFill>
                            <a:schemeClr val="bg2"/>
                          </a:solidFill>
                        </a:rPr>
                        <a:t>4464</a:t>
                      </a:r>
                    </a:p>
                  </a:txBody>
                  <a:tcPr marT="45719" marB="45719"/>
                </a:tc>
                <a:tc>
                  <a:txBody>
                    <a:bodyPr/>
                    <a:lstStyle/>
                    <a:p>
                      <a:endParaRPr lang="ru-RU" sz="2800" b="1" dirty="0">
                        <a:solidFill>
                          <a:schemeClr val="bg2"/>
                        </a:solidFill>
                      </a:endParaRPr>
                    </a:p>
                  </a:txBody>
                  <a:tcPr marT="45719" marB="45719"/>
                </a:tc>
                <a:tc>
                  <a:txBody>
                    <a:bodyPr/>
                    <a:lstStyle/>
                    <a:p>
                      <a:endParaRPr lang="ru-RU" sz="2800" b="1" dirty="0">
                        <a:solidFill>
                          <a:schemeClr val="bg2"/>
                        </a:solidFill>
                      </a:endParaRPr>
                    </a:p>
                  </a:txBody>
                  <a:tcPr marT="45719" marB="45719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5944">
                <a:tc>
                  <a:txBody>
                    <a:bodyPr/>
                    <a:lstStyle/>
                    <a:p>
                      <a:r>
                        <a:rPr lang="ru-RU" sz="2800" b="1" dirty="0">
                          <a:solidFill>
                            <a:schemeClr val="bg2"/>
                          </a:solidFill>
                        </a:rPr>
                        <a:t>5724</a:t>
                      </a:r>
                    </a:p>
                  </a:txBody>
                  <a:tcPr marT="45719" marB="45719"/>
                </a:tc>
                <a:tc>
                  <a:txBody>
                    <a:bodyPr/>
                    <a:lstStyle/>
                    <a:p>
                      <a:endParaRPr lang="ru-RU" sz="2800" b="1">
                        <a:solidFill>
                          <a:schemeClr val="bg2"/>
                        </a:solidFill>
                      </a:endParaRPr>
                    </a:p>
                  </a:txBody>
                  <a:tcPr marT="45719" marB="45719"/>
                </a:tc>
                <a:tc>
                  <a:txBody>
                    <a:bodyPr/>
                    <a:lstStyle/>
                    <a:p>
                      <a:r>
                        <a:rPr lang="ru-RU" sz="2800" b="1" dirty="0">
                          <a:solidFill>
                            <a:schemeClr val="bg2"/>
                          </a:solidFill>
                        </a:rPr>
                        <a:t>6962</a:t>
                      </a:r>
                    </a:p>
                  </a:txBody>
                  <a:tcPr marT="45719" marB="45719"/>
                </a:tc>
                <a:tc>
                  <a:txBody>
                    <a:bodyPr/>
                    <a:lstStyle/>
                    <a:p>
                      <a:r>
                        <a:rPr lang="ru-RU" sz="2800" b="1" dirty="0">
                          <a:solidFill>
                            <a:schemeClr val="bg2"/>
                          </a:solidFill>
                        </a:rPr>
                        <a:t>6500</a:t>
                      </a:r>
                    </a:p>
                  </a:txBody>
                  <a:tcPr marT="45719" marB="45719"/>
                </a:tc>
                <a:tc>
                  <a:txBody>
                    <a:bodyPr/>
                    <a:lstStyle/>
                    <a:p>
                      <a:r>
                        <a:rPr lang="ru-RU" sz="2800" b="1" dirty="0">
                          <a:solidFill>
                            <a:schemeClr val="bg2"/>
                          </a:solidFill>
                        </a:rPr>
                        <a:t>6334</a:t>
                      </a:r>
                    </a:p>
                  </a:txBody>
                  <a:tcPr marT="45719" marB="45719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5944">
                <a:tc>
                  <a:txBody>
                    <a:bodyPr/>
                    <a:lstStyle/>
                    <a:p>
                      <a:endParaRPr lang="ru-RU" sz="2800" b="1">
                        <a:solidFill>
                          <a:schemeClr val="bg2"/>
                        </a:solidFill>
                      </a:endParaRPr>
                    </a:p>
                  </a:txBody>
                  <a:tcPr marT="45719" marB="45719"/>
                </a:tc>
                <a:tc>
                  <a:txBody>
                    <a:bodyPr/>
                    <a:lstStyle/>
                    <a:p>
                      <a:r>
                        <a:rPr lang="ru-RU" sz="2800" b="1" dirty="0">
                          <a:solidFill>
                            <a:schemeClr val="bg2"/>
                          </a:solidFill>
                        </a:rPr>
                        <a:t>8467</a:t>
                      </a:r>
                    </a:p>
                  </a:txBody>
                  <a:tcPr marT="45719" marB="45719"/>
                </a:tc>
                <a:tc>
                  <a:txBody>
                    <a:bodyPr/>
                    <a:lstStyle/>
                    <a:p>
                      <a:endParaRPr lang="ru-RU" sz="2800" b="1" dirty="0">
                        <a:solidFill>
                          <a:schemeClr val="bg2"/>
                        </a:solidFill>
                      </a:endParaRPr>
                    </a:p>
                  </a:txBody>
                  <a:tcPr marT="45719" marB="45719"/>
                </a:tc>
                <a:tc>
                  <a:txBody>
                    <a:bodyPr/>
                    <a:lstStyle/>
                    <a:p>
                      <a:r>
                        <a:rPr lang="ru-RU" sz="2800" b="1" dirty="0">
                          <a:solidFill>
                            <a:schemeClr val="bg2"/>
                          </a:solidFill>
                        </a:rPr>
                        <a:t>9358</a:t>
                      </a:r>
                    </a:p>
                  </a:txBody>
                  <a:tcPr marT="45719" marB="45719"/>
                </a:tc>
                <a:tc>
                  <a:txBody>
                    <a:bodyPr/>
                    <a:lstStyle/>
                    <a:p>
                      <a:r>
                        <a:rPr lang="ru-RU" sz="2800" b="1" dirty="0">
                          <a:solidFill>
                            <a:schemeClr val="bg2"/>
                          </a:solidFill>
                        </a:rPr>
                        <a:t>9169</a:t>
                      </a:r>
                    </a:p>
                  </a:txBody>
                  <a:tcPr marT="45719" marB="45719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Заголовок 1"/>
          <p:cNvSpPr txBox="1">
            <a:spLocks/>
          </p:cNvSpPr>
          <p:nvPr/>
        </p:nvSpPr>
        <p:spPr bwMode="auto">
          <a:xfrm>
            <a:off x="519113" y="288925"/>
            <a:ext cx="8229600" cy="455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>
              <a:defRPr/>
            </a:pPr>
            <a:r>
              <a:rPr lang="ru-RU" sz="3600" kern="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Поразрядная </a:t>
            </a:r>
            <a:r>
              <a:rPr lang="en-US" sz="3600" i="1" kern="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MSD - </a:t>
            </a:r>
            <a:r>
              <a:rPr lang="ru-RU" sz="3600" kern="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сортировка</a:t>
            </a:r>
          </a:p>
        </p:txBody>
      </p:sp>
      <p:sp>
        <p:nvSpPr>
          <p:cNvPr id="5" name="Прямоугольник 4"/>
          <p:cNvSpPr/>
          <p:nvPr/>
        </p:nvSpPr>
        <p:spPr bwMode="auto">
          <a:xfrm>
            <a:off x="592138" y="1201738"/>
            <a:ext cx="839787" cy="693737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 eaLnBrk="1" hangingPunct="1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None/>
              <a:defRPr/>
            </a:pPr>
            <a:r>
              <a:rPr lang="en-US" i="1" dirty="0">
                <a:solidFill>
                  <a:schemeClr val="bg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</a:t>
            </a:r>
            <a:endParaRPr lang="ru-RU" i="1" dirty="0">
              <a:solidFill>
                <a:schemeClr val="bg2">
                  <a:lumMod val="60000"/>
                  <a:lumOff val="4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aphicFrame>
        <p:nvGraphicFramePr>
          <p:cNvPr id="6" name="Таблица 5"/>
          <p:cNvGraphicFramePr>
            <a:graphicFrameLocks noGrp="1"/>
          </p:cNvGraphicFramePr>
          <p:nvPr/>
        </p:nvGraphicFramePr>
        <p:xfrm>
          <a:off x="1687513" y="1092200"/>
          <a:ext cx="6789737" cy="88900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67897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897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7897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7897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7897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7897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7897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78974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78974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78974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bg2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bg2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bg2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bg2"/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bg2"/>
                          </a:solidFill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bg2"/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bg2"/>
                          </a:solidFill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bg2"/>
                          </a:solidFill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bg2"/>
                          </a:solidFill>
                        </a:rP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bg2"/>
                          </a:solidFill>
                        </a:rPr>
                        <a:t>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2800" b="1" dirty="0">
                          <a:solidFill>
                            <a:schemeClr val="bg2">
                              <a:lumMod val="60000"/>
                              <a:lumOff val="40000"/>
                            </a:schemeClr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b="1" dirty="0">
                          <a:solidFill>
                            <a:schemeClr val="bg2">
                              <a:lumMod val="60000"/>
                              <a:lumOff val="40000"/>
                            </a:schemeClr>
                          </a:solidFill>
                        </a:rPr>
                        <a:t>1</a:t>
                      </a:r>
                      <a:endParaRPr lang="ru-RU" sz="2800" b="1" dirty="0">
                        <a:solidFill>
                          <a:schemeClr val="bg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b="1" dirty="0">
                          <a:solidFill>
                            <a:schemeClr val="bg2">
                              <a:lumMod val="60000"/>
                              <a:lumOff val="40000"/>
                            </a:schemeClr>
                          </a:solidFill>
                        </a:rPr>
                        <a:t>4</a:t>
                      </a:r>
                      <a:endParaRPr lang="ru-RU" sz="2800" b="1" dirty="0">
                        <a:solidFill>
                          <a:schemeClr val="bg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b="1" dirty="0">
                          <a:solidFill>
                            <a:schemeClr val="bg2">
                              <a:lumMod val="60000"/>
                              <a:lumOff val="40000"/>
                            </a:schemeClr>
                          </a:solidFill>
                        </a:rPr>
                        <a:t>5</a:t>
                      </a:r>
                      <a:endParaRPr lang="ru-RU" sz="2800" b="1" dirty="0">
                        <a:solidFill>
                          <a:schemeClr val="bg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b="1" dirty="0">
                          <a:solidFill>
                            <a:schemeClr val="bg2">
                              <a:lumMod val="60000"/>
                              <a:lumOff val="40000"/>
                            </a:schemeClr>
                          </a:solidFill>
                        </a:rPr>
                        <a:t>8</a:t>
                      </a:r>
                      <a:endParaRPr lang="ru-RU" sz="2800" b="1" dirty="0">
                        <a:solidFill>
                          <a:schemeClr val="bg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b="1" dirty="0">
                          <a:solidFill>
                            <a:schemeClr val="bg2">
                              <a:lumMod val="60000"/>
                              <a:lumOff val="40000"/>
                            </a:schemeClr>
                          </a:solidFill>
                        </a:rPr>
                        <a:t>10</a:t>
                      </a:r>
                      <a:endParaRPr lang="ru-RU" sz="2800" b="1" dirty="0">
                        <a:solidFill>
                          <a:schemeClr val="bg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b="1" dirty="0">
                          <a:solidFill>
                            <a:schemeClr val="bg2">
                              <a:lumMod val="60000"/>
                              <a:lumOff val="40000"/>
                            </a:schemeClr>
                          </a:solidFill>
                        </a:rPr>
                        <a:t>12</a:t>
                      </a:r>
                      <a:endParaRPr lang="ru-RU" sz="2800" b="1" dirty="0">
                        <a:solidFill>
                          <a:schemeClr val="bg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b="1" dirty="0">
                          <a:solidFill>
                            <a:schemeClr val="bg2">
                              <a:lumMod val="60000"/>
                              <a:lumOff val="40000"/>
                            </a:schemeClr>
                          </a:solidFill>
                        </a:rPr>
                        <a:t>15</a:t>
                      </a:r>
                      <a:endParaRPr lang="ru-RU" sz="2800" b="1" dirty="0">
                        <a:solidFill>
                          <a:schemeClr val="bg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b="1" dirty="0">
                          <a:solidFill>
                            <a:schemeClr val="bg2">
                              <a:lumMod val="60000"/>
                              <a:lumOff val="40000"/>
                            </a:schemeClr>
                          </a:solidFill>
                        </a:rPr>
                        <a:t>16</a:t>
                      </a:r>
                      <a:endParaRPr lang="ru-RU" sz="2800" b="1" dirty="0">
                        <a:solidFill>
                          <a:schemeClr val="bg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b="1" dirty="0">
                          <a:solidFill>
                            <a:schemeClr val="bg2">
                              <a:lumMod val="60000"/>
                              <a:lumOff val="40000"/>
                            </a:schemeClr>
                          </a:solidFill>
                        </a:rPr>
                        <a:t>18</a:t>
                      </a:r>
                      <a:endParaRPr lang="ru-RU" sz="2800" b="1" dirty="0">
                        <a:solidFill>
                          <a:schemeClr val="bg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1815" name="Прямоугольник 7"/>
          <p:cNvSpPr>
            <a:spLocks noChangeArrowheads="1"/>
          </p:cNvSpPr>
          <p:nvPr/>
        </p:nvSpPr>
        <p:spPr bwMode="auto">
          <a:xfrm>
            <a:off x="0" y="5386388"/>
            <a:ext cx="8734425" cy="954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buFont typeface="Wingdings" panose="05000000000000000000" pitchFamily="2" charset="2"/>
              <a:buNone/>
            </a:pPr>
            <a:r>
              <a:rPr lang="ru-RU" altLang="ru-RU" sz="2800">
                <a:solidFill>
                  <a:schemeClr val="bg2"/>
                </a:solidFill>
              </a:rPr>
              <a:t>4464 5705 8145 3281 6827 9961 2995 1942 4827 5436 2391 4604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Содержимое 6"/>
          <p:cNvGraphicFramePr>
            <a:graphicFrameLocks noGrp="1"/>
          </p:cNvGraphicFramePr>
          <p:nvPr>
            <p:ph idx="1"/>
          </p:nvPr>
        </p:nvGraphicFramePr>
        <p:xfrm>
          <a:off x="409575" y="2662238"/>
          <a:ext cx="8229600" cy="2263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65944">
                <a:tc>
                  <a:txBody>
                    <a:bodyPr/>
                    <a:lstStyle/>
                    <a:p>
                      <a:endParaRPr lang="ru-RU" sz="2800" b="1" dirty="0">
                        <a:solidFill>
                          <a:schemeClr val="bg2"/>
                        </a:solidFill>
                      </a:endParaRPr>
                    </a:p>
                  </a:txBody>
                  <a:tcPr marT="45719" marB="45719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2800" b="1" dirty="0">
                          <a:solidFill>
                            <a:schemeClr val="bg2"/>
                          </a:solidFill>
                        </a:rPr>
                        <a:t>1478</a:t>
                      </a:r>
                    </a:p>
                  </a:txBody>
                  <a:tcPr marT="45719" marB="45719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2800" b="1" dirty="0">
                        <a:solidFill>
                          <a:schemeClr val="bg2"/>
                        </a:solidFill>
                      </a:endParaRPr>
                    </a:p>
                  </a:txBody>
                  <a:tcPr marT="45719" marB="45719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2800" b="1" dirty="0">
                        <a:solidFill>
                          <a:schemeClr val="bg2"/>
                        </a:solidFill>
                      </a:endParaRPr>
                    </a:p>
                  </a:txBody>
                  <a:tcPr marT="45719" marB="45719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2800" b="1" dirty="0">
                        <a:solidFill>
                          <a:schemeClr val="bg2"/>
                        </a:solidFill>
                      </a:endParaRPr>
                    </a:p>
                  </a:txBody>
                  <a:tcPr marT="45719" marB="45719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5944">
                <a:tc>
                  <a:txBody>
                    <a:bodyPr/>
                    <a:lstStyle/>
                    <a:p>
                      <a:endParaRPr lang="ru-RU" sz="2800" b="1">
                        <a:solidFill>
                          <a:schemeClr val="bg2"/>
                        </a:solidFill>
                      </a:endParaRPr>
                    </a:p>
                  </a:txBody>
                  <a:tcPr marT="45719" marB="45719"/>
                </a:tc>
                <a:tc>
                  <a:txBody>
                    <a:bodyPr/>
                    <a:lstStyle/>
                    <a:p>
                      <a:endParaRPr lang="ru-RU" sz="2800" b="1">
                        <a:solidFill>
                          <a:schemeClr val="bg2"/>
                        </a:solidFill>
                      </a:endParaRPr>
                    </a:p>
                  </a:txBody>
                  <a:tcPr marT="45719" marB="45719"/>
                </a:tc>
                <a:tc>
                  <a:txBody>
                    <a:bodyPr/>
                    <a:lstStyle/>
                    <a:p>
                      <a:r>
                        <a:rPr lang="ru-RU" sz="2800" b="1" dirty="0">
                          <a:solidFill>
                            <a:schemeClr val="bg2"/>
                          </a:solidFill>
                        </a:rPr>
                        <a:t>4464</a:t>
                      </a:r>
                    </a:p>
                  </a:txBody>
                  <a:tcPr marT="45719" marB="45719"/>
                </a:tc>
                <a:tc>
                  <a:txBody>
                    <a:bodyPr/>
                    <a:lstStyle/>
                    <a:p>
                      <a:endParaRPr lang="ru-RU" sz="2800" b="1" dirty="0">
                        <a:solidFill>
                          <a:schemeClr val="bg2"/>
                        </a:solidFill>
                      </a:endParaRPr>
                    </a:p>
                  </a:txBody>
                  <a:tcPr marT="45719" marB="45719"/>
                </a:tc>
                <a:tc>
                  <a:txBody>
                    <a:bodyPr/>
                    <a:lstStyle/>
                    <a:p>
                      <a:r>
                        <a:rPr lang="ru-RU" sz="2800" b="1" dirty="0">
                          <a:solidFill>
                            <a:schemeClr val="bg2"/>
                          </a:solidFill>
                        </a:rPr>
                        <a:t>5705</a:t>
                      </a:r>
                    </a:p>
                  </a:txBody>
                  <a:tcPr marT="45719" marB="45719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5944">
                <a:tc>
                  <a:txBody>
                    <a:bodyPr/>
                    <a:lstStyle/>
                    <a:p>
                      <a:r>
                        <a:rPr lang="ru-RU" sz="2800" b="1" dirty="0">
                          <a:solidFill>
                            <a:schemeClr val="bg2"/>
                          </a:solidFill>
                        </a:rPr>
                        <a:t>5724</a:t>
                      </a:r>
                    </a:p>
                  </a:txBody>
                  <a:tcPr marT="45719" marB="45719"/>
                </a:tc>
                <a:tc>
                  <a:txBody>
                    <a:bodyPr/>
                    <a:lstStyle/>
                    <a:p>
                      <a:endParaRPr lang="ru-RU" sz="2800" b="1">
                        <a:solidFill>
                          <a:schemeClr val="bg2"/>
                        </a:solidFill>
                      </a:endParaRPr>
                    </a:p>
                  </a:txBody>
                  <a:tcPr marT="45719" marB="45719"/>
                </a:tc>
                <a:tc>
                  <a:txBody>
                    <a:bodyPr/>
                    <a:lstStyle/>
                    <a:p>
                      <a:r>
                        <a:rPr lang="ru-RU" sz="2800" b="1" dirty="0">
                          <a:solidFill>
                            <a:schemeClr val="bg2"/>
                          </a:solidFill>
                        </a:rPr>
                        <a:t>6962</a:t>
                      </a:r>
                    </a:p>
                  </a:txBody>
                  <a:tcPr marT="45719" marB="45719"/>
                </a:tc>
                <a:tc>
                  <a:txBody>
                    <a:bodyPr/>
                    <a:lstStyle/>
                    <a:p>
                      <a:r>
                        <a:rPr lang="ru-RU" sz="2800" b="1" dirty="0">
                          <a:solidFill>
                            <a:schemeClr val="bg2"/>
                          </a:solidFill>
                        </a:rPr>
                        <a:t>6500</a:t>
                      </a:r>
                    </a:p>
                  </a:txBody>
                  <a:tcPr marT="45719" marB="45719"/>
                </a:tc>
                <a:tc>
                  <a:txBody>
                    <a:bodyPr/>
                    <a:lstStyle/>
                    <a:p>
                      <a:r>
                        <a:rPr lang="ru-RU" sz="2800" b="1" dirty="0">
                          <a:solidFill>
                            <a:schemeClr val="bg2"/>
                          </a:solidFill>
                        </a:rPr>
                        <a:t>6334</a:t>
                      </a:r>
                    </a:p>
                  </a:txBody>
                  <a:tcPr marT="45719" marB="45719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5944">
                <a:tc>
                  <a:txBody>
                    <a:bodyPr/>
                    <a:lstStyle/>
                    <a:p>
                      <a:endParaRPr lang="ru-RU" sz="2800" b="1" dirty="0">
                        <a:solidFill>
                          <a:schemeClr val="bg2"/>
                        </a:solidFill>
                      </a:endParaRPr>
                    </a:p>
                  </a:txBody>
                  <a:tcPr marT="45719" marB="45719"/>
                </a:tc>
                <a:tc>
                  <a:txBody>
                    <a:bodyPr/>
                    <a:lstStyle/>
                    <a:p>
                      <a:r>
                        <a:rPr lang="ru-RU" sz="2800" b="1" dirty="0">
                          <a:solidFill>
                            <a:schemeClr val="bg2"/>
                          </a:solidFill>
                        </a:rPr>
                        <a:t>8467</a:t>
                      </a:r>
                    </a:p>
                  </a:txBody>
                  <a:tcPr marT="45719" marB="45719"/>
                </a:tc>
                <a:tc>
                  <a:txBody>
                    <a:bodyPr/>
                    <a:lstStyle/>
                    <a:p>
                      <a:endParaRPr lang="ru-RU" sz="2800" b="1" dirty="0">
                        <a:solidFill>
                          <a:schemeClr val="bg2"/>
                        </a:solidFill>
                      </a:endParaRPr>
                    </a:p>
                  </a:txBody>
                  <a:tcPr marT="45719" marB="45719"/>
                </a:tc>
                <a:tc>
                  <a:txBody>
                    <a:bodyPr/>
                    <a:lstStyle/>
                    <a:p>
                      <a:r>
                        <a:rPr lang="ru-RU" sz="2800" b="1" dirty="0">
                          <a:solidFill>
                            <a:schemeClr val="bg2"/>
                          </a:solidFill>
                        </a:rPr>
                        <a:t>9358</a:t>
                      </a:r>
                    </a:p>
                  </a:txBody>
                  <a:tcPr marT="45719" marB="45719"/>
                </a:tc>
                <a:tc>
                  <a:txBody>
                    <a:bodyPr/>
                    <a:lstStyle/>
                    <a:p>
                      <a:r>
                        <a:rPr lang="ru-RU" sz="2800" b="1" dirty="0">
                          <a:solidFill>
                            <a:schemeClr val="bg2"/>
                          </a:solidFill>
                        </a:rPr>
                        <a:t>9169</a:t>
                      </a:r>
                    </a:p>
                  </a:txBody>
                  <a:tcPr marT="45719" marB="45719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Заголовок 1"/>
          <p:cNvSpPr txBox="1">
            <a:spLocks/>
          </p:cNvSpPr>
          <p:nvPr/>
        </p:nvSpPr>
        <p:spPr bwMode="auto">
          <a:xfrm>
            <a:off x="519113" y="288925"/>
            <a:ext cx="8229600" cy="455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>
              <a:defRPr/>
            </a:pPr>
            <a:r>
              <a:rPr lang="ru-RU" sz="3600" kern="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Поразрядная </a:t>
            </a:r>
            <a:r>
              <a:rPr lang="en-US" sz="3600" i="1" kern="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MSD - </a:t>
            </a:r>
            <a:r>
              <a:rPr lang="ru-RU" sz="3600" kern="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сортировка</a:t>
            </a:r>
          </a:p>
        </p:txBody>
      </p:sp>
      <p:sp>
        <p:nvSpPr>
          <p:cNvPr id="5" name="Прямоугольник 4"/>
          <p:cNvSpPr/>
          <p:nvPr/>
        </p:nvSpPr>
        <p:spPr bwMode="auto">
          <a:xfrm>
            <a:off x="592138" y="1201738"/>
            <a:ext cx="839787" cy="693737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 eaLnBrk="1" hangingPunct="1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None/>
              <a:defRPr/>
            </a:pPr>
            <a:r>
              <a:rPr lang="en-US" i="1" dirty="0">
                <a:solidFill>
                  <a:schemeClr val="bg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</a:t>
            </a:r>
            <a:endParaRPr lang="ru-RU" i="1" dirty="0">
              <a:solidFill>
                <a:schemeClr val="bg2">
                  <a:lumMod val="60000"/>
                  <a:lumOff val="4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aphicFrame>
        <p:nvGraphicFramePr>
          <p:cNvPr id="6" name="Таблица 5"/>
          <p:cNvGraphicFramePr>
            <a:graphicFrameLocks noGrp="1"/>
          </p:cNvGraphicFramePr>
          <p:nvPr/>
        </p:nvGraphicFramePr>
        <p:xfrm>
          <a:off x="1687513" y="1092200"/>
          <a:ext cx="6789737" cy="88900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67897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897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7897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7897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7897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7897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7897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78974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78974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78974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bg2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bg2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bg2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bg2"/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bg2"/>
                          </a:solidFill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bg2"/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bg2"/>
                          </a:solidFill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bg2"/>
                          </a:solidFill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bg2"/>
                          </a:solidFill>
                        </a:rP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bg2"/>
                          </a:solidFill>
                        </a:rPr>
                        <a:t>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2800" b="1" dirty="0">
                          <a:solidFill>
                            <a:schemeClr val="bg2">
                              <a:lumMod val="60000"/>
                              <a:lumOff val="40000"/>
                            </a:schemeClr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b="1" dirty="0">
                          <a:solidFill>
                            <a:schemeClr val="bg2">
                              <a:lumMod val="60000"/>
                              <a:lumOff val="40000"/>
                            </a:schemeClr>
                          </a:solidFill>
                        </a:rPr>
                        <a:t>1</a:t>
                      </a:r>
                      <a:endParaRPr lang="ru-RU" sz="2800" b="1" dirty="0">
                        <a:solidFill>
                          <a:schemeClr val="bg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b="1" dirty="0">
                          <a:solidFill>
                            <a:schemeClr val="bg2">
                              <a:lumMod val="60000"/>
                              <a:lumOff val="40000"/>
                            </a:schemeClr>
                          </a:solidFill>
                        </a:rPr>
                        <a:t>4</a:t>
                      </a:r>
                      <a:endParaRPr lang="ru-RU" sz="2800" b="1" dirty="0">
                        <a:solidFill>
                          <a:schemeClr val="bg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b="1" dirty="0">
                          <a:solidFill>
                            <a:schemeClr val="bg2">
                              <a:lumMod val="60000"/>
                              <a:lumOff val="40000"/>
                            </a:schemeClr>
                          </a:solidFill>
                        </a:rPr>
                        <a:t>5</a:t>
                      </a:r>
                      <a:endParaRPr lang="ru-RU" sz="2800" b="1" dirty="0">
                        <a:solidFill>
                          <a:schemeClr val="bg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b="1" dirty="0">
                          <a:solidFill>
                            <a:schemeClr val="bg2">
                              <a:lumMod val="60000"/>
                              <a:lumOff val="40000"/>
                            </a:schemeClr>
                          </a:solidFill>
                        </a:rPr>
                        <a:t>7</a:t>
                      </a:r>
                      <a:endParaRPr lang="ru-RU" sz="2800" b="1" dirty="0">
                        <a:solidFill>
                          <a:schemeClr val="bg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b="1" dirty="0">
                          <a:solidFill>
                            <a:schemeClr val="bg2">
                              <a:lumMod val="60000"/>
                              <a:lumOff val="40000"/>
                            </a:schemeClr>
                          </a:solidFill>
                        </a:rPr>
                        <a:t>10</a:t>
                      </a:r>
                      <a:endParaRPr lang="ru-RU" sz="2800" b="1" dirty="0">
                        <a:solidFill>
                          <a:schemeClr val="bg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b="1" dirty="0">
                          <a:solidFill>
                            <a:schemeClr val="bg2">
                              <a:lumMod val="60000"/>
                              <a:lumOff val="40000"/>
                            </a:schemeClr>
                          </a:solidFill>
                        </a:rPr>
                        <a:t>12</a:t>
                      </a:r>
                      <a:endParaRPr lang="ru-RU" sz="2800" b="1" dirty="0">
                        <a:solidFill>
                          <a:schemeClr val="bg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b="1" dirty="0">
                          <a:solidFill>
                            <a:schemeClr val="bg2">
                              <a:lumMod val="60000"/>
                              <a:lumOff val="40000"/>
                            </a:schemeClr>
                          </a:solidFill>
                        </a:rPr>
                        <a:t>15</a:t>
                      </a:r>
                      <a:endParaRPr lang="ru-RU" sz="2800" b="1" dirty="0">
                        <a:solidFill>
                          <a:schemeClr val="bg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b="1" dirty="0">
                          <a:solidFill>
                            <a:schemeClr val="bg2">
                              <a:lumMod val="60000"/>
                              <a:lumOff val="40000"/>
                            </a:schemeClr>
                          </a:solidFill>
                        </a:rPr>
                        <a:t>16</a:t>
                      </a:r>
                      <a:endParaRPr lang="ru-RU" sz="2800" b="1" dirty="0">
                        <a:solidFill>
                          <a:schemeClr val="bg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b="1" dirty="0">
                          <a:solidFill>
                            <a:schemeClr val="bg2">
                              <a:lumMod val="60000"/>
                              <a:lumOff val="40000"/>
                            </a:schemeClr>
                          </a:solidFill>
                        </a:rPr>
                        <a:t>18</a:t>
                      </a:r>
                      <a:endParaRPr lang="ru-RU" sz="2800" b="1" dirty="0">
                        <a:solidFill>
                          <a:schemeClr val="bg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2839" name="Прямоугольник 7"/>
          <p:cNvSpPr>
            <a:spLocks noChangeArrowheads="1"/>
          </p:cNvSpPr>
          <p:nvPr/>
        </p:nvSpPr>
        <p:spPr bwMode="auto">
          <a:xfrm>
            <a:off x="0" y="5386388"/>
            <a:ext cx="8734425" cy="954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buFont typeface="Wingdings" panose="05000000000000000000" pitchFamily="2" charset="2"/>
              <a:buNone/>
            </a:pPr>
            <a:r>
              <a:rPr lang="ru-RU" altLang="ru-RU" sz="2800">
                <a:solidFill>
                  <a:schemeClr val="bg2"/>
                </a:solidFill>
              </a:rPr>
              <a:t>5705 8145 3281 6827 9961 2995 1942 4827 5436 2391 4604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Содержимое 6"/>
          <p:cNvGraphicFramePr>
            <a:graphicFrameLocks noGrp="1"/>
          </p:cNvGraphicFramePr>
          <p:nvPr>
            <p:ph idx="1"/>
          </p:nvPr>
        </p:nvGraphicFramePr>
        <p:xfrm>
          <a:off x="409575" y="2662238"/>
          <a:ext cx="8229600" cy="2263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65944">
                <a:tc>
                  <a:txBody>
                    <a:bodyPr/>
                    <a:lstStyle/>
                    <a:p>
                      <a:endParaRPr lang="ru-RU" sz="2800" b="1" dirty="0">
                        <a:solidFill>
                          <a:schemeClr val="bg2"/>
                        </a:solidFill>
                      </a:endParaRPr>
                    </a:p>
                  </a:txBody>
                  <a:tcPr marT="45719" marB="45719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2800" b="1" dirty="0">
                          <a:solidFill>
                            <a:schemeClr val="bg2"/>
                          </a:solidFill>
                        </a:rPr>
                        <a:t>1478</a:t>
                      </a:r>
                    </a:p>
                  </a:txBody>
                  <a:tcPr marT="45719" marB="45719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2800" b="1" dirty="0">
                        <a:solidFill>
                          <a:schemeClr val="bg2"/>
                        </a:solidFill>
                      </a:endParaRPr>
                    </a:p>
                  </a:txBody>
                  <a:tcPr marT="45719" marB="45719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2800" b="1" dirty="0">
                        <a:solidFill>
                          <a:schemeClr val="bg2"/>
                        </a:solidFill>
                      </a:endParaRPr>
                    </a:p>
                  </a:txBody>
                  <a:tcPr marT="45719" marB="45719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2800" b="1" dirty="0">
                        <a:solidFill>
                          <a:schemeClr val="bg2"/>
                        </a:solidFill>
                      </a:endParaRPr>
                    </a:p>
                  </a:txBody>
                  <a:tcPr marT="45719" marB="45719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5944">
                <a:tc>
                  <a:txBody>
                    <a:bodyPr/>
                    <a:lstStyle/>
                    <a:p>
                      <a:endParaRPr lang="ru-RU" sz="2800" b="1">
                        <a:solidFill>
                          <a:schemeClr val="bg2"/>
                        </a:solidFill>
                      </a:endParaRPr>
                    </a:p>
                  </a:txBody>
                  <a:tcPr marT="45719" marB="45719"/>
                </a:tc>
                <a:tc>
                  <a:txBody>
                    <a:bodyPr/>
                    <a:lstStyle/>
                    <a:p>
                      <a:endParaRPr lang="ru-RU" sz="2800" b="1">
                        <a:solidFill>
                          <a:schemeClr val="bg2"/>
                        </a:solidFill>
                      </a:endParaRPr>
                    </a:p>
                  </a:txBody>
                  <a:tcPr marT="45719" marB="45719"/>
                </a:tc>
                <a:tc>
                  <a:txBody>
                    <a:bodyPr/>
                    <a:lstStyle/>
                    <a:p>
                      <a:r>
                        <a:rPr lang="ru-RU" sz="2800" b="1" dirty="0">
                          <a:solidFill>
                            <a:schemeClr val="bg2"/>
                          </a:solidFill>
                        </a:rPr>
                        <a:t>4464</a:t>
                      </a:r>
                    </a:p>
                  </a:txBody>
                  <a:tcPr marT="45719" marB="45719"/>
                </a:tc>
                <a:tc>
                  <a:txBody>
                    <a:bodyPr/>
                    <a:lstStyle/>
                    <a:p>
                      <a:endParaRPr lang="ru-RU" sz="2800" b="1" dirty="0">
                        <a:solidFill>
                          <a:schemeClr val="bg2"/>
                        </a:solidFill>
                      </a:endParaRPr>
                    </a:p>
                  </a:txBody>
                  <a:tcPr marT="45719" marB="45719"/>
                </a:tc>
                <a:tc>
                  <a:txBody>
                    <a:bodyPr/>
                    <a:lstStyle/>
                    <a:p>
                      <a:r>
                        <a:rPr lang="ru-RU" sz="2800" b="1" dirty="0">
                          <a:solidFill>
                            <a:schemeClr val="bg2"/>
                          </a:solidFill>
                        </a:rPr>
                        <a:t>5705</a:t>
                      </a:r>
                    </a:p>
                  </a:txBody>
                  <a:tcPr marT="45719" marB="45719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5944">
                <a:tc>
                  <a:txBody>
                    <a:bodyPr/>
                    <a:lstStyle/>
                    <a:p>
                      <a:r>
                        <a:rPr lang="ru-RU" sz="2800" b="1" dirty="0">
                          <a:solidFill>
                            <a:schemeClr val="bg2"/>
                          </a:solidFill>
                        </a:rPr>
                        <a:t>5724</a:t>
                      </a:r>
                    </a:p>
                  </a:txBody>
                  <a:tcPr marT="45719" marB="45719"/>
                </a:tc>
                <a:tc>
                  <a:txBody>
                    <a:bodyPr/>
                    <a:lstStyle/>
                    <a:p>
                      <a:endParaRPr lang="ru-RU" sz="2800" b="1">
                        <a:solidFill>
                          <a:schemeClr val="bg2"/>
                        </a:solidFill>
                      </a:endParaRPr>
                    </a:p>
                  </a:txBody>
                  <a:tcPr marT="45719" marB="45719"/>
                </a:tc>
                <a:tc>
                  <a:txBody>
                    <a:bodyPr/>
                    <a:lstStyle/>
                    <a:p>
                      <a:r>
                        <a:rPr lang="ru-RU" sz="2800" b="1" dirty="0">
                          <a:solidFill>
                            <a:schemeClr val="bg2"/>
                          </a:solidFill>
                        </a:rPr>
                        <a:t>6962</a:t>
                      </a:r>
                    </a:p>
                  </a:txBody>
                  <a:tcPr marT="45719" marB="45719"/>
                </a:tc>
                <a:tc>
                  <a:txBody>
                    <a:bodyPr/>
                    <a:lstStyle/>
                    <a:p>
                      <a:r>
                        <a:rPr lang="ru-RU" sz="2800" b="1" dirty="0">
                          <a:solidFill>
                            <a:schemeClr val="bg2"/>
                          </a:solidFill>
                        </a:rPr>
                        <a:t>6500</a:t>
                      </a:r>
                    </a:p>
                  </a:txBody>
                  <a:tcPr marT="45719" marB="45719"/>
                </a:tc>
                <a:tc>
                  <a:txBody>
                    <a:bodyPr/>
                    <a:lstStyle/>
                    <a:p>
                      <a:r>
                        <a:rPr lang="ru-RU" sz="2800" b="1" dirty="0">
                          <a:solidFill>
                            <a:schemeClr val="bg2"/>
                          </a:solidFill>
                        </a:rPr>
                        <a:t>6334</a:t>
                      </a:r>
                    </a:p>
                  </a:txBody>
                  <a:tcPr marT="45719" marB="45719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5944">
                <a:tc>
                  <a:txBody>
                    <a:bodyPr/>
                    <a:lstStyle/>
                    <a:p>
                      <a:r>
                        <a:rPr lang="ru-RU" sz="2800" b="1" dirty="0">
                          <a:solidFill>
                            <a:schemeClr val="bg2"/>
                          </a:solidFill>
                        </a:rPr>
                        <a:t>8145</a:t>
                      </a:r>
                    </a:p>
                  </a:txBody>
                  <a:tcPr marT="45719" marB="45719"/>
                </a:tc>
                <a:tc>
                  <a:txBody>
                    <a:bodyPr/>
                    <a:lstStyle/>
                    <a:p>
                      <a:r>
                        <a:rPr lang="ru-RU" sz="2800" b="1" dirty="0">
                          <a:solidFill>
                            <a:schemeClr val="bg2"/>
                          </a:solidFill>
                        </a:rPr>
                        <a:t>8467</a:t>
                      </a:r>
                    </a:p>
                  </a:txBody>
                  <a:tcPr marT="45719" marB="45719"/>
                </a:tc>
                <a:tc>
                  <a:txBody>
                    <a:bodyPr/>
                    <a:lstStyle/>
                    <a:p>
                      <a:endParaRPr lang="ru-RU" sz="2800" b="1" dirty="0">
                        <a:solidFill>
                          <a:schemeClr val="bg2"/>
                        </a:solidFill>
                      </a:endParaRPr>
                    </a:p>
                  </a:txBody>
                  <a:tcPr marT="45719" marB="45719"/>
                </a:tc>
                <a:tc>
                  <a:txBody>
                    <a:bodyPr/>
                    <a:lstStyle/>
                    <a:p>
                      <a:r>
                        <a:rPr lang="ru-RU" sz="2800" b="1" dirty="0">
                          <a:solidFill>
                            <a:schemeClr val="bg2"/>
                          </a:solidFill>
                        </a:rPr>
                        <a:t>9358</a:t>
                      </a:r>
                    </a:p>
                  </a:txBody>
                  <a:tcPr marT="45719" marB="45719"/>
                </a:tc>
                <a:tc>
                  <a:txBody>
                    <a:bodyPr/>
                    <a:lstStyle/>
                    <a:p>
                      <a:r>
                        <a:rPr lang="ru-RU" sz="2800" b="1" dirty="0">
                          <a:solidFill>
                            <a:schemeClr val="bg2"/>
                          </a:solidFill>
                        </a:rPr>
                        <a:t>9169</a:t>
                      </a:r>
                    </a:p>
                  </a:txBody>
                  <a:tcPr marT="45719" marB="45719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Заголовок 1"/>
          <p:cNvSpPr txBox="1">
            <a:spLocks/>
          </p:cNvSpPr>
          <p:nvPr/>
        </p:nvSpPr>
        <p:spPr bwMode="auto">
          <a:xfrm>
            <a:off x="519113" y="288925"/>
            <a:ext cx="8229600" cy="455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>
              <a:defRPr/>
            </a:pPr>
            <a:r>
              <a:rPr lang="ru-RU" sz="3600" kern="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Поразрядная </a:t>
            </a:r>
            <a:r>
              <a:rPr lang="en-US" sz="3600" i="1" kern="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MSD - </a:t>
            </a:r>
            <a:r>
              <a:rPr lang="ru-RU" sz="3600" kern="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сортировка</a:t>
            </a:r>
          </a:p>
        </p:txBody>
      </p:sp>
      <p:sp>
        <p:nvSpPr>
          <p:cNvPr id="5" name="Прямоугольник 4"/>
          <p:cNvSpPr/>
          <p:nvPr/>
        </p:nvSpPr>
        <p:spPr bwMode="auto">
          <a:xfrm>
            <a:off x="592138" y="1201738"/>
            <a:ext cx="839787" cy="693737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 eaLnBrk="1" hangingPunct="1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None/>
              <a:defRPr/>
            </a:pPr>
            <a:r>
              <a:rPr lang="en-US" i="1" dirty="0">
                <a:solidFill>
                  <a:schemeClr val="bg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</a:t>
            </a:r>
            <a:endParaRPr lang="ru-RU" i="1" dirty="0">
              <a:solidFill>
                <a:schemeClr val="bg2">
                  <a:lumMod val="60000"/>
                  <a:lumOff val="4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aphicFrame>
        <p:nvGraphicFramePr>
          <p:cNvPr id="6" name="Таблица 5"/>
          <p:cNvGraphicFramePr>
            <a:graphicFrameLocks noGrp="1"/>
          </p:cNvGraphicFramePr>
          <p:nvPr/>
        </p:nvGraphicFramePr>
        <p:xfrm>
          <a:off x="1687513" y="1092200"/>
          <a:ext cx="6789737" cy="88900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67897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897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7897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7897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7897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7897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7897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78974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78974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78974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bg2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bg2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bg2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bg2"/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bg2"/>
                          </a:solidFill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bg2"/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bg2"/>
                          </a:solidFill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bg2"/>
                          </a:solidFill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bg2"/>
                          </a:solidFill>
                        </a:rP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bg2"/>
                          </a:solidFill>
                        </a:rPr>
                        <a:t>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2800" b="1" dirty="0">
                          <a:solidFill>
                            <a:schemeClr val="bg2">
                              <a:lumMod val="60000"/>
                              <a:lumOff val="40000"/>
                            </a:schemeClr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b="1" dirty="0">
                          <a:solidFill>
                            <a:schemeClr val="bg2">
                              <a:lumMod val="60000"/>
                              <a:lumOff val="40000"/>
                            </a:schemeClr>
                          </a:solidFill>
                        </a:rPr>
                        <a:t>1</a:t>
                      </a:r>
                      <a:endParaRPr lang="ru-RU" sz="2800" b="1" dirty="0">
                        <a:solidFill>
                          <a:schemeClr val="bg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b="1" dirty="0">
                          <a:solidFill>
                            <a:schemeClr val="bg2">
                              <a:lumMod val="60000"/>
                              <a:lumOff val="40000"/>
                            </a:schemeClr>
                          </a:solidFill>
                        </a:rPr>
                        <a:t>4</a:t>
                      </a:r>
                      <a:endParaRPr lang="ru-RU" sz="2800" b="1" dirty="0">
                        <a:solidFill>
                          <a:schemeClr val="bg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b="1" dirty="0">
                          <a:solidFill>
                            <a:schemeClr val="bg2">
                              <a:lumMod val="60000"/>
                              <a:lumOff val="40000"/>
                            </a:schemeClr>
                          </a:solidFill>
                        </a:rPr>
                        <a:t>5</a:t>
                      </a:r>
                      <a:endParaRPr lang="ru-RU" sz="2800" b="1" dirty="0">
                        <a:solidFill>
                          <a:schemeClr val="bg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b="1" dirty="0">
                          <a:solidFill>
                            <a:schemeClr val="bg2">
                              <a:lumMod val="60000"/>
                              <a:lumOff val="40000"/>
                            </a:schemeClr>
                          </a:solidFill>
                        </a:rPr>
                        <a:t>7</a:t>
                      </a:r>
                      <a:endParaRPr lang="ru-RU" sz="2800" b="1" dirty="0">
                        <a:solidFill>
                          <a:schemeClr val="bg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b="1" dirty="0">
                          <a:solidFill>
                            <a:schemeClr val="bg2">
                              <a:lumMod val="60000"/>
                              <a:lumOff val="40000"/>
                            </a:schemeClr>
                          </a:solidFill>
                        </a:rPr>
                        <a:t>9</a:t>
                      </a:r>
                      <a:endParaRPr lang="ru-RU" sz="2800" b="1" dirty="0">
                        <a:solidFill>
                          <a:schemeClr val="bg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b="1" dirty="0">
                          <a:solidFill>
                            <a:schemeClr val="bg2">
                              <a:lumMod val="60000"/>
                              <a:lumOff val="40000"/>
                            </a:schemeClr>
                          </a:solidFill>
                        </a:rPr>
                        <a:t>12</a:t>
                      </a:r>
                      <a:endParaRPr lang="ru-RU" sz="2800" b="1" dirty="0">
                        <a:solidFill>
                          <a:schemeClr val="bg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b="1" dirty="0">
                          <a:solidFill>
                            <a:schemeClr val="bg2">
                              <a:lumMod val="60000"/>
                              <a:lumOff val="40000"/>
                            </a:schemeClr>
                          </a:solidFill>
                        </a:rPr>
                        <a:t>15</a:t>
                      </a:r>
                      <a:endParaRPr lang="ru-RU" sz="2800" b="1" dirty="0">
                        <a:solidFill>
                          <a:schemeClr val="bg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b="1" dirty="0">
                          <a:solidFill>
                            <a:schemeClr val="bg2">
                              <a:lumMod val="60000"/>
                              <a:lumOff val="40000"/>
                            </a:schemeClr>
                          </a:solidFill>
                        </a:rPr>
                        <a:t>16</a:t>
                      </a:r>
                      <a:endParaRPr lang="ru-RU" sz="2800" b="1" dirty="0">
                        <a:solidFill>
                          <a:schemeClr val="bg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b="1" dirty="0">
                          <a:solidFill>
                            <a:schemeClr val="bg2">
                              <a:lumMod val="60000"/>
                              <a:lumOff val="40000"/>
                            </a:schemeClr>
                          </a:solidFill>
                        </a:rPr>
                        <a:t>18</a:t>
                      </a:r>
                      <a:endParaRPr lang="ru-RU" sz="2800" b="1" dirty="0">
                        <a:solidFill>
                          <a:schemeClr val="bg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3863" name="Прямоугольник 7"/>
          <p:cNvSpPr>
            <a:spLocks noChangeArrowheads="1"/>
          </p:cNvSpPr>
          <p:nvPr/>
        </p:nvSpPr>
        <p:spPr bwMode="auto">
          <a:xfrm>
            <a:off x="0" y="5386388"/>
            <a:ext cx="8734425" cy="954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buFont typeface="Wingdings" panose="05000000000000000000" pitchFamily="2" charset="2"/>
              <a:buNone/>
            </a:pPr>
            <a:r>
              <a:rPr lang="ru-RU" altLang="ru-RU" sz="2800">
                <a:solidFill>
                  <a:schemeClr val="bg2"/>
                </a:solidFill>
              </a:rPr>
              <a:t>8145 3281 6827 9961 2995 1942 4827 5436 2391 4604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Содержимое 6"/>
          <p:cNvGraphicFramePr>
            <a:graphicFrameLocks noGrp="1"/>
          </p:cNvGraphicFramePr>
          <p:nvPr>
            <p:ph idx="1"/>
          </p:nvPr>
        </p:nvGraphicFramePr>
        <p:xfrm>
          <a:off x="409575" y="2662238"/>
          <a:ext cx="8229600" cy="2263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65944">
                <a:tc>
                  <a:txBody>
                    <a:bodyPr/>
                    <a:lstStyle/>
                    <a:p>
                      <a:endParaRPr lang="ru-RU" sz="2800" b="1" dirty="0">
                        <a:solidFill>
                          <a:schemeClr val="bg2"/>
                        </a:solidFill>
                      </a:endParaRPr>
                    </a:p>
                  </a:txBody>
                  <a:tcPr marT="45719" marB="45719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2800" b="1" dirty="0">
                          <a:solidFill>
                            <a:schemeClr val="bg2"/>
                          </a:solidFill>
                        </a:rPr>
                        <a:t>1478</a:t>
                      </a:r>
                    </a:p>
                  </a:txBody>
                  <a:tcPr marT="45719" marB="45719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2800" b="1" dirty="0">
                        <a:solidFill>
                          <a:schemeClr val="bg2"/>
                        </a:solidFill>
                      </a:endParaRPr>
                    </a:p>
                  </a:txBody>
                  <a:tcPr marT="45719" marB="45719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2800" b="1" dirty="0">
                        <a:solidFill>
                          <a:schemeClr val="bg2"/>
                        </a:solidFill>
                      </a:endParaRPr>
                    </a:p>
                  </a:txBody>
                  <a:tcPr marT="45719" marB="45719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2800" b="1" dirty="0">
                          <a:solidFill>
                            <a:schemeClr val="bg2"/>
                          </a:solidFill>
                        </a:rPr>
                        <a:t>3281 </a:t>
                      </a:r>
                    </a:p>
                  </a:txBody>
                  <a:tcPr marT="45719" marB="45719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5944">
                <a:tc>
                  <a:txBody>
                    <a:bodyPr/>
                    <a:lstStyle/>
                    <a:p>
                      <a:endParaRPr lang="ru-RU" sz="2800" b="1">
                        <a:solidFill>
                          <a:schemeClr val="bg2"/>
                        </a:solidFill>
                      </a:endParaRPr>
                    </a:p>
                  </a:txBody>
                  <a:tcPr marT="45719" marB="45719"/>
                </a:tc>
                <a:tc>
                  <a:txBody>
                    <a:bodyPr/>
                    <a:lstStyle/>
                    <a:p>
                      <a:endParaRPr lang="ru-RU" sz="2800" b="1">
                        <a:solidFill>
                          <a:schemeClr val="bg2"/>
                        </a:solidFill>
                      </a:endParaRPr>
                    </a:p>
                  </a:txBody>
                  <a:tcPr marT="45719" marB="45719"/>
                </a:tc>
                <a:tc>
                  <a:txBody>
                    <a:bodyPr/>
                    <a:lstStyle/>
                    <a:p>
                      <a:r>
                        <a:rPr lang="ru-RU" sz="2800" b="1" dirty="0">
                          <a:solidFill>
                            <a:schemeClr val="bg2"/>
                          </a:solidFill>
                        </a:rPr>
                        <a:t>4464</a:t>
                      </a:r>
                    </a:p>
                  </a:txBody>
                  <a:tcPr marT="45719" marB="45719"/>
                </a:tc>
                <a:tc>
                  <a:txBody>
                    <a:bodyPr/>
                    <a:lstStyle/>
                    <a:p>
                      <a:endParaRPr lang="ru-RU" sz="2800" b="1" dirty="0">
                        <a:solidFill>
                          <a:schemeClr val="bg2"/>
                        </a:solidFill>
                      </a:endParaRPr>
                    </a:p>
                  </a:txBody>
                  <a:tcPr marT="45719" marB="45719"/>
                </a:tc>
                <a:tc>
                  <a:txBody>
                    <a:bodyPr/>
                    <a:lstStyle/>
                    <a:p>
                      <a:r>
                        <a:rPr lang="ru-RU" sz="2800" b="1" dirty="0">
                          <a:solidFill>
                            <a:schemeClr val="bg2"/>
                          </a:solidFill>
                        </a:rPr>
                        <a:t>5705</a:t>
                      </a:r>
                    </a:p>
                  </a:txBody>
                  <a:tcPr marT="45719" marB="45719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5944">
                <a:tc>
                  <a:txBody>
                    <a:bodyPr/>
                    <a:lstStyle/>
                    <a:p>
                      <a:r>
                        <a:rPr lang="ru-RU" sz="2800" b="1" dirty="0">
                          <a:solidFill>
                            <a:schemeClr val="bg2"/>
                          </a:solidFill>
                        </a:rPr>
                        <a:t>5724</a:t>
                      </a:r>
                    </a:p>
                  </a:txBody>
                  <a:tcPr marT="45719" marB="45719"/>
                </a:tc>
                <a:tc>
                  <a:txBody>
                    <a:bodyPr/>
                    <a:lstStyle/>
                    <a:p>
                      <a:endParaRPr lang="ru-RU" sz="2800" b="1">
                        <a:solidFill>
                          <a:schemeClr val="bg2"/>
                        </a:solidFill>
                      </a:endParaRPr>
                    </a:p>
                  </a:txBody>
                  <a:tcPr marT="45719" marB="45719"/>
                </a:tc>
                <a:tc>
                  <a:txBody>
                    <a:bodyPr/>
                    <a:lstStyle/>
                    <a:p>
                      <a:r>
                        <a:rPr lang="ru-RU" sz="2800" b="1" dirty="0">
                          <a:solidFill>
                            <a:schemeClr val="bg2"/>
                          </a:solidFill>
                        </a:rPr>
                        <a:t>6962</a:t>
                      </a:r>
                    </a:p>
                  </a:txBody>
                  <a:tcPr marT="45719" marB="45719"/>
                </a:tc>
                <a:tc>
                  <a:txBody>
                    <a:bodyPr/>
                    <a:lstStyle/>
                    <a:p>
                      <a:r>
                        <a:rPr lang="ru-RU" sz="2800" b="1" dirty="0">
                          <a:solidFill>
                            <a:schemeClr val="bg2"/>
                          </a:solidFill>
                        </a:rPr>
                        <a:t>6500</a:t>
                      </a:r>
                    </a:p>
                  </a:txBody>
                  <a:tcPr marT="45719" marB="45719"/>
                </a:tc>
                <a:tc>
                  <a:txBody>
                    <a:bodyPr/>
                    <a:lstStyle/>
                    <a:p>
                      <a:r>
                        <a:rPr lang="ru-RU" sz="2800" b="1" dirty="0">
                          <a:solidFill>
                            <a:schemeClr val="bg2"/>
                          </a:solidFill>
                        </a:rPr>
                        <a:t>6334</a:t>
                      </a:r>
                    </a:p>
                  </a:txBody>
                  <a:tcPr marT="45719" marB="45719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5944">
                <a:tc>
                  <a:txBody>
                    <a:bodyPr/>
                    <a:lstStyle/>
                    <a:p>
                      <a:r>
                        <a:rPr lang="ru-RU" sz="2800" b="1" dirty="0">
                          <a:solidFill>
                            <a:schemeClr val="bg2"/>
                          </a:solidFill>
                        </a:rPr>
                        <a:t>8145</a:t>
                      </a:r>
                    </a:p>
                  </a:txBody>
                  <a:tcPr marT="45719" marB="45719"/>
                </a:tc>
                <a:tc>
                  <a:txBody>
                    <a:bodyPr/>
                    <a:lstStyle/>
                    <a:p>
                      <a:r>
                        <a:rPr lang="ru-RU" sz="2800" b="1" dirty="0">
                          <a:solidFill>
                            <a:schemeClr val="bg2"/>
                          </a:solidFill>
                        </a:rPr>
                        <a:t>8467</a:t>
                      </a:r>
                    </a:p>
                  </a:txBody>
                  <a:tcPr marT="45719" marB="45719"/>
                </a:tc>
                <a:tc>
                  <a:txBody>
                    <a:bodyPr/>
                    <a:lstStyle/>
                    <a:p>
                      <a:endParaRPr lang="ru-RU" sz="2800" b="1" dirty="0">
                        <a:solidFill>
                          <a:schemeClr val="bg2"/>
                        </a:solidFill>
                      </a:endParaRPr>
                    </a:p>
                  </a:txBody>
                  <a:tcPr marT="45719" marB="45719"/>
                </a:tc>
                <a:tc>
                  <a:txBody>
                    <a:bodyPr/>
                    <a:lstStyle/>
                    <a:p>
                      <a:r>
                        <a:rPr lang="ru-RU" sz="2800" b="1" dirty="0">
                          <a:solidFill>
                            <a:schemeClr val="bg2"/>
                          </a:solidFill>
                        </a:rPr>
                        <a:t>9358</a:t>
                      </a:r>
                    </a:p>
                  </a:txBody>
                  <a:tcPr marT="45719" marB="45719"/>
                </a:tc>
                <a:tc>
                  <a:txBody>
                    <a:bodyPr/>
                    <a:lstStyle/>
                    <a:p>
                      <a:r>
                        <a:rPr lang="ru-RU" sz="2800" b="1" dirty="0">
                          <a:solidFill>
                            <a:schemeClr val="bg2"/>
                          </a:solidFill>
                        </a:rPr>
                        <a:t>9169</a:t>
                      </a:r>
                    </a:p>
                  </a:txBody>
                  <a:tcPr marT="45719" marB="45719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Заголовок 1"/>
          <p:cNvSpPr txBox="1">
            <a:spLocks/>
          </p:cNvSpPr>
          <p:nvPr/>
        </p:nvSpPr>
        <p:spPr bwMode="auto">
          <a:xfrm>
            <a:off x="519113" y="288925"/>
            <a:ext cx="8229600" cy="455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>
              <a:defRPr/>
            </a:pPr>
            <a:r>
              <a:rPr lang="ru-RU" sz="3600" kern="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Поразрядная </a:t>
            </a:r>
            <a:r>
              <a:rPr lang="en-US" sz="3600" i="1" kern="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MSD - </a:t>
            </a:r>
            <a:r>
              <a:rPr lang="ru-RU" sz="3600" kern="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сортировка</a:t>
            </a:r>
          </a:p>
        </p:txBody>
      </p:sp>
      <p:sp>
        <p:nvSpPr>
          <p:cNvPr id="5" name="Прямоугольник 4"/>
          <p:cNvSpPr/>
          <p:nvPr/>
        </p:nvSpPr>
        <p:spPr bwMode="auto">
          <a:xfrm>
            <a:off x="592138" y="1201738"/>
            <a:ext cx="839787" cy="693737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 eaLnBrk="1" hangingPunct="1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None/>
              <a:defRPr/>
            </a:pPr>
            <a:r>
              <a:rPr lang="en-US" i="1" dirty="0">
                <a:solidFill>
                  <a:schemeClr val="bg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</a:t>
            </a:r>
            <a:endParaRPr lang="ru-RU" i="1" dirty="0">
              <a:solidFill>
                <a:schemeClr val="bg2">
                  <a:lumMod val="60000"/>
                  <a:lumOff val="4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aphicFrame>
        <p:nvGraphicFramePr>
          <p:cNvPr id="6" name="Таблица 5"/>
          <p:cNvGraphicFramePr>
            <a:graphicFrameLocks noGrp="1"/>
          </p:cNvGraphicFramePr>
          <p:nvPr/>
        </p:nvGraphicFramePr>
        <p:xfrm>
          <a:off x="1687513" y="1092200"/>
          <a:ext cx="6789737" cy="88900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67897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897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7897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7897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7897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7897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7897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78974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78974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78974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bg2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bg2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bg2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bg2"/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bg2"/>
                          </a:solidFill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bg2"/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bg2"/>
                          </a:solidFill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bg2"/>
                          </a:solidFill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bg2"/>
                          </a:solidFill>
                        </a:rP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bg2"/>
                          </a:solidFill>
                        </a:rPr>
                        <a:t>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2800" b="1" dirty="0">
                          <a:solidFill>
                            <a:schemeClr val="bg2">
                              <a:lumMod val="60000"/>
                              <a:lumOff val="40000"/>
                            </a:schemeClr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b="1" dirty="0">
                          <a:solidFill>
                            <a:schemeClr val="bg2">
                              <a:lumMod val="60000"/>
                              <a:lumOff val="40000"/>
                            </a:schemeClr>
                          </a:solidFill>
                        </a:rPr>
                        <a:t>1</a:t>
                      </a:r>
                      <a:endParaRPr lang="ru-RU" sz="2800" b="1" dirty="0">
                        <a:solidFill>
                          <a:schemeClr val="bg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b="1" dirty="0">
                          <a:solidFill>
                            <a:schemeClr val="bg2">
                              <a:lumMod val="60000"/>
                              <a:lumOff val="40000"/>
                            </a:schemeClr>
                          </a:solidFill>
                        </a:rPr>
                        <a:t>4</a:t>
                      </a:r>
                      <a:endParaRPr lang="ru-RU" sz="2800" b="1" dirty="0">
                        <a:solidFill>
                          <a:schemeClr val="bg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b="1" dirty="0">
                          <a:solidFill>
                            <a:schemeClr val="bg2">
                              <a:lumMod val="60000"/>
                              <a:lumOff val="40000"/>
                            </a:schemeClr>
                          </a:solidFill>
                        </a:rPr>
                        <a:t>5</a:t>
                      </a:r>
                      <a:endParaRPr lang="ru-RU" sz="2800" b="1" dirty="0">
                        <a:solidFill>
                          <a:schemeClr val="bg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b="1" dirty="0">
                          <a:solidFill>
                            <a:schemeClr val="bg2">
                              <a:lumMod val="60000"/>
                              <a:lumOff val="40000"/>
                            </a:schemeClr>
                          </a:solidFill>
                        </a:rPr>
                        <a:t>7</a:t>
                      </a:r>
                      <a:endParaRPr lang="ru-RU" sz="2800" b="1" dirty="0">
                        <a:solidFill>
                          <a:schemeClr val="bg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b="1" dirty="0">
                          <a:solidFill>
                            <a:schemeClr val="bg2">
                              <a:lumMod val="60000"/>
                              <a:lumOff val="40000"/>
                            </a:schemeClr>
                          </a:solidFill>
                        </a:rPr>
                        <a:t>9</a:t>
                      </a:r>
                      <a:endParaRPr lang="ru-RU" sz="2800" b="1" dirty="0">
                        <a:solidFill>
                          <a:schemeClr val="bg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b="1" dirty="0">
                          <a:solidFill>
                            <a:schemeClr val="bg2">
                              <a:lumMod val="60000"/>
                              <a:lumOff val="40000"/>
                            </a:schemeClr>
                          </a:solidFill>
                        </a:rPr>
                        <a:t>12</a:t>
                      </a:r>
                      <a:endParaRPr lang="ru-RU" sz="2800" b="1" dirty="0">
                        <a:solidFill>
                          <a:schemeClr val="bg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b="1" dirty="0">
                          <a:solidFill>
                            <a:schemeClr val="bg2">
                              <a:lumMod val="60000"/>
                              <a:lumOff val="40000"/>
                            </a:schemeClr>
                          </a:solidFill>
                        </a:rPr>
                        <a:t>15</a:t>
                      </a:r>
                      <a:endParaRPr lang="ru-RU" sz="2800" b="1" dirty="0">
                        <a:solidFill>
                          <a:schemeClr val="bg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b="1" dirty="0">
                          <a:solidFill>
                            <a:schemeClr val="bg2">
                              <a:lumMod val="60000"/>
                              <a:lumOff val="40000"/>
                            </a:schemeClr>
                          </a:solidFill>
                        </a:rPr>
                        <a:t>15</a:t>
                      </a:r>
                      <a:endParaRPr lang="ru-RU" sz="2800" b="1" dirty="0">
                        <a:solidFill>
                          <a:schemeClr val="bg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b="1" dirty="0">
                          <a:solidFill>
                            <a:schemeClr val="bg2">
                              <a:lumMod val="60000"/>
                              <a:lumOff val="40000"/>
                            </a:schemeClr>
                          </a:solidFill>
                        </a:rPr>
                        <a:t>18</a:t>
                      </a:r>
                      <a:endParaRPr lang="ru-RU" sz="2800" b="1" dirty="0">
                        <a:solidFill>
                          <a:schemeClr val="bg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4887" name="Прямоугольник 8"/>
          <p:cNvSpPr>
            <a:spLocks noChangeArrowheads="1"/>
          </p:cNvSpPr>
          <p:nvPr/>
        </p:nvSpPr>
        <p:spPr bwMode="auto">
          <a:xfrm>
            <a:off x="0" y="5386388"/>
            <a:ext cx="8734425" cy="954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buFont typeface="Wingdings" panose="05000000000000000000" pitchFamily="2" charset="2"/>
              <a:buNone/>
            </a:pPr>
            <a:r>
              <a:rPr lang="ru-RU" altLang="ru-RU" sz="2800">
                <a:solidFill>
                  <a:schemeClr val="bg2"/>
                </a:solidFill>
              </a:rPr>
              <a:t>3281 6827 9961 2995 1942 4827 5436 2391 4604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Содержимое 6"/>
          <p:cNvGraphicFramePr>
            <a:graphicFrameLocks noGrp="1"/>
          </p:cNvGraphicFramePr>
          <p:nvPr>
            <p:ph idx="1"/>
          </p:nvPr>
        </p:nvGraphicFramePr>
        <p:xfrm>
          <a:off x="409575" y="2662238"/>
          <a:ext cx="8229600" cy="2263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65944">
                <a:tc>
                  <a:txBody>
                    <a:bodyPr/>
                    <a:lstStyle/>
                    <a:p>
                      <a:endParaRPr lang="ru-RU" sz="2800" b="1" dirty="0">
                        <a:solidFill>
                          <a:schemeClr val="bg2"/>
                        </a:solidFill>
                      </a:endParaRPr>
                    </a:p>
                  </a:txBody>
                  <a:tcPr marT="45719" marB="45719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2800" b="1" dirty="0">
                          <a:solidFill>
                            <a:schemeClr val="bg2"/>
                          </a:solidFill>
                        </a:rPr>
                        <a:t>1478</a:t>
                      </a:r>
                    </a:p>
                  </a:txBody>
                  <a:tcPr marT="45719" marB="45719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2800" b="1" dirty="0">
                        <a:solidFill>
                          <a:schemeClr val="bg2"/>
                        </a:solidFill>
                      </a:endParaRPr>
                    </a:p>
                  </a:txBody>
                  <a:tcPr marT="45719" marB="45719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2800" b="1" dirty="0">
                        <a:solidFill>
                          <a:schemeClr val="bg2"/>
                        </a:solidFill>
                      </a:endParaRPr>
                    </a:p>
                  </a:txBody>
                  <a:tcPr marT="45719" marB="45719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2800" b="1" dirty="0">
                          <a:solidFill>
                            <a:schemeClr val="bg2"/>
                          </a:solidFill>
                        </a:rPr>
                        <a:t>3281 </a:t>
                      </a:r>
                    </a:p>
                  </a:txBody>
                  <a:tcPr marT="45719" marB="45719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5944">
                <a:tc>
                  <a:txBody>
                    <a:bodyPr/>
                    <a:lstStyle/>
                    <a:p>
                      <a:endParaRPr lang="ru-RU" sz="2800" b="1">
                        <a:solidFill>
                          <a:schemeClr val="bg2"/>
                        </a:solidFill>
                      </a:endParaRPr>
                    </a:p>
                  </a:txBody>
                  <a:tcPr marT="45719" marB="45719"/>
                </a:tc>
                <a:tc>
                  <a:txBody>
                    <a:bodyPr/>
                    <a:lstStyle/>
                    <a:p>
                      <a:endParaRPr lang="ru-RU" sz="2800" b="1">
                        <a:solidFill>
                          <a:schemeClr val="bg2"/>
                        </a:solidFill>
                      </a:endParaRPr>
                    </a:p>
                  </a:txBody>
                  <a:tcPr marT="45719" marB="45719"/>
                </a:tc>
                <a:tc>
                  <a:txBody>
                    <a:bodyPr/>
                    <a:lstStyle/>
                    <a:p>
                      <a:r>
                        <a:rPr lang="ru-RU" sz="2800" b="1" dirty="0">
                          <a:solidFill>
                            <a:schemeClr val="bg2"/>
                          </a:solidFill>
                        </a:rPr>
                        <a:t>4464</a:t>
                      </a:r>
                    </a:p>
                  </a:txBody>
                  <a:tcPr marT="45719" marB="45719"/>
                </a:tc>
                <a:tc>
                  <a:txBody>
                    <a:bodyPr/>
                    <a:lstStyle/>
                    <a:p>
                      <a:endParaRPr lang="ru-RU" sz="2800" b="1" dirty="0">
                        <a:solidFill>
                          <a:schemeClr val="bg2"/>
                        </a:solidFill>
                      </a:endParaRPr>
                    </a:p>
                  </a:txBody>
                  <a:tcPr marT="45719" marB="45719"/>
                </a:tc>
                <a:tc>
                  <a:txBody>
                    <a:bodyPr/>
                    <a:lstStyle/>
                    <a:p>
                      <a:r>
                        <a:rPr lang="ru-RU" sz="2800" b="1" dirty="0">
                          <a:solidFill>
                            <a:schemeClr val="bg2"/>
                          </a:solidFill>
                        </a:rPr>
                        <a:t>5705</a:t>
                      </a:r>
                    </a:p>
                  </a:txBody>
                  <a:tcPr marT="45719" marB="45719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5944">
                <a:tc>
                  <a:txBody>
                    <a:bodyPr/>
                    <a:lstStyle/>
                    <a:p>
                      <a:r>
                        <a:rPr lang="ru-RU" sz="2800" b="1" dirty="0">
                          <a:solidFill>
                            <a:schemeClr val="bg2"/>
                          </a:solidFill>
                        </a:rPr>
                        <a:t>5724</a:t>
                      </a:r>
                    </a:p>
                  </a:txBody>
                  <a:tcPr marT="45719" marB="45719"/>
                </a:tc>
                <a:tc>
                  <a:txBody>
                    <a:bodyPr/>
                    <a:lstStyle/>
                    <a:p>
                      <a:r>
                        <a:rPr lang="ru-RU" sz="2800" b="1" dirty="0">
                          <a:solidFill>
                            <a:schemeClr val="bg2"/>
                          </a:solidFill>
                        </a:rPr>
                        <a:t>6827</a:t>
                      </a:r>
                    </a:p>
                  </a:txBody>
                  <a:tcPr marT="45719" marB="45719"/>
                </a:tc>
                <a:tc>
                  <a:txBody>
                    <a:bodyPr/>
                    <a:lstStyle/>
                    <a:p>
                      <a:r>
                        <a:rPr lang="ru-RU" sz="2800" b="1" dirty="0">
                          <a:solidFill>
                            <a:schemeClr val="bg2"/>
                          </a:solidFill>
                        </a:rPr>
                        <a:t>6962</a:t>
                      </a:r>
                    </a:p>
                  </a:txBody>
                  <a:tcPr marT="45719" marB="45719"/>
                </a:tc>
                <a:tc>
                  <a:txBody>
                    <a:bodyPr/>
                    <a:lstStyle/>
                    <a:p>
                      <a:r>
                        <a:rPr lang="ru-RU" sz="2800" b="1" dirty="0">
                          <a:solidFill>
                            <a:schemeClr val="bg2"/>
                          </a:solidFill>
                        </a:rPr>
                        <a:t>6500</a:t>
                      </a:r>
                    </a:p>
                  </a:txBody>
                  <a:tcPr marT="45719" marB="45719"/>
                </a:tc>
                <a:tc>
                  <a:txBody>
                    <a:bodyPr/>
                    <a:lstStyle/>
                    <a:p>
                      <a:r>
                        <a:rPr lang="ru-RU" sz="2800" b="1" dirty="0">
                          <a:solidFill>
                            <a:schemeClr val="bg2"/>
                          </a:solidFill>
                        </a:rPr>
                        <a:t>6334</a:t>
                      </a:r>
                    </a:p>
                  </a:txBody>
                  <a:tcPr marT="45719" marB="45719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5944">
                <a:tc>
                  <a:txBody>
                    <a:bodyPr/>
                    <a:lstStyle/>
                    <a:p>
                      <a:r>
                        <a:rPr lang="ru-RU" sz="2800" b="1" dirty="0">
                          <a:solidFill>
                            <a:schemeClr val="bg2"/>
                          </a:solidFill>
                        </a:rPr>
                        <a:t>8145</a:t>
                      </a:r>
                    </a:p>
                  </a:txBody>
                  <a:tcPr marT="45719" marB="45719"/>
                </a:tc>
                <a:tc>
                  <a:txBody>
                    <a:bodyPr/>
                    <a:lstStyle/>
                    <a:p>
                      <a:r>
                        <a:rPr lang="ru-RU" sz="2800" b="1" dirty="0">
                          <a:solidFill>
                            <a:schemeClr val="bg2"/>
                          </a:solidFill>
                        </a:rPr>
                        <a:t>8467</a:t>
                      </a:r>
                    </a:p>
                  </a:txBody>
                  <a:tcPr marT="45719" marB="45719"/>
                </a:tc>
                <a:tc>
                  <a:txBody>
                    <a:bodyPr/>
                    <a:lstStyle/>
                    <a:p>
                      <a:endParaRPr lang="ru-RU" sz="2800" b="1" dirty="0">
                        <a:solidFill>
                          <a:schemeClr val="bg2"/>
                        </a:solidFill>
                      </a:endParaRPr>
                    </a:p>
                  </a:txBody>
                  <a:tcPr marT="45719" marB="45719"/>
                </a:tc>
                <a:tc>
                  <a:txBody>
                    <a:bodyPr/>
                    <a:lstStyle/>
                    <a:p>
                      <a:r>
                        <a:rPr lang="ru-RU" sz="2800" b="1" dirty="0">
                          <a:solidFill>
                            <a:schemeClr val="bg2"/>
                          </a:solidFill>
                        </a:rPr>
                        <a:t>9358</a:t>
                      </a:r>
                    </a:p>
                  </a:txBody>
                  <a:tcPr marT="45719" marB="45719"/>
                </a:tc>
                <a:tc>
                  <a:txBody>
                    <a:bodyPr/>
                    <a:lstStyle/>
                    <a:p>
                      <a:r>
                        <a:rPr lang="ru-RU" sz="2800" b="1" dirty="0">
                          <a:solidFill>
                            <a:schemeClr val="bg2"/>
                          </a:solidFill>
                        </a:rPr>
                        <a:t>9169</a:t>
                      </a:r>
                    </a:p>
                  </a:txBody>
                  <a:tcPr marT="45719" marB="45719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Заголовок 1"/>
          <p:cNvSpPr txBox="1">
            <a:spLocks/>
          </p:cNvSpPr>
          <p:nvPr/>
        </p:nvSpPr>
        <p:spPr bwMode="auto">
          <a:xfrm>
            <a:off x="519113" y="288925"/>
            <a:ext cx="8229600" cy="455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>
              <a:defRPr/>
            </a:pPr>
            <a:r>
              <a:rPr lang="ru-RU" sz="3600" kern="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Поразрядная </a:t>
            </a:r>
            <a:r>
              <a:rPr lang="en-US" sz="3600" i="1" kern="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MSD - </a:t>
            </a:r>
            <a:r>
              <a:rPr lang="ru-RU" sz="3600" kern="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сортировка</a:t>
            </a:r>
          </a:p>
        </p:txBody>
      </p:sp>
      <p:sp>
        <p:nvSpPr>
          <p:cNvPr id="5" name="Прямоугольник 4"/>
          <p:cNvSpPr/>
          <p:nvPr/>
        </p:nvSpPr>
        <p:spPr bwMode="auto">
          <a:xfrm>
            <a:off x="592138" y="1201738"/>
            <a:ext cx="839787" cy="693737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 eaLnBrk="1" hangingPunct="1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None/>
              <a:defRPr/>
            </a:pPr>
            <a:r>
              <a:rPr lang="en-US" i="1" dirty="0">
                <a:solidFill>
                  <a:schemeClr val="bg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</a:t>
            </a:r>
            <a:endParaRPr lang="ru-RU" i="1" dirty="0">
              <a:solidFill>
                <a:schemeClr val="bg2">
                  <a:lumMod val="60000"/>
                  <a:lumOff val="4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aphicFrame>
        <p:nvGraphicFramePr>
          <p:cNvPr id="6" name="Таблица 5"/>
          <p:cNvGraphicFramePr>
            <a:graphicFrameLocks noGrp="1"/>
          </p:cNvGraphicFramePr>
          <p:nvPr/>
        </p:nvGraphicFramePr>
        <p:xfrm>
          <a:off x="1687513" y="1092200"/>
          <a:ext cx="6789737" cy="88900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67897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897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7897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7897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7897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7897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7897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78974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78974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78974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bg2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bg2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bg2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bg2"/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bg2"/>
                          </a:solidFill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bg2"/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bg2"/>
                          </a:solidFill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bg2"/>
                          </a:solidFill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bg2"/>
                          </a:solidFill>
                        </a:rP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bg2"/>
                          </a:solidFill>
                        </a:rPr>
                        <a:t>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2800" b="1" dirty="0">
                          <a:solidFill>
                            <a:schemeClr val="bg2">
                              <a:lumMod val="60000"/>
                              <a:lumOff val="40000"/>
                            </a:schemeClr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b="1" dirty="0">
                          <a:solidFill>
                            <a:schemeClr val="bg2">
                              <a:lumMod val="60000"/>
                              <a:lumOff val="40000"/>
                            </a:schemeClr>
                          </a:solidFill>
                        </a:rPr>
                        <a:t>1</a:t>
                      </a:r>
                      <a:endParaRPr lang="ru-RU" sz="2800" b="1" dirty="0">
                        <a:solidFill>
                          <a:schemeClr val="bg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b="1" dirty="0">
                          <a:solidFill>
                            <a:schemeClr val="bg2">
                              <a:lumMod val="60000"/>
                              <a:lumOff val="40000"/>
                            </a:schemeClr>
                          </a:solidFill>
                        </a:rPr>
                        <a:t>4</a:t>
                      </a:r>
                      <a:endParaRPr lang="ru-RU" sz="2800" b="1" dirty="0">
                        <a:solidFill>
                          <a:schemeClr val="bg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b="1" dirty="0">
                          <a:solidFill>
                            <a:schemeClr val="bg2">
                              <a:lumMod val="60000"/>
                              <a:lumOff val="40000"/>
                            </a:schemeClr>
                          </a:solidFill>
                        </a:rPr>
                        <a:t>4</a:t>
                      </a:r>
                      <a:endParaRPr lang="ru-RU" sz="2800" b="1" dirty="0">
                        <a:solidFill>
                          <a:schemeClr val="bg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b="1" dirty="0">
                          <a:solidFill>
                            <a:schemeClr val="bg2">
                              <a:lumMod val="60000"/>
                              <a:lumOff val="40000"/>
                            </a:schemeClr>
                          </a:solidFill>
                        </a:rPr>
                        <a:t>7</a:t>
                      </a:r>
                      <a:endParaRPr lang="ru-RU" sz="2800" b="1" dirty="0">
                        <a:solidFill>
                          <a:schemeClr val="bg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b="1" dirty="0">
                          <a:solidFill>
                            <a:schemeClr val="bg2">
                              <a:lumMod val="60000"/>
                              <a:lumOff val="40000"/>
                            </a:schemeClr>
                          </a:solidFill>
                        </a:rPr>
                        <a:t>9</a:t>
                      </a:r>
                      <a:endParaRPr lang="ru-RU" sz="2800" b="1" dirty="0">
                        <a:solidFill>
                          <a:schemeClr val="bg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b="1" dirty="0">
                          <a:solidFill>
                            <a:schemeClr val="bg2">
                              <a:lumMod val="60000"/>
                              <a:lumOff val="40000"/>
                            </a:schemeClr>
                          </a:solidFill>
                        </a:rPr>
                        <a:t>12</a:t>
                      </a:r>
                      <a:endParaRPr lang="ru-RU" sz="2800" b="1" dirty="0">
                        <a:solidFill>
                          <a:schemeClr val="bg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b="1" dirty="0">
                          <a:solidFill>
                            <a:schemeClr val="bg2">
                              <a:lumMod val="60000"/>
                              <a:lumOff val="40000"/>
                            </a:schemeClr>
                          </a:solidFill>
                        </a:rPr>
                        <a:t>15</a:t>
                      </a:r>
                      <a:endParaRPr lang="ru-RU" sz="2800" b="1" dirty="0">
                        <a:solidFill>
                          <a:schemeClr val="bg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b="1" dirty="0">
                          <a:solidFill>
                            <a:schemeClr val="bg2">
                              <a:lumMod val="60000"/>
                              <a:lumOff val="40000"/>
                            </a:schemeClr>
                          </a:solidFill>
                        </a:rPr>
                        <a:t>15</a:t>
                      </a:r>
                      <a:endParaRPr lang="ru-RU" sz="2800" b="1" dirty="0">
                        <a:solidFill>
                          <a:schemeClr val="bg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b="1" dirty="0">
                          <a:solidFill>
                            <a:schemeClr val="bg2">
                              <a:lumMod val="60000"/>
                              <a:lumOff val="40000"/>
                            </a:schemeClr>
                          </a:solidFill>
                        </a:rPr>
                        <a:t>18</a:t>
                      </a:r>
                      <a:endParaRPr lang="ru-RU" sz="2800" b="1" dirty="0">
                        <a:solidFill>
                          <a:schemeClr val="bg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5911" name="Прямоугольник 8"/>
          <p:cNvSpPr>
            <a:spLocks noChangeArrowheads="1"/>
          </p:cNvSpPr>
          <p:nvPr/>
        </p:nvSpPr>
        <p:spPr bwMode="auto">
          <a:xfrm>
            <a:off x="0" y="5386388"/>
            <a:ext cx="873442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buFont typeface="Wingdings" panose="05000000000000000000" pitchFamily="2" charset="2"/>
              <a:buNone/>
            </a:pPr>
            <a:r>
              <a:rPr lang="ru-RU" altLang="ru-RU" sz="2800">
                <a:solidFill>
                  <a:schemeClr val="bg2"/>
                </a:solidFill>
              </a:rPr>
              <a:t>6827 9961 2995 1942 4827 5436 2391 4604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Содержимое 6"/>
          <p:cNvGraphicFramePr>
            <a:graphicFrameLocks noGrp="1"/>
          </p:cNvGraphicFramePr>
          <p:nvPr>
            <p:ph idx="1"/>
          </p:nvPr>
        </p:nvGraphicFramePr>
        <p:xfrm>
          <a:off x="409575" y="2662238"/>
          <a:ext cx="8229600" cy="2263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65944">
                <a:tc>
                  <a:txBody>
                    <a:bodyPr/>
                    <a:lstStyle/>
                    <a:p>
                      <a:endParaRPr lang="ru-RU" sz="2800" b="1" dirty="0">
                        <a:solidFill>
                          <a:schemeClr val="bg2"/>
                        </a:solidFill>
                      </a:endParaRPr>
                    </a:p>
                  </a:txBody>
                  <a:tcPr marT="45719" marB="45719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2800" b="1" dirty="0">
                          <a:solidFill>
                            <a:schemeClr val="bg2"/>
                          </a:solidFill>
                        </a:rPr>
                        <a:t>1478</a:t>
                      </a:r>
                    </a:p>
                  </a:txBody>
                  <a:tcPr marT="45719" marB="45719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2800" b="1" dirty="0">
                        <a:solidFill>
                          <a:schemeClr val="bg2"/>
                        </a:solidFill>
                      </a:endParaRPr>
                    </a:p>
                  </a:txBody>
                  <a:tcPr marT="45719" marB="45719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2800" b="1" dirty="0">
                        <a:solidFill>
                          <a:schemeClr val="bg2"/>
                        </a:solidFill>
                      </a:endParaRPr>
                    </a:p>
                  </a:txBody>
                  <a:tcPr marT="45719" marB="45719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2800" b="1" dirty="0">
                          <a:solidFill>
                            <a:schemeClr val="bg2"/>
                          </a:solidFill>
                        </a:rPr>
                        <a:t>3281 </a:t>
                      </a:r>
                    </a:p>
                  </a:txBody>
                  <a:tcPr marT="45719" marB="45719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5944">
                <a:tc>
                  <a:txBody>
                    <a:bodyPr/>
                    <a:lstStyle/>
                    <a:p>
                      <a:endParaRPr lang="ru-RU" sz="2800" b="1">
                        <a:solidFill>
                          <a:schemeClr val="bg2"/>
                        </a:solidFill>
                      </a:endParaRPr>
                    </a:p>
                  </a:txBody>
                  <a:tcPr marT="45719" marB="45719"/>
                </a:tc>
                <a:tc>
                  <a:txBody>
                    <a:bodyPr/>
                    <a:lstStyle/>
                    <a:p>
                      <a:endParaRPr lang="ru-RU" sz="2800" b="1">
                        <a:solidFill>
                          <a:schemeClr val="bg2"/>
                        </a:solidFill>
                      </a:endParaRPr>
                    </a:p>
                  </a:txBody>
                  <a:tcPr marT="45719" marB="45719"/>
                </a:tc>
                <a:tc>
                  <a:txBody>
                    <a:bodyPr/>
                    <a:lstStyle/>
                    <a:p>
                      <a:r>
                        <a:rPr lang="ru-RU" sz="2800" b="1" dirty="0">
                          <a:solidFill>
                            <a:schemeClr val="bg2"/>
                          </a:solidFill>
                        </a:rPr>
                        <a:t>4464</a:t>
                      </a:r>
                    </a:p>
                  </a:txBody>
                  <a:tcPr marT="45719" marB="45719"/>
                </a:tc>
                <a:tc>
                  <a:txBody>
                    <a:bodyPr/>
                    <a:lstStyle/>
                    <a:p>
                      <a:endParaRPr lang="ru-RU" sz="2800" b="1" dirty="0">
                        <a:solidFill>
                          <a:schemeClr val="bg2"/>
                        </a:solidFill>
                      </a:endParaRPr>
                    </a:p>
                  </a:txBody>
                  <a:tcPr marT="45719" marB="45719"/>
                </a:tc>
                <a:tc>
                  <a:txBody>
                    <a:bodyPr/>
                    <a:lstStyle/>
                    <a:p>
                      <a:r>
                        <a:rPr lang="ru-RU" sz="2800" b="1" dirty="0">
                          <a:solidFill>
                            <a:schemeClr val="bg2"/>
                          </a:solidFill>
                        </a:rPr>
                        <a:t>5705</a:t>
                      </a:r>
                    </a:p>
                  </a:txBody>
                  <a:tcPr marT="45719" marB="45719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5944">
                <a:tc>
                  <a:txBody>
                    <a:bodyPr/>
                    <a:lstStyle/>
                    <a:p>
                      <a:r>
                        <a:rPr lang="ru-RU" sz="2800" b="1" dirty="0">
                          <a:solidFill>
                            <a:schemeClr val="bg2"/>
                          </a:solidFill>
                        </a:rPr>
                        <a:t>5724</a:t>
                      </a:r>
                    </a:p>
                  </a:txBody>
                  <a:tcPr marT="45719" marB="45719"/>
                </a:tc>
                <a:tc>
                  <a:txBody>
                    <a:bodyPr/>
                    <a:lstStyle/>
                    <a:p>
                      <a:r>
                        <a:rPr lang="ru-RU" sz="2800" b="1" dirty="0">
                          <a:solidFill>
                            <a:schemeClr val="bg2"/>
                          </a:solidFill>
                        </a:rPr>
                        <a:t>6827</a:t>
                      </a:r>
                    </a:p>
                  </a:txBody>
                  <a:tcPr marT="45719" marB="45719"/>
                </a:tc>
                <a:tc>
                  <a:txBody>
                    <a:bodyPr/>
                    <a:lstStyle/>
                    <a:p>
                      <a:r>
                        <a:rPr lang="ru-RU" sz="2800" b="1" dirty="0">
                          <a:solidFill>
                            <a:schemeClr val="bg2"/>
                          </a:solidFill>
                        </a:rPr>
                        <a:t>6962</a:t>
                      </a:r>
                    </a:p>
                  </a:txBody>
                  <a:tcPr marT="45719" marB="45719"/>
                </a:tc>
                <a:tc>
                  <a:txBody>
                    <a:bodyPr/>
                    <a:lstStyle/>
                    <a:p>
                      <a:r>
                        <a:rPr lang="ru-RU" sz="2800" b="1" dirty="0">
                          <a:solidFill>
                            <a:schemeClr val="bg2"/>
                          </a:solidFill>
                        </a:rPr>
                        <a:t>6500</a:t>
                      </a:r>
                    </a:p>
                  </a:txBody>
                  <a:tcPr marT="45719" marB="45719"/>
                </a:tc>
                <a:tc>
                  <a:txBody>
                    <a:bodyPr/>
                    <a:lstStyle/>
                    <a:p>
                      <a:r>
                        <a:rPr lang="ru-RU" sz="2800" b="1" dirty="0">
                          <a:solidFill>
                            <a:schemeClr val="bg2"/>
                          </a:solidFill>
                        </a:rPr>
                        <a:t>6334</a:t>
                      </a:r>
                    </a:p>
                  </a:txBody>
                  <a:tcPr marT="45719" marB="45719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5944">
                <a:tc>
                  <a:txBody>
                    <a:bodyPr/>
                    <a:lstStyle/>
                    <a:p>
                      <a:r>
                        <a:rPr lang="ru-RU" sz="2800" b="1" dirty="0">
                          <a:solidFill>
                            <a:schemeClr val="bg2"/>
                          </a:solidFill>
                        </a:rPr>
                        <a:t>8145</a:t>
                      </a:r>
                    </a:p>
                  </a:txBody>
                  <a:tcPr marT="45719" marB="45719"/>
                </a:tc>
                <a:tc>
                  <a:txBody>
                    <a:bodyPr/>
                    <a:lstStyle/>
                    <a:p>
                      <a:r>
                        <a:rPr lang="ru-RU" sz="2800" b="1" dirty="0">
                          <a:solidFill>
                            <a:schemeClr val="bg2"/>
                          </a:solidFill>
                        </a:rPr>
                        <a:t>8467</a:t>
                      </a:r>
                    </a:p>
                  </a:txBody>
                  <a:tcPr marT="45719" marB="45719"/>
                </a:tc>
                <a:tc>
                  <a:txBody>
                    <a:bodyPr/>
                    <a:lstStyle/>
                    <a:p>
                      <a:r>
                        <a:rPr lang="ru-RU" sz="2800" b="1" dirty="0">
                          <a:solidFill>
                            <a:schemeClr val="bg2"/>
                          </a:solidFill>
                        </a:rPr>
                        <a:t>9961</a:t>
                      </a:r>
                    </a:p>
                  </a:txBody>
                  <a:tcPr marT="45719" marB="45719"/>
                </a:tc>
                <a:tc>
                  <a:txBody>
                    <a:bodyPr/>
                    <a:lstStyle/>
                    <a:p>
                      <a:r>
                        <a:rPr lang="ru-RU" sz="2800" b="1" dirty="0">
                          <a:solidFill>
                            <a:schemeClr val="bg2"/>
                          </a:solidFill>
                        </a:rPr>
                        <a:t>9358</a:t>
                      </a:r>
                    </a:p>
                  </a:txBody>
                  <a:tcPr marT="45719" marB="45719"/>
                </a:tc>
                <a:tc>
                  <a:txBody>
                    <a:bodyPr/>
                    <a:lstStyle/>
                    <a:p>
                      <a:r>
                        <a:rPr lang="ru-RU" sz="2800" b="1" dirty="0">
                          <a:solidFill>
                            <a:schemeClr val="bg2"/>
                          </a:solidFill>
                        </a:rPr>
                        <a:t>9169</a:t>
                      </a:r>
                    </a:p>
                  </a:txBody>
                  <a:tcPr marT="45719" marB="45719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Заголовок 1"/>
          <p:cNvSpPr txBox="1">
            <a:spLocks/>
          </p:cNvSpPr>
          <p:nvPr/>
        </p:nvSpPr>
        <p:spPr bwMode="auto">
          <a:xfrm>
            <a:off x="519113" y="288925"/>
            <a:ext cx="8229600" cy="455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>
              <a:defRPr/>
            </a:pPr>
            <a:r>
              <a:rPr lang="ru-RU" sz="3600" kern="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Поразрядная </a:t>
            </a:r>
            <a:r>
              <a:rPr lang="en-US" sz="3600" i="1" kern="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MSD - </a:t>
            </a:r>
            <a:r>
              <a:rPr lang="ru-RU" sz="3600" kern="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сортировка</a:t>
            </a:r>
          </a:p>
        </p:txBody>
      </p:sp>
      <p:sp>
        <p:nvSpPr>
          <p:cNvPr id="5" name="Прямоугольник 4"/>
          <p:cNvSpPr/>
          <p:nvPr/>
        </p:nvSpPr>
        <p:spPr bwMode="auto">
          <a:xfrm>
            <a:off x="592138" y="1201738"/>
            <a:ext cx="839787" cy="693737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 eaLnBrk="1" hangingPunct="1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None/>
              <a:defRPr/>
            </a:pPr>
            <a:r>
              <a:rPr lang="en-US" i="1" dirty="0">
                <a:solidFill>
                  <a:schemeClr val="bg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</a:t>
            </a:r>
            <a:endParaRPr lang="ru-RU" i="1" dirty="0">
              <a:solidFill>
                <a:schemeClr val="bg2">
                  <a:lumMod val="60000"/>
                  <a:lumOff val="4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aphicFrame>
        <p:nvGraphicFramePr>
          <p:cNvPr id="6" name="Таблица 5"/>
          <p:cNvGraphicFramePr>
            <a:graphicFrameLocks noGrp="1"/>
          </p:cNvGraphicFramePr>
          <p:nvPr/>
        </p:nvGraphicFramePr>
        <p:xfrm>
          <a:off x="1687513" y="1092200"/>
          <a:ext cx="6789737" cy="88900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67897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897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7897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7897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7897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7897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7897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78974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78974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78974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bg2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bg2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bg2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bg2"/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bg2"/>
                          </a:solidFill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bg2"/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bg2"/>
                          </a:solidFill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bg2"/>
                          </a:solidFill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bg2"/>
                          </a:solidFill>
                        </a:rP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bg2"/>
                          </a:solidFill>
                        </a:rPr>
                        <a:t>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2800" b="1" dirty="0">
                          <a:solidFill>
                            <a:schemeClr val="bg2">
                              <a:lumMod val="60000"/>
                              <a:lumOff val="40000"/>
                            </a:schemeClr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b="1" dirty="0">
                          <a:solidFill>
                            <a:schemeClr val="bg2">
                              <a:lumMod val="60000"/>
                              <a:lumOff val="40000"/>
                            </a:schemeClr>
                          </a:solidFill>
                        </a:rPr>
                        <a:t>1</a:t>
                      </a:r>
                      <a:endParaRPr lang="ru-RU" sz="2800" b="1" dirty="0">
                        <a:solidFill>
                          <a:schemeClr val="bg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b="1" dirty="0">
                          <a:solidFill>
                            <a:schemeClr val="bg2">
                              <a:lumMod val="60000"/>
                              <a:lumOff val="40000"/>
                            </a:schemeClr>
                          </a:solidFill>
                        </a:rPr>
                        <a:t>4</a:t>
                      </a:r>
                      <a:endParaRPr lang="ru-RU" sz="2800" b="1" dirty="0">
                        <a:solidFill>
                          <a:schemeClr val="bg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b="1" dirty="0">
                          <a:solidFill>
                            <a:schemeClr val="bg2">
                              <a:lumMod val="60000"/>
                              <a:lumOff val="40000"/>
                            </a:schemeClr>
                          </a:solidFill>
                        </a:rPr>
                        <a:t>4</a:t>
                      </a:r>
                      <a:endParaRPr lang="ru-RU" sz="2800" b="1" dirty="0">
                        <a:solidFill>
                          <a:schemeClr val="bg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b="1" dirty="0">
                          <a:solidFill>
                            <a:schemeClr val="bg2">
                              <a:lumMod val="60000"/>
                              <a:lumOff val="40000"/>
                            </a:schemeClr>
                          </a:solidFill>
                        </a:rPr>
                        <a:t>7</a:t>
                      </a:r>
                      <a:endParaRPr lang="ru-RU" sz="2800" b="1" dirty="0">
                        <a:solidFill>
                          <a:schemeClr val="bg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b="1" dirty="0">
                          <a:solidFill>
                            <a:schemeClr val="bg2">
                              <a:lumMod val="60000"/>
                              <a:lumOff val="40000"/>
                            </a:schemeClr>
                          </a:solidFill>
                        </a:rPr>
                        <a:t>9</a:t>
                      </a:r>
                      <a:endParaRPr lang="ru-RU" sz="2800" b="1" dirty="0">
                        <a:solidFill>
                          <a:schemeClr val="bg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b="1" dirty="0">
                          <a:solidFill>
                            <a:schemeClr val="bg2">
                              <a:lumMod val="60000"/>
                              <a:lumOff val="40000"/>
                            </a:schemeClr>
                          </a:solidFill>
                        </a:rPr>
                        <a:t>11</a:t>
                      </a:r>
                      <a:endParaRPr lang="ru-RU" sz="2800" b="1" dirty="0">
                        <a:solidFill>
                          <a:schemeClr val="bg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b="1" dirty="0">
                          <a:solidFill>
                            <a:schemeClr val="bg2">
                              <a:lumMod val="60000"/>
                              <a:lumOff val="40000"/>
                            </a:schemeClr>
                          </a:solidFill>
                        </a:rPr>
                        <a:t>15</a:t>
                      </a:r>
                      <a:endParaRPr lang="ru-RU" sz="2800" b="1" dirty="0">
                        <a:solidFill>
                          <a:schemeClr val="bg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b="1" dirty="0">
                          <a:solidFill>
                            <a:schemeClr val="bg2">
                              <a:lumMod val="60000"/>
                              <a:lumOff val="40000"/>
                            </a:schemeClr>
                          </a:solidFill>
                        </a:rPr>
                        <a:t>15</a:t>
                      </a:r>
                      <a:endParaRPr lang="ru-RU" sz="2800" b="1" dirty="0">
                        <a:solidFill>
                          <a:schemeClr val="bg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b="1" dirty="0">
                          <a:solidFill>
                            <a:schemeClr val="bg2">
                              <a:lumMod val="60000"/>
                              <a:lumOff val="40000"/>
                            </a:schemeClr>
                          </a:solidFill>
                        </a:rPr>
                        <a:t>18</a:t>
                      </a:r>
                      <a:endParaRPr lang="ru-RU" sz="2800" b="1" dirty="0">
                        <a:solidFill>
                          <a:schemeClr val="bg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6935" name="Прямоугольник 7"/>
          <p:cNvSpPr>
            <a:spLocks noChangeArrowheads="1"/>
          </p:cNvSpPr>
          <p:nvPr/>
        </p:nvSpPr>
        <p:spPr bwMode="auto">
          <a:xfrm>
            <a:off x="0" y="5386388"/>
            <a:ext cx="873442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buFont typeface="Wingdings" panose="05000000000000000000" pitchFamily="2" charset="2"/>
              <a:buNone/>
            </a:pPr>
            <a:r>
              <a:rPr lang="ru-RU" altLang="ru-RU" sz="2800">
                <a:solidFill>
                  <a:schemeClr val="bg2"/>
                </a:solidFill>
              </a:rPr>
              <a:t>9961 2995 1942 4827 5436 2391 4604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Содержимое 6"/>
          <p:cNvGraphicFramePr>
            <a:graphicFrameLocks noGrp="1"/>
          </p:cNvGraphicFramePr>
          <p:nvPr>
            <p:ph idx="1"/>
          </p:nvPr>
        </p:nvGraphicFramePr>
        <p:xfrm>
          <a:off x="409575" y="2662238"/>
          <a:ext cx="8229600" cy="2263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65944">
                <a:tc>
                  <a:txBody>
                    <a:bodyPr/>
                    <a:lstStyle/>
                    <a:p>
                      <a:endParaRPr lang="ru-RU" sz="2800" b="1" dirty="0">
                        <a:solidFill>
                          <a:schemeClr val="bg2"/>
                        </a:solidFill>
                      </a:endParaRPr>
                    </a:p>
                  </a:txBody>
                  <a:tcPr marT="45719" marB="45719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2800" b="1" dirty="0">
                          <a:solidFill>
                            <a:schemeClr val="bg2"/>
                          </a:solidFill>
                        </a:rPr>
                        <a:t>1478</a:t>
                      </a:r>
                    </a:p>
                  </a:txBody>
                  <a:tcPr marT="45719" marB="45719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2800" b="1" dirty="0">
                        <a:solidFill>
                          <a:schemeClr val="bg2"/>
                        </a:solidFill>
                      </a:endParaRPr>
                    </a:p>
                  </a:txBody>
                  <a:tcPr marT="45719" marB="45719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2800" b="1" dirty="0">
                          <a:solidFill>
                            <a:schemeClr val="bg2"/>
                          </a:solidFill>
                        </a:rPr>
                        <a:t>2995</a:t>
                      </a:r>
                    </a:p>
                  </a:txBody>
                  <a:tcPr marT="45719" marB="45719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2800" b="1" dirty="0">
                          <a:solidFill>
                            <a:schemeClr val="bg2"/>
                          </a:solidFill>
                        </a:rPr>
                        <a:t>3281 </a:t>
                      </a:r>
                    </a:p>
                  </a:txBody>
                  <a:tcPr marT="45719" marB="45719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5944">
                <a:tc>
                  <a:txBody>
                    <a:bodyPr/>
                    <a:lstStyle/>
                    <a:p>
                      <a:endParaRPr lang="ru-RU" sz="2800" b="1">
                        <a:solidFill>
                          <a:schemeClr val="bg2"/>
                        </a:solidFill>
                      </a:endParaRPr>
                    </a:p>
                  </a:txBody>
                  <a:tcPr marT="45719" marB="45719"/>
                </a:tc>
                <a:tc>
                  <a:txBody>
                    <a:bodyPr/>
                    <a:lstStyle/>
                    <a:p>
                      <a:endParaRPr lang="ru-RU" sz="2800" b="1">
                        <a:solidFill>
                          <a:schemeClr val="bg2"/>
                        </a:solidFill>
                      </a:endParaRPr>
                    </a:p>
                  </a:txBody>
                  <a:tcPr marT="45719" marB="45719"/>
                </a:tc>
                <a:tc>
                  <a:txBody>
                    <a:bodyPr/>
                    <a:lstStyle/>
                    <a:p>
                      <a:r>
                        <a:rPr lang="ru-RU" sz="2800" b="1" dirty="0">
                          <a:solidFill>
                            <a:schemeClr val="bg2"/>
                          </a:solidFill>
                        </a:rPr>
                        <a:t>4464</a:t>
                      </a:r>
                    </a:p>
                  </a:txBody>
                  <a:tcPr marT="45719" marB="45719"/>
                </a:tc>
                <a:tc>
                  <a:txBody>
                    <a:bodyPr/>
                    <a:lstStyle/>
                    <a:p>
                      <a:endParaRPr lang="ru-RU" sz="2800" b="1" dirty="0">
                        <a:solidFill>
                          <a:schemeClr val="bg2"/>
                        </a:solidFill>
                      </a:endParaRPr>
                    </a:p>
                  </a:txBody>
                  <a:tcPr marT="45719" marB="45719"/>
                </a:tc>
                <a:tc>
                  <a:txBody>
                    <a:bodyPr/>
                    <a:lstStyle/>
                    <a:p>
                      <a:r>
                        <a:rPr lang="ru-RU" sz="2800" b="1" dirty="0">
                          <a:solidFill>
                            <a:schemeClr val="bg2"/>
                          </a:solidFill>
                        </a:rPr>
                        <a:t>5705</a:t>
                      </a:r>
                    </a:p>
                  </a:txBody>
                  <a:tcPr marT="45719" marB="45719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5944">
                <a:tc>
                  <a:txBody>
                    <a:bodyPr/>
                    <a:lstStyle/>
                    <a:p>
                      <a:r>
                        <a:rPr lang="ru-RU" sz="2800" b="1" dirty="0">
                          <a:solidFill>
                            <a:schemeClr val="bg2"/>
                          </a:solidFill>
                        </a:rPr>
                        <a:t>5724</a:t>
                      </a:r>
                    </a:p>
                  </a:txBody>
                  <a:tcPr marT="45719" marB="45719"/>
                </a:tc>
                <a:tc>
                  <a:txBody>
                    <a:bodyPr/>
                    <a:lstStyle/>
                    <a:p>
                      <a:r>
                        <a:rPr lang="ru-RU" sz="2800" b="1" dirty="0">
                          <a:solidFill>
                            <a:schemeClr val="bg2"/>
                          </a:solidFill>
                        </a:rPr>
                        <a:t>6827</a:t>
                      </a:r>
                    </a:p>
                  </a:txBody>
                  <a:tcPr marT="45719" marB="45719"/>
                </a:tc>
                <a:tc>
                  <a:txBody>
                    <a:bodyPr/>
                    <a:lstStyle/>
                    <a:p>
                      <a:r>
                        <a:rPr lang="ru-RU" sz="2800" b="1" dirty="0">
                          <a:solidFill>
                            <a:schemeClr val="bg2"/>
                          </a:solidFill>
                        </a:rPr>
                        <a:t>6962</a:t>
                      </a:r>
                    </a:p>
                  </a:txBody>
                  <a:tcPr marT="45719" marB="45719"/>
                </a:tc>
                <a:tc>
                  <a:txBody>
                    <a:bodyPr/>
                    <a:lstStyle/>
                    <a:p>
                      <a:r>
                        <a:rPr lang="ru-RU" sz="2800" b="1" dirty="0">
                          <a:solidFill>
                            <a:schemeClr val="bg2"/>
                          </a:solidFill>
                        </a:rPr>
                        <a:t>6500</a:t>
                      </a:r>
                    </a:p>
                  </a:txBody>
                  <a:tcPr marT="45719" marB="45719"/>
                </a:tc>
                <a:tc>
                  <a:txBody>
                    <a:bodyPr/>
                    <a:lstStyle/>
                    <a:p>
                      <a:r>
                        <a:rPr lang="ru-RU" sz="2800" b="1" dirty="0">
                          <a:solidFill>
                            <a:schemeClr val="bg2"/>
                          </a:solidFill>
                        </a:rPr>
                        <a:t>6334</a:t>
                      </a:r>
                    </a:p>
                  </a:txBody>
                  <a:tcPr marT="45719" marB="45719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5944">
                <a:tc>
                  <a:txBody>
                    <a:bodyPr/>
                    <a:lstStyle/>
                    <a:p>
                      <a:r>
                        <a:rPr lang="ru-RU" sz="2800" b="1" dirty="0">
                          <a:solidFill>
                            <a:schemeClr val="bg2"/>
                          </a:solidFill>
                        </a:rPr>
                        <a:t>8145</a:t>
                      </a:r>
                    </a:p>
                  </a:txBody>
                  <a:tcPr marT="45719" marB="45719"/>
                </a:tc>
                <a:tc>
                  <a:txBody>
                    <a:bodyPr/>
                    <a:lstStyle/>
                    <a:p>
                      <a:r>
                        <a:rPr lang="ru-RU" sz="2800" b="1" dirty="0">
                          <a:solidFill>
                            <a:schemeClr val="bg2"/>
                          </a:solidFill>
                        </a:rPr>
                        <a:t>8467</a:t>
                      </a:r>
                    </a:p>
                  </a:txBody>
                  <a:tcPr marT="45719" marB="45719"/>
                </a:tc>
                <a:tc>
                  <a:txBody>
                    <a:bodyPr/>
                    <a:lstStyle/>
                    <a:p>
                      <a:r>
                        <a:rPr lang="ru-RU" sz="2800" b="1" dirty="0">
                          <a:solidFill>
                            <a:schemeClr val="bg2"/>
                          </a:solidFill>
                        </a:rPr>
                        <a:t>9961</a:t>
                      </a:r>
                    </a:p>
                  </a:txBody>
                  <a:tcPr marT="45719" marB="45719"/>
                </a:tc>
                <a:tc>
                  <a:txBody>
                    <a:bodyPr/>
                    <a:lstStyle/>
                    <a:p>
                      <a:r>
                        <a:rPr lang="ru-RU" sz="2800" b="1" dirty="0">
                          <a:solidFill>
                            <a:schemeClr val="bg2"/>
                          </a:solidFill>
                        </a:rPr>
                        <a:t>9358</a:t>
                      </a:r>
                    </a:p>
                  </a:txBody>
                  <a:tcPr marT="45719" marB="45719"/>
                </a:tc>
                <a:tc>
                  <a:txBody>
                    <a:bodyPr/>
                    <a:lstStyle/>
                    <a:p>
                      <a:r>
                        <a:rPr lang="ru-RU" sz="2800" b="1" dirty="0">
                          <a:solidFill>
                            <a:schemeClr val="bg2"/>
                          </a:solidFill>
                        </a:rPr>
                        <a:t>9169</a:t>
                      </a:r>
                    </a:p>
                  </a:txBody>
                  <a:tcPr marT="45719" marB="45719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Заголовок 1"/>
          <p:cNvSpPr txBox="1">
            <a:spLocks/>
          </p:cNvSpPr>
          <p:nvPr/>
        </p:nvSpPr>
        <p:spPr bwMode="auto">
          <a:xfrm>
            <a:off x="519113" y="288925"/>
            <a:ext cx="8229600" cy="455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>
              <a:defRPr/>
            </a:pPr>
            <a:r>
              <a:rPr lang="ru-RU" sz="3600" kern="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Поразрядная </a:t>
            </a:r>
            <a:r>
              <a:rPr lang="en-US" sz="3600" i="1" kern="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MSD - </a:t>
            </a:r>
            <a:r>
              <a:rPr lang="ru-RU" sz="3600" kern="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сортировка</a:t>
            </a:r>
          </a:p>
        </p:txBody>
      </p:sp>
      <p:sp>
        <p:nvSpPr>
          <p:cNvPr id="5" name="Прямоугольник 4"/>
          <p:cNvSpPr/>
          <p:nvPr/>
        </p:nvSpPr>
        <p:spPr bwMode="auto">
          <a:xfrm>
            <a:off x="592138" y="1201738"/>
            <a:ext cx="839787" cy="693737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 eaLnBrk="1" hangingPunct="1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None/>
              <a:defRPr/>
            </a:pPr>
            <a:r>
              <a:rPr lang="en-US" i="1" dirty="0">
                <a:solidFill>
                  <a:schemeClr val="bg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</a:t>
            </a:r>
            <a:endParaRPr lang="ru-RU" i="1" dirty="0">
              <a:solidFill>
                <a:schemeClr val="bg2">
                  <a:lumMod val="60000"/>
                  <a:lumOff val="4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aphicFrame>
        <p:nvGraphicFramePr>
          <p:cNvPr id="6" name="Таблица 5"/>
          <p:cNvGraphicFramePr>
            <a:graphicFrameLocks noGrp="1"/>
          </p:cNvGraphicFramePr>
          <p:nvPr/>
        </p:nvGraphicFramePr>
        <p:xfrm>
          <a:off x="1687513" y="1092200"/>
          <a:ext cx="6789737" cy="88900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67897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897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7897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7897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7897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7897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7897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78974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78974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78974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bg2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bg2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bg2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bg2"/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bg2"/>
                          </a:solidFill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bg2"/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bg2"/>
                          </a:solidFill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bg2"/>
                          </a:solidFill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bg2"/>
                          </a:solidFill>
                        </a:rP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bg2"/>
                          </a:solidFill>
                        </a:rPr>
                        <a:t>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2800" b="1" dirty="0">
                          <a:solidFill>
                            <a:schemeClr val="bg2">
                              <a:lumMod val="60000"/>
                              <a:lumOff val="40000"/>
                            </a:schemeClr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b="1" dirty="0">
                          <a:solidFill>
                            <a:schemeClr val="bg2">
                              <a:lumMod val="60000"/>
                              <a:lumOff val="40000"/>
                            </a:schemeClr>
                          </a:solidFill>
                        </a:rPr>
                        <a:t>1</a:t>
                      </a:r>
                      <a:endParaRPr lang="ru-RU" sz="2800" b="1" dirty="0">
                        <a:solidFill>
                          <a:schemeClr val="bg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b="1" dirty="0">
                          <a:solidFill>
                            <a:schemeClr val="bg2">
                              <a:lumMod val="60000"/>
                              <a:lumOff val="40000"/>
                            </a:schemeClr>
                          </a:solidFill>
                        </a:rPr>
                        <a:t>4</a:t>
                      </a:r>
                      <a:endParaRPr lang="ru-RU" sz="2800" b="1" dirty="0">
                        <a:solidFill>
                          <a:schemeClr val="bg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b="1" dirty="0">
                          <a:solidFill>
                            <a:schemeClr val="bg2">
                              <a:lumMod val="60000"/>
                              <a:lumOff val="40000"/>
                            </a:schemeClr>
                          </a:solidFill>
                        </a:rPr>
                        <a:t>4</a:t>
                      </a:r>
                      <a:endParaRPr lang="ru-RU" sz="2800" b="1" dirty="0">
                        <a:solidFill>
                          <a:schemeClr val="bg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b="1" dirty="0">
                          <a:solidFill>
                            <a:schemeClr val="bg2">
                              <a:lumMod val="60000"/>
                              <a:lumOff val="40000"/>
                            </a:schemeClr>
                          </a:solidFill>
                        </a:rPr>
                        <a:t>7</a:t>
                      </a:r>
                      <a:endParaRPr lang="ru-RU" sz="2800" b="1" dirty="0">
                        <a:solidFill>
                          <a:schemeClr val="bg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b="1" dirty="0">
                          <a:solidFill>
                            <a:schemeClr val="bg2">
                              <a:lumMod val="60000"/>
                              <a:lumOff val="40000"/>
                            </a:schemeClr>
                          </a:solidFill>
                        </a:rPr>
                        <a:t>9</a:t>
                      </a:r>
                      <a:endParaRPr lang="ru-RU" sz="2800" b="1" dirty="0">
                        <a:solidFill>
                          <a:schemeClr val="bg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b="1" dirty="0">
                          <a:solidFill>
                            <a:schemeClr val="bg2">
                              <a:lumMod val="60000"/>
                              <a:lumOff val="40000"/>
                            </a:schemeClr>
                          </a:solidFill>
                        </a:rPr>
                        <a:t>11</a:t>
                      </a:r>
                      <a:endParaRPr lang="ru-RU" sz="2800" b="1" dirty="0">
                        <a:solidFill>
                          <a:schemeClr val="bg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b="1" dirty="0">
                          <a:solidFill>
                            <a:schemeClr val="bg2">
                              <a:lumMod val="60000"/>
                              <a:lumOff val="40000"/>
                            </a:schemeClr>
                          </a:solidFill>
                        </a:rPr>
                        <a:t>15</a:t>
                      </a:r>
                      <a:endParaRPr lang="ru-RU" sz="2800" b="1" dirty="0">
                        <a:solidFill>
                          <a:schemeClr val="bg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b="1" dirty="0">
                          <a:solidFill>
                            <a:schemeClr val="bg2">
                              <a:lumMod val="60000"/>
                              <a:lumOff val="40000"/>
                            </a:schemeClr>
                          </a:solidFill>
                        </a:rPr>
                        <a:t>15</a:t>
                      </a:r>
                      <a:endParaRPr lang="ru-RU" sz="2800" b="1" dirty="0">
                        <a:solidFill>
                          <a:schemeClr val="bg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b="1" dirty="0">
                          <a:solidFill>
                            <a:schemeClr val="bg2">
                              <a:lumMod val="60000"/>
                              <a:lumOff val="40000"/>
                            </a:schemeClr>
                          </a:solidFill>
                        </a:rPr>
                        <a:t>17</a:t>
                      </a:r>
                      <a:endParaRPr lang="ru-RU" sz="2800" b="1" dirty="0">
                        <a:solidFill>
                          <a:schemeClr val="bg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7959" name="Прямоугольник 7"/>
          <p:cNvSpPr>
            <a:spLocks noChangeArrowheads="1"/>
          </p:cNvSpPr>
          <p:nvPr/>
        </p:nvSpPr>
        <p:spPr bwMode="auto">
          <a:xfrm>
            <a:off x="0" y="5386388"/>
            <a:ext cx="873442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buFont typeface="Wingdings" panose="05000000000000000000" pitchFamily="2" charset="2"/>
              <a:buNone/>
            </a:pPr>
            <a:r>
              <a:rPr lang="ru-RU" altLang="ru-RU" sz="2800">
                <a:solidFill>
                  <a:schemeClr val="bg2"/>
                </a:solidFill>
              </a:rPr>
              <a:t>2995 1942 4827 5436 2391 4604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Содержимое 6"/>
          <p:cNvGraphicFramePr>
            <a:graphicFrameLocks noGrp="1"/>
          </p:cNvGraphicFramePr>
          <p:nvPr>
            <p:ph idx="1"/>
          </p:nvPr>
        </p:nvGraphicFramePr>
        <p:xfrm>
          <a:off x="409575" y="2662238"/>
          <a:ext cx="8229600" cy="2263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65944">
                <a:tc>
                  <a:txBody>
                    <a:bodyPr/>
                    <a:lstStyle/>
                    <a:p>
                      <a:r>
                        <a:rPr lang="ru-RU" sz="2800" b="1" dirty="0">
                          <a:solidFill>
                            <a:schemeClr val="bg2"/>
                          </a:solidFill>
                        </a:rPr>
                        <a:t>1942</a:t>
                      </a:r>
                    </a:p>
                  </a:txBody>
                  <a:tcPr marT="45719" marB="45719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2800" b="1" dirty="0">
                          <a:solidFill>
                            <a:schemeClr val="bg2"/>
                          </a:solidFill>
                        </a:rPr>
                        <a:t>1478</a:t>
                      </a:r>
                    </a:p>
                  </a:txBody>
                  <a:tcPr marT="45719" marB="45719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2800" b="1" dirty="0">
                        <a:solidFill>
                          <a:schemeClr val="bg2"/>
                        </a:solidFill>
                      </a:endParaRPr>
                    </a:p>
                  </a:txBody>
                  <a:tcPr marT="45719" marB="45719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2800" b="1" dirty="0">
                          <a:solidFill>
                            <a:schemeClr val="bg2"/>
                          </a:solidFill>
                        </a:rPr>
                        <a:t>2995</a:t>
                      </a:r>
                    </a:p>
                  </a:txBody>
                  <a:tcPr marT="45719" marB="45719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2800" b="1" dirty="0">
                          <a:solidFill>
                            <a:schemeClr val="bg2"/>
                          </a:solidFill>
                        </a:rPr>
                        <a:t>3281 </a:t>
                      </a:r>
                    </a:p>
                  </a:txBody>
                  <a:tcPr marT="45719" marB="45719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5944">
                <a:tc>
                  <a:txBody>
                    <a:bodyPr/>
                    <a:lstStyle/>
                    <a:p>
                      <a:endParaRPr lang="ru-RU" sz="2800" b="1">
                        <a:solidFill>
                          <a:schemeClr val="bg2"/>
                        </a:solidFill>
                      </a:endParaRPr>
                    </a:p>
                  </a:txBody>
                  <a:tcPr marT="45719" marB="45719"/>
                </a:tc>
                <a:tc>
                  <a:txBody>
                    <a:bodyPr/>
                    <a:lstStyle/>
                    <a:p>
                      <a:endParaRPr lang="ru-RU" sz="2800" b="1">
                        <a:solidFill>
                          <a:schemeClr val="bg2"/>
                        </a:solidFill>
                      </a:endParaRPr>
                    </a:p>
                  </a:txBody>
                  <a:tcPr marT="45719" marB="45719"/>
                </a:tc>
                <a:tc>
                  <a:txBody>
                    <a:bodyPr/>
                    <a:lstStyle/>
                    <a:p>
                      <a:r>
                        <a:rPr lang="ru-RU" sz="2800" b="1" dirty="0">
                          <a:solidFill>
                            <a:schemeClr val="bg2"/>
                          </a:solidFill>
                        </a:rPr>
                        <a:t>4464</a:t>
                      </a:r>
                    </a:p>
                  </a:txBody>
                  <a:tcPr marT="45719" marB="45719"/>
                </a:tc>
                <a:tc>
                  <a:txBody>
                    <a:bodyPr/>
                    <a:lstStyle/>
                    <a:p>
                      <a:endParaRPr lang="ru-RU" sz="2800" b="1" dirty="0">
                        <a:solidFill>
                          <a:schemeClr val="bg2"/>
                        </a:solidFill>
                      </a:endParaRPr>
                    </a:p>
                  </a:txBody>
                  <a:tcPr marT="45719" marB="45719"/>
                </a:tc>
                <a:tc>
                  <a:txBody>
                    <a:bodyPr/>
                    <a:lstStyle/>
                    <a:p>
                      <a:r>
                        <a:rPr lang="ru-RU" sz="2800" b="1" dirty="0">
                          <a:solidFill>
                            <a:schemeClr val="bg2"/>
                          </a:solidFill>
                        </a:rPr>
                        <a:t>5705</a:t>
                      </a:r>
                    </a:p>
                  </a:txBody>
                  <a:tcPr marT="45719" marB="45719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5944">
                <a:tc>
                  <a:txBody>
                    <a:bodyPr/>
                    <a:lstStyle/>
                    <a:p>
                      <a:r>
                        <a:rPr lang="ru-RU" sz="2800" b="1" dirty="0">
                          <a:solidFill>
                            <a:schemeClr val="bg2"/>
                          </a:solidFill>
                        </a:rPr>
                        <a:t>5724</a:t>
                      </a:r>
                    </a:p>
                  </a:txBody>
                  <a:tcPr marT="45719" marB="45719"/>
                </a:tc>
                <a:tc>
                  <a:txBody>
                    <a:bodyPr/>
                    <a:lstStyle/>
                    <a:p>
                      <a:r>
                        <a:rPr lang="ru-RU" sz="2800" b="1" dirty="0">
                          <a:solidFill>
                            <a:schemeClr val="bg2"/>
                          </a:solidFill>
                        </a:rPr>
                        <a:t>6827</a:t>
                      </a:r>
                    </a:p>
                  </a:txBody>
                  <a:tcPr marT="45719" marB="45719"/>
                </a:tc>
                <a:tc>
                  <a:txBody>
                    <a:bodyPr/>
                    <a:lstStyle/>
                    <a:p>
                      <a:r>
                        <a:rPr lang="ru-RU" sz="2800" b="1" dirty="0">
                          <a:solidFill>
                            <a:schemeClr val="bg2"/>
                          </a:solidFill>
                        </a:rPr>
                        <a:t>6962</a:t>
                      </a:r>
                    </a:p>
                  </a:txBody>
                  <a:tcPr marT="45719" marB="45719"/>
                </a:tc>
                <a:tc>
                  <a:txBody>
                    <a:bodyPr/>
                    <a:lstStyle/>
                    <a:p>
                      <a:r>
                        <a:rPr lang="ru-RU" sz="2800" b="1" dirty="0">
                          <a:solidFill>
                            <a:schemeClr val="bg2"/>
                          </a:solidFill>
                        </a:rPr>
                        <a:t>6500</a:t>
                      </a:r>
                    </a:p>
                  </a:txBody>
                  <a:tcPr marT="45719" marB="45719"/>
                </a:tc>
                <a:tc>
                  <a:txBody>
                    <a:bodyPr/>
                    <a:lstStyle/>
                    <a:p>
                      <a:r>
                        <a:rPr lang="ru-RU" sz="2800" b="1" dirty="0">
                          <a:solidFill>
                            <a:schemeClr val="bg2"/>
                          </a:solidFill>
                        </a:rPr>
                        <a:t>6334</a:t>
                      </a:r>
                    </a:p>
                  </a:txBody>
                  <a:tcPr marT="45719" marB="45719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5944">
                <a:tc>
                  <a:txBody>
                    <a:bodyPr/>
                    <a:lstStyle/>
                    <a:p>
                      <a:r>
                        <a:rPr lang="ru-RU" sz="2800" b="1" dirty="0">
                          <a:solidFill>
                            <a:schemeClr val="bg2"/>
                          </a:solidFill>
                        </a:rPr>
                        <a:t>8145</a:t>
                      </a:r>
                    </a:p>
                  </a:txBody>
                  <a:tcPr marT="45719" marB="45719"/>
                </a:tc>
                <a:tc>
                  <a:txBody>
                    <a:bodyPr/>
                    <a:lstStyle/>
                    <a:p>
                      <a:r>
                        <a:rPr lang="ru-RU" sz="2800" b="1" dirty="0">
                          <a:solidFill>
                            <a:schemeClr val="bg2"/>
                          </a:solidFill>
                        </a:rPr>
                        <a:t>8467</a:t>
                      </a:r>
                    </a:p>
                  </a:txBody>
                  <a:tcPr marT="45719" marB="45719"/>
                </a:tc>
                <a:tc>
                  <a:txBody>
                    <a:bodyPr/>
                    <a:lstStyle/>
                    <a:p>
                      <a:r>
                        <a:rPr lang="ru-RU" sz="2800" b="1" dirty="0">
                          <a:solidFill>
                            <a:schemeClr val="bg2"/>
                          </a:solidFill>
                        </a:rPr>
                        <a:t>9961</a:t>
                      </a:r>
                    </a:p>
                  </a:txBody>
                  <a:tcPr marT="45719" marB="45719"/>
                </a:tc>
                <a:tc>
                  <a:txBody>
                    <a:bodyPr/>
                    <a:lstStyle/>
                    <a:p>
                      <a:r>
                        <a:rPr lang="ru-RU" sz="2800" b="1" dirty="0">
                          <a:solidFill>
                            <a:schemeClr val="bg2"/>
                          </a:solidFill>
                        </a:rPr>
                        <a:t>9358</a:t>
                      </a:r>
                    </a:p>
                  </a:txBody>
                  <a:tcPr marT="45719" marB="45719"/>
                </a:tc>
                <a:tc>
                  <a:txBody>
                    <a:bodyPr/>
                    <a:lstStyle/>
                    <a:p>
                      <a:r>
                        <a:rPr lang="ru-RU" sz="2800" b="1" dirty="0">
                          <a:solidFill>
                            <a:schemeClr val="bg2"/>
                          </a:solidFill>
                        </a:rPr>
                        <a:t>9169</a:t>
                      </a:r>
                    </a:p>
                  </a:txBody>
                  <a:tcPr marT="45719" marB="45719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Заголовок 1"/>
          <p:cNvSpPr txBox="1">
            <a:spLocks/>
          </p:cNvSpPr>
          <p:nvPr/>
        </p:nvSpPr>
        <p:spPr bwMode="auto">
          <a:xfrm>
            <a:off x="519113" y="288925"/>
            <a:ext cx="8229600" cy="455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>
              <a:defRPr/>
            </a:pPr>
            <a:r>
              <a:rPr lang="ru-RU" sz="3600" kern="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Поразрядная </a:t>
            </a:r>
            <a:r>
              <a:rPr lang="en-US" sz="3600" i="1" kern="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MSD - </a:t>
            </a:r>
            <a:r>
              <a:rPr lang="ru-RU" sz="3600" kern="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сортировка</a:t>
            </a:r>
          </a:p>
        </p:txBody>
      </p:sp>
      <p:sp>
        <p:nvSpPr>
          <p:cNvPr id="5" name="Прямоугольник 4"/>
          <p:cNvSpPr/>
          <p:nvPr/>
        </p:nvSpPr>
        <p:spPr bwMode="auto">
          <a:xfrm>
            <a:off x="592138" y="1201738"/>
            <a:ext cx="839787" cy="693737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 eaLnBrk="1" hangingPunct="1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None/>
              <a:defRPr/>
            </a:pPr>
            <a:r>
              <a:rPr lang="en-US" i="1" dirty="0">
                <a:solidFill>
                  <a:schemeClr val="bg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</a:t>
            </a:r>
            <a:endParaRPr lang="ru-RU" i="1" dirty="0">
              <a:solidFill>
                <a:schemeClr val="bg2">
                  <a:lumMod val="60000"/>
                  <a:lumOff val="4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aphicFrame>
        <p:nvGraphicFramePr>
          <p:cNvPr id="6" name="Таблица 5"/>
          <p:cNvGraphicFramePr>
            <a:graphicFrameLocks noGrp="1"/>
          </p:cNvGraphicFramePr>
          <p:nvPr/>
        </p:nvGraphicFramePr>
        <p:xfrm>
          <a:off x="1687513" y="1092200"/>
          <a:ext cx="6789737" cy="88900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67897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897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7897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7897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7897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7897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7897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78974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78974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78974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bg2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bg2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bg2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bg2"/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bg2"/>
                          </a:solidFill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bg2"/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bg2"/>
                          </a:solidFill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bg2"/>
                          </a:solidFill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bg2"/>
                          </a:solidFill>
                        </a:rP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bg2"/>
                          </a:solidFill>
                        </a:rPr>
                        <a:t>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2800" b="1" dirty="0">
                          <a:solidFill>
                            <a:schemeClr val="bg2">
                              <a:lumMod val="60000"/>
                              <a:lumOff val="40000"/>
                            </a:schemeClr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b="1" dirty="0">
                          <a:solidFill>
                            <a:schemeClr val="bg2">
                              <a:lumMod val="60000"/>
                              <a:lumOff val="40000"/>
                            </a:schemeClr>
                          </a:solidFill>
                        </a:rPr>
                        <a:t>1</a:t>
                      </a:r>
                      <a:endParaRPr lang="ru-RU" sz="2800" b="1" dirty="0">
                        <a:solidFill>
                          <a:schemeClr val="bg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b="1" dirty="0">
                          <a:solidFill>
                            <a:schemeClr val="bg2">
                              <a:lumMod val="60000"/>
                              <a:lumOff val="40000"/>
                            </a:schemeClr>
                          </a:solidFill>
                        </a:rPr>
                        <a:t>3</a:t>
                      </a:r>
                      <a:endParaRPr lang="ru-RU" sz="2800" b="1" dirty="0">
                        <a:solidFill>
                          <a:schemeClr val="bg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b="1" dirty="0">
                          <a:solidFill>
                            <a:schemeClr val="bg2">
                              <a:lumMod val="60000"/>
                              <a:lumOff val="40000"/>
                            </a:schemeClr>
                          </a:solidFill>
                        </a:rPr>
                        <a:t>4</a:t>
                      </a:r>
                      <a:endParaRPr lang="ru-RU" sz="2800" b="1" dirty="0">
                        <a:solidFill>
                          <a:schemeClr val="bg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b="1" dirty="0">
                          <a:solidFill>
                            <a:schemeClr val="bg2">
                              <a:lumMod val="60000"/>
                              <a:lumOff val="40000"/>
                            </a:schemeClr>
                          </a:solidFill>
                        </a:rPr>
                        <a:t>7</a:t>
                      </a:r>
                      <a:endParaRPr lang="ru-RU" sz="2800" b="1" dirty="0">
                        <a:solidFill>
                          <a:schemeClr val="bg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b="1" dirty="0">
                          <a:solidFill>
                            <a:schemeClr val="bg2">
                              <a:lumMod val="60000"/>
                              <a:lumOff val="40000"/>
                            </a:schemeClr>
                          </a:solidFill>
                        </a:rPr>
                        <a:t>9</a:t>
                      </a:r>
                      <a:endParaRPr lang="ru-RU" sz="2800" b="1" dirty="0">
                        <a:solidFill>
                          <a:schemeClr val="bg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b="1" dirty="0">
                          <a:solidFill>
                            <a:schemeClr val="bg2">
                              <a:lumMod val="60000"/>
                              <a:lumOff val="40000"/>
                            </a:schemeClr>
                          </a:solidFill>
                        </a:rPr>
                        <a:t>11</a:t>
                      </a:r>
                      <a:endParaRPr lang="ru-RU" sz="2800" b="1" dirty="0">
                        <a:solidFill>
                          <a:schemeClr val="bg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b="1" dirty="0">
                          <a:solidFill>
                            <a:schemeClr val="bg2">
                              <a:lumMod val="60000"/>
                              <a:lumOff val="40000"/>
                            </a:schemeClr>
                          </a:solidFill>
                        </a:rPr>
                        <a:t>15</a:t>
                      </a:r>
                      <a:endParaRPr lang="ru-RU" sz="2800" b="1" dirty="0">
                        <a:solidFill>
                          <a:schemeClr val="bg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b="1" dirty="0">
                          <a:solidFill>
                            <a:schemeClr val="bg2">
                              <a:lumMod val="60000"/>
                              <a:lumOff val="40000"/>
                            </a:schemeClr>
                          </a:solidFill>
                        </a:rPr>
                        <a:t>15</a:t>
                      </a:r>
                      <a:endParaRPr lang="ru-RU" sz="2800" b="1" dirty="0">
                        <a:solidFill>
                          <a:schemeClr val="bg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b="1" dirty="0">
                          <a:solidFill>
                            <a:schemeClr val="bg2">
                              <a:lumMod val="60000"/>
                              <a:lumOff val="40000"/>
                            </a:schemeClr>
                          </a:solidFill>
                        </a:rPr>
                        <a:t>17</a:t>
                      </a:r>
                      <a:endParaRPr lang="ru-RU" sz="2800" b="1" dirty="0">
                        <a:solidFill>
                          <a:schemeClr val="bg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8983" name="Прямоугольник 7"/>
          <p:cNvSpPr>
            <a:spLocks noChangeArrowheads="1"/>
          </p:cNvSpPr>
          <p:nvPr/>
        </p:nvSpPr>
        <p:spPr bwMode="auto">
          <a:xfrm>
            <a:off x="0" y="5386388"/>
            <a:ext cx="873442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buFont typeface="Wingdings" panose="05000000000000000000" pitchFamily="2" charset="2"/>
              <a:buNone/>
            </a:pPr>
            <a:r>
              <a:rPr lang="ru-RU" altLang="ru-RU" sz="2800">
                <a:solidFill>
                  <a:schemeClr val="bg2"/>
                </a:solidFill>
              </a:rPr>
              <a:t>1942 4827 5436 2391 4604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Содержимое 6"/>
          <p:cNvGraphicFramePr>
            <a:graphicFrameLocks noGrp="1"/>
          </p:cNvGraphicFramePr>
          <p:nvPr>
            <p:ph idx="1"/>
          </p:nvPr>
        </p:nvGraphicFramePr>
        <p:xfrm>
          <a:off x="409575" y="2662238"/>
          <a:ext cx="8229600" cy="2263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65944">
                <a:tc>
                  <a:txBody>
                    <a:bodyPr/>
                    <a:lstStyle/>
                    <a:p>
                      <a:r>
                        <a:rPr lang="ru-RU" sz="2800" b="1" dirty="0">
                          <a:solidFill>
                            <a:schemeClr val="bg2"/>
                          </a:solidFill>
                        </a:rPr>
                        <a:t>1942</a:t>
                      </a:r>
                    </a:p>
                  </a:txBody>
                  <a:tcPr marT="45719" marB="45719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2800" b="1" dirty="0">
                          <a:solidFill>
                            <a:schemeClr val="bg2"/>
                          </a:solidFill>
                        </a:rPr>
                        <a:t>1478</a:t>
                      </a:r>
                    </a:p>
                  </a:txBody>
                  <a:tcPr marT="45719" marB="45719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2800" b="1" dirty="0">
                        <a:solidFill>
                          <a:schemeClr val="bg2"/>
                        </a:solidFill>
                      </a:endParaRPr>
                    </a:p>
                  </a:txBody>
                  <a:tcPr marT="45719" marB="45719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2800" b="1" dirty="0">
                          <a:solidFill>
                            <a:schemeClr val="bg2"/>
                          </a:solidFill>
                        </a:rPr>
                        <a:t>2995</a:t>
                      </a:r>
                    </a:p>
                  </a:txBody>
                  <a:tcPr marT="45719" marB="45719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2800" b="1" dirty="0">
                          <a:solidFill>
                            <a:schemeClr val="bg2"/>
                          </a:solidFill>
                        </a:rPr>
                        <a:t>3281 </a:t>
                      </a:r>
                    </a:p>
                  </a:txBody>
                  <a:tcPr marT="45719" marB="45719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5944">
                <a:tc>
                  <a:txBody>
                    <a:bodyPr/>
                    <a:lstStyle/>
                    <a:p>
                      <a:endParaRPr lang="ru-RU" sz="2800" b="1">
                        <a:solidFill>
                          <a:schemeClr val="bg2"/>
                        </a:solidFill>
                      </a:endParaRPr>
                    </a:p>
                  </a:txBody>
                  <a:tcPr marT="45719" marB="45719"/>
                </a:tc>
                <a:tc>
                  <a:txBody>
                    <a:bodyPr/>
                    <a:lstStyle/>
                    <a:p>
                      <a:r>
                        <a:rPr lang="ru-RU" sz="2800" b="1" dirty="0">
                          <a:solidFill>
                            <a:schemeClr val="bg2"/>
                          </a:solidFill>
                        </a:rPr>
                        <a:t>4827</a:t>
                      </a:r>
                    </a:p>
                  </a:txBody>
                  <a:tcPr marT="45719" marB="45719"/>
                </a:tc>
                <a:tc>
                  <a:txBody>
                    <a:bodyPr/>
                    <a:lstStyle/>
                    <a:p>
                      <a:r>
                        <a:rPr lang="ru-RU" sz="2800" b="1" dirty="0">
                          <a:solidFill>
                            <a:schemeClr val="bg2"/>
                          </a:solidFill>
                        </a:rPr>
                        <a:t>4464</a:t>
                      </a:r>
                    </a:p>
                  </a:txBody>
                  <a:tcPr marT="45719" marB="45719"/>
                </a:tc>
                <a:tc>
                  <a:txBody>
                    <a:bodyPr/>
                    <a:lstStyle/>
                    <a:p>
                      <a:endParaRPr lang="ru-RU" sz="2800" b="1" dirty="0">
                        <a:solidFill>
                          <a:schemeClr val="bg2"/>
                        </a:solidFill>
                      </a:endParaRPr>
                    </a:p>
                  </a:txBody>
                  <a:tcPr marT="45719" marB="45719"/>
                </a:tc>
                <a:tc>
                  <a:txBody>
                    <a:bodyPr/>
                    <a:lstStyle/>
                    <a:p>
                      <a:r>
                        <a:rPr lang="ru-RU" sz="2800" b="1" dirty="0">
                          <a:solidFill>
                            <a:schemeClr val="bg2"/>
                          </a:solidFill>
                        </a:rPr>
                        <a:t>5705</a:t>
                      </a:r>
                    </a:p>
                  </a:txBody>
                  <a:tcPr marT="45719" marB="45719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5944">
                <a:tc>
                  <a:txBody>
                    <a:bodyPr/>
                    <a:lstStyle/>
                    <a:p>
                      <a:r>
                        <a:rPr lang="ru-RU" sz="2800" b="1" dirty="0">
                          <a:solidFill>
                            <a:schemeClr val="bg2"/>
                          </a:solidFill>
                        </a:rPr>
                        <a:t>5724</a:t>
                      </a:r>
                    </a:p>
                  </a:txBody>
                  <a:tcPr marT="45719" marB="45719"/>
                </a:tc>
                <a:tc>
                  <a:txBody>
                    <a:bodyPr/>
                    <a:lstStyle/>
                    <a:p>
                      <a:r>
                        <a:rPr lang="ru-RU" sz="2800" b="1" dirty="0">
                          <a:solidFill>
                            <a:schemeClr val="bg2"/>
                          </a:solidFill>
                        </a:rPr>
                        <a:t>6827</a:t>
                      </a:r>
                    </a:p>
                  </a:txBody>
                  <a:tcPr marT="45719" marB="45719"/>
                </a:tc>
                <a:tc>
                  <a:txBody>
                    <a:bodyPr/>
                    <a:lstStyle/>
                    <a:p>
                      <a:r>
                        <a:rPr lang="ru-RU" sz="2800" b="1" dirty="0">
                          <a:solidFill>
                            <a:schemeClr val="bg2"/>
                          </a:solidFill>
                        </a:rPr>
                        <a:t>6962</a:t>
                      </a:r>
                    </a:p>
                  </a:txBody>
                  <a:tcPr marT="45719" marB="45719"/>
                </a:tc>
                <a:tc>
                  <a:txBody>
                    <a:bodyPr/>
                    <a:lstStyle/>
                    <a:p>
                      <a:r>
                        <a:rPr lang="ru-RU" sz="2800" b="1" dirty="0">
                          <a:solidFill>
                            <a:schemeClr val="bg2"/>
                          </a:solidFill>
                        </a:rPr>
                        <a:t>6500</a:t>
                      </a:r>
                    </a:p>
                  </a:txBody>
                  <a:tcPr marT="45719" marB="45719"/>
                </a:tc>
                <a:tc>
                  <a:txBody>
                    <a:bodyPr/>
                    <a:lstStyle/>
                    <a:p>
                      <a:r>
                        <a:rPr lang="ru-RU" sz="2800" b="1" dirty="0">
                          <a:solidFill>
                            <a:schemeClr val="bg2"/>
                          </a:solidFill>
                        </a:rPr>
                        <a:t>6334</a:t>
                      </a:r>
                    </a:p>
                  </a:txBody>
                  <a:tcPr marT="45719" marB="45719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5944">
                <a:tc>
                  <a:txBody>
                    <a:bodyPr/>
                    <a:lstStyle/>
                    <a:p>
                      <a:r>
                        <a:rPr lang="ru-RU" sz="2800" b="1" dirty="0">
                          <a:solidFill>
                            <a:schemeClr val="bg2"/>
                          </a:solidFill>
                        </a:rPr>
                        <a:t>8145</a:t>
                      </a:r>
                    </a:p>
                  </a:txBody>
                  <a:tcPr marT="45719" marB="45719"/>
                </a:tc>
                <a:tc>
                  <a:txBody>
                    <a:bodyPr/>
                    <a:lstStyle/>
                    <a:p>
                      <a:r>
                        <a:rPr lang="ru-RU" sz="2800" b="1" dirty="0">
                          <a:solidFill>
                            <a:schemeClr val="bg2"/>
                          </a:solidFill>
                        </a:rPr>
                        <a:t>8467</a:t>
                      </a:r>
                    </a:p>
                  </a:txBody>
                  <a:tcPr marT="45719" marB="45719"/>
                </a:tc>
                <a:tc>
                  <a:txBody>
                    <a:bodyPr/>
                    <a:lstStyle/>
                    <a:p>
                      <a:r>
                        <a:rPr lang="ru-RU" sz="2800" b="1" dirty="0">
                          <a:solidFill>
                            <a:schemeClr val="bg2"/>
                          </a:solidFill>
                        </a:rPr>
                        <a:t>9961</a:t>
                      </a:r>
                    </a:p>
                  </a:txBody>
                  <a:tcPr marT="45719" marB="45719"/>
                </a:tc>
                <a:tc>
                  <a:txBody>
                    <a:bodyPr/>
                    <a:lstStyle/>
                    <a:p>
                      <a:r>
                        <a:rPr lang="ru-RU" sz="2800" b="1" dirty="0">
                          <a:solidFill>
                            <a:schemeClr val="bg2"/>
                          </a:solidFill>
                        </a:rPr>
                        <a:t>9358</a:t>
                      </a:r>
                    </a:p>
                  </a:txBody>
                  <a:tcPr marT="45719" marB="45719"/>
                </a:tc>
                <a:tc>
                  <a:txBody>
                    <a:bodyPr/>
                    <a:lstStyle/>
                    <a:p>
                      <a:r>
                        <a:rPr lang="ru-RU" sz="2800" b="1" dirty="0">
                          <a:solidFill>
                            <a:schemeClr val="bg2"/>
                          </a:solidFill>
                        </a:rPr>
                        <a:t>9169</a:t>
                      </a:r>
                    </a:p>
                  </a:txBody>
                  <a:tcPr marT="45719" marB="45719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Заголовок 1"/>
          <p:cNvSpPr txBox="1">
            <a:spLocks/>
          </p:cNvSpPr>
          <p:nvPr/>
        </p:nvSpPr>
        <p:spPr bwMode="auto">
          <a:xfrm>
            <a:off x="519113" y="288925"/>
            <a:ext cx="8229600" cy="455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>
              <a:defRPr/>
            </a:pPr>
            <a:r>
              <a:rPr lang="ru-RU" sz="3600" kern="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Поразрядная </a:t>
            </a:r>
            <a:r>
              <a:rPr lang="en-US" sz="3600" i="1" kern="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MSD - </a:t>
            </a:r>
            <a:r>
              <a:rPr lang="ru-RU" sz="3600" kern="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сортировка</a:t>
            </a:r>
          </a:p>
        </p:txBody>
      </p:sp>
      <p:sp>
        <p:nvSpPr>
          <p:cNvPr id="5" name="Прямоугольник 4"/>
          <p:cNvSpPr/>
          <p:nvPr/>
        </p:nvSpPr>
        <p:spPr bwMode="auto">
          <a:xfrm>
            <a:off x="592138" y="1201738"/>
            <a:ext cx="839787" cy="693737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 eaLnBrk="1" hangingPunct="1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None/>
              <a:defRPr/>
            </a:pPr>
            <a:r>
              <a:rPr lang="en-US" i="1" dirty="0">
                <a:solidFill>
                  <a:schemeClr val="bg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</a:t>
            </a:r>
            <a:endParaRPr lang="ru-RU" i="1" dirty="0">
              <a:solidFill>
                <a:schemeClr val="bg2">
                  <a:lumMod val="60000"/>
                  <a:lumOff val="4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aphicFrame>
        <p:nvGraphicFramePr>
          <p:cNvPr id="6" name="Таблица 5"/>
          <p:cNvGraphicFramePr>
            <a:graphicFrameLocks noGrp="1"/>
          </p:cNvGraphicFramePr>
          <p:nvPr/>
        </p:nvGraphicFramePr>
        <p:xfrm>
          <a:off x="1687513" y="1092200"/>
          <a:ext cx="6789737" cy="88900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67897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897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7897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7897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7897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7897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7897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78974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78974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78974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bg2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bg2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bg2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bg2"/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bg2"/>
                          </a:solidFill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bg2"/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bg2"/>
                          </a:solidFill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bg2"/>
                          </a:solidFill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bg2"/>
                          </a:solidFill>
                        </a:rP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bg2"/>
                          </a:solidFill>
                        </a:rPr>
                        <a:t>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2800" b="1" dirty="0">
                          <a:solidFill>
                            <a:schemeClr val="bg2">
                              <a:lumMod val="60000"/>
                              <a:lumOff val="40000"/>
                            </a:schemeClr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b="1" dirty="0">
                          <a:solidFill>
                            <a:schemeClr val="bg2">
                              <a:lumMod val="60000"/>
                              <a:lumOff val="40000"/>
                            </a:schemeClr>
                          </a:solidFill>
                        </a:rPr>
                        <a:t>0</a:t>
                      </a:r>
                      <a:endParaRPr lang="ru-RU" sz="2800" b="1" dirty="0">
                        <a:solidFill>
                          <a:schemeClr val="bg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b="1" dirty="0">
                          <a:solidFill>
                            <a:schemeClr val="bg2">
                              <a:lumMod val="60000"/>
                              <a:lumOff val="40000"/>
                            </a:schemeClr>
                          </a:solidFill>
                        </a:rPr>
                        <a:t>3</a:t>
                      </a:r>
                      <a:endParaRPr lang="ru-RU" sz="2800" b="1" dirty="0">
                        <a:solidFill>
                          <a:schemeClr val="bg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b="1" dirty="0">
                          <a:solidFill>
                            <a:schemeClr val="bg2">
                              <a:lumMod val="60000"/>
                              <a:lumOff val="40000"/>
                            </a:schemeClr>
                          </a:solidFill>
                        </a:rPr>
                        <a:t>4</a:t>
                      </a:r>
                      <a:endParaRPr lang="ru-RU" sz="2800" b="1" dirty="0">
                        <a:solidFill>
                          <a:schemeClr val="bg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b="1" dirty="0">
                          <a:solidFill>
                            <a:schemeClr val="bg2">
                              <a:lumMod val="60000"/>
                              <a:lumOff val="40000"/>
                            </a:schemeClr>
                          </a:solidFill>
                        </a:rPr>
                        <a:t>7</a:t>
                      </a:r>
                      <a:endParaRPr lang="ru-RU" sz="2800" b="1" dirty="0">
                        <a:solidFill>
                          <a:schemeClr val="bg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b="1" dirty="0">
                          <a:solidFill>
                            <a:schemeClr val="bg2">
                              <a:lumMod val="60000"/>
                              <a:lumOff val="40000"/>
                            </a:schemeClr>
                          </a:solidFill>
                        </a:rPr>
                        <a:t>9</a:t>
                      </a:r>
                      <a:endParaRPr lang="ru-RU" sz="2800" b="1" dirty="0">
                        <a:solidFill>
                          <a:schemeClr val="bg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b="1" dirty="0">
                          <a:solidFill>
                            <a:schemeClr val="bg2">
                              <a:lumMod val="60000"/>
                              <a:lumOff val="40000"/>
                            </a:schemeClr>
                          </a:solidFill>
                        </a:rPr>
                        <a:t>11</a:t>
                      </a:r>
                      <a:endParaRPr lang="ru-RU" sz="2800" b="1" dirty="0">
                        <a:solidFill>
                          <a:schemeClr val="bg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b="1" dirty="0">
                          <a:solidFill>
                            <a:schemeClr val="bg2">
                              <a:lumMod val="60000"/>
                              <a:lumOff val="40000"/>
                            </a:schemeClr>
                          </a:solidFill>
                        </a:rPr>
                        <a:t>15</a:t>
                      </a:r>
                      <a:endParaRPr lang="ru-RU" sz="2800" b="1" dirty="0">
                        <a:solidFill>
                          <a:schemeClr val="bg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b="1" dirty="0">
                          <a:solidFill>
                            <a:schemeClr val="bg2">
                              <a:lumMod val="60000"/>
                              <a:lumOff val="40000"/>
                            </a:schemeClr>
                          </a:solidFill>
                        </a:rPr>
                        <a:t>15</a:t>
                      </a:r>
                      <a:endParaRPr lang="ru-RU" sz="2800" b="1" dirty="0">
                        <a:solidFill>
                          <a:schemeClr val="bg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b="1" dirty="0">
                          <a:solidFill>
                            <a:schemeClr val="bg2">
                              <a:lumMod val="60000"/>
                              <a:lumOff val="40000"/>
                            </a:schemeClr>
                          </a:solidFill>
                        </a:rPr>
                        <a:t>17</a:t>
                      </a:r>
                      <a:endParaRPr lang="ru-RU" sz="2800" b="1" dirty="0">
                        <a:solidFill>
                          <a:schemeClr val="bg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0007" name="Прямоугольник 7"/>
          <p:cNvSpPr>
            <a:spLocks noChangeArrowheads="1"/>
          </p:cNvSpPr>
          <p:nvPr/>
        </p:nvSpPr>
        <p:spPr bwMode="auto">
          <a:xfrm>
            <a:off x="0" y="5386388"/>
            <a:ext cx="873442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buFont typeface="Wingdings" panose="05000000000000000000" pitchFamily="2" charset="2"/>
              <a:buNone/>
            </a:pPr>
            <a:r>
              <a:rPr lang="ru-RU" altLang="ru-RU" sz="2800">
                <a:solidFill>
                  <a:schemeClr val="bg2"/>
                </a:solidFill>
              </a:rPr>
              <a:t>4827 5436 2391 4604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Содержимое 6"/>
          <p:cNvGraphicFramePr>
            <a:graphicFrameLocks noGrp="1"/>
          </p:cNvGraphicFramePr>
          <p:nvPr>
            <p:ph idx="1"/>
          </p:nvPr>
        </p:nvGraphicFramePr>
        <p:xfrm>
          <a:off x="409575" y="2662238"/>
          <a:ext cx="8229600" cy="2263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65944">
                <a:tc>
                  <a:txBody>
                    <a:bodyPr/>
                    <a:lstStyle/>
                    <a:p>
                      <a:r>
                        <a:rPr lang="ru-RU" sz="2800" b="1" dirty="0">
                          <a:solidFill>
                            <a:schemeClr val="bg2"/>
                          </a:solidFill>
                        </a:rPr>
                        <a:t>1942</a:t>
                      </a:r>
                    </a:p>
                  </a:txBody>
                  <a:tcPr marT="45719" marB="45719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2800" b="1" dirty="0">
                          <a:solidFill>
                            <a:schemeClr val="bg2"/>
                          </a:solidFill>
                        </a:rPr>
                        <a:t>1478</a:t>
                      </a:r>
                    </a:p>
                  </a:txBody>
                  <a:tcPr marT="45719" marB="45719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2800" b="1" dirty="0">
                        <a:solidFill>
                          <a:schemeClr val="bg2"/>
                        </a:solidFill>
                      </a:endParaRPr>
                    </a:p>
                  </a:txBody>
                  <a:tcPr marT="45719" marB="45719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2800" b="1" dirty="0">
                          <a:solidFill>
                            <a:schemeClr val="bg2"/>
                          </a:solidFill>
                        </a:rPr>
                        <a:t>2995</a:t>
                      </a:r>
                    </a:p>
                  </a:txBody>
                  <a:tcPr marT="45719" marB="45719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2800" b="1" dirty="0">
                          <a:solidFill>
                            <a:schemeClr val="bg2"/>
                          </a:solidFill>
                        </a:rPr>
                        <a:t>3281 </a:t>
                      </a:r>
                    </a:p>
                  </a:txBody>
                  <a:tcPr marT="45719" marB="45719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5944">
                <a:tc>
                  <a:txBody>
                    <a:bodyPr/>
                    <a:lstStyle/>
                    <a:p>
                      <a:endParaRPr lang="ru-RU" sz="2800" b="1">
                        <a:solidFill>
                          <a:schemeClr val="bg2"/>
                        </a:solidFill>
                      </a:endParaRPr>
                    </a:p>
                  </a:txBody>
                  <a:tcPr marT="45719" marB="45719"/>
                </a:tc>
                <a:tc>
                  <a:txBody>
                    <a:bodyPr/>
                    <a:lstStyle/>
                    <a:p>
                      <a:r>
                        <a:rPr lang="ru-RU" sz="2800" b="1" dirty="0">
                          <a:solidFill>
                            <a:schemeClr val="bg2"/>
                          </a:solidFill>
                        </a:rPr>
                        <a:t>4827</a:t>
                      </a:r>
                    </a:p>
                  </a:txBody>
                  <a:tcPr marT="45719" marB="45719"/>
                </a:tc>
                <a:tc>
                  <a:txBody>
                    <a:bodyPr/>
                    <a:lstStyle/>
                    <a:p>
                      <a:r>
                        <a:rPr lang="ru-RU" sz="2800" b="1" dirty="0">
                          <a:solidFill>
                            <a:schemeClr val="bg2"/>
                          </a:solidFill>
                        </a:rPr>
                        <a:t>4464</a:t>
                      </a:r>
                    </a:p>
                  </a:txBody>
                  <a:tcPr marT="45719" marB="45719"/>
                </a:tc>
                <a:tc>
                  <a:txBody>
                    <a:bodyPr/>
                    <a:lstStyle/>
                    <a:p>
                      <a:r>
                        <a:rPr lang="ru-RU" sz="2800" b="1" dirty="0">
                          <a:solidFill>
                            <a:schemeClr val="bg2"/>
                          </a:solidFill>
                        </a:rPr>
                        <a:t>5436</a:t>
                      </a:r>
                    </a:p>
                  </a:txBody>
                  <a:tcPr marT="45719" marB="45719"/>
                </a:tc>
                <a:tc>
                  <a:txBody>
                    <a:bodyPr/>
                    <a:lstStyle/>
                    <a:p>
                      <a:r>
                        <a:rPr lang="ru-RU" sz="2800" b="1" dirty="0">
                          <a:solidFill>
                            <a:schemeClr val="bg2"/>
                          </a:solidFill>
                        </a:rPr>
                        <a:t>5705</a:t>
                      </a:r>
                    </a:p>
                  </a:txBody>
                  <a:tcPr marT="45719" marB="45719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5944">
                <a:tc>
                  <a:txBody>
                    <a:bodyPr/>
                    <a:lstStyle/>
                    <a:p>
                      <a:r>
                        <a:rPr lang="ru-RU" sz="2800" b="1" dirty="0">
                          <a:solidFill>
                            <a:schemeClr val="bg2"/>
                          </a:solidFill>
                        </a:rPr>
                        <a:t>5724</a:t>
                      </a:r>
                    </a:p>
                  </a:txBody>
                  <a:tcPr marT="45719" marB="45719"/>
                </a:tc>
                <a:tc>
                  <a:txBody>
                    <a:bodyPr/>
                    <a:lstStyle/>
                    <a:p>
                      <a:r>
                        <a:rPr lang="ru-RU" sz="2800" b="1" dirty="0">
                          <a:solidFill>
                            <a:schemeClr val="bg2"/>
                          </a:solidFill>
                        </a:rPr>
                        <a:t>6827</a:t>
                      </a:r>
                    </a:p>
                  </a:txBody>
                  <a:tcPr marT="45719" marB="45719"/>
                </a:tc>
                <a:tc>
                  <a:txBody>
                    <a:bodyPr/>
                    <a:lstStyle/>
                    <a:p>
                      <a:r>
                        <a:rPr lang="ru-RU" sz="2800" b="1" dirty="0">
                          <a:solidFill>
                            <a:schemeClr val="bg2"/>
                          </a:solidFill>
                        </a:rPr>
                        <a:t>6962</a:t>
                      </a:r>
                    </a:p>
                  </a:txBody>
                  <a:tcPr marT="45719" marB="45719"/>
                </a:tc>
                <a:tc>
                  <a:txBody>
                    <a:bodyPr/>
                    <a:lstStyle/>
                    <a:p>
                      <a:r>
                        <a:rPr lang="ru-RU" sz="2800" b="1" dirty="0">
                          <a:solidFill>
                            <a:schemeClr val="bg2"/>
                          </a:solidFill>
                        </a:rPr>
                        <a:t>6500</a:t>
                      </a:r>
                    </a:p>
                  </a:txBody>
                  <a:tcPr marT="45719" marB="45719"/>
                </a:tc>
                <a:tc>
                  <a:txBody>
                    <a:bodyPr/>
                    <a:lstStyle/>
                    <a:p>
                      <a:r>
                        <a:rPr lang="ru-RU" sz="2800" b="1" dirty="0">
                          <a:solidFill>
                            <a:schemeClr val="bg2"/>
                          </a:solidFill>
                        </a:rPr>
                        <a:t>6334</a:t>
                      </a:r>
                    </a:p>
                  </a:txBody>
                  <a:tcPr marT="45719" marB="45719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5944">
                <a:tc>
                  <a:txBody>
                    <a:bodyPr/>
                    <a:lstStyle/>
                    <a:p>
                      <a:r>
                        <a:rPr lang="ru-RU" sz="2800" b="1" dirty="0">
                          <a:solidFill>
                            <a:schemeClr val="bg2"/>
                          </a:solidFill>
                        </a:rPr>
                        <a:t>8145</a:t>
                      </a:r>
                    </a:p>
                  </a:txBody>
                  <a:tcPr marT="45719" marB="45719"/>
                </a:tc>
                <a:tc>
                  <a:txBody>
                    <a:bodyPr/>
                    <a:lstStyle/>
                    <a:p>
                      <a:r>
                        <a:rPr lang="ru-RU" sz="2800" b="1" dirty="0">
                          <a:solidFill>
                            <a:schemeClr val="bg2"/>
                          </a:solidFill>
                        </a:rPr>
                        <a:t>8467</a:t>
                      </a:r>
                    </a:p>
                  </a:txBody>
                  <a:tcPr marT="45719" marB="45719"/>
                </a:tc>
                <a:tc>
                  <a:txBody>
                    <a:bodyPr/>
                    <a:lstStyle/>
                    <a:p>
                      <a:r>
                        <a:rPr lang="ru-RU" sz="2800" b="1" dirty="0">
                          <a:solidFill>
                            <a:schemeClr val="bg2"/>
                          </a:solidFill>
                        </a:rPr>
                        <a:t>9961</a:t>
                      </a:r>
                    </a:p>
                  </a:txBody>
                  <a:tcPr marT="45719" marB="45719"/>
                </a:tc>
                <a:tc>
                  <a:txBody>
                    <a:bodyPr/>
                    <a:lstStyle/>
                    <a:p>
                      <a:r>
                        <a:rPr lang="ru-RU" sz="2800" b="1" dirty="0">
                          <a:solidFill>
                            <a:schemeClr val="bg2"/>
                          </a:solidFill>
                        </a:rPr>
                        <a:t>9358</a:t>
                      </a:r>
                    </a:p>
                  </a:txBody>
                  <a:tcPr marT="45719" marB="45719"/>
                </a:tc>
                <a:tc>
                  <a:txBody>
                    <a:bodyPr/>
                    <a:lstStyle/>
                    <a:p>
                      <a:r>
                        <a:rPr lang="ru-RU" sz="2800" b="1" dirty="0">
                          <a:solidFill>
                            <a:schemeClr val="bg2"/>
                          </a:solidFill>
                        </a:rPr>
                        <a:t>9169</a:t>
                      </a:r>
                    </a:p>
                  </a:txBody>
                  <a:tcPr marT="45719" marB="45719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Заголовок 1"/>
          <p:cNvSpPr txBox="1">
            <a:spLocks/>
          </p:cNvSpPr>
          <p:nvPr/>
        </p:nvSpPr>
        <p:spPr bwMode="auto">
          <a:xfrm>
            <a:off x="519113" y="288925"/>
            <a:ext cx="8229600" cy="455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>
              <a:defRPr/>
            </a:pPr>
            <a:r>
              <a:rPr lang="ru-RU" sz="3600" kern="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Поразрядная </a:t>
            </a:r>
            <a:r>
              <a:rPr lang="en-US" sz="3600" i="1" kern="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MSD - </a:t>
            </a:r>
            <a:r>
              <a:rPr lang="ru-RU" sz="3600" kern="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сортировка</a:t>
            </a:r>
          </a:p>
        </p:txBody>
      </p:sp>
      <p:sp>
        <p:nvSpPr>
          <p:cNvPr id="5" name="Прямоугольник 4"/>
          <p:cNvSpPr/>
          <p:nvPr/>
        </p:nvSpPr>
        <p:spPr bwMode="auto">
          <a:xfrm>
            <a:off x="592138" y="1201738"/>
            <a:ext cx="839787" cy="693737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 eaLnBrk="1" hangingPunct="1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None/>
              <a:defRPr/>
            </a:pPr>
            <a:r>
              <a:rPr lang="en-US" i="1" dirty="0">
                <a:solidFill>
                  <a:schemeClr val="bg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</a:t>
            </a:r>
            <a:endParaRPr lang="ru-RU" i="1" dirty="0">
              <a:solidFill>
                <a:schemeClr val="bg2">
                  <a:lumMod val="60000"/>
                  <a:lumOff val="4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aphicFrame>
        <p:nvGraphicFramePr>
          <p:cNvPr id="6" name="Таблица 5"/>
          <p:cNvGraphicFramePr>
            <a:graphicFrameLocks noGrp="1"/>
          </p:cNvGraphicFramePr>
          <p:nvPr/>
        </p:nvGraphicFramePr>
        <p:xfrm>
          <a:off x="1687513" y="1092200"/>
          <a:ext cx="6789737" cy="88900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67897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897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7897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7897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7897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7897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7897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78974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78974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78974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bg2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bg2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bg2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bg2"/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bg2"/>
                          </a:solidFill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bg2"/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bg2"/>
                          </a:solidFill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bg2"/>
                          </a:solidFill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bg2"/>
                          </a:solidFill>
                        </a:rP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bg2"/>
                          </a:solidFill>
                        </a:rPr>
                        <a:t>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2800" b="1" dirty="0">
                          <a:solidFill>
                            <a:schemeClr val="bg2">
                              <a:lumMod val="60000"/>
                              <a:lumOff val="40000"/>
                            </a:schemeClr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b="1" dirty="0">
                          <a:solidFill>
                            <a:schemeClr val="bg2">
                              <a:lumMod val="60000"/>
                              <a:lumOff val="40000"/>
                            </a:schemeClr>
                          </a:solidFill>
                        </a:rPr>
                        <a:t>0</a:t>
                      </a:r>
                      <a:endParaRPr lang="ru-RU" sz="2800" b="1" dirty="0">
                        <a:solidFill>
                          <a:schemeClr val="bg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b="1" dirty="0">
                          <a:solidFill>
                            <a:schemeClr val="bg2">
                              <a:lumMod val="60000"/>
                              <a:lumOff val="40000"/>
                            </a:schemeClr>
                          </a:solidFill>
                        </a:rPr>
                        <a:t>3</a:t>
                      </a:r>
                      <a:endParaRPr lang="ru-RU" sz="2800" b="1" dirty="0">
                        <a:solidFill>
                          <a:schemeClr val="bg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b="1" dirty="0">
                          <a:solidFill>
                            <a:schemeClr val="bg2">
                              <a:lumMod val="60000"/>
                              <a:lumOff val="40000"/>
                            </a:schemeClr>
                          </a:solidFill>
                        </a:rPr>
                        <a:t>4</a:t>
                      </a:r>
                      <a:endParaRPr lang="ru-RU" sz="2800" b="1" dirty="0">
                        <a:solidFill>
                          <a:schemeClr val="bg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b="1" dirty="0">
                          <a:solidFill>
                            <a:schemeClr val="bg2">
                              <a:lumMod val="60000"/>
                              <a:lumOff val="40000"/>
                            </a:schemeClr>
                          </a:solidFill>
                        </a:rPr>
                        <a:t>6</a:t>
                      </a:r>
                      <a:endParaRPr lang="ru-RU" sz="2800" b="1" dirty="0">
                        <a:solidFill>
                          <a:schemeClr val="bg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b="1" dirty="0">
                          <a:solidFill>
                            <a:schemeClr val="bg2">
                              <a:lumMod val="60000"/>
                              <a:lumOff val="40000"/>
                            </a:schemeClr>
                          </a:solidFill>
                        </a:rPr>
                        <a:t>9</a:t>
                      </a:r>
                      <a:endParaRPr lang="ru-RU" sz="2800" b="1" dirty="0">
                        <a:solidFill>
                          <a:schemeClr val="bg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b="1" dirty="0">
                          <a:solidFill>
                            <a:schemeClr val="bg2">
                              <a:lumMod val="60000"/>
                              <a:lumOff val="40000"/>
                            </a:schemeClr>
                          </a:solidFill>
                        </a:rPr>
                        <a:t>11</a:t>
                      </a:r>
                      <a:endParaRPr lang="ru-RU" sz="2800" b="1" dirty="0">
                        <a:solidFill>
                          <a:schemeClr val="bg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b="1" dirty="0">
                          <a:solidFill>
                            <a:schemeClr val="bg2">
                              <a:lumMod val="60000"/>
                              <a:lumOff val="40000"/>
                            </a:schemeClr>
                          </a:solidFill>
                        </a:rPr>
                        <a:t>15</a:t>
                      </a:r>
                      <a:endParaRPr lang="ru-RU" sz="2800" b="1" dirty="0">
                        <a:solidFill>
                          <a:schemeClr val="bg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b="1" dirty="0">
                          <a:solidFill>
                            <a:schemeClr val="bg2">
                              <a:lumMod val="60000"/>
                              <a:lumOff val="40000"/>
                            </a:schemeClr>
                          </a:solidFill>
                        </a:rPr>
                        <a:t>15</a:t>
                      </a:r>
                      <a:endParaRPr lang="ru-RU" sz="2800" b="1" dirty="0">
                        <a:solidFill>
                          <a:schemeClr val="bg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b="1" dirty="0">
                          <a:solidFill>
                            <a:schemeClr val="bg2">
                              <a:lumMod val="60000"/>
                              <a:lumOff val="40000"/>
                            </a:schemeClr>
                          </a:solidFill>
                        </a:rPr>
                        <a:t>17</a:t>
                      </a:r>
                      <a:endParaRPr lang="ru-RU" sz="2800" b="1" dirty="0">
                        <a:solidFill>
                          <a:schemeClr val="bg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1031" name="Прямоугольник 7"/>
          <p:cNvSpPr>
            <a:spLocks noChangeArrowheads="1"/>
          </p:cNvSpPr>
          <p:nvPr/>
        </p:nvSpPr>
        <p:spPr bwMode="auto">
          <a:xfrm>
            <a:off x="0" y="5386388"/>
            <a:ext cx="873442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buFont typeface="Wingdings" panose="05000000000000000000" pitchFamily="2" charset="2"/>
              <a:buNone/>
            </a:pPr>
            <a:r>
              <a:rPr lang="ru-RU" altLang="ru-RU" sz="2800">
                <a:solidFill>
                  <a:schemeClr val="bg2"/>
                </a:solidFill>
              </a:rPr>
              <a:t>5436 2391 4604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Содержимое 6"/>
          <p:cNvGraphicFramePr>
            <a:graphicFrameLocks noGrp="1"/>
          </p:cNvGraphicFramePr>
          <p:nvPr>
            <p:ph idx="1"/>
          </p:nvPr>
        </p:nvGraphicFramePr>
        <p:xfrm>
          <a:off x="409575" y="2662238"/>
          <a:ext cx="8229600" cy="2263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65944">
                <a:tc>
                  <a:txBody>
                    <a:bodyPr/>
                    <a:lstStyle/>
                    <a:p>
                      <a:r>
                        <a:rPr lang="ru-RU" sz="2800" b="1" dirty="0">
                          <a:solidFill>
                            <a:schemeClr val="bg2"/>
                          </a:solidFill>
                        </a:rPr>
                        <a:t>1942</a:t>
                      </a:r>
                    </a:p>
                  </a:txBody>
                  <a:tcPr marT="45719" marB="45719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2800" b="1" dirty="0">
                          <a:solidFill>
                            <a:schemeClr val="bg2"/>
                          </a:solidFill>
                        </a:rPr>
                        <a:t>1478</a:t>
                      </a:r>
                    </a:p>
                  </a:txBody>
                  <a:tcPr marT="45719" marB="45719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2800" b="1" dirty="0">
                          <a:solidFill>
                            <a:schemeClr val="bg2"/>
                          </a:solidFill>
                        </a:rPr>
                        <a:t>2391</a:t>
                      </a:r>
                    </a:p>
                  </a:txBody>
                  <a:tcPr marT="45719" marB="45719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2800" b="1" dirty="0">
                          <a:solidFill>
                            <a:schemeClr val="bg2"/>
                          </a:solidFill>
                        </a:rPr>
                        <a:t>2995</a:t>
                      </a:r>
                    </a:p>
                  </a:txBody>
                  <a:tcPr marT="45719" marB="45719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2800" b="1" dirty="0">
                          <a:solidFill>
                            <a:schemeClr val="bg2"/>
                          </a:solidFill>
                        </a:rPr>
                        <a:t>3281 </a:t>
                      </a:r>
                    </a:p>
                  </a:txBody>
                  <a:tcPr marT="45719" marB="45719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5944">
                <a:tc>
                  <a:txBody>
                    <a:bodyPr/>
                    <a:lstStyle/>
                    <a:p>
                      <a:endParaRPr lang="ru-RU" sz="2800" b="1">
                        <a:solidFill>
                          <a:schemeClr val="bg2"/>
                        </a:solidFill>
                      </a:endParaRPr>
                    </a:p>
                  </a:txBody>
                  <a:tcPr marT="45719" marB="45719"/>
                </a:tc>
                <a:tc>
                  <a:txBody>
                    <a:bodyPr/>
                    <a:lstStyle/>
                    <a:p>
                      <a:r>
                        <a:rPr lang="ru-RU" sz="2800" b="1" dirty="0">
                          <a:solidFill>
                            <a:schemeClr val="bg2"/>
                          </a:solidFill>
                        </a:rPr>
                        <a:t>4827</a:t>
                      </a:r>
                    </a:p>
                  </a:txBody>
                  <a:tcPr marT="45719" marB="45719"/>
                </a:tc>
                <a:tc>
                  <a:txBody>
                    <a:bodyPr/>
                    <a:lstStyle/>
                    <a:p>
                      <a:r>
                        <a:rPr lang="ru-RU" sz="2800" b="1" dirty="0">
                          <a:solidFill>
                            <a:schemeClr val="bg2"/>
                          </a:solidFill>
                        </a:rPr>
                        <a:t>4464</a:t>
                      </a:r>
                    </a:p>
                  </a:txBody>
                  <a:tcPr marT="45719" marB="45719"/>
                </a:tc>
                <a:tc>
                  <a:txBody>
                    <a:bodyPr/>
                    <a:lstStyle/>
                    <a:p>
                      <a:r>
                        <a:rPr lang="ru-RU" sz="2800" b="1" dirty="0">
                          <a:solidFill>
                            <a:schemeClr val="bg2"/>
                          </a:solidFill>
                        </a:rPr>
                        <a:t>5436</a:t>
                      </a:r>
                    </a:p>
                  </a:txBody>
                  <a:tcPr marT="45719" marB="45719"/>
                </a:tc>
                <a:tc>
                  <a:txBody>
                    <a:bodyPr/>
                    <a:lstStyle/>
                    <a:p>
                      <a:r>
                        <a:rPr lang="ru-RU" sz="2800" b="1" dirty="0">
                          <a:solidFill>
                            <a:schemeClr val="bg2"/>
                          </a:solidFill>
                        </a:rPr>
                        <a:t>5705</a:t>
                      </a:r>
                    </a:p>
                  </a:txBody>
                  <a:tcPr marT="45719" marB="45719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5944">
                <a:tc>
                  <a:txBody>
                    <a:bodyPr/>
                    <a:lstStyle/>
                    <a:p>
                      <a:r>
                        <a:rPr lang="ru-RU" sz="2800" b="1" dirty="0">
                          <a:solidFill>
                            <a:schemeClr val="bg2"/>
                          </a:solidFill>
                        </a:rPr>
                        <a:t>5724</a:t>
                      </a:r>
                    </a:p>
                  </a:txBody>
                  <a:tcPr marT="45719" marB="45719"/>
                </a:tc>
                <a:tc>
                  <a:txBody>
                    <a:bodyPr/>
                    <a:lstStyle/>
                    <a:p>
                      <a:r>
                        <a:rPr lang="ru-RU" sz="2800" b="1" dirty="0">
                          <a:solidFill>
                            <a:schemeClr val="bg2"/>
                          </a:solidFill>
                        </a:rPr>
                        <a:t>6827</a:t>
                      </a:r>
                    </a:p>
                  </a:txBody>
                  <a:tcPr marT="45719" marB="45719"/>
                </a:tc>
                <a:tc>
                  <a:txBody>
                    <a:bodyPr/>
                    <a:lstStyle/>
                    <a:p>
                      <a:r>
                        <a:rPr lang="ru-RU" sz="2800" b="1" dirty="0">
                          <a:solidFill>
                            <a:schemeClr val="bg2"/>
                          </a:solidFill>
                        </a:rPr>
                        <a:t>6962</a:t>
                      </a:r>
                    </a:p>
                  </a:txBody>
                  <a:tcPr marT="45719" marB="45719"/>
                </a:tc>
                <a:tc>
                  <a:txBody>
                    <a:bodyPr/>
                    <a:lstStyle/>
                    <a:p>
                      <a:r>
                        <a:rPr lang="ru-RU" sz="2800" b="1" dirty="0">
                          <a:solidFill>
                            <a:schemeClr val="bg2"/>
                          </a:solidFill>
                        </a:rPr>
                        <a:t>6500</a:t>
                      </a:r>
                    </a:p>
                  </a:txBody>
                  <a:tcPr marT="45719" marB="45719"/>
                </a:tc>
                <a:tc>
                  <a:txBody>
                    <a:bodyPr/>
                    <a:lstStyle/>
                    <a:p>
                      <a:r>
                        <a:rPr lang="ru-RU" sz="2800" b="1" dirty="0">
                          <a:solidFill>
                            <a:schemeClr val="bg2"/>
                          </a:solidFill>
                        </a:rPr>
                        <a:t>6334</a:t>
                      </a:r>
                    </a:p>
                  </a:txBody>
                  <a:tcPr marT="45719" marB="45719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5944">
                <a:tc>
                  <a:txBody>
                    <a:bodyPr/>
                    <a:lstStyle/>
                    <a:p>
                      <a:r>
                        <a:rPr lang="ru-RU" sz="2800" b="1" dirty="0">
                          <a:solidFill>
                            <a:schemeClr val="bg2"/>
                          </a:solidFill>
                        </a:rPr>
                        <a:t>8145</a:t>
                      </a:r>
                    </a:p>
                  </a:txBody>
                  <a:tcPr marT="45719" marB="45719"/>
                </a:tc>
                <a:tc>
                  <a:txBody>
                    <a:bodyPr/>
                    <a:lstStyle/>
                    <a:p>
                      <a:r>
                        <a:rPr lang="ru-RU" sz="2800" b="1" dirty="0">
                          <a:solidFill>
                            <a:schemeClr val="bg2"/>
                          </a:solidFill>
                        </a:rPr>
                        <a:t>8467</a:t>
                      </a:r>
                    </a:p>
                  </a:txBody>
                  <a:tcPr marT="45719" marB="45719"/>
                </a:tc>
                <a:tc>
                  <a:txBody>
                    <a:bodyPr/>
                    <a:lstStyle/>
                    <a:p>
                      <a:r>
                        <a:rPr lang="ru-RU" sz="2800" b="1" dirty="0">
                          <a:solidFill>
                            <a:schemeClr val="bg2"/>
                          </a:solidFill>
                        </a:rPr>
                        <a:t>9961</a:t>
                      </a:r>
                    </a:p>
                  </a:txBody>
                  <a:tcPr marT="45719" marB="45719"/>
                </a:tc>
                <a:tc>
                  <a:txBody>
                    <a:bodyPr/>
                    <a:lstStyle/>
                    <a:p>
                      <a:r>
                        <a:rPr lang="ru-RU" sz="2800" b="1" dirty="0">
                          <a:solidFill>
                            <a:schemeClr val="bg2"/>
                          </a:solidFill>
                        </a:rPr>
                        <a:t>9358</a:t>
                      </a:r>
                    </a:p>
                  </a:txBody>
                  <a:tcPr marT="45719" marB="45719"/>
                </a:tc>
                <a:tc>
                  <a:txBody>
                    <a:bodyPr/>
                    <a:lstStyle/>
                    <a:p>
                      <a:r>
                        <a:rPr lang="ru-RU" sz="2800" b="1" dirty="0">
                          <a:solidFill>
                            <a:schemeClr val="bg2"/>
                          </a:solidFill>
                        </a:rPr>
                        <a:t>9169</a:t>
                      </a:r>
                    </a:p>
                  </a:txBody>
                  <a:tcPr marT="45719" marB="45719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Заголовок 1"/>
          <p:cNvSpPr txBox="1">
            <a:spLocks/>
          </p:cNvSpPr>
          <p:nvPr/>
        </p:nvSpPr>
        <p:spPr bwMode="auto">
          <a:xfrm>
            <a:off x="519113" y="288925"/>
            <a:ext cx="8229600" cy="455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>
              <a:defRPr/>
            </a:pPr>
            <a:r>
              <a:rPr lang="ru-RU" sz="3600" kern="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Поразрядная </a:t>
            </a:r>
            <a:r>
              <a:rPr lang="en-US" sz="3600" i="1" kern="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MSD - </a:t>
            </a:r>
            <a:r>
              <a:rPr lang="ru-RU" sz="3600" kern="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сортировка</a:t>
            </a:r>
          </a:p>
        </p:txBody>
      </p:sp>
      <p:sp>
        <p:nvSpPr>
          <p:cNvPr id="5" name="Прямоугольник 4"/>
          <p:cNvSpPr/>
          <p:nvPr/>
        </p:nvSpPr>
        <p:spPr bwMode="auto">
          <a:xfrm>
            <a:off x="592138" y="1201738"/>
            <a:ext cx="839787" cy="693737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 eaLnBrk="1" hangingPunct="1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None/>
              <a:defRPr/>
            </a:pPr>
            <a:r>
              <a:rPr lang="en-US" i="1" dirty="0">
                <a:solidFill>
                  <a:schemeClr val="bg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</a:t>
            </a:r>
            <a:endParaRPr lang="ru-RU" i="1" dirty="0">
              <a:solidFill>
                <a:schemeClr val="bg2">
                  <a:lumMod val="60000"/>
                  <a:lumOff val="4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aphicFrame>
        <p:nvGraphicFramePr>
          <p:cNvPr id="6" name="Таблица 5"/>
          <p:cNvGraphicFramePr>
            <a:graphicFrameLocks noGrp="1"/>
          </p:cNvGraphicFramePr>
          <p:nvPr/>
        </p:nvGraphicFramePr>
        <p:xfrm>
          <a:off x="1687513" y="1092200"/>
          <a:ext cx="6789737" cy="88900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67897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897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7897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7897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7897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7897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7897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78974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78974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78974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bg2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bg2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bg2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bg2"/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bg2"/>
                          </a:solidFill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bg2"/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bg2"/>
                          </a:solidFill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bg2"/>
                          </a:solidFill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bg2"/>
                          </a:solidFill>
                        </a:rP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bg2"/>
                          </a:solidFill>
                        </a:rPr>
                        <a:t>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2800" b="1" dirty="0">
                          <a:solidFill>
                            <a:schemeClr val="bg2">
                              <a:lumMod val="60000"/>
                              <a:lumOff val="40000"/>
                            </a:schemeClr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b="1" dirty="0">
                          <a:solidFill>
                            <a:schemeClr val="bg2">
                              <a:lumMod val="60000"/>
                              <a:lumOff val="40000"/>
                            </a:schemeClr>
                          </a:solidFill>
                        </a:rPr>
                        <a:t>0</a:t>
                      </a:r>
                      <a:endParaRPr lang="ru-RU" sz="2800" b="1" dirty="0">
                        <a:solidFill>
                          <a:schemeClr val="bg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b="1" dirty="0">
                          <a:solidFill>
                            <a:schemeClr val="bg2">
                              <a:lumMod val="60000"/>
                              <a:lumOff val="40000"/>
                            </a:schemeClr>
                          </a:solidFill>
                        </a:rPr>
                        <a:t>3</a:t>
                      </a:r>
                      <a:endParaRPr lang="ru-RU" sz="2800" b="1" dirty="0">
                        <a:solidFill>
                          <a:schemeClr val="bg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b="1" dirty="0">
                          <a:solidFill>
                            <a:schemeClr val="bg2">
                              <a:lumMod val="60000"/>
                              <a:lumOff val="40000"/>
                            </a:schemeClr>
                          </a:solidFill>
                        </a:rPr>
                        <a:t>4</a:t>
                      </a:r>
                      <a:endParaRPr lang="ru-RU" sz="2800" b="1" dirty="0">
                        <a:solidFill>
                          <a:schemeClr val="bg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b="1" dirty="0">
                          <a:solidFill>
                            <a:schemeClr val="bg2">
                              <a:lumMod val="60000"/>
                              <a:lumOff val="40000"/>
                            </a:schemeClr>
                          </a:solidFill>
                        </a:rPr>
                        <a:t>6</a:t>
                      </a:r>
                      <a:endParaRPr lang="ru-RU" sz="2800" b="1" dirty="0">
                        <a:solidFill>
                          <a:schemeClr val="bg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b="1" dirty="0">
                          <a:solidFill>
                            <a:schemeClr val="bg2">
                              <a:lumMod val="60000"/>
                              <a:lumOff val="40000"/>
                            </a:schemeClr>
                          </a:solidFill>
                        </a:rPr>
                        <a:t>8</a:t>
                      </a:r>
                      <a:endParaRPr lang="ru-RU" sz="2800" b="1" dirty="0">
                        <a:solidFill>
                          <a:schemeClr val="bg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b="1" dirty="0">
                          <a:solidFill>
                            <a:schemeClr val="bg2">
                              <a:lumMod val="60000"/>
                              <a:lumOff val="40000"/>
                            </a:schemeClr>
                          </a:solidFill>
                        </a:rPr>
                        <a:t>11</a:t>
                      </a:r>
                      <a:endParaRPr lang="ru-RU" sz="2800" b="1" dirty="0">
                        <a:solidFill>
                          <a:schemeClr val="bg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b="1" dirty="0">
                          <a:solidFill>
                            <a:schemeClr val="bg2">
                              <a:lumMod val="60000"/>
                              <a:lumOff val="40000"/>
                            </a:schemeClr>
                          </a:solidFill>
                        </a:rPr>
                        <a:t>15</a:t>
                      </a:r>
                      <a:endParaRPr lang="ru-RU" sz="2800" b="1" dirty="0">
                        <a:solidFill>
                          <a:schemeClr val="bg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b="1" dirty="0">
                          <a:solidFill>
                            <a:schemeClr val="bg2">
                              <a:lumMod val="60000"/>
                              <a:lumOff val="40000"/>
                            </a:schemeClr>
                          </a:solidFill>
                        </a:rPr>
                        <a:t>15</a:t>
                      </a:r>
                      <a:endParaRPr lang="ru-RU" sz="2800" b="1" dirty="0">
                        <a:solidFill>
                          <a:schemeClr val="bg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b="1" dirty="0">
                          <a:solidFill>
                            <a:schemeClr val="bg2">
                              <a:lumMod val="60000"/>
                              <a:lumOff val="40000"/>
                            </a:schemeClr>
                          </a:solidFill>
                        </a:rPr>
                        <a:t>17</a:t>
                      </a:r>
                      <a:endParaRPr lang="ru-RU" sz="2800" b="1" dirty="0">
                        <a:solidFill>
                          <a:schemeClr val="bg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2055" name="Прямоугольник 7"/>
          <p:cNvSpPr>
            <a:spLocks noChangeArrowheads="1"/>
          </p:cNvSpPr>
          <p:nvPr/>
        </p:nvSpPr>
        <p:spPr bwMode="auto">
          <a:xfrm>
            <a:off x="0" y="5386388"/>
            <a:ext cx="873442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buFont typeface="Wingdings" panose="05000000000000000000" pitchFamily="2" charset="2"/>
              <a:buNone/>
            </a:pPr>
            <a:r>
              <a:rPr lang="ru-RU" altLang="ru-RU" sz="2800">
                <a:solidFill>
                  <a:schemeClr val="bg2"/>
                </a:solidFill>
              </a:rPr>
              <a:t>2391 4604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Содержимое 6"/>
          <p:cNvGraphicFramePr>
            <a:graphicFrameLocks noGrp="1"/>
          </p:cNvGraphicFramePr>
          <p:nvPr>
            <p:ph idx="1"/>
          </p:nvPr>
        </p:nvGraphicFramePr>
        <p:xfrm>
          <a:off x="409575" y="2662238"/>
          <a:ext cx="8229600" cy="2263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65944">
                <a:tc>
                  <a:txBody>
                    <a:bodyPr/>
                    <a:lstStyle/>
                    <a:p>
                      <a:r>
                        <a:rPr lang="ru-RU" sz="2800" b="1" dirty="0">
                          <a:solidFill>
                            <a:schemeClr val="bg2"/>
                          </a:solidFill>
                        </a:rPr>
                        <a:t>1942</a:t>
                      </a:r>
                    </a:p>
                  </a:txBody>
                  <a:tcPr marT="45719" marB="45719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2800" b="1" dirty="0">
                          <a:solidFill>
                            <a:schemeClr val="bg2"/>
                          </a:solidFill>
                        </a:rPr>
                        <a:t>1478</a:t>
                      </a:r>
                    </a:p>
                  </a:txBody>
                  <a:tcPr marT="45719" marB="45719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2800" b="1" dirty="0">
                          <a:solidFill>
                            <a:schemeClr val="bg2"/>
                          </a:solidFill>
                        </a:rPr>
                        <a:t>2391</a:t>
                      </a:r>
                    </a:p>
                  </a:txBody>
                  <a:tcPr marT="45719" marB="45719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2800" b="1" dirty="0">
                          <a:solidFill>
                            <a:schemeClr val="bg2"/>
                          </a:solidFill>
                        </a:rPr>
                        <a:t>2995</a:t>
                      </a:r>
                    </a:p>
                  </a:txBody>
                  <a:tcPr marT="45719" marB="45719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2800" b="1" dirty="0">
                          <a:solidFill>
                            <a:schemeClr val="bg2"/>
                          </a:solidFill>
                        </a:rPr>
                        <a:t>3281 </a:t>
                      </a:r>
                    </a:p>
                  </a:txBody>
                  <a:tcPr marT="45719" marB="45719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5944">
                <a:tc>
                  <a:txBody>
                    <a:bodyPr/>
                    <a:lstStyle/>
                    <a:p>
                      <a:r>
                        <a:rPr lang="ru-RU" sz="2800" b="1" dirty="0">
                          <a:solidFill>
                            <a:schemeClr val="bg2"/>
                          </a:solidFill>
                        </a:rPr>
                        <a:t>4604</a:t>
                      </a:r>
                    </a:p>
                  </a:txBody>
                  <a:tcPr marT="45719" marB="45719"/>
                </a:tc>
                <a:tc>
                  <a:txBody>
                    <a:bodyPr/>
                    <a:lstStyle/>
                    <a:p>
                      <a:r>
                        <a:rPr lang="ru-RU" sz="2800" b="1" dirty="0">
                          <a:solidFill>
                            <a:schemeClr val="bg2"/>
                          </a:solidFill>
                        </a:rPr>
                        <a:t>4827</a:t>
                      </a:r>
                    </a:p>
                  </a:txBody>
                  <a:tcPr marT="45719" marB="45719"/>
                </a:tc>
                <a:tc>
                  <a:txBody>
                    <a:bodyPr/>
                    <a:lstStyle/>
                    <a:p>
                      <a:r>
                        <a:rPr lang="ru-RU" sz="2800" b="1" dirty="0">
                          <a:solidFill>
                            <a:schemeClr val="bg2"/>
                          </a:solidFill>
                        </a:rPr>
                        <a:t>4464</a:t>
                      </a:r>
                    </a:p>
                  </a:txBody>
                  <a:tcPr marT="45719" marB="45719"/>
                </a:tc>
                <a:tc>
                  <a:txBody>
                    <a:bodyPr/>
                    <a:lstStyle/>
                    <a:p>
                      <a:r>
                        <a:rPr lang="ru-RU" sz="2800" b="1" dirty="0">
                          <a:solidFill>
                            <a:schemeClr val="bg2"/>
                          </a:solidFill>
                        </a:rPr>
                        <a:t>5436</a:t>
                      </a:r>
                    </a:p>
                  </a:txBody>
                  <a:tcPr marT="45719" marB="45719"/>
                </a:tc>
                <a:tc>
                  <a:txBody>
                    <a:bodyPr/>
                    <a:lstStyle/>
                    <a:p>
                      <a:r>
                        <a:rPr lang="ru-RU" sz="2800" b="1" dirty="0">
                          <a:solidFill>
                            <a:schemeClr val="bg2"/>
                          </a:solidFill>
                        </a:rPr>
                        <a:t>5705</a:t>
                      </a:r>
                    </a:p>
                  </a:txBody>
                  <a:tcPr marT="45719" marB="45719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5944">
                <a:tc>
                  <a:txBody>
                    <a:bodyPr/>
                    <a:lstStyle/>
                    <a:p>
                      <a:r>
                        <a:rPr lang="ru-RU" sz="2800" b="1" dirty="0">
                          <a:solidFill>
                            <a:schemeClr val="bg2"/>
                          </a:solidFill>
                        </a:rPr>
                        <a:t>5724</a:t>
                      </a:r>
                    </a:p>
                  </a:txBody>
                  <a:tcPr marT="45719" marB="45719"/>
                </a:tc>
                <a:tc>
                  <a:txBody>
                    <a:bodyPr/>
                    <a:lstStyle/>
                    <a:p>
                      <a:r>
                        <a:rPr lang="ru-RU" sz="2800" b="1" dirty="0">
                          <a:solidFill>
                            <a:schemeClr val="bg2"/>
                          </a:solidFill>
                        </a:rPr>
                        <a:t>6827</a:t>
                      </a:r>
                    </a:p>
                  </a:txBody>
                  <a:tcPr marT="45719" marB="45719"/>
                </a:tc>
                <a:tc>
                  <a:txBody>
                    <a:bodyPr/>
                    <a:lstStyle/>
                    <a:p>
                      <a:r>
                        <a:rPr lang="ru-RU" sz="2800" b="1" dirty="0">
                          <a:solidFill>
                            <a:schemeClr val="bg2"/>
                          </a:solidFill>
                        </a:rPr>
                        <a:t>6962</a:t>
                      </a:r>
                    </a:p>
                  </a:txBody>
                  <a:tcPr marT="45719" marB="45719"/>
                </a:tc>
                <a:tc>
                  <a:txBody>
                    <a:bodyPr/>
                    <a:lstStyle/>
                    <a:p>
                      <a:r>
                        <a:rPr lang="ru-RU" sz="2800" b="1" dirty="0">
                          <a:solidFill>
                            <a:schemeClr val="bg2"/>
                          </a:solidFill>
                        </a:rPr>
                        <a:t>6500</a:t>
                      </a:r>
                    </a:p>
                  </a:txBody>
                  <a:tcPr marT="45719" marB="45719"/>
                </a:tc>
                <a:tc>
                  <a:txBody>
                    <a:bodyPr/>
                    <a:lstStyle/>
                    <a:p>
                      <a:r>
                        <a:rPr lang="ru-RU" sz="2800" b="1" dirty="0">
                          <a:solidFill>
                            <a:schemeClr val="bg2"/>
                          </a:solidFill>
                        </a:rPr>
                        <a:t>6334</a:t>
                      </a:r>
                    </a:p>
                  </a:txBody>
                  <a:tcPr marT="45719" marB="45719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5944">
                <a:tc>
                  <a:txBody>
                    <a:bodyPr/>
                    <a:lstStyle/>
                    <a:p>
                      <a:r>
                        <a:rPr lang="ru-RU" sz="2800" b="1" dirty="0">
                          <a:solidFill>
                            <a:schemeClr val="bg2"/>
                          </a:solidFill>
                        </a:rPr>
                        <a:t>8145</a:t>
                      </a:r>
                    </a:p>
                  </a:txBody>
                  <a:tcPr marT="45719" marB="45719"/>
                </a:tc>
                <a:tc>
                  <a:txBody>
                    <a:bodyPr/>
                    <a:lstStyle/>
                    <a:p>
                      <a:r>
                        <a:rPr lang="ru-RU" sz="2800" b="1" dirty="0">
                          <a:solidFill>
                            <a:schemeClr val="bg2"/>
                          </a:solidFill>
                        </a:rPr>
                        <a:t>8467</a:t>
                      </a:r>
                    </a:p>
                  </a:txBody>
                  <a:tcPr marT="45719" marB="45719"/>
                </a:tc>
                <a:tc>
                  <a:txBody>
                    <a:bodyPr/>
                    <a:lstStyle/>
                    <a:p>
                      <a:r>
                        <a:rPr lang="ru-RU" sz="2800" b="1" dirty="0">
                          <a:solidFill>
                            <a:schemeClr val="bg2"/>
                          </a:solidFill>
                        </a:rPr>
                        <a:t>9961</a:t>
                      </a:r>
                    </a:p>
                  </a:txBody>
                  <a:tcPr marT="45719" marB="45719"/>
                </a:tc>
                <a:tc>
                  <a:txBody>
                    <a:bodyPr/>
                    <a:lstStyle/>
                    <a:p>
                      <a:r>
                        <a:rPr lang="ru-RU" sz="2800" b="1" dirty="0">
                          <a:solidFill>
                            <a:schemeClr val="bg2"/>
                          </a:solidFill>
                        </a:rPr>
                        <a:t>9358</a:t>
                      </a:r>
                    </a:p>
                  </a:txBody>
                  <a:tcPr marT="45719" marB="45719"/>
                </a:tc>
                <a:tc>
                  <a:txBody>
                    <a:bodyPr/>
                    <a:lstStyle/>
                    <a:p>
                      <a:r>
                        <a:rPr lang="ru-RU" sz="2800" b="1" dirty="0">
                          <a:solidFill>
                            <a:schemeClr val="bg2"/>
                          </a:solidFill>
                        </a:rPr>
                        <a:t>9169</a:t>
                      </a:r>
                    </a:p>
                  </a:txBody>
                  <a:tcPr marT="45719" marB="45719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Заголовок 1"/>
          <p:cNvSpPr txBox="1">
            <a:spLocks/>
          </p:cNvSpPr>
          <p:nvPr/>
        </p:nvSpPr>
        <p:spPr bwMode="auto">
          <a:xfrm>
            <a:off x="519113" y="288925"/>
            <a:ext cx="8229600" cy="455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>
              <a:defRPr/>
            </a:pPr>
            <a:r>
              <a:rPr lang="ru-RU" sz="3600" kern="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Поразрядная </a:t>
            </a:r>
            <a:r>
              <a:rPr lang="en-US" sz="3600" i="1" kern="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MSD - </a:t>
            </a:r>
            <a:r>
              <a:rPr lang="ru-RU" sz="3600" kern="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сортировка</a:t>
            </a:r>
          </a:p>
        </p:txBody>
      </p:sp>
      <p:sp>
        <p:nvSpPr>
          <p:cNvPr id="5" name="Прямоугольник 4"/>
          <p:cNvSpPr/>
          <p:nvPr/>
        </p:nvSpPr>
        <p:spPr bwMode="auto">
          <a:xfrm>
            <a:off x="592138" y="1201738"/>
            <a:ext cx="839787" cy="693737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 eaLnBrk="1" hangingPunct="1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None/>
              <a:defRPr/>
            </a:pPr>
            <a:r>
              <a:rPr lang="en-US" i="1" dirty="0">
                <a:solidFill>
                  <a:schemeClr val="bg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</a:t>
            </a:r>
            <a:endParaRPr lang="ru-RU" i="1" dirty="0">
              <a:solidFill>
                <a:schemeClr val="bg2">
                  <a:lumMod val="60000"/>
                  <a:lumOff val="4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aphicFrame>
        <p:nvGraphicFramePr>
          <p:cNvPr id="6" name="Таблица 5"/>
          <p:cNvGraphicFramePr>
            <a:graphicFrameLocks noGrp="1"/>
          </p:cNvGraphicFramePr>
          <p:nvPr/>
        </p:nvGraphicFramePr>
        <p:xfrm>
          <a:off x="1687513" y="1092200"/>
          <a:ext cx="6789737" cy="88900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67897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897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7897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7897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7897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7897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7897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78974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78974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78974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bg2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bg2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bg2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bg2"/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bg2"/>
                          </a:solidFill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bg2"/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bg2"/>
                          </a:solidFill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bg2"/>
                          </a:solidFill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bg2"/>
                          </a:solidFill>
                        </a:rP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bg2"/>
                          </a:solidFill>
                        </a:rPr>
                        <a:t>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2800" b="1" dirty="0">
                          <a:solidFill>
                            <a:schemeClr val="bg2">
                              <a:lumMod val="60000"/>
                              <a:lumOff val="40000"/>
                            </a:schemeClr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b="1" dirty="0">
                          <a:solidFill>
                            <a:schemeClr val="bg2">
                              <a:lumMod val="60000"/>
                              <a:lumOff val="40000"/>
                            </a:schemeClr>
                          </a:solidFill>
                        </a:rPr>
                        <a:t>0</a:t>
                      </a:r>
                      <a:endParaRPr lang="ru-RU" sz="2800" b="1" dirty="0">
                        <a:solidFill>
                          <a:schemeClr val="bg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b="1" dirty="0">
                          <a:solidFill>
                            <a:schemeClr val="bg2">
                              <a:lumMod val="60000"/>
                              <a:lumOff val="40000"/>
                            </a:schemeClr>
                          </a:solidFill>
                        </a:rPr>
                        <a:t>2</a:t>
                      </a:r>
                      <a:endParaRPr lang="ru-RU" sz="2800" b="1" dirty="0">
                        <a:solidFill>
                          <a:schemeClr val="bg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b="1" dirty="0">
                          <a:solidFill>
                            <a:schemeClr val="bg2">
                              <a:lumMod val="60000"/>
                              <a:lumOff val="40000"/>
                            </a:schemeClr>
                          </a:solidFill>
                        </a:rPr>
                        <a:t>4</a:t>
                      </a:r>
                      <a:endParaRPr lang="ru-RU" sz="2800" b="1" dirty="0">
                        <a:solidFill>
                          <a:schemeClr val="bg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b="1" dirty="0">
                          <a:solidFill>
                            <a:schemeClr val="bg2">
                              <a:lumMod val="60000"/>
                              <a:lumOff val="40000"/>
                            </a:schemeClr>
                          </a:solidFill>
                        </a:rPr>
                        <a:t>6</a:t>
                      </a:r>
                      <a:endParaRPr lang="ru-RU" sz="2800" b="1" dirty="0">
                        <a:solidFill>
                          <a:schemeClr val="bg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b="1" dirty="0">
                          <a:solidFill>
                            <a:schemeClr val="bg2">
                              <a:lumMod val="60000"/>
                              <a:lumOff val="40000"/>
                            </a:schemeClr>
                          </a:solidFill>
                        </a:rPr>
                        <a:t>8</a:t>
                      </a:r>
                      <a:endParaRPr lang="ru-RU" sz="2800" b="1" dirty="0">
                        <a:solidFill>
                          <a:schemeClr val="bg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b="1" dirty="0">
                          <a:solidFill>
                            <a:schemeClr val="bg2">
                              <a:lumMod val="60000"/>
                              <a:lumOff val="40000"/>
                            </a:schemeClr>
                          </a:solidFill>
                        </a:rPr>
                        <a:t>11</a:t>
                      </a:r>
                      <a:endParaRPr lang="ru-RU" sz="2800" b="1" dirty="0">
                        <a:solidFill>
                          <a:schemeClr val="bg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b="1" dirty="0">
                          <a:solidFill>
                            <a:schemeClr val="bg2">
                              <a:lumMod val="60000"/>
                              <a:lumOff val="40000"/>
                            </a:schemeClr>
                          </a:solidFill>
                        </a:rPr>
                        <a:t>15</a:t>
                      </a:r>
                      <a:endParaRPr lang="ru-RU" sz="2800" b="1" dirty="0">
                        <a:solidFill>
                          <a:schemeClr val="bg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b="1" dirty="0">
                          <a:solidFill>
                            <a:schemeClr val="bg2">
                              <a:lumMod val="60000"/>
                              <a:lumOff val="40000"/>
                            </a:schemeClr>
                          </a:solidFill>
                        </a:rPr>
                        <a:t>15</a:t>
                      </a:r>
                      <a:endParaRPr lang="ru-RU" sz="2800" b="1" dirty="0">
                        <a:solidFill>
                          <a:schemeClr val="bg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b="1" dirty="0">
                          <a:solidFill>
                            <a:schemeClr val="bg2">
                              <a:lumMod val="60000"/>
                              <a:lumOff val="40000"/>
                            </a:schemeClr>
                          </a:solidFill>
                        </a:rPr>
                        <a:t>17</a:t>
                      </a:r>
                      <a:endParaRPr lang="ru-RU" sz="2800" b="1" dirty="0">
                        <a:solidFill>
                          <a:schemeClr val="bg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3079" name="Прямоугольник 7"/>
          <p:cNvSpPr>
            <a:spLocks noChangeArrowheads="1"/>
          </p:cNvSpPr>
          <p:nvPr/>
        </p:nvSpPr>
        <p:spPr bwMode="auto">
          <a:xfrm>
            <a:off x="0" y="5386388"/>
            <a:ext cx="873442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buFont typeface="Wingdings" panose="05000000000000000000" pitchFamily="2" charset="2"/>
              <a:buNone/>
            </a:pPr>
            <a:r>
              <a:rPr lang="ru-RU" altLang="ru-RU" sz="2800">
                <a:solidFill>
                  <a:schemeClr val="bg2"/>
                </a:solidFill>
              </a:rPr>
              <a:t>4604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Содержимое 6"/>
          <p:cNvGraphicFramePr>
            <a:graphicFrameLocks noGrp="1"/>
          </p:cNvGraphicFramePr>
          <p:nvPr>
            <p:ph idx="1"/>
          </p:nvPr>
        </p:nvGraphicFramePr>
        <p:xfrm>
          <a:off x="409575" y="2662238"/>
          <a:ext cx="8229600" cy="2263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65944">
                <a:tc>
                  <a:txBody>
                    <a:bodyPr/>
                    <a:lstStyle/>
                    <a:p>
                      <a:r>
                        <a:rPr lang="ru-RU" sz="2800" b="1" dirty="0">
                          <a:solidFill>
                            <a:schemeClr val="bg2"/>
                          </a:solidFill>
                        </a:rPr>
                        <a:t>1942</a:t>
                      </a:r>
                    </a:p>
                  </a:txBody>
                  <a:tcPr marT="45719" marB="45719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2800" b="1" dirty="0">
                          <a:solidFill>
                            <a:schemeClr val="bg2"/>
                          </a:solidFill>
                        </a:rPr>
                        <a:t>1478</a:t>
                      </a:r>
                    </a:p>
                  </a:txBody>
                  <a:tcPr marT="45719" marB="45719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2800" b="1" dirty="0">
                          <a:solidFill>
                            <a:schemeClr val="bg2"/>
                          </a:solidFill>
                        </a:rPr>
                        <a:t>2391</a:t>
                      </a:r>
                    </a:p>
                  </a:txBody>
                  <a:tcPr marT="45719" marB="45719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2800" b="1" dirty="0">
                          <a:solidFill>
                            <a:schemeClr val="bg2"/>
                          </a:solidFill>
                        </a:rPr>
                        <a:t>2995</a:t>
                      </a:r>
                    </a:p>
                  </a:txBody>
                  <a:tcPr marT="45719" marB="45719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2800" b="1" dirty="0">
                          <a:solidFill>
                            <a:schemeClr val="bg2"/>
                          </a:solidFill>
                        </a:rPr>
                        <a:t>3281 </a:t>
                      </a:r>
                    </a:p>
                  </a:txBody>
                  <a:tcPr marT="45719" marB="45719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5944">
                <a:tc>
                  <a:txBody>
                    <a:bodyPr/>
                    <a:lstStyle/>
                    <a:p>
                      <a:r>
                        <a:rPr lang="ru-RU" sz="2800" b="1" dirty="0">
                          <a:solidFill>
                            <a:schemeClr val="bg2"/>
                          </a:solidFill>
                        </a:rPr>
                        <a:t>4604</a:t>
                      </a:r>
                    </a:p>
                  </a:txBody>
                  <a:tcPr marT="45719" marB="45719"/>
                </a:tc>
                <a:tc>
                  <a:txBody>
                    <a:bodyPr/>
                    <a:lstStyle/>
                    <a:p>
                      <a:r>
                        <a:rPr lang="ru-RU" sz="2800" b="1" dirty="0">
                          <a:solidFill>
                            <a:schemeClr val="bg2"/>
                          </a:solidFill>
                        </a:rPr>
                        <a:t>4827</a:t>
                      </a:r>
                    </a:p>
                  </a:txBody>
                  <a:tcPr marT="45719" marB="45719"/>
                </a:tc>
                <a:tc>
                  <a:txBody>
                    <a:bodyPr/>
                    <a:lstStyle/>
                    <a:p>
                      <a:r>
                        <a:rPr lang="ru-RU" sz="2800" b="1" dirty="0">
                          <a:solidFill>
                            <a:schemeClr val="bg2"/>
                          </a:solidFill>
                        </a:rPr>
                        <a:t>4464</a:t>
                      </a:r>
                    </a:p>
                  </a:txBody>
                  <a:tcPr marT="45719" marB="45719"/>
                </a:tc>
                <a:tc>
                  <a:txBody>
                    <a:bodyPr/>
                    <a:lstStyle/>
                    <a:p>
                      <a:r>
                        <a:rPr lang="ru-RU" sz="2800" b="1" dirty="0">
                          <a:solidFill>
                            <a:schemeClr val="bg2"/>
                          </a:solidFill>
                        </a:rPr>
                        <a:t>5436</a:t>
                      </a:r>
                    </a:p>
                  </a:txBody>
                  <a:tcPr marT="45719" marB="45719"/>
                </a:tc>
                <a:tc>
                  <a:txBody>
                    <a:bodyPr/>
                    <a:lstStyle/>
                    <a:p>
                      <a:r>
                        <a:rPr lang="ru-RU" sz="2800" b="1" dirty="0">
                          <a:solidFill>
                            <a:schemeClr val="bg2"/>
                          </a:solidFill>
                        </a:rPr>
                        <a:t>5705</a:t>
                      </a:r>
                    </a:p>
                  </a:txBody>
                  <a:tcPr marT="45719" marB="45719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5944">
                <a:tc>
                  <a:txBody>
                    <a:bodyPr/>
                    <a:lstStyle/>
                    <a:p>
                      <a:r>
                        <a:rPr lang="ru-RU" sz="2800" b="1" dirty="0">
                          <a:solidFill>
                            <a:schemeClr val="bg2"/>
                          </a:solidFill>
                        </a:rPr>
                        <a:t>5724</a:t>
                      </a:r>
                    </a:p>
                  </a:txBody>
                  <a:tcPr marT="45719" marB="45719"/>
                </a:tc>
                <a:tc>
                  <a:txBody>
                    <a:bodyPr/>
                    <a:lstStyle/>
                    <a:p>
                      <a:r>
                        <a:rPr lang="ru-RU" sz="2800" b="1" dirty="0">
                          <a:solidFill>
                            <a:schemeClr val="bg2"/>
                          </a:solidFill>
                        </a:rPr>
                        <a:t>6827</a:t>
                      </a:r>
                    </a:p>
                  </a:txBody>
                  <a:tcPr marT="45719" marB="45719"/>
                </a:tc>
                <a:tc>
                  <a:txBody>
                    <a:bodyPr/>
                    <a:lstStyle/>
                    <a:p>
                      <a:r>
                        <a:rPr lang="ru-RU" sz="2800" b="1" dirty="0">
                          <a:solidFill>
                            <a:schemeClr val="bg2"/>
                          </a:solidFill>
                        </a:rPr>
                        <a:t>6962</a:t>
                      </a:r>
                    </a:p>
                  </a:txBody>
                  <a:tcPr marT="45719" marB="45719"/>
                </a:tc>
                <a:tc>
                  <a:txBody>
                    <a:bodyPr/>
                    <a:lstStyle/>
                    <a:p>
                      <a:r>
                        <a:rPr lang="ru-RU" sz="2800" b="1" dirty="0">
                          <a:solidFill>
                            <a:schemeClr val="bg2"/>
                          </a:solidFill>
                        </a:rPr>
                        <a:t>6500</a:t>
                      </a:r>
                    </a:p>
                  </a:txBody>
                  <a:tcPr marT="45719" marB="45719"/>
                </a:tc>
                <a:tc>
                  <a:txBody>
                    <a:bodyPr/>
                    <a:lstStyle/>
                    <a:p>
                      <a:r>
                        <a:rPr lang="ru-RU" sz="2800" b="1" dirty="0">
                          <a:solidFill>
                            <a:schemeClr val="bg2"/>
                          </a:solidFill>
                        </a:rPr>
                        <a:t>6334</a:t>
                      </a:r>
                    </a:p>
                  </a:txBody>
                  <a:tcPr marT="45719" marB="45719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5944">
                <a:tc>
                  <a:txBody>
                    <a:bodyPr/>
                    <a:lstStyle/>
                    <a:p>
                      <a:r>
                        <a:rPr lang="ru-RU" sz="2800" b="1" dirty="0">
                          <a:solidFill>
                            <a:schemeClr val="bg2"/>
                          </a:solidFill>
                        </a:rPr>
                        <a:t>8145</a:t>
                      </a:r>
                    </a:p>
                  </a:txBody>
                  <a:tcPr marT="45719" marB="45719"/>
                </a:tc>
                <a:tc>
                  <a:txBody>
                    <a:bodyPr/>
                    <a:lstStyle/>
                    <a:p>
                      <a:r>
                        <a:rPr lang="ru-RU" sz="2800" b="1" dirty="0">
                          <a:solidFill>
                            <a:schemeClr val="bg2"/>
                          </a:solidFill>
                        </a:rPr>
                        <a:t>8467</a:t>
                      </a:r>
                    </a:p>
                  </a:txBody>
                  <a:tcPr marT="45719" marB="45719"/>
                </a:tc>
                <a:tc>
                  <a:txBody>
                    <a:bodyPr/>
                    <a:lstStyle/>
                    <a:p>
                      <a:r>
                        <a:rPr lang="ru-RU" sz="2800" b="1" dirty="0">
                          <a:solidFill>
                            <a:schemeClr val="bg2"/>
                          </a:solidFill>
                        </a:rPr>
                        <a:t>9961</a:t>
                      </a:r>
                    </a:p>
                  </a:txBody>
                  <a:tcPr marT="45719" marB="45719"/>
                </a:tc>
                <a:tc>
                  <a:txBody>
                    <a:bodyPr/>
                    <a:lstStyle/>
                    <a:p>
                      <a:r>
                        <a:rPr lang="ru-RU" sz="2800" b="1" dirty="0">
                          <a:solidFill>
                            <a:schemeClr val="bg2"/>
                          </a:solidFill>
                        </a:rPr>
                        <a:t>9358</a:t>
                      </a:r>
                    </a:p>
                  </a:txBody>
                  <a:tcPr marT="45719" marB="45719"/>
                </a:tc>
                <a:tc>
                  <a:txBody>
                    <a:bodyPr/>
                    <a:lstStyle/>
                    <a:p>
                      <a:r>
                        <a:rPr lang="ru-RU" sz="2800" b="1" dirty="0">
                          <a:solidFill>
                            <a:schemeClr val="bg2"/>
                          </a:solidFill>
                        </a:rPr>
                        <a:t>9169</a:t>
                      </a:r>
                    </a:p>
                  </a:txBody>
                  <a:tcPr marT="45719" marB="45719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Заголовок 1"/>
          <p:cNvSpPr txBox="1">
            <a:spLocks/>
          </p:cNvSpPr>
          <p:nvPr/>
        </p:nvSpPr>
        <p:spPr bwMode="auto">
          <a:xfrm>
            <a:off x="519113" y="288925"/>
            <a:ext cx="8229600" cy="455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>
              <a:defRPr/>
            </a:pPr>
            <a:r>
              <a:rPr lang="ru-RU" sz="3600" kern="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Поразрядная </a:t>
            </a:r>
            <a:r>
              <a:rPr lang="en-US" sz="3600" i="1" kern="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MSD - </a:t>
            </a:r>
            <a:r>
              <a:rPr lang="ru-RU" sz="3600" kern="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сортировка</a:t>
            </a:r>
          </a:p>
        </p:txBody>
      </p:sp>
      <p:sp>
        <p:nvSpPr>
          <p:cNvPr id="5" name="Прямоугольник 4"/>
          <p:cNvSpPr/>
          <p:nvPr/>
        </p:nvSpPr>
        <p:spPr bwMode="auto">
          <a:xfrm>
            <a:off x="592138" y="1201738"/>
            <a:ext cx="839787" cy="693737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 eaLnBrk="1" hangingPunct="1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None/>
              <a:defRPr/>
            </a:pPr>
            <a:r>
              <a:rPr lang="en-US" i="1" dirty="0">
                <a:solidFill>
                  <a:schemeClr val="bg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</a:t>
            </a:r>
            <a:endParaRPr lang="ru-RU" i="1" dirty="0">
              <a:solidFill>
                <a:schemeClr val="bg2">
                  <a:lumMod val="60000"/>
                  <a:lumOff val="4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aphicFrame>
        <p:nvGraphicFramePr>
          <p:cNvPr id="6" name="Таблица 5"/>
          <p:cNvGraphicFramePr>
            <a:graphicFrameLocks noGrp="1"/>
          </p:cNvGraphicFramePr>
          <p:nvPr/>
        </p:nvGraphicFramePr>
        <p:xfrm>
          <a:off x="1687513" y="1092200"/>
          <a:ext cx="6789737" cy="88900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67897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897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7897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7897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7897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7897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7897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78974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78974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78974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bg2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bg2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bg2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bg2"/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bg2"/>
                          </a:solidFill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bg2"/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bg2"/>
                          </a:solidFill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bg2"/>
                          </a:solidFill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bg2"/>
                          </a:solidFill>
                        </a:rP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bg2"/>
                          </a:solidFill>
                        </a:rPr>
                        <a:t>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2800" b="1" dirty="0">
                          <a:solidFill>
                            <a:schemeClr val="bg2">
                              <a:lumMod val="60000"/>
                              <a:lumOff val="40000"/>
                            </a:schemeClr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b="1" dirty="0">
                          <a:solidFill>
                            <a:schemeClr val="bg2">
                              <a:lumMod val="60000"/>
                              <a:lumOff val="40000"/>
                            </a:schemeClr>
                          </a:solidFill>
                        </a:rPr>
                        <a:t>0</a:t>
                      </a:r>
                      <a:endParaRPr lang="ru-RU" sz="2800" b="1" dirty="0">
                        <a:solidFill>
                          <a:schemeClr val="bg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b="1" dirty="0">
                          <a:solidFill>
                            <a:schemeClr val="bg2">
                              <a:lumMod val="60000"/>
                              <a:lumOff val="40000"/>
                            </a:schemeClr>
                          </a:solidFill>
                        </a:rPr>
                        <a:t>2</a:t>
                      </a:r>
                      <a:endParaRPr lang="ru-RU" sz="2800" b="1" dirty="0">
                        <a:solidFill>
                          <a:schemeClr val="bg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b="1" dirty="0">
                          <a:solidFill>
                            <a:schemeClr val="bg2">
                              <a:lumMod val="60000"/>
                              <a:lumOff val="40000"/>
                            </a:schemeClr>
                          </a:solidFill>
                        </a:rPr>
                        <a:t>4</a:t>
                      </a:r>
                      <a:endParaRPr lang="ru-RU" sz="2800" b="1" dirty="0">
                        <a:solidFill>
                          <a:schemeClr val="bg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b="1" dirty="0">
                          <a:solidFill>
                            <a:schemeClr val="bg2">
                              <a:lumMod val="60000"/>
                              <a:lumOff val="40000"/>
                            </a:schemeClr>
                          </a:solidFill>
                        </a:rPr>
                        <a:t>5</a:t>
                      </a:r>
                      <a:endParaRPr lang="ru-RU" sz="2800" b="1" dirty="0">
                        <a:solidFill>
                          <a:schemeClr val="bg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b="1" dirty="0">
                          <a:solidFill>
                            <a:schemeClr val="bg2">
                              <a:lumMod val="60000"/>
                              <a:lumOff val="40000"/>
                            </a:schemeClr>
                          </a:solidFill>
                        </a:rPr>
                        <a:t>8</a:t>
                      </a:r>
                      <a:endParaRPr lang="ru-RU" sz="2800" b="1" dirty="0">
                        <a:solidFill>
                          <a:schemeClr val="bg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b="1" dirty="0">
                          <a:solidFill>
                            <a:schemeClr val="bg2">
                              <a:lumMod val="60000"/>
                              <a:lumOff val="40000"/>
                            </a:schemeClr>
                          </a:solidFill>
                        </a:rPr>
                        <a:t>11</a:t>
                      </a:r>
                      <a:endParaRPr lang="ru-RU" sz="2800" b="1" dirty="0">
                        <a:solidFill>
                          <a:schemeClr val="bg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b="1" dirty="0">
                          <a:solidFill>
                            <a:schemeClr val="bg2">
                              <a:lumMod val="60000"/>
                              <a:lumOff val="40000"/>
                            </a:schemeClr>
                          </a:solidFill>
                        </a:rPr>
                        <a:t>15</a:t>
                      </a:r>
                      <a:endParaRPr lang="ru-RU" sz="2800" b="1" dirty="0">
                        <a:solidFill>
                          <a:schemeClr val="bg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b="1" dirty="0">
                          <a:solidFill>
                            <a:schemeClr val="bg2">
                              <a:lumMod val="60000"/>
                              <a:lumOff val="40000"/>
                            </a:schemeClr>
                          </a:solidFill>
                        </a:rPr>
                        <a:t>15</a:t>
                      </a:r>
                      <a:endParaRPr lang="ru-RU" sz="2800" b="1" dirty="0">
                        <a:solidFill>
                          <a:schemeClr val="bg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b="1" dirty="0">
                          <a:solidFill>
                            <a:schemeClr val="bg2">
                              <a:lumMod val="60000"/>
                              <a:lumOff val="40000"/>
                            </a:schemeClr>
                          </a:solidFill>
                        </a:rPr>
                        <a:t>17</a:t>
                      </a:r>
                      <a:endParaRPr lang="ru-RU" sz="2800" b="1" dirty="0">
                        <a:solidFill>
                          <a:schemeClr val="bg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/>
          <p:cNvSpPr txBox="1">
            <a:spLocks/>
          </p:cNvSpPr>
          <p:nvPr/>
        </p:nvSpPr>
        <p:spPr bwMode="auto">
          <a:xfrm>
            <a:off x="519113" y="288925"/>
            <a:ext cx="8229600" cy="455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 eaLnBrk="0" hangingPunct="0">
              <a:defRPr/>
            </a:pPr>
            <a:r>
              <a:rPr lang="ru-RU" sz="3600" kern="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Поразрядная </a:t>
            </a:r>
            <a:r>
              <a:rPr lang="en-US" sz="3600" i="1" kern="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LSD - </a:t>
            </a:r>
            <a:r>
              <a:rPr lang="ru-RU" sz="3600" kern="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сортировка</a:t>
            </a:r>
          </a:p>
        </p:txBody>
      </p:sp>
      <p:sp>
        <p:nvSpPr>
          <p:cNvPr id="8" name="Содержимое 7"/>
          <p:cNvSpPr>
            <a:spLocks noGrp="1"/>
          </p:cNvSpPr>
          <p:nvPr>
            <p:ph idx="1"/>
          </p:nvPr>
        </p:nvSpPr>
        <p:spPr>
          <a:xfrm>
            <a:off x="482600" y="1019175"/>
            <a:ext cx="8229600" cy="5221288"/>
          </a:xfrm>
          <a:solidFill>
            <a:schemeClr val="tx1"/>
          </a:solidFill>
          <a:ln>
            <a:solidFill>
              <a:srgbClr val="000000"/>
            </a:solidFill>
          </a:ln>
        </p:spPr>
        <p:txBody>
          <a:bodyPr/>
          <a:lstStyle/>
          <a:p>
            <a:pPr marL="0" indent="0">
              <a:buFont typeface="Wingdings" pitchFamily="2" charset="2"/>
              <a:buNone/>
              <a:defRPr/>
            </a:pPr>
            <a:r>
              <a:rPr lang="en-US" b="1" dirty="0">
                <a:solidFill>
                  <a:srgbClr val="000000"/>
                </a:solidFill>
              </a:rPr>
              <a:t>LSD</a:t>
            </a:r>
            <a:r>
              <a:rPr lang="en-US" dirty="0">
                <a:solidFill>
                  <a:srgbClr val="000000"/>
                </a:solidFill>
              </a:rPr>
              <a:t> – least significant digit radix sort – </a:t>
            </a:r>
            <a:r>
              <a:rPr lang="ru-RU" dirty="0">
                <a:solidFill>
                  <a:srgbClr val="000000"/>
                </a:solidFill>
              </a:rPr>
              <a:t>поразрядная сортировка сначала по </a:t>
            </a:r>
            <a:r>
              <a:rPr lang="ru-RU" b="1" dirty="0">
                <a:solidFill>
                  <a:srgbClr val="3333CC"/>
                </a:solidFill>
              </a:rPr>
              <a:t>младшей</a:t>
            </a:r>
            <a:r>
              <a:rPr lang="ru-RU" dirty="0">
                <a:solidFill>
                  <a:srgbClr val="000000"/>
                </a:solidFill>
              </a:rPr>
              <a:t> цифре</a:t>
            </a:r>
            <a:r>
              <a:rPr lang="en-US" dirty="0">
                <a:solidFill>
                  <a:srgbClr val="000000"/>
                </a:solidFill>
              </a:rPr>
              <a:t>.</a:t>
            </a:r>
            <a:endParaRPr lang="ru-RU" dirty="0">
              <a:solidFill>
                <a:srgbClr val="000000"/>
              </a:solidFill>
            </a:endParaRPr>
          </a:p>
          <a:p>
            <a:pPr>
              <a:buClrTx/>
              <a:buSzPct val="100000"/>
              <a:buFont typeface="Arial" pitchFamily="34" charset="0"/>
              <a:buChar char="•"/>
              <a:defRPr/>
            </a:pPr>
            <a:r>
              <a:rPr lang="ru-RU" dirty="0">
                <a:solidFill>
                  <a:srgbClr val="000000"/>
                </a:solidFill>
              </a:rPr>
              <a:t>Анализ цифр ключа справа налево;</a:t>
            </a:r>
            <a:endParaRPr lang="en-US" dirty="0">
              <a:solidFill>
                <a:srgbClr val="000000"/>
              </a:solidFill>
            </a:endParaRPr>
          </a:p>
          <a:p>
            <a:pPr>
              <a:buClrTx/>
              <a:buSzPct val="100000"/>
              <a:buFont typeface="Arial" pitchFamily="34" charset="0"/>
              <a:buChar char="•"/>
              <a:defRPr/>
            </a:pPr>
            <a:r>
              <a:rPr lang="ru-RU" dirty="0">
                <a:solidFill>
                  <a:srgbClr val="000000"/>
                </a:solidFill>
              </a:rPr>
              <a:t>сортировка работает только в случае </a:t>
            </a:r>
            <a:r>
              <a:rPr lang="ru-RU" dirty="0">
                <a:solidFill>
                  <a:srgbClr val="3333CC"/>
                </a:solidFill>
              </a:rPr>
              <a:t>устойчивого</a:t>
            </a:r>
            <a:r>
              <a:rPr lang="ru-RU" dirty="0">
                <a:solidFill>
                  <a:srgbClr val="000000"/>
                </a:solidFill>
              </a:rPr>
              <a:t> способа перестановки элементов; </a:t>
            </a:r>
          </a:p>
          <a:p>
            <a:pPr>
              <a:buClrTx/>
              <a:buSzPct val="100000"/>
              <a:buFont typeface="Arial" pitchFamily="34" charset="0"/>
              <a:buChar char="•"/>
              <a:defRPr/>
            </a:pPr>
            <a:r>
              <a:rPr lang="ru-RU" dirty="0">
                <a:solidFill>
                  <a:srgbClr val="000000"/>
                </a:solidFill>
              </a:rPr>
              <a:t>устойчив, например, способ подсчета. </a:t>
            </a:r>
            <a:endParaRPr lang="en-US" dirty="0">
              <a:solidFill>
                <a:srgbClr val="000000"/>
              </a:solidFill>
            </a:endParaRPr>
          </a:p>
          <a:p>
            <a:pPr>
              <a:buFont typeface="Wingdings" pitchFamily="2" charset="2"/>
              <a:buNone/>
              <a:defRPr/>
            </a:pPr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8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8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8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8" grpId="0" build="p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Содержимое 4"/>
          <p:cNvGraphicFramePr>
            <a:graphicFrameLocks noGrp="1"/>
          </p:cNvGraphicFramePr>
          <p:nvPr>
            <p:ph idx="1"/>
          </p:nvPr>
        </p:nvGraphicFramePr>
        <p:xfrm>
          <a:off x="957213" y="1019142"/>
          <a:ext cx="1449351" cy="525784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144935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65723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2800" b="1" dirty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0100</a:t>
                      </a:r>
                      <a:r>
                        <a:rPr lang="ru-RU" sz="2800" b="1" dirty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chemeClr val="bg2">
                              <a:lumMod val="60000"/>
                              <a:lumOff val="40000"/>
                            </a:schemeClr>
                          </a:solidFill>
                        </a:rPr>
                        <a:t>1</a:t>
                      </a:r>
                      <a:endParaRPr lang="ru-RU" sz="2800" b="1" dirty="0">
                        <a:ln>
                          <a:solidFill>
                            <a:sysClr val="windowText" lastClr="000000"/>
                          </a:solidFill>
                        </a:ln>
                        <a:solidFill>
                          <a:schemeClr val="bg2">
                            <a:lumMod val="60000"/>
                            <a:lumOff val="40000"/>
                          </a:schemeClr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723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2800" b="1" dirty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1001</a:t>
                      </a:r>
                      <a:r>
                        <a:rPr lang="ru-RU" sz="2800" b="1" dirty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chemeClr val="bg2">
                              <a:lumMod val="60000"/>
                              <a:lumOff val="40000"/>
                            </a:schemeClr>
                          </a:solidFill>
                        </a:rPr>
                        <a:t>0</a:t>
                      </a:r>
                      <a:endParaRPr lang="ru-RU" sz="2800" b="1" dirty="0">
                        <a:ln>
                          <a:solidFill>
                            <a:sysClr val="windowText" lastClr="000000"/>
                          </a:solidFill>
                        </a:ln>
                        <a:solidFill>
                          <a:schemeClr val="bg2">
                            <a:lumMod val="60000"/>
                            <a:lumOff val="40000"/>
                          </a:schemeClr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723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2800" b="1" dirty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1101</a:t>
                      </a:r>
                      <a:r>
                        <a:rPr lang="ru-RU" sz="2800" b="1" dirty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chemeClr val="bg2">
                              <a:lumMod val="60000"/>
                              <a:lumOff val="40000"/>
                            </a:schemeClr>
                          </a:solidFill>
                        </a:rPr>
                        <a:t>1</a:t>
                      </a:r>
                      <a:endParaRPr lang="ru-RU" sz="2800" b="1" dirty="0">
                        <a:ln>
                          <a:solidFill>
                            <a:sysClr val="windowText" lastClr="000000"/>
                          </a:solidFill>
                        </a:ln>
                        <a:solidFill>
                          <a:schemeClr val="bg2">
                            <a:lumMod val="60000"/>
                            <a:lumOff val="40000"/>
                          </a:schemeClr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723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2800" b="1" dirty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1011</a:t>
                      </a:r>
                      <a:r>
                        <a:rPr lang="ru-RU" sz="2800" b="1" dirty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chemeClr val="bg2">
                              <a:lumMod val="60000"/>
                              <a:lumOff val="40000"/>
                            </a:schemeClr>
                          </a:solidFill>
                        </a:rPr>
                        <a:t>0</a:t>
                      </a:r>
                      <a:endParaRPr lang="ru-RU" sz="2800" b="1" dirty="0">
                        <a:ln>
                          <a:solidFill>
                            <a:sysClr val="windowText" lastClr="000000"/>
                          </a:solidFill>
                        </a:ln>
                        <a:solidFill>
                          <a:schemeClr val="bg2">
                            <a:lumMod val="60000"/>
                            <a:lumOff val="40000"/>
                          </a:schemeClr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723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2800" b="1" dirty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0001</a:t>
                      </a:r>
                      <a:r>
                        <a:rPr lang="ru-RU" sz="2800" b="1" dirty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chemeClr val="bg2">
                              <a:lumMod val="60000"/>
                              <a:lumOff val="40000"/>
                            </a:schemeClr>
                          </a:solidFill>
                        </a:rPr>
                        <a:t>1</a:t>
                      </a:r>
                      <a:endParaRPr lang="ru-RU" sz="2800" b="1" dirty="0">
                        <a:ln>
                          <a:solidFill>
                            <a:sysClr val="windowText" lastClr="000000"/>
                          </a:solidFill>
                        </a:ln>
                        <a:solidFill>
                          <a:schemeClr val="bg2">
                            <a:lumMod val="60000"/>
                            <a:lumOff val="40000"/>
                          </a:schemeClr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5723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2800" b="1" dirty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1010</a:t>
                      </a:r>
                      <a:r>
                        <a:rPr lang="ru-RU" sz="2800" b="1" dirty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chemeClr val="bg2">
                              <a:lumMod val="60000"/>
                              <a:lumOff val="40000"/>
                            </a:schemeClr>
                          </a:solidFill>
                        </a:rPr>
                        <a:t>0</a:t>
                      </a:r>
                      <a:endParaRPr lang="ru-RU" sz="2800" b="1" dirty="0">
                        <a:ln>
                          <a:solidFill>
                            <a:sysClr val="windowText" lastClr="000000"/>
                          </a:solidFill>
                        </a:ln>
                        <a:solidFill>
                          <a:schemeClr val="bg2">
                            <a:lumMod val="60000"/>
                            <a:lumOff val="40000"/>
                          </a:schemeClr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5723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2800" b="1" dirty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0000</a:t>
                      </a:r>
                      <a:r>
                        <a:rPr lang="ru-RU" sz="2800" b="1" dirty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chemeClr val="bg2">
                              <a:lumMod val="60000"/>
                              <a:lumOff val="40000"/>
                            </a:schemeClr>
                          </a:solidFill>
                        </a:rPr>
                        <a:t>0</a:t>
                      </a:r>
                      <a:endParaRPr lang="ru-RU" sz="2800" b="1" dirty="0">
                        <a:ln>
                          <a:solidFill>
                            <a:sysClr val="windowText" lastClr="000000"/>
                          </a:solidFill>
                        </a:ln>
                        <a:solidFill>
                          <a:schemeClr val="bg2">
                            <a:lumMod val="60000"/>
                            <a:lumOff val="40000"/>
                          </a:schemeClr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5723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2800" b="1" dirty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1000</a:t>
                      </a:r>
                      <a:r>
                        <a:rPr lang="ru-RU" sz="2800" b="1" dirty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chemeClr val="bg2">
                              <a:lumMod val="60000"/>
                              <a:lumOff val="40000"/>
                            </a:schemeClr>
                          </a:solidFill>
                        </a:rP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4" name="Заголовок 1"/>
          <p:cNvSpPr txBox="1">
            <a:spLocks/>
          </p:cNvSpPr>
          <p:nvPr/>
        </p:nvSpPr>
        <p:spPr bwMode="auto">
          <a:xfrm>
            <a:off x="519113" y="288925"/>
            <a:ext cx="8229600" cy="455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 eaLnBrk="0" hangingPunct="0">
              <a:defRPr/>
            </a:pPr>
            <a:r>
              <a:rPr lang="ru-RU" sz="3600" kern="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Поразрядная </a:t>
            </a:r>
            <a:r>
              <a:rPr lang="en-US" sz="3600" i="1" kern="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LSD - </a:t>
            </a:r>
            <a:r>
              <a:rPr lang="ru-RU" sz="3600" kern="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сортировка</a:t>
            </a:r>
          </a:p>
        </p:txBody>
      </p:sp>
      <p:graphicFrame>
        <p:nvGraphicFramePr>
          <p:cNvPr id="7" name="Содержимое 4"/>
          <p:cNvGraphicFramePr>
            <a:graphicFrameLocks/>
          </p:cNvGraphicFramePr>
          <p:nvPr/>
        </p:nvGraphicFramePr>
        <p:xfrm>
          <a:off x="2600298" y="1019142"/>
          <a:ext cx="1449351" cy="525784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144935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65723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800" b="1" dirty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1001</a:t>
                      </a:r>
                      <a:r>
                        <a:rPr lang="ru-RU" sz="2800" b="1" dirty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chemeClr val="bg2">
                              <a:lumMod val="60000"/>
                              <a:lumOff val="40000"/>
                            </a:schemeClr>
                          </a:solidFill>
                        </a:rPr>
                        <a:t>0</a:t>
                      </a:r>
                      <a:endParaRPr lang="ru-RU" sz="2800" b="1" dirty="0">
                        <a:ln>
                          <a:solidFill>
                            <a:sysClr val="windowText" lastClr="000000"/>
                          </a:solidFill>
                        </a:ln>
                        <a:solidFill>
                          <a:schemeClr val="bg2">
                            <a:lumMod val="60000"/>
                            <a:lumOff val="40000"/>
                          </a:schemeClr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723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800" b="1" dirty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1011</a:t>
                      </a:r>
                      <a:r>
                        <a:rPr lang="ru-RU" sz="2800" b="1" dirty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chemeClr val="bg2">
                              <a:lumMod val="60000"/>
                              <a:lumOff val="40000"/>
                            </a:schemeClr>
                          </a:solidFill>
                        </a:rPr>
                        <a:t>0</a:t>
                      </a:r>
                      <a:endParaRPr lang="ru-RU" sz="2800" b="1" dirty="0">
                        <a:ln>
                          <a:solidFill>
                            <a:sysClr val="windowText" lastClr="000000"/>
                          </a:solidFill>
                        </a:ln>
                        <a:solidFill>
                          <a:schemeClr val="bg2">
                            <a:lumMod val="60000"/>
                            <a:lumOff val="40000"/>
                          </a:schemeClr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723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800" b="1" dirty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1010</a:t>
                      </a:r>
                      <a:r>
                        <a:rPr lang="ru-RU" sz="2800" b="1" dirty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chemeClr val="bg2">
                              <a:lumMod val="60000"/>
                              <a:lumOff val="40000"/>
                            </a:schemeClr>
                          </a:solidFill>
                        </a:rPr>
                        <a:t>0</a:t>
                      </a:r>
                      <a:endParaRPr lang="ru-RU" sz="2800" b="1" dirty="0">
                        <a:ln>
                          <a:solidFill>
                            <a:sysClr val="windowText" lastClr="000000"/>
                          </a:solidFill>
                        </a:ln>
                        <a:solidFill>
                          <a:schemeClr val="bg2">
                            <a:lumMod val="60000"/>
                            <a:lumOff val="40000"/>
                          </a:schemeClr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723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800" b="1" dirty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0000</a:t>
                      </a:r>
                      <a:r>
                        <a:rPr lang="ru-RU" sz="2800" b="1" dirty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chemeClr val="bg2">
                              <a:lumMod val="60000"/>
                              <a:lumOff val="40000"/>
                            </a:schemeClr>
                          </a:solidFill>
                        </a:rPr>
                        <a:t>0</a:t>
                      </a:r>
                      <a:endParaRPr lang="ru-RU" sz="2800" b="1" dirty="0">
                        <a:ln>
                          <a:solidFill>
                            <a:sysClr val="windowText" lastClr="000000"/>
                          </a:solidFill>
                        </a:ln>
                        <a:solidFill>
                          <a:schemeClr val="bg2">
                            <a:lumMod val="60000"/>
                            <a:lumOff val="40000"/>
                          </a:schemeClr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723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800" b="1" dirty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1000</a:t>
                      </a:r>
                      <a:r>
                        <a:rPr lang="ru-RU" sz="2800" b="1" dirty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chemeClr val="bg2">
                              <a:lumMod val="60000"/>
                              <a:lumOff val="40000"/>
                            </a:schemeClr>
                          </a:solidFill>
                        </a:rP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5723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800" b="1" dirty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0100</a:t>
                      </a:r>
                      <a:r>
                        <a:rPr lang="ru-RU" sz="2800" b="1" dirty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chemeClr val="bg2">
                              <a:lumMod val="60000"/>
                              <a:lumOff val="40000"/>
                            </a:schemeClr>
                          </a:solidFill>
                        </a:rPr>
                        <a:t>1</a:t>
                      </a:r>
                      <a:endParaRPr lang="ru-RU" sz="2800" b="1" dirty="0">
                        <a:ln>
                          <a:solidFill>
                            <a:sysClr val="windowText" lastClr="000000"/>
                          </a:solidFill>
                        </a:ln>
                        <a:solidFill>
                          <a:schemeClr val="bg2">
                            <a:lumMod val="60000"/>
                            <a:lumOff val="40000"/>
                          </a:schemeClr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5723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800" b="1" dirty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1101</a:t>
                      </a:r>
                      <a:r>
                        <a:rPr lang="ru-RU" sz="2800" b="1" dirty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chemeClr val="bg2">
                              <a:lumMod val="60000"/>
                              <a:lumOff val="40000"/>
                            </a:schemeClr>
                          </a:solidFill>
                        </a:rPr>
                        <a:t>1</a:t>
                      </a:r>
                      <a:endParaRPr lang="ru-RU" sz="2800" b="1" dirty="0">
                        <a:ln>
                          <a:solidFill>
                            <a:sysClr val="windowText" lastClr="000000"/>
                          </a:solidFill>
                        </a:ln>
                        <a:solidFill>
                          <a:schemeClr val="bg2">
                            <a:lumMod val="60000"/>
                            <a:lumOff val="40000"/>
                          </a:schemeClr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5723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800" b="1" dirty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0001</a:t>
                      </a:r>
                      <a:r>
                        <a:rPr lang="ru-RU" sz="2800" b="1" dirty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chemeClr val="bg2">
                              <a:lumMod val="60000"/>
                              <a:lumOff val="40000"/>
                            </a:schemeClr>
                          </a:solidFill>
                        </a:rPr>
                        <a:t>1</a:t>
                      </a:r>
                      <a:endParaRPr lang="ru-RU" sz="2800" b="1" dirty="0">
                        <a:ln>
                          <a:solidFill>
                            <a:sysClr val="windowText" lastClr="000000"/>
                          </a:solidFill>
                        </a:ln>
                        <a:solidFill>
                          <a:schemeClr val="bg2">
                            <a:lumMod val="60000"/>
                            <a:lumOff val="40000"/>
                          </a:schemeClr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8" name="Содержимое 4"/>
          <p:cNvGraphicFramePr>
            <a:graphicFrameLocks/>
          </p:cNvGraphicFramePr>
          <p:nvPr/>
        </p:nvGraphicFramePr>
        <p:xfrm>
          <a:off x="5046669" y="1019142"/>
          <a:ext cx="1449351" cy="525784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144935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65723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800" b="1" dirty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chemeClr val="bg1"/>
                          </a:solidFill>
                        </a:rPr>
                        <a:t>100</a:t>
                      </a:r>
                      <a:r>
                        <a:rPr lang="ru-RU" sz="2800" b="1" dirty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rgbClr val="3333CC"/>
                          </a:solidFill>
                        </a:rPr>
                        <a:t>1</a:t>
                      </a:r>
                      <a:r>
                        <a:rPr lang="ru-RU" sz="2800" b="1" dirty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chemeClr val="bg1"/>
                          </a:solidFill>
                        </a:rPr>
                        <a:t>0</a:t>
                      </a:r>
                      <a:endParaRPr lang="ru-RU" sz="2800" b="1" dirty="0">
                        <a:ln>
                          <a:solidFill>
                            <a:sysClr val="windowText" lastClr="000000"/>
                          </a:solidFill>
                        </a:ln>
                        <a:solidFill>
                          <a:schemeClr val="bg1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723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800" b="1" dirty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chemeClr val="bg1"/>
                          </a:solidFill>
                        </a:rPr>
                        <a:t>101</a:t>
                      </a:r>
                      <a:r>
                        <a:rPr lang="ru-RU" sz="2800" b="1" dirty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rgbClr val="3333CC"/>
                          </a:solidFill>
                        </a:rPr>
                        <a:t>1</a:t>
                      </a:r>
                      <a:r>
                        <a:rPr lang="ru-RU" sz="2800" b="1" dirty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chemeClr val="bg1"/>
                          </a:solidFill>
                        </a:rPr>
                        <a:t>0</a:t>
                      </a:r>
                      <a:endParaRPr lang="ru-RU" sz="2800" b="1" dirty="0">
                        <a:ln>
                          <a:solidFill>
                            <a:sysClr val="windowText" lastClr="000000"/>
                          </a:solidFill>
                        </a:ln>
                        <a:solidFill>
                          <a:schemeClr val="bg1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723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800" b="1" dirty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chemeClr val="bg1"/>
                          </a:solidFill>
                        </a:rPr>
                        <a:t>101</a:t>
                      </a:r>
                      <a:r>
                        <a:rPr lang="ru-RU" sz="2800" b="1" dirty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rgbClr val="3333CC"/>
                          </a:solidFill>
                        </a:rPr>
                        <a:t>0</a:t>
                      </a:r>
                      <a:r>
                        <a:rPr lang="ru-RU" sz="2800" b="1" dirty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chemeClr val="bg1"/>
                          </a:solidFill>
                        </a:rPr>
                        <a:t>0</a:t>
                      </a:r>
                      <a:endParaRPr lang="ru-RU" sz="2800" b="1" dirty="0">
                        <a:ln>
                          <a:solidFill>
                            <a:sysClr val="windowText" lastClr="000000"/>
                          </a:solidFill>
                        </a:ln>
                        <a:solidFill>
                          <a:schemeClr val="bg1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723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800" b="1" dirty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chemeClr val="bg1"/>
                          </a:solidFill>
                        </a:rPr>
                        <a:t>000</a:t>
                      </a:r>
                      <a:r>
                        <a:rPr lang="ru-RU" sz="2800" b="1" dirty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rgbClr val="3333CC"/>
                          </a:solidFill>
                        </a:rPr>
                        <a:t>0</a:t>
                      </a:r>
                      <a:r>
                        <a:rPr lang="ru-RU" sz="2800" b="1" dirty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chemeClr val="bg1"/>
                          </a:solidFill>
                        </a:rPr>
                        <a:t>0</a:t>
                      </a:r>
                      <a:endParaRPr lang="ru-RU" sz="2800" b="1" dirty="0">
                        <a:ln>
                          <a:solidFill>
                            <a:sysClr val="windowText" lastClr="000000"/>
                          </a:solidFill>
                        </a:ln>
                        <a:solidFill>
                          <a:schemeClr val="bg1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723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800" b="1" dirty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chemeClr val="bg1"/>
                          </a:solidFill>
                        </a:rPr>
                        <a:t>100</a:t>
                      </a:r>
                      <a:r>
                        <a:rPr lang="ru-RU" sz="2800" b="1" dirty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rgbClr val="3333CC"/>
                          </a:solidFill>
                        </a:rPr>
                        <a:t>0</a:t>
                      </a:r>
                      <a:r>
                        <a:rPr lang="ru-RU" sz="2800" b="1" dirty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chemeClr val="bg1"/>
                          </a:solidFill>
                        </a:rP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5723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800" b="1" dirty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chemeClr val="bg1"/>
                          </a:solidFill>
                        </a:rPr>
                        <a:t>010</a:t>
                      </a:r>
                      <a:r>
                        <a:rPr lang="ru-RU" sz="2800" b="1" dirty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rgbClr val="3333CC"/>
                          </a:solidFill>
                        </a:rPr>
                        <a:t>0</a:t>
                      </a:r>
                      <a:r>
                        <a:rPr lang="ru-RU" sz="2800" b="1" dirty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chemeClr val="bg1"/>
                          </a:solidFill>
                        </a:rPr>
                        <a:t>1</a:t>
                      </a:r>
                      <a:endParaRPr lang="ru-RU" sz="2800" b="1" dirty="0">
                        <a:ln>
                          <a:solidFill>
                            <a:sysClr val="windowText" lastClr="000000"/>
                          </a:solidFill>
                        </a:ln>
                        <a:solidFill>
                          <a:schemeClr val="bg1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5723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800" b="1" dirty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chemeClr val="bg1"/>
                          </a:solidFill>
                        </a:rPr>
                        <a:t>110</a:t>
                      </a:r>
                      <a:r>
                        <a:rPr lang="ru-RU" sz="2800" b="1" dirty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rgbClr val="3333CC"/>
                          </a:solidFill>
                        </a:rPr>
                        <a:t>1</a:t>
                      </a:r>
                      <a:r>
                        <a:rPr lang="ru-RU" sz="2800" b="1" dirty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chemeClr val="bg1"/>
                          </a:solidFill>
                        </a:rPr>
                        <a:t>1</a:t>
                      </a:r>
                      <a:endParaRPr lang="ru-RU" sz="2800" b="1" dirty="0">
                        <a:ln>
                          <a:solidFill>
                            <a:sysClr val="windowText" lastClr="000000"/>
                          </a:solidFill>
                        </a:ln>
                        <a:solidFill>
                          <a:schemeClr val="bg1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5723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800" b="1" dirty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chemeClr val="bg1"/>
                          </a:solidFill>
                        </a:rPr>
                        <a:t>000</a:t>
                      </a:r>
                      <a:r>
                        <a:rPr lang="ru-RU" sz="2800" b="1" dirty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rgbClr val="3333CC"/>
                          </a:solidFill>
                        </a:rPr>
                        <a:t>1</a:t>
                      </a:r>
                      <a:r>
                        <a:rPr lang="ru-RU" sz="2800" b="1" dirty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chemeClr val="bg1"/>
                          </a:solidFill>
                        </a:rPr>
                        <a:t>1</a:t>
                      </a:r>
                      <a:endParaRPr lang="ru-RU" sz="2800" b="1" dirty="0">
                        <a:ln>
                          <a:solidFill>
                            <a:sysClr val="windowText" lastClr="000000"/>
                          </a:solidFill>
                        </a:ln>
                        <a:solidFill>
                          <a:schemeClr val="bg1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9" name="Содержимое 4"/>
          <p:cNvGraphicFramePr>
            <a:graphicFrameLocks/>
          </p:cNvGraphicFramePr>
          <p:nvPr/>
        </p:nvGraphicFramePr>
        <p:xfrm>
          <a:off x="6726267" y="1019142"/>
          <a:ext cx="1449351" cy="525784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144935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65723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800" b="1" dirty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chemeClr val="bg1"/>
                          </a:solidFill>
                        </a:rPr>
                        <a:t>101</a:t>
                      </a:r>
                      <a:r>
                        <a:rPr lang="ru-RU" sz="2800" b="1" dirty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rgbClr val="3333CC"/>
                          </a:solidFill>
                        </a:rPr>
                        <a:t>0</a:t>
                      </a:r>
                      <a:r>
                        <a:rPr lang="ru-RU" sz="2800" b="1" dirty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chemeClr val="bg1"/>
                          </a:solidFill>
                        </a:rPr>
                        <a:t>0</a:t>
                      </a:r>
                      <a:endParaRPr lang="ru-RU" sz="2800" b="1" dirty="0">
                        <a:ln>
                          <a:solidFill>
                            <a:sysClr val="windowText" lastClr="000000"/>
                          </a:solidFill>
                        </a:ln>
                        <a:solidFill>
                          <a:schemeClr val="bg1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723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800" b="1" dirty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chemeClr val="bg1"/>
                          </a:solidFill>
                        </a:rPr>
                        <a:t>000</a:t>
                      </a:r>
                      <a:r>
                        <a:rPr lang="ru-RU" sz="2800" b="1" dirty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rgbClr val="3333CC"/>
                          </a:solidFill>
                        </a:rPr>
                        <a:t>0</a:t>
                      </a:r>
                      <a:r>
                        <a:rPr lang="ru-RU" sz="2800" b="1" dirty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chemeClr val="bg1"/>
                          </a:solidFill>
                        </a:rPr>
                        <a:t>0</a:t>
                      </a:r>
                      <a:endParaRPr lang="ru-RU" sz="2800" b="1" dirty="0">
                        <a:ln>
                          <a:solidFill>
                            <a:sysClr val="windowText" lastClr="000000"/>
                          </a:solidFill>
                        </a:ln>
                        <a:solidFill>
                          <a:schemeClr val="bg1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723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800" b="1" dirty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chemeClr val="bg1"/>
                          </a:solidFill>
                        </a:rPr>
                        <a:t>100</a:t>
                      </a:r>
                      <a:r>
                        <a:rPr lang="ru-RU" sz="2800" b="1" dirty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rgbClr val="3333CC"/>
                          </a:solidFill>
                        </a:rPr>
                        <a:t>0</a:t>
                      </a:r>
                      <a:r>
                        <a:rPr lang="ru-RU" sz="2800" b="1" dirty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chemeClr val="bg1"/>
                          </a:solidFill>
                        </a:rP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723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800" b="1" dirty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chemeClr val="bg1"/>
                          </a:solidFill>
                        </a:rPr>
                        <a:t>010</a:t>
                      </a:r>
                      <a:r>
                        <a:rPr lang="ru-RU" sz="2800" b="1" dirty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rgbClr val="3333CC"/>
                          </a:solidFill>
                        </a:rPr>
                        <a:t>0</a:t>
                      </a:r>
                      <a:r>
                        <a:rPr lang="ru-RU" sz="2800" b="1" dirty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chemeClr val="bg1"/>
                          </a:solidFill>
                        </a:rPr>
                        <a:t>1</a:t>
                      </a:r>
                      <a:endParaRPr lang="ru-RU" sz="2800" b="1" dirty="0">
                        <a:ln>
                          <a:solidFill>
                            <a:sysClr val="windowText" lastClr="000000"/>
                          </a:solidFill>
                        </a:ln>
                        <a:solidFill>
                          <a:schemeClr val="bg1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723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800" b="1" dirty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chemeClr val="bg1"/>
                          </a:solidFill>
                        </a:rPr>
                        <a:t>100</a:t>
                      </a:r>
                      <a:r>
                        <a:rPr lang="ru-RU" sz="2800" b="1" dirty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rgbClr val="3333CC"/>
                          </a:solidFill>
                        </a:rPr>
                        <a:t>1</a:t>
                      </a:r>
                      <a:r>
                        <a:rPr lang="ru-RU" sz="2800" b="1" dirty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chemeClr val="bg1"/>
                          </a:solidFill>
                        </a:rPr>
                        <a:t>0</a:t>
                      </a:r>
                      <a:endParaRPr lang="ru-RU" sz="2800" b="1" dirty="0">
                        <a:ln>
                          <a:solidFill>
                            <a:sysClr val="windowText" lastClr="000000"/>
                          </a:solidFill>
                        </a:ln>
                        <a:solidFill>
                          <a:schemeClr val="bg1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5723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800" b="1" dirty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chemeClr val="bg1"/>
                          </a:solidFill>
                        </a:rPr>
                        <a:t>101</a:t>
                      </a:r>
                      <a:r>
                        <a:rPr lang="ru-RU" sz="2800" b="1" dirty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rgbClr val="3333CC"/>
                          </a:solidFill>
                        </a:rPr>
                        <a:t>1</a:t>
                      </a:r>
                      <a:r>
                        <a:rPr lang="ru-RU" sz="2800" b="1" dirty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chemeClr val="bg1"/>
                          </a:solidFill>
                        </a:rPr>
                        <a:t>0</a:t>
                      </a:r>
                      <a:endParaRPr lang="ru-RU" sz="2800" b="1" dirty="0">
                        <a:ln>
                          <a:solidFill>
                            <a:sysClr val="windowText" lastClr="000000"/>
                          </a:solidFill>
                        </a:ln>
                        <a:solidFill>
                          <a:schemeClr val="bg1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5723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800" b="1" dirty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chemeClr val="bg1"/>
                          </a:solidFill>
                        </a:rPr>
                        <a:t>110</a:t>
                      </a:r>
                      <a:r>
                        <a:rPr lang="ru-RU" sz="2800" b="1" dirty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rgbClr val="3333CC"/>
                          </a:solidFill>
                        </a:rPr>
                        <a:t>1</a:t>
                      </a:r>
                      <a:r>
                        <a:rPr lang="ru-RU" sz="2800" b="1" dirty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chemeClr val="bg1"/>
                          </a:solidFill>
                        </a:rPr>
                        <a:t>1</a:t>
                      </a:r>
                      <a:endParaRPr lang="ru-RU" sz="2800" b="1" dirty="0">
                        <a:ln>
                          <a:solidFill>
                            <a:sysClr val="windowText" lastClr="000000"/>
                          </a:solidFill>
                        </a:ln>
                        <a:solidFill>
                          <a:schemeClr val="bg1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5723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800" b="1" dirty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chemeClr val="bg1"/>
                          </a:solidFill>
                        </a:rPr>
                        <a:t>000</a:t>
                      </a:r>
                      <a:r>
                        <a:rPr lang="ru-RU" sz="2800" b="1" dirty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rgbClr val="3333CC"/>
                          </a:solidFill>
                        </a:rPr>
                        <a:t>1</a:t>
                      </a:r>
                      <a:r>
                        <a:rPr lang="ru-RU" sz="2800" b="1" dirty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chemeClr val="bg1"/>
                          </a:solidFill>
                        </a:rPr>
                        <a:t>1</a:t>
                      </a:r>
                      <a:endParaRPr lang="ru-RU" sz="2800" b="1" dirty="0">
                        <a:ln>
                          <a:solidFill>
                            <a:sysClr val="windowText" lastClr="000000"/>
                          </a:solidFill>
                        </a:ln>
                        <a:solidFill>
                          <a:schemeClr val="bg1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/>
          <p:cNvSpPr txBox="1">
            <a:spLocks/>
          </p:cNvSpPr>
          <p:nvPr/>
        </p:nvSpPr>
        <p:spPr bwMode="auto">
          <a:xfrm>
            <a:off x="519113" y="288925"/>
            <a:ext cx="8229600" cy="455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 eaLnBrk="0" hangingPunct="0">
              <a:defRPr/>
            </a:pPr>
            <a:r>
              <a:rPr lang="ru-RU" sz="3600" kern="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Поразрядная </a:t>
            </a:r>
            <a:r>
              <a:rPr lang="en-US" sz="3600" i="1" kern="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LSD - </a:t>
            </a:r>
            <a:r>
              <a:rPr lang="ru-RU" sz="3600" kern="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сортировка</a:t>
            </a:r>
          </a:p>
        </p:txBody>
      </p:sp>
      <p:graphicFrame>
        <p:nvGraphicFramePr>
          <p:cNvPr id="6" name="Содержимое 4"/>
          <p:cNvGraphicFramePr>
            <a:graphicFrameLocks/>
          </p:cNvGraphicFramePr>
          <p:nvPr/>
        </p:nvGraphicFramePr>
        <p:xfrm>
          <a:off x="373005" y="1128681"/>
          <a:ext cx="1449351" cy="525784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144935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65723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800" b="1" dirty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rgbClr val="000000"/>
                          </a:solidFill>
                        </a:rPr>
                        <a:t>10</a:t>
                      </a:r>
                      <a:r>
                        <a:rPr lang="ru-RU" sz="2800" b="1" dirty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rgbClr val="3333CC"/>
                          </a:solidFill>
                        </a:rPr>
                        <a:t>1</a:t>
                      </a:r>
                      <a:r>
                        <a:rPr lang="ru-RU" sz="2800" b="1" dirty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rgbClr val="000000"/>
                          </a:solidFill>
                        </a:rPr>
                        <a:t>00</a:t>
                      </a:r>
                      <a:endParaRPr lang="ru-RU" sz="2800" b="1" dirty="0">
                        <a:ln>
                          <a:solidFill>
                            <a:sysClr val="windowText" lastClr="000000"/>
                          </a:solidFill>
                        </a:ln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723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800" b="1" dirty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rgbClr val="000000"/>
                          </a:solidFill>
                        </a:rPr>
                        <a:t>00</a:t>
                      </a:r>
                      <a:r>
                        <a:rPr lang="ru-RU" sz="2800" b="1" dirty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rgbClr val="3333CC"/>
                          </a:solidFill>
                        </a:rPr>
                        <a:t>0</a:t>
                      </a:r>
                      <a:r>
                        <a:rPr lang="ru-RU" sz="2800" b="1" dirty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rgbClr val="000000"/>
                          </a:solidFill>
                        </a:rPr>
                        <a:t>00</a:t>
                      </a:r>
                      <a:endParaRPr lang="ru-RU" sz="2800" b="1" dirty="0">
                        <a:ln>
                          <a:solidFill>
                            <a:sysClr val="windowText" lastClr="000000"/>
                          </a:solidFill>
                        </a:ln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723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800" b="1" dirty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rgbClr val="000000"/>
                          </a:solidFill>
                        </a:rPr>
                        <a:t>10</a:t>
                      </a:r>
                      <a:r>
                        <a:rPr lang="ru-RU" sz="2800" b="1" dirty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rgbClr val="3333CC"/>
                          </a:solidFill>
                        </a:rPr>
                        <a:t>0</a:t>
                      </a:r>
                      <a:r>
                        <a:rPr lang="ru-RU" sz="2800" b="1" dirty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rgbClr val="000000"/>
                          </a:solidFill>
                        </a:rPr>
                        <a:t>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723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800" b="1" dirty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rgbClr val="000000"/>
                          </a:solidFill>
                        </a:rPr>
                        <a:t>01</a:t>
                      </a:r>
                      <a:r>
                        <a:rPr lang="ru-RU" sz="2800" b="1" dirty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rgbClr val="3333CC"/>
                          </a:solidFill>
                        </a:rPr>
                        <a:t>0</a:t>
                      </a:r>
                      <a:r>
                        <a:rPr lang="ru-RU" sz="2800" b="1" dirty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rgbClr val="000000"/>
                          </a:solidFill>
                        </a:rPr>
                        <a:t>01</a:t>
                      </a:r>
                      <a:endParaRPr lang="ru-RU" sz="2800" b="1" dirty="0">
                        <a:ln>
                          <a:solidFill>
                            <a:sysClr val="windowText" lastClr="000000"/>
                          </a:solidFill>
                        </a:ln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723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800" b="1" dirty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rgbClr val="000000"/>
                          </a:solidFill>
                        </a:rPr>
                        <a:t>10</a:t>
                      </a:r>
                      <a:r>
                        <a:rPr lang="ru-RU" sz="2800" b="1" dirty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rgbClr val="3333CC"/>
                          </a:solidFill>
                        </a:rPr>
                        <a:t>0</a:t>
                      </a:r>
                      <a:r>
                        <a:rPr lang="ru-RU" sz="2800" b="1" dirty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rgbClr val="000000"/>
                          </a:solidFill>
                        </a:rPr>
                        <a:t>10</a:t>
                      </a:r>
                      <a:endParaRPr lang="ru-RU" sz="2800" b="1" dirty="0">
                        <a:ln>
                          <a:solidFill>
                            <a:sysClr val="windowText" lastClr="000000"/>
                          </a:solidFill>
                        </a:ln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5723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800" b="1" dirty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rgbClr val="000000"/>
                          </a:solidFill>
                        </a:rPr>
                        <a:t>10</a:t>
                      </a:r>
                      <a:r>
                        <a:rPr lang="ru-RU" sz="2800" b="1" dirty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rgbClr val="3333CC"/>
                          </a:solidFill>
                        </a:rPr>
                        <a:t>1</a:t>
                      </a:r>
                      <a:r>
                        <a:rPr lang="ru-RU" sz="2800" b="1" dirty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rgbClr val="000000"/>
                          </a:solidFill>
                        </a:rPr>
                        <a:t>10</a:t>
                      </a:r>
                      <a:endParaRPr lang="ru-RU" sz="2800" b="1" dirty="0">
                        <a:ln>
                          <a:solidFill>
                            <a:sysClr val="windowText" lastClr="000000"/>
                          </a:solidFill>
                        </a:ln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5723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800" b="1" dirty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rgbClr val="000000"/>
                          </a:solidFill>
                        </a:rPr>
                        <a:t>11</a:t>
                      </a:r>
                      <a:r>
                        <a:rPr lang="ru-RU" sz="2800" b="1" dirty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rgbClr val="3333CC"/>
                          </a:solidFill>
                        </a:rPr>
                        <a:t>0</a:t>
                      </a:r>
                      <a:r>
                        <a:rPr lang="ru-RU" sz="2800" b="1" dirty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rgbClr val="000000"/>
                          </a:solidFill>
                        </a:rPr>
                        <a:t>11</a:t>
                      </a:r>
                      <a:endParaRPr lang="ru-RU" sz="2800" b="1" dirty="0">
                        <a:ln>
                          <a:solidFill>
                            <a:sysClr val="windowText" lastClr="000000"/>
                          </a:solidFill>
                        </a:ln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5723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800" b="1" dirty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rgbClr val="000000"/>
                          </a:solidFill>
                        </a:rPr>
                        <a:t>00</a:t>
                      </a:r>
                      <a:r>
                        <a:rPr lang="ru-RU" sz="2800" b="1" dirty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rgbClr val="3333CC"/>
                          </a:solidFill>
                        </a:rPr>
                        <a:t>0</a:t>
                      </a:r>
                      <a:r>
                        <a:rPr lang="ru-RU" sz="2800" b="1" dirty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rgbClr val="000000"/>
                          </a:solidFill>
                        </a:rPr>
                        <a:t>11</a:t>
                      </a:r>
                      <a:endParaRPr lang="ru-RU" sz="2800" b="1" dirty="0">
                        <a:ln>
                          <a:solidFill>
                            <a:sysClr val="windowText" lastClr="000000"/>
                          </a:solidFill>
                        </a:ln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7" name="Содержимое 4"/>
          <p:cNvGraphicFramePr>
            <a:graphicFrameLocks/>
          </p:cNvGraphicFramePr>
          <p:nvPr/>
        </p:nvGraphicFramePr>
        <p:xfrm>
          <a:off x="2052603" y="1128681"/>
          <a:ext cx="1460520" cy="525784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1460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65723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800" b="1" dirty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rgbClr val="000000"/>
                          </a:solidFill>
                        </a:rPr>
                        <a:t>00</a:t>
                      </a:r>
                      <a:r>
                        <a:rPr lang="ru-RU" sz="2800" b="1" dirty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rgbClr val="3333CC"/>
                          </a:solidFill>
                        </a:rPr>
                        <a:t>0</a:t>
                      </a:r>
                      <a:r>
                        <a:rPr lang="ru-RU" sz="2800" b="1" dirty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rgbClr val="000000"/>
                          </a:solidFill>
                        </a:rPr>
                        <a:t>00</a:t>
                      </a:r>
                      <a:endParaRPr lang="ru-RU" sz="2800" b="1" dirty="0">
                        <a:ln>
                          <a:solidFill>
                            <a:sysClr val="windowText" lastClr="000000"/>
                          </a:solidFill>
                        </a:ln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723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800" b="1" dirty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rgbClr val="000000"/>
                          </a:solidFill>
                        </a:rPr>
                        <a:t>10</a:t>
                      </a:r>
                      <a:r>
                        <a:rPr lang="ru-RU" sz="2800" b="1" dirty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rgbClr val="3333CC"/>
                          </a:solidFill>
                        </a:rPr>
                        <a:t>0</a:t>
                      </a:r>
                      <a:r>
                        <a:rPr lang="ru-RU" sz="2800" b="1" dirty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rgbClr val="000000"/>
                          </a:solidFill>
                        </a:rPr>
                        <a:t>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723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800" b="1" dirty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rgbClr val="000000"/>
                          </a:solidFill>
                        </a:rPr>
                        <a:t>01</a:t>
                      </a:r>
                      <a:r>
                        <a:rPr lang="ru-RU" sz="2800" b="1" dirty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rgbClr val="3333CC"/>
                          </a:solidFill>
                        </a:rPr>
                        <a:t>0</a:t>
                      </a:r>
                      <a:r>
                        <a:rPr lang="ru-RU" sz="2800" b="1" dirty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rgbClr val="000000"/>
                          </a:solidFill>
                        </a:rPr>
                        <a:t>01</a:t>
                      </a:r>
                      <a:endParaRPr lang="ru-RU" sz="2800" b="1" dirty="0">
                        <a:ln>
                          <a:solidFill>
                            <a:sysClr val="windowText" lastClr="000000"/>
                          </a:solidFill>
                        </a:ln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723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800" b="1" dirty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rgbClr val="000000"/>
                          </a:solidFill>
                        </a:rPr>
                        <a:t>10</a:t>
                      </a:r>
                      <a:r>
                        <a:rPr lang="ru-RU" sz="2800" b="1" dirty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rgbClr val="3333CC"/>
                          </a:solidFill>
                        </a:rPr>
                        <a:t>0</a:t>
                      </a:r>
                      <a:r>
                        <a:rPr lang="ru-RU" sz="2800" b="1" dirty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rgbClr val="000000"/>
                          </a:solidFill>
                        </a:rPr>
                        <a:t>10</a:t>
                      </a:r>
                      <a:endParaRPr lang="ru-RU" sz="2800" b="1" dirty="0">
                        <a:ln>
                          <a:solidFill>
                            <a:sysClr val="windowText" lastClr="000000"/>
                          </a:solidFill>
                        </a:ln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723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800" b="1" dirty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rgbClr val="000000"/>
                          </a:solidFill>
                        </a:rPr>
                        <a:t>11</a:t>
                      </a:r>
                      <a:r>
                        <a:rPr lang="ru-RU" sz="2800" b="1" dirty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rgbClr val="3333CC"/>
                          </a:solidFill>
                        </a:rPr>
                        <a:t>0</a:t>
                      </a:r>
                      <a:r>
                        <a:rPr lang="ru-RU" sz="2800" b="1" dirty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rgbClr val="000000"/>
                          </a:solidFill>
                        </a:rPr>
                        <a:t>11</a:t>
                      </a:r>
                      <a:endParaRPr lang="ru-RU" sz="2800" b="1" dirty="0">
                        <a:ln>
                          <a:solidFill>
                            <a:sysClr val="windowText" lastClr="000000"/>
                          </a:solidFill>
                        </a:ln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5723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800" b="1" dirty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rgbClr val="000000"/>
                          </a:solidFill>
                        </a:rPr>
                        <a:t>00</a:t>
                      </a:r>
                      <a:r>
                        <a:rPr lang="ru-RU" sz="2800" b="1" dirty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rgbClr val="3333CC"/>
                          </a:solidFill>
                        </a:rPr>
                        <a:t>0</a:t>
                      </a:r>
                      <a:r>
                        <a:rPr lang="ru-RU" sz="2800" b="1" dirty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rgbClr val="000000"/>
                          </a:solidFill>
                        </a:rPr>
                        <a:t>11</a:t>
                      </a:r>
                      <a:endParaRPr lang="ru-RU" sz="2800" b="1" dirty="0">
                        <a:ln>
                          <a:solidFill>
                            <a:sysClr val="windowText" lastClr="000000"/>
                          </a:solidFill>
                        </a:ln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5723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800" b="1" dirty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rgbClr val="000000"/>
                          </a:solidFill>
                        </a:rPr>
                        <a:t>10</a:t>
                      </a:r>
                      <a:r>
                        <a:rPr lang="ru-RU" sz="2800" b="1" dirty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rgbClr val="3333CC"/>
                          </a:solidFill>
                        </a:rPr>
                        <a:t>1</a:t>
                      </a:r>
                      <a:r>
                        <a:rPr lang="ru-RU" sz="2800" b="1" dirty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rgbClr val="000000"/>
                          </a:solidFill>
                        </a:rPr>
                        <a:t>00</a:t>
                      </a:r>
                      <a:endParaRPr lang="ru-RU" sz="2800" b="1" dirty="0">
                        <a:ln>
                          <a:solidFill>
                            <a:sysClr val="windowText" lastClr="000000"/>
                          </a:solidFill>
                        </a:ln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5723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800" b="1" dirty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rgbClr val="000000"/>
                          </a:solidFill>
                        </a:rPr>
                        <a:t>10</a:t>
                      </a:r>
                      <a:r>
                        <a:rPr lang="ru-RU" sz="2800" b="1" dirty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rgbClr val="3333CC"/>
                          </a:solidFill>
                        </a:rPr>
                        <a:t>1</a:t>
                      </a:r>
                      <a:r>
                        <a:rPr lang="ru-RU" sz="2800" b="1" dirty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rgbClr val="000000"/>
                          </a:solidFill>
                        </a:rPr>
                        <a:t>10</a:t>
                      </a:r>
                      <a:endParaRPr lang="ru-RU" sz="2800" b="1" dirty="0">
                        <a:ln>
                          <a:solidFill>
                            <a:sysClr val="windowText" lastClr="000000"/>
                          </a:solidFill>
                        </a:ln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8" name="Содержимое 4"/>
          <p:cNvGraphicFramePr>
            <a:graphicFrameLocks/>
          </p:cNvGraphicFramePr>
          <p:nvPr/>
        </p:nvGraphicFramePr>
        <p:xfrm>
          <a:off x="4645026" y="1128681"/>
          <a:ext cx="1449351" cy="525784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144935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65723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800" b="1" dirty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rgbClr val="000000"/>
                          </a:solidFill>
                        </a:rPr>
                        <a:t>0</a:t>
                      </a:r>
                      <a:r>
                        <a:rPr lang="ru-RU" sz="2800" b="1" dirty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rgbClr val="3333CC"/>
                          </a:solidFill>
                        </a:rPr>
                        <a:t>0</a:t>
                      </a:r>
                      <a:r>
                        <a:rPr lang="ru-RU" sz="2800" b="1" dirty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rgbClr val="000000"/>
                          </a:solidFill>
                        </a:rPr>
                        <a:t>000</a:t>
                      </a:r>
                      <a:endParaRPr lang="ru-RU" sz="2800" b="1" dirty="0">
                        <a:ln>
                          <a:solidFill>
                            <a:sysClr val="windowText" lastClr="000000"/>
                          </a:solidFill>
                        </a:ln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723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800" b="1" dirty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rgbClr val="000000"/>
                          </a:solidFill>
                        </a:rPr>
                        <a:t>1</a:t>
                      </a:r>
                      <a:r>
                        <a:rPr lang="ru-RU" sz="2800" b="1" dirty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rgbClr val="3333CC"/>
                          </a:solidFill>
                        </a:rPr>
                        <a:t>0</a:t>
                      </a:r>
                      <a:r>
                        <a:rPr lang="ru-RU" sz="2800" b="1" dirty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rgbClr val="000000"/>
                          </a:solidFill>
                        </a:rPr>
                        <a:t>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723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800" b="1" dirty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rgbClr val="000000"/>
                          </a:solidFill>
                        </a:rPr>
                        <a:t>0</a:t>
                      </a:r>
                      <a:r>
                        <a:rPr lang="ru-RU" sz="2800" b="1" dirty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rgbClr val="3333CC"/>
                          </a:solidFill>
                        </a:rPr>
                        <a:t>1</a:t>
                      </a:r>
                      <a:r>
                        <a:rPr lang="ru-RU" sz="2800" b="1" dirty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rgbClr val="000000"/>
                          </a:solidFill>
                        </a:rPr>
                        <a:t>001</a:t>
                      </a:r>
                      <a:endParaRPr lang="ru-RU" sz="2800" b="1" dirty="0">
                        <a:ln>
                          <a:solidFill>
                            <a:sysClr val="windowText" lastClr="000000"/>
                          </a:solidFill>
                        </a:ln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723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800" b="1" dirty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rgbClr val="000000"/>
                          </a:solidFill>
                        </a:rPr>
                        <a:t>1</a:t>
                      </a:r>
                      <a:r>
                        <a:rPr lang="ru-RU" sz="2800" b="1" dirty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rgbClr val="3333CC"/>
                          </a:solidFill>
                        </a:rPr>
                        <a:t>0</a:t>
                      </a:r>
                      <a:r>
                        <a:rPr lang="ru-RU" sz="2800" b="1" dirty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rgbClr val="000000"/>
                          </a:solidFill>
                        </a:rPr>
                        <a:t>010</a:t>
                      </a:r>
                      <a:endParaRPr lang="ru-RU" sz="2800" b="1" dirty="0">
                        <a:ln>
                          <a:solidFill>
                            <a:sysClr val="windowText" lastClr="000000"/>
                          </a:solidFill>
                        </a:ln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723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800" b="1" dirty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rgbClr val="000000"/>
                          </a:solidFill>
                        </a:rPr>
                        <a:t>1</a:t>
                      </a:r>
                      <a:r>
                        <a:rPr lang="ru-RU" sz="2800" b="1" dirty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rgbClr val="3333CC"/>
                          </a:solidFill>
                        </a:rPr>
                        <a:t>1</a:t>
                      </a:r>
                      <a:r>
                        <a:rPr lang="ru-RU" sz="2800" b="1" dirty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rgbClr val="000000"/>
                          </a:solidFill>
                        </a:rPr>
                        <a:t>011</a:t>
                      </a:r>
                      <a:endParaRPr lang="ru-RU" sz="2800" b="1" dirty="0">
                        <a:ln>
                          <a:solidFill>
                            <a:sysClr val="windowText" lastClr="000000"/>
                          </a:solidFill>
                        </a:ln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5723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800" b="1" dirty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rgbClr val="000000"/>
                          </a:solidFill>
                        </a:rPr>
                        <a:t>0</a:t>
                      </a:r>
                      <a:r>
                        <a:rPr lang="ru-RU" sz="2800" b="1" dirty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rgbClr val="3333CC"/>
                          </a:solidFill>
                        </a:rPr>
                        <a:t>0</a:t>
                      </a:r>
                      <a:r>
                        <a:rPr lang="ru-RU" sz="2800" b="1" dirty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rgbClr val="000000"/>
                          </a:solidFill>
                        </a:rPr>
                        <a:t>011</a:t>
                      </a:r>
                      <a:endParaRPr lang="ru-RU" sz="2800" b="1" dirty="0">
                        <a:ln>
                          <a:solidFill>
                            <a:sysClr val="windowText" lastClr="000000"/>
                          </a:solidFill>
                        </a:ln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5723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800" b="1" dirty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rgbClr val="000000"/>
                          </a:solidFill>
                        </a:rPr>
                        <a:t>1</a:t>
                      </a:r>
                      <a:r>
                        <a:rPr lang="ru-RU" sz="2800" b="1" dirty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rgbClr val="3333CC"/>
                          </a:solidFill>
                        </a:rPr>
                        <a:t>0</a:t>
                      </a:r>
                      <a:r>
                        <a:rPr lang="ru-RU" sz="2800" b="1" dirty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rgbClr val="000000"/>
                          </a:solidFill>
                        </a:rPr>
                        <a:t>100</a:t>
                      </a:r>
                      <a:endParaRPr lang="ru-RU" sz="2800" b="1" dirty="0">
                        <a:ln>
                          <a:solidFill>
                            <a:sysClr val="windowText" lastClr="000000"/>
                          </a:solidFill>
                        </a:ln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5723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800" b="1" dirty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rgbClr val="000000"/>
                          </a:solidFill>
                        </a:rPr>
                        <a:t>1</a:t>
                      </a:r>
                      <a:r>
                        <a:rPr lang="ru-RU" sz="2800" b="1" dirty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rgbClr val="3333CC"/>
                          </a:solidFill>
                        </a:rPr>
                        <a:t>0</a:t>
                      </a:r>
                      <a:r>
                        <a:rPr lang="ru-RU" sz="2800" b="1" dirty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rgbClr val="000000"/>
                          </a:solidFill>
                        </a:rPr>
                        <a:t>110</a:t>
                      </a:r>
                      <a:endParaRPr lang="ru-RU" sz="2800" b="1" dirty="0">
                        <a:ln>
                          <a:solidFill>
                            <a:sysClr val="windowText" lastClr="000000"/>
                          </a:solidFill>
                        </a:ln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9" name="Содержимое 4"/>
          <p:cNvGraphicFramePr>
            <a:graphicFrameLocks/>
          </p:cNvGraphicFramePr>
          <p:nvPr/>
        </p:nvGraphicFramePr>
        <p:xfrm>
          <a:off x="6653241" y="1128681"/>
          <a:ext cx="1449351" cy="525784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144935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65723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800" b="1" dirty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rgbClr val="000000"/>
                          </a:solidFill>
                        </a:rPr>
                        <a:t>0</a:t>
                      </a:r>
                      <a:r>
                        <a:rPr lang="ru-RU" sz="2800" b="1" dirty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rgbClr val="3333CC"/>
                          </a:solidFill>
                        </a:rPr>
                        <a:t>0</a:t>
                      </a:r>
                      <a:r>
                        <a:rPr lang="ru-RU" sz="2800" b="1" dirty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rgbClr val="000000"/>
                          </a:solidFill>
                        </a:rPr>
                        <a:t>000</a:t>
                      </a:r>
                      <a:endParaRPr lang="ru-RU" sz="2800" b="1" dirty="0">
                        <a:ln>
                          <a:solidFill>
                            <a:sysClr val="windowText" lastClr="000000"/>
                          </a:solidFill>
                        </a:ln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723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800" b="1" dirty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rgbClr val="000000"/>
                          </a:solidFill>
                        </a:rPr>
                        <a:t>1</a:t>
                      </a:r>
                      <a:r>
                        <a:rPr lang="ru-RU" sz="2800" b="1" dirty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rgbClr val="3333CC"/>
                          </a:solidFill>
                        </a:rPr>
                        <a:t>0</a:t>
                      </a:r>
                      <a:r>
                        <a:rPr lang="ru-RU" sz="2800" b="1" dirty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rgbClr val="000000"/>
                          </a:solidFill>
                        </a:rPr>
                        <a:t>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723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800" b="1" dirty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rgbClr val="000000"/>
                          </a:solidFill>
                        </a:rPr>
                        <a:t>1</a:t>
                      </a:r>
                      <a:r>
                        <a:rPr lang="ru-RU" sz="2800" b="1" dirty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rgbClr val="3333CC"/>
                          </a:solidFill>
                        </a:rPr>
                        <a:t>0</a:t>
                      </a:r>
                      <a:r>
                        <a:rPr lang="ru-RU" sz="2800" b="1" dirty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rgbClr val="000000"/>
                          </a:solidFill>
                        </a:rPr>
                        <a:t>010</a:t>
                      </a:r>
                      <a:endParaRPr lang="ru-RU" sz="2800" b="1" dirty="0">
                        <a:ln>
                          <a:solidFill>
                            <a:sysClr val="windowText" lastClr="000000"/>
                          </a:solidFill>
                        </a:ln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723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800" b="1" dirty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rgbClr val="000000"/>
                          </a:solidFill>
                        </a:rPr>
                        <a:t>0</a:t>
                      </a:r>
                      <a:r>
                        <a:rPr lang="ru-RU" sz="2800" b="1" dirty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rgbClr val="3333CC"/>
                          </a:solidFill>
                        </a:rPr>
                        <a:t>0</a:t>
                      </a:r>
                      <a:r>
                        <a:rPr lang="ru-RU" sz="2800" b="1" dirty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rgbClr val="000000"/>
                          </a:solidFill>
                        </a:rPr>
                        <a:t>011</a:t>
                      </a:r>
                      <a:endParaRPr lang="ru-RU" sz="2800" b="1" dirty="0">
                        <a:ln>
                          <a:solidFill>
                            <a:sysClr val="windowText" lastClr="000000"/>
                          </a:solidFill>
                        </a:ln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723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800" b="1" dirty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rgbClr val="000000"/>
                          </a:solidFill>
                        </a:rPr>
                        <a:t>1</a:t>
                      </a:r>
                      <a:r>
                        <a:rPr lang="ru-RU" sz="2800" b="1" dirty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rgbClr val="3333CC"/>
                          </a:solidFill>
                        </a:rPr>
                        <a:t>0</a:t>
                      </a:r>
                      <a:r>
                        <a:rPr lang="ru-RU" sz="2800" b="1" dirty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rgbClr val="000000"/>
                          </a:solidFill>
                        </a:rPr>
                        <a:t>100</a:t>
                      </a:r>
                      <a:endParaRPr lang="ru-RU" sz="2800" b="1" dirty="0">
                        <a:ln>
                          <a:solidFill>
                            <a:sysClr val="windowText" lastClr="000000"/>
                          </a:solidFill>
                        </a:ln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5723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800" b="1" dirty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rgbClr val="000000"/>
                          </a:solidFill>
                        </a:rPr>
                        <a:t>1</a:t>
                      </a:r>
                      <a:r>
                        <a:rPr lang="ru-RU" sz="2800" b="1" dirty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rgbClr val="3333CC"/>
                          </a:solidFill>
                        </a:rPr>
                        <a:t>0</a:t>
                      </a:r>
                      <a:r>
                        <a:rPr lang="ru-RU" sz="2800" b="1" dirty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rgbClr val="000000"/>
                          </a:solidFill>
                        </a:rPr>
                        <a:t>110</a:t>
                      </a:r>
                      <a:endParaRPr lang="ru-RU" sz="2800" b="1" dirty="0">
                        <a:ln>
                          <a:solidFill>
                            <a:sysClr val="windowText" lastClr="000000"/>
                          </a:solidFill>
                        </a:ln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5723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800" b="1" dirty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rgbClr val="000000"/>
                          </a:solidFill>
                        </a:rPr>
                        <a:t>0</a:t>
                      </a:r>
                      <a:r>
                        <a:rPr lang="ru-RU" sz="2800" b="1" dirty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rgbClr val="3333CC"/>
                          </a:solidFill>
                        </a:rPr>
                        <a:t>1</a:t>
                      </a:r>
                      <a:r>
                        <a:rPr lang="ru-RU" sz="2800" b="1" dirty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rgbClr val="000000"/>
                          </a:solidFill>
                        </a:rPr>
                        <a:t>001</a:t>
                      </a:r>
                      <a:endParaRPr lang="ru-RU" sz="2800" b="1" dirty="0">
                        <a:ln>
                          <a:solidFill>
                            <a:sysClr val="windowText" lastClr="000000"/>
                          </a:solidFill>
                        </a:ln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5723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800" b="1" dirty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rgbClr val="000000"/>
                          </a:solidFill>
                        </a:rPr>
                        <a:t>1</a:t>
                      </a:r>
                      <a:r>
                        <a:rPr lang="ru-RU" sz="2800" b="1" dirty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rgbClr val="3333CC"/>
                          </a:solidFill>
                        </a:rPr>
                        <a:t>1</a:t>
                      </a:r>
                      <a:r>
                        <a:rPr lang="ru-RU" sz="2800" b="1" dirty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rgbClr val="000000"/>
                          </a:solidFill>
                        </a:rPr>
                        <a:t>011</a:t>
                      </a:r>
                      <a:endParaRPr lang="ru-RU" sz="2800" b="1" dirty="0">
                        <a:ln>
                          <a:solidFill>
                            <a:sysClr val="windowText" lastClr="000000"/>
                          </a:solidFill>
                        </a:ln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/>
          <p:cNvSpPr txBox="1">
            <a:spLocks/>
          </p:cNvSpPr>
          <p:nvPr/>
        </p:nvSpPr>
        <p:spPr bwMode="auto">
          <a:xfrm>
            <a:off x="519113" y="288925"/>
            <a:ext cx="8229600" cy="455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 eaLnBrk="0" hangingPunct="0">
              <a:defRPr/>
            </a:pPr>
            <a:r>
              <a:rPr lang="ru-RU" sz="3600" kern="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Поразрядная </a:t>
            </a:r>
            <a:r>
              <a:rPr lang="en-US" sz="3600" i="1" kern="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LSD - </a:t>
            </a:r>
            <a:r>
              <a:rPr lang="ru-RU" sz="3600" kern="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сортировка</a:t>
            </a:r>
          </a:p>
        </p:txBody>
      </p:sp>
      <p:graphicFrame>
        <p:nvGraphicFramePr>
          <p:cNvPr id="5" name="Содержимое 4"/>
          <p:cNvGraphicFramePr>
            <a:graphicFrameLocks/>
          </p:cNvGraphicFramePr>
          <p:nvPr/>
        </p:nvGraphicFramePr>
        <p:xfrm>
          <a:off x="446031" y="1055655"/>
          <a:ext cx="1449351" cy="525784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144935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65723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800" b="1" dirty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rgbClr val="3333CC"/>
                          </a:solidFill>
                        </a:rPr>
                        <a:t>0</a:t>
                      </a:r>
                      <a:r>
                        <a:rPr lang="ru-RU" sz="2800" b="1" dirty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rgbClr val="000000"/>
                          </a:solidFill>
                        </a:rPr>
                        <a:t>0000</a:t>
                      </a:r>
                      <a:endParaRPr lang="ru-RU" sz="2800" b="1" dirty="0">
                        <a:ln>
                          <a:solidFill>
                            <a:sysClr val="windowText" lastClr="000000"/>
                          </a:solidFill>
                        </a:ln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723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800" b="1" dirty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rgbClr val="3333CC"/>
                          </a:solidFill>
                        </a:rPr>
                        <a:t>1</a:t>
                      </a:r>
                      <a:r>
                        <a:rPr lang="ru-RU" sz="2800" b="1" dirty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rgbClr val="000000"/>
                          </a:solidFill>
                        </a:rPr>
                        <a:t>0000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723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800" b="1" dirty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rgbClr val="3333CC"/>
                          </a:solidFill>
                        </a:rPr>
                        <a:t>1</a:t>
                      </a:r>
                      <a:r>
                        <a:rPr lang="ru-RU" sz="2800" b="1" dirty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rgbClr val="000000"/>
                          </a:solidFill>
                        </a:rPr>
                        <a:t>0010</a:t>
                      </a:r>
                      <a:endParaRPr lang="ru-RU" sz="2800" b="1" dirty="0">
                        <a:ln>
                          <a:solidFill>
                            <a:sysClr val="windowText" lastClr="000000"/>
                          </a:solidFill>
                        </a:ln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723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800" b="1" dirty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rgbClr val="3333CC"/>
                          </a:solidFill>
                        </a:rPr>
                        <a:t>0</a:t>
                      </a:r>
                      <a:r>
                        <a:rPr lang="ru-RU" sz="2800" b="1" dirty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rgbClr val="000000"/>
                          </a:solidFill>
                        </a:rPr>
                        <a:t>0011</a:t>
                      </a:r>
                      <a:endParaRPr lang="ru-RU" sz="2800" b="1" dirty="0">
                        <a:ln>
                          <a:solidFill>
                            <a:sysClr val="windowText" lastClr="000000"/>
                          </a:solidFill>
                        </a:ln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723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800" b="1" dirty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rgbClr val="3333CC"/>
                          </a:solidFill>
                        </a:rPr>
                        <a:t>1</a:t>
                      </a:r>
                      <a:r>
                        <a:rPr lang="ru-RU" sz="2800" b="1" dirty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rgbClr val="000000"/>
                          </a:solidFill>
                        </a:rPr>
                        <a:t>0100</a:t>
                      </a:r>
                      <a:endParaRPr lang="ru-RU" sz="2800" b="1" dirty="0">
                        <a:ln>
                          <a:solidFill>
                            <a:sysClr val="windowText" lastClr="000000"/>
                          </a:solidFill>
                        </a:ln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5723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800" b="1" dirty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rgbClr val="3333CC"/>
                          </a:solidFill>
                        </a:rPr>
                        <a:t>1</a:t>
                      </a:r>
                      <a:r>
                        <a:rPr lang="ru-RU" sz="2800" b="1" dirty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rgbClr val="000000"/>
                          </a:solidFill>
                        </a:rPr>
                        <a:t>0110</a:t>
                      </a:r>
                      <a:endParaRPr lang="ru-RU" sz="2800" b="1" dirty="0">
                        <a:ln>
                          <a:solidFill>
                            <a:sysClr val="windowText" lastClr="000000"/>
                          </a:solidFill>
                        </a:ln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5723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800" b="1" dirty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rgbClr val="3333CC"/>
                          </a:solidFill>
                        </a:rPr>
                        <a:t>0</a:t>
                      </a:r>
                      <a:r>
                        <a:rPr lang="ru-RU" sz="2800" b="1" dirty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rgbClr val="000000"/>
                          </a:solidFill>
                        </a:rPr>
                        <a:t>1001</a:t>
                      </a:r>
                      <a:endParaRPr lang="ru-RU" sz="2800" b="1" dirty="0">
                        <a:ln>
                          <a:solidFill>
                            <a:sysClr val="windowText" lastClr="000000"/>
                          </a:solidFill>
                        </a:ln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5723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800" b="1" dirty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rgbClr val="3333CC"/>
                          </a:solidFill>
                        </a:rPr>
                        <a:t>1</a:t>
                      </a:r>
                      <a:r>
                        <a:rPr lang="ru-RU" sz="2800" b="1" dirty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rgbClr val="000000"/>
                          </a:solidFill>
                        </a:rPr>
                        <a:t>1011</a:t>
                      </a:r>
                      <a:endParaRPr lang="ru-RU" sz="2800" b="1" dirty="0">
                        <a:ln>
                          <a:solidFill>
                            <a:sysClr val="windowText" lastClr="000000"/>
                          </a:solidFill>
                        </a:ln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6" name="Содержимое 4"/>
          <p:cNvGraphicFramePr>
            <a:graphicFrameLocks/>
          </p:cNvGraphicFramePr>
          <p:nvPr/>
        </p:nvGraphicFramePr>
        <p:xfrm>
          <a:off x="2271681" y="1055655"/>
          <a:ext cx="1449351" cy="525784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144935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65723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800" b="1" dirty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rgbClr val="3333CC"/>
                          </a:solidFill>
                        </a:rPr>
                        <a:t>0</a:t>
                      </a:r>
                      <a:r>
                        <a:rPr lang="ru-RU" sz="2800" b="1" dirty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rgbClr val="000000"/>
                          </a:solidFill>
                        </a:rPr>
                        <a:t>0000</a:t>
                      </a:r>
                      <a:endParaRPr lang="ru-RU" sz="2800" b="1" dirty="0">
                        <a:ln>
                          <a:solidFill>
                            <a:sysClr val="windowText" lastClr="000000"/>
                          </a:solidFill>
                        </a:ln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723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800" b="1" dirty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rgbClr val="3333CC"/>
                          </a:solidFill>
                        </a:rPr>
                        <a:t>0</a:t>
                      </a:r>
                      <a:r>
                        <a:rPr lang="ru-RU" sz="2800" b="1" dirty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rgbClr val="000000"/>
                          </a:solidFill>
                        </a:rPr>
                        <a:t>0011</a:t>
                      </a:r>
                      <a:endParaRPr lang="ru-RU" sz="2800" b="1" dirty="0">
                        <a:ln>
                          <a:solidFill>
                            <a:sysClr val="windowText" lastClr="000000"/>
                          </a:solidFill>
                        </a:ln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723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800" b="1" dirty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rgbClr val="3333CC"/>
                          </a:solidFill>
                        </a:rPr>
                        <a:t>0</a:t>
                      </a:r>
                      <a:r>
                        <a:rPr lang="ru-RU" sz="2800" b="1" dirty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rgbClr val="000000"/>
                          </a:solidFill>
                        </a:rPr>
                        <a:t>1001</a:t>
                      </a:r>
                      <a:endParaRPr lang="ru-RU" sz="2800" b="1" dirty="0">
                        <a:ln>
                          <a:solidFill>
                            <a:sysClr val="windowText" lastClr="000000"/>
                          </a:solidFill>
                        </a:ln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723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800" b="1" dirty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rgbClr val="3333CC"/>
                          </a:solidFill>
                        </a:rPr>
                        <a:t>1</a:t>
                      </a:r>
                      <a:r>
                        <a:rPr lang="ru-RU" sz="2800" b="1" dirty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rgbClr val="000000"/>
                          </a:solidFill>
                        </a:rPr>
                        <a:t>0000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723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800" b="1" dirty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rgbClr val="3333CC"/>
                          </a:solidFill>
                        </a:rPr>
                        <a:t>1</a:t>
                      </a:r>
                      <a:r>
                        <a:rPr lang="ru-RU" sz="2800" b="1" dirty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rgbClr val="000000"/>
                          </a:solidFill>
                        </a:rPr>
                        <a:t>0010</a:t>
                      </a:r>
                      <a:endParaRPr lang="ru-RU" sz="2800" b="1" dirty="0">
                        <a:ln>
                          <a:solidFill>
                            <a:sysClr val="windowText" lastClr="000000"/>
                          </a:solidFill>
                        </a:ln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5723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800" b="1" dirty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rgbClr val="3333CC"/>
                          </a:solidFill>
                        </a:rPr>
                        <a:t>1</a:t>
                      </a:r>
                      <a:r>
                        <a:rPr lang="ru-RU" sz="2800" b="1" dirty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rgbClr val="000000"/>
                          </a:solidFill>
                        </a:rPr>
                        <a:t>0100</a:t>
                      </a:r>
                      <a:endParaRPr lang="ru-RU" sz="2800" b="1" dirty="0">
                        <a:ln>
                          <a:solidFill>
                            <a:sysClr val="windowText" lastClr="000000"/>
                          </a:solidFill>
                        </a:ln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5723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800" b="1" dirty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rgbClr val="3333CC"/>
                          </a:solidFill>
                        </a:rPr>
                        <a:t>1</a:t>
                      </a:r>
                      <a:r>
                        <a:rPr lang="ru-RU" sz="2800" b="1" dirty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rgbClr val="000000"/>
                          </a:solidFill>
                        </a:rPr>
                        <a:t>0110</a:t>
                      </a:r>
                      <a:endParaRPr lang="ru-RU" sz="2800" b="1" dirty="0">
                        <a:ln>
                          <a:solidFill>
                            <a:sysClr val="windowText" lastClr="000000"/>
                          </a:solidFill>
                        </a:ln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5723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800" b="1" dirty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rgbClr val="3333CC"/>
                          </a:solidFill>
                        </a:rPr>
                        <a:t>1</a:t>
                      </a:r>
                      <a:r>
                        <a:rPr lang="ru-RU" sz="2800" b="1" dirty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rgbClr val="000000"/>
                          </a:solidFill>
                        </a:rPr>
                        <a:t>1011</a:t>
                      </a:r>
                      <a:endParaRPr lang="ru-RU" sz="2800" b="1" dirty="0">
                        <a:ln>
                          <a:solidFill>
                            <a:sysClr val="windowText" lastClr="000000"/>
                          </a:solidFill>
                        </a:ln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7" name="Прямоугольник 6"/>
          <p:cNvSpPr/>
          <p:nvPr/>
        </p:nvSpPr>
        <p:spPr bwMode="auto">
          <a:xfrm>
            <a:off x="4279900" y="1055688"/>
            <a:ext cx="4491038" cy="3213100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None/>
              <a:defRPr/>
            </a:pPr>
            <a:r>
              <a:rPr lang="en-US" i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n-cs"/>
              </a:rPr>
              <a:t>LSD-</a:t>
            </a:r>
            <a:r>
              <a:rPr lang="ru-RU" i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n-cs"/>
              </a:rPr>
              <a:t>сортировка</a:t>
            </a:r>
          </a:p>
          <a:p>
            <a:pPr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None/>
              <a:defRPr/>
            </a:pPr>
            <a:r>
              <a:rPr lang="ru-RU" b="0" u="sng" dirty="0">
                <a:solidFill>
                  <a:srgbClr val="000000"/>
                </a:solidFill>
                <a:cs typeface="+mn-cs"/>
              </a:rPr>
              <a:t>цикл</a:t>
            </a:r>
            <a:r>
              <a:rPr lang="ru-RU" b="0" dirty="0">
                <a:solidFill>
                  <a:srgbClr val="000000"/>
                </a:solidFill>
                <a:cs typeface="+mn-cs"/>
              </a:rPr>
              <a:t> </a:t>
            </a:r>
            <a:r>
              <a:rPr lang="ru-RU" b="0" u="sng" dirty="0">
                <a:solidFill>
                  <a:srgbClr val="000000"/>
                </a:solidFill>
                <a:cs typeface="+mn-cs"/>
              </a:rPr>
              <a:t>для</a:t>
            </a:r>
            <a:r>
              <a:rPr lang="ru-RU" b="0" dirty="0">
                <a:solidFill>
                  <a:srgbClr val="000000"/>
                </a:solidFill>
                <a:cs typeface="+mn-cs"/>
              </a:rPr>
              <a:t> </a:t>
            </a:r>
            <a:r>
              <a:rPr lang="en-US" b="0" i="1" dirty="0" err="1">
                <a:solidFill>
                  <a:srgbClr val="000000"/>
                </a:solidFill>
                <a:cs typeface="+mn-cs"/>
              </a:rPr>
              <a:t>i</a:t>
            </a:r>
            <a:r>
              <a:rPr lang="en-US" b="0" i="1" dirty="0">
                <a:solidFill>
                  <a:srgbClr val="000000"/>
                </a:solidFill>
                <a:cs typeface="+mn-cs"/>
              </a:rPr>
              <a:t> </a:t>
            </a:r>
            <a:r>
              <a:rPr lang="ru-RU" b="0" u="sng" dirty="0">
                <a:solidFill>
                  <a:srgbClr val="000000"/>
                </a:solidFill>
                <a:cs typeface="+mn-cs"/>
              </a:rPr>
              <a:t>от</a:t>
            </a:r>
            <a:r>
              <a:rPr lang="ru-RU" b="0" dirty="0">
                <a:solidFill>
                  <a:srgbClr val="000000"/>
                </a:solidFill>
                <a:cs typeface="+mn-cs"/>
              </a:rPr>
              <a:t> 0 </a:t>
            </a:r>
            <a:r>
              <a:rPr lang="ru-RU" b="0" u="sng" dirty="0">
                <a:solidFill>
                  <a:srgbClr val="000000"/>
                </a:solidFill>
                <a:cs typeface="+mn-cs"/>
              </a:rPr>
              <a:t>до</a:t>
            </a:r>
            <a:r>
              <a:rPr lang="ru-RU" b="0" dirty="0">
                <a:solidFill>
                  <a:srgbClr val="000000"/>
                </a:solidFill>
                <a:cs typeface="+mn-cs"/>
              </a:rPr>
              <a:t> </a:t>
            </a:r>
            <a:r>
              <a:rPr lang="en-US" b="0" i="1" dirty="0">
                <a:solidFill>
                  <a:srgbClr val="000000"/>
                </a:solidFill>
                <a:cs typeface="+mn-cs"/>
              </a:rPr>
              <a:t>D</a:t>
            </a:r>
            <a:r>
              <a:rPr lang="ru-RU" b="0" i="1" dirty="0">
                <a:solidFill>
                  <a:srgbClr val="000000"/>
                </a:solidFill>
                <a:cs typeface="+mn-cs"/>
              </a:rPr>
              <a:t> </a:t>
            </a:r>
            <a:r>
              <a:rPr lang="ru-RU" b="0" u="sng" dirty="0" err="1">
                <a:solidFill>
                  <a:srgbClr val="000000"/>
                </a:solidFill>
                <a:cs typeface="+mn-cs"/>
              </a:rPr>
              <a:t>нц</a:t>
            </a:r>
            <a:endParaRPr lang="en-US" b="0" u="sng" dirty="0">
              <a:solidFill>
                <a:srgbClr val="000000"/>
              </a:solidFill>
              <a:cs typeface="+mn-cs"/>
            </a:endParaRPr>
          </a:p>
          <a:p>
            <a:pPr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None/>
              <a:defRPr/>
            </a:pPr>
            <a:r>
              <a:rPr lang="en-US" sz="2000" b="0" i="1" dirty="0">
                <a:solidFill>
                  <a:srgbClr val="3333CC"/>
                </a:solidFill>
                <a:cs typeface="+mn-cs"/>
              </a:rPr>
              <a:t>|| D – </a:t>
            </a:r>
            <a:r>
              <a:rPr lang="ru-RU" sz="2000" b="0" i="1" dirty="0">
                <a:solidFill>
                  <a:srgbClr val="3333CC"/>
                </a:solidFill>
                <a:cs typeface="+mn-cs"/>
              </a:rPr>
              <a:t>количество разрядов ключа</a:t>
            </a:r>
          </a:p>
          <a:p>
            <a:pPr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None/>
              <a:defRPr/>
            </a:pPr>
            <a:r>
              <a:rPr lang="ru-RU" b="0" i="1" dirty="0">
                <a:solidFill>
                  <a:srgbClr val="3333CC"/>
                </a:solidFill>
                <a:cs typeface="+mn-cs"/>
              </a:rPr>
              <a:t>   </a:t>
            </a:r>
            <a:r>
              <a:rPr lang="ru-RU" b="0" dirty="0">
                <a:solidFill>
                  <a:srgbClr val="000000"/>
                </a:solidFill>
                <a:cs typeface="+mn-cs"/>
              </a:rPr>
              <a:t>Сортировка разряда </a:t>
            </a:r>
            <a:r>
              <a:rPr lang="en-US" b="0" i="1" dirty="0" err="1">
                <a:solidFill>
                  <a:srgbClr val="000000"/>
                </a:solidFill>
                <a:cs typeface="+mn-cs"/>
              </a:rPr>
              <a:t>i</a:t>
            </a:r>
            <a:endParaRPr lang="en-US" b="0" i="1" dirty="0">
              <a:solidFill>
                <a:srgbClr val="000000"/>
              </a:solidFill>
              <a:cs typeface="+mn-cs"/>
            </a:endParaRPr>
          </a:p>
          <a:p>
            <a:pPr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None/>
              <a:defRPr/>
            </a:pPr>
            <a:r>
              <a:rPr lang="ru-RU" b="0" u="sng" dirty="0" err="1">
                <a:solidFill>
                  <a:srgbClr val="000000"/>
                </a:solidFill>
                <a:cs typeface="+mn-cs"/>
              </a:rPr>
              <a:t>кц</a:t>
            </a:r>
            <a:endParaRPr lang="ru-RU" b="0" u="sng" dirty="0">
              <a:solidFill>
                <a:srgbClr val="000000"/>
              </a:solidFill>
              <a:cs typeface="+mn-cs"/>
            </a:endParaRPr>
          </a:p>
          <a:p>
            <a:pPr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None/>
              <a:defRPr/>
            </a:pPr>
            <a:r>
              <a:rPr lang="ru-RU" b="0" u="sng" dirty="0">
                <a:solidFill>
                  <a:srgbClr val="000000"/>
                </a:solidFill>
                <a:cs typeface="+mn-cs"/>
              </a:rPr>
              <a:t>конец</a:t>
            </a:r>
          </a:p>
        </p:txBody>
      </p:sp>
      <p:sp>
        <p:nvSpPr>
          <p:cNvPr id="8" name="Прямоугольник 7"/>
          <p:cNvSpPr>
            <a:spLocks noChangeArrowheads="1"/>
          </p:cNvSpPr>
          <p:nvPr/>
        </p:nvSpPr>
        <p:spPr bwMode="auto">
          <a:xfrm>
            <a:off x="4279900" y="4487863"/>
            <a:ext cx="4418013" cy="1789112"/>
          </a:xfrm>
          <a:prstGeom prst="rect">
            <a:avLst/>
          </a:prstGeom>
          <a:noFill/>
          <a:ln w="9525" algn="ctr">
            <a:noFill/>
            <a:round/>
            <a:headEnd/>
            <a:tailEnd/>
          </a:ln>
        </p:spPr>
        <p:txBody>
          <a:bodyPr/>
          <a:lstStyle/>
          <a:p>
            <a:pPr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None/>
            </a:pPr>
            <a:r>
              <a:rPr lang="ru-RU">
                <a:solidFill>
                  <a:srgbClr val="000000"/>
                </a:solidFill>
              </a:rPr>
              <a:t>Сортировка не рекурсивная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000"/>
                            </p:stCondLst>
                            <p:childTnLst>
                              <p:par>
                                <p:cTn id="27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 animBg="1"/>
      <p:bldP spid="8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/>
          <p:cNvSpPr txBox="1">
            <a:spLocks/>
          </p:cNvSpPr>
          <p:nvPr/>
        </p:nvSpPr>
        <p:spPr bwMode="auto">
          <a:xfrm>
            <a:off x="519113" y="288925"/>
            <a:ext cx="8229600" cy="455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 eaLnBrk="0" hangingPunct="0">
              <a:defRPr/>
            </a:pPr>
            <a:r>
              <a:rPr lang="ru-RU" sz="3600" kern="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Очереди по приоритетам</a:t>
            </a:r>
          </a:p>
        </p:txBody>
      </p:sp>
      <p:sp>
        <p:nvSpPr>
          <p:cNvPr id="3" name="Прямоугольник 2"/>
          <p:cNvSpPr>
            <a:spLocks noChangeArrowheads="1"/>
          </p:cNvSpPr>
          <p:nvPr/>
        </p:nvSpPr>
        <p:spPr bwMode="auto">
          <a:xfrm>
            <a:off x="519113" y="1055688"/>
            <a:ext cx="8105775" cy="2555875"/>
          </a:xfrm>
          <a:prstGeom prst="rect">
            <a:avLst/>
          </a:prstGeom>
          <a:solidFill>
            <a:schemeClr val="tx1"/>
          </a:solidFill>
          <a:ln w="9525" algn="ctr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pPr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None/>
            </a:pPr>
            <a:r>
              <a:rPr lang="ru-RU">
                <a:solidFill>
                  <a:srgbClr val="000000"/>
                </a:solidFill>
              </a:rPr>
              <a:t>Во многих приложениях требуется обработка записей с упорядоченными </a:t>
            </a:r>
            <a:r>
              <a:rPr lang="ru-RU">
                <a:solidFill>
                  <a:srgbClr val="3333CC"/>
                </a:solidFill>
              </a:rPr>
              <a:t>определенным</a:t>
            </a:r>
            <a:r>
              <a:rPr lang="ru-RU">
                <a:solidFill>
                  <a:srgbClr val="000000"/>
                </a:solidFill>
              </a:rPr>
              <a:t> образом ключами: </a:t>
            </a:r>
            <a:endParaRPr lang="en-US">
              <a:solidFill>
                <a:srgbClr val="000000"/>
              </a:solidFill>
            </a:endParaRPr>
          </a:p>
          <a:p>
            <a:pPr>
              <a:spcBef>
                <a:spcPct val="20000"/>
              </a:spcBef>
              <a:buSzPct val="100000"/>
              <a:buFont typeface="Arial" charset="0"/>
              <a:buChar char="•"/>
            </a:pPr>
            <a:r>
              <a:rPr lang="ru-RU">
                <a:solidFill>
                  <a:srgbClr val="000000"/>
                </a:solidFill>
              </a:rPr>
              <a:t> не обязательно в строгом порядке; </a:t>
            </a:r>
          </a:p>
          <a:p>
            <a:pPr>
              <a:spcBef>
                <a:spcPct val="20000"/>
              </a:spcBef>
              <a:buSzPct val="100000"/>
              <a:buFont typeface="Arial" charset="0"/>
              <a:buChar char="•"/>
            </a:pPr>
            <a:r>
              <a:rPr lang="ru-RU">
                <a:solidFill>
                  <a:srgbClr val="000000"/>
                </a:solidFill>
              </a:rPr>
              <a:t> не обязательно всех сразу. </a:t>
            </a:r>
          </a:p>
        </p:txBody>
      </p:sp>
      <p:sp>
        <p:nvSpPr>
          <p:cNvPr id="5" name="Прямоугольник 4"/>
          <p:cNvSpPr/>
          <p:nvPr/>
        </p:nvSpPr>
        <p:spPr bwMode="auto">
          <a:xfrm>
            <a:off x="482600" y="4086225"/>
            <a:ext cx="2701925" cy="1058863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None/>
              <a:defRPr/>
            </a:pPr>
            <a:r>
              <a:rPr lang="ru-RU" sz="2400" dirty="0">
                <a:solidFill>
                  <a:schemeClr val="bg2"/>
                </a:solidFill>
                <a:cs typeface="+mn-cs"/>
              </a:rPr>
              <a:t>накапливается набор записей</a:t>
            </a:r>
            <a:endParaRPr lang="ru-RU" sz="2400" dirty="0">
              <a:solidFill>
                <a:schemeClr val="bg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n-cs"/>
            </a:endParaRPr>
          </a:p>
        </p:txBody>
      </p:sp>
      <p:sp>
        <p:nvSpPr>
          <p:cNvPr id="7" name="Прямоугольник 6"/>
          <p:cNvSpPr/>
          <p:nvPr/>
        </p:nvSpPr>
        <p:spPr bwMode="auto">
          <a:xfrm>
            <a:off x="2709863" y="4633913"/>
            <a:ext cx="2921000" cy="1533525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None/>
              <a:defRPr/>
            </a:pPr>
            <a:r>
              <a:rPr lang="ru-RU" sz="2400" dirty="0">
                <a:solidFill>
                  <a:schemeClr val="bg2"/>
                </a:solidFill>
                <a:cs typeface="+mn-cs"/>
              </a:rPr>
              <a:t>обрабатывается запись с максимальным ключом</a:t>
            </a:r>
            <a:endParaRPr lang="ru-RU" sz="2400" dirty="0">
              <a:solidFill>
                <a:schemeClr val="bg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n-cs"/>
            </a:endParaRPr>
          </a:p>
        </p:txBody>
      </p:sp>
      <p:sp>
        <p:nvSpPr>
          <p:cNvPr id="10" name="Прямоугольник 9"/>
          <p:cNvSpPr/>
          <p:nvPr/>
        </p:nvSpPr>
        <p:spPr bwMode="auto">
          <a:xfrm>
            <a:off x="4316413" y="4159250"/>
            <a:ext cx="2701925" cy="1058863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None/>
              <a:defRPr/>
            </a:pPr>
            <a:r>
              <a:rPr lang="ru-RU" sz="2400" dirty="0">
                <a:solidFill>
                  <a:schemeClr val="bg2"/>
                </a:solidFill>
                <a:cs typeface="+mn-cs"/>
              </a:rPr>
              <a:t>накапливается набор записей</a:t>
            </a:r>
            <a:endParaRPr lang="ru-RU" sz="2400" dirty="0">
              <a:solidFill>
                <a:schemeClr val="bg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n-cs"/>
            </a:endParaRPr>
          </a:p>
        </p:txBody>
      </p:sp>
      <p:sp>
        <p:nvSpPr>
          <p:cNvPr id="12" name="Прямоугольник 11"/>
          <p:cNvSpPr/>
          <p:nvPr/>
        </p:nvSpPr>
        <p:spPr bwMode="auto">
          <a:xfrm>
            <a:off x="5922963" y="4706938"/>
            <a:ext cx="2921000" cy="1533525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None/>
              <a:defRPr/>
            </a:pPr>
            <a:r>
              <a:rPr lang="ru-RU" sz="2400" dirty="0">
                <a:solidFill>
                  <a:schemeClr val="bg2"/>
                </a:solidFill>
                <a:cs typeface="+mn-cs"/>
              </a:rPr>
              <a:t>обрабатывается запись с максимальным ключом</a:t>
            </a:r>
            <a:endParaRPr lang="ru-RU" sz="2400" dirty="0">
              <a:solidFill>
                <a:schemeClr val="bg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3" grpId="0" animBg="1"/>
      <p:bldP spid="5" grpId="0" animBg="1"/>
      <p:bldP spid="7" grpId="0" animBg="1"/>
      <p:bldP spid="10" grpId="0" animBg="1"/>
      <p:bldP spid="12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1165225"/>
            <a:ext cx="8229600" cy="4125913"/>
          </a:xfrm>
          <a:solidFill>
            <a:schemeClr val="tx1"/>
          </a:solidFill>
          <a:ln>
            <a:solidFill>
              <a:srgbClr val="000000"/>
            </a:solidFill>
          </a:ln>
        </p:spPr>
        <p:txBody>
          <a:bodyPr/>
          <a:lstStyle/>
          <a:p>
            <a:pPr marL="0" indent="0">
              <a:buFont typeface="Wingdings" pitchFamily="2" charset="2"/>
              <a:buNone/>
              <a:defRPr/>
            </a:pPr>
            <a:r>
              <a:rPr lang="ru-RU" b="1" dirty="0">
                <a:solidFill>
                  <a:schemeClr val="bg2"/>
                </a:solidFill>
                <a:effectLst/>
              </a:rPr>
              <a:t>Структура данных, поддерживающая операции </a:t>
            </a:r>
          </a:p>
          <a:p>
            <a:pPr marL="0" indent="0">
              <a:buClrTx/>
              <a:buSzPct val="100000"/>
              <a:buFont typeface="Arial" pitchFamily="34" charset="0"/>
              <a:buChar char="•"/>
              <a:defRPr/>
            </a:pPr>
            <a:r>
              <a:rPr lang="ru-RU" b="1" dirty="0">
                <a:solidFill>
                  <a:schemeClr val="bg2"/>
                </a:solidFill>
                <a:effectLst/>
              </a:rPr>
              <a:t> вставки нового элемента;</a:t>
            </a:r>
          </a:p>
          <a:p>
            <a:pPr marL="0" indent="0">
              <a:buClrTx/>
              <a:buSzPct val="100000"/>
              <a:buFont typeface="Arial" pitchFamily="34" charset="0"/>
              <a:buChar char="•"/>
              <a:defRPr/>
            </a:pPr>
            <a:r>
              <a:rPr lang="ru-RU" b="1" dirty="0">
                <a:solidFill>
                  <a:schemeClr val="bg2"/>
                </a:solidFill>
                <a:effectLst/>
              </a:rPr>
              <a:t> удаления элемента с максимальным значением ключа  </a:t>
            </a:r>
          </a:p>
          <a:p>
            <a:pPr marL="0" indent="0">
              <a:buFont typeface="Wingdings" pitchFamily="2" charset="2"/>
              <a:buNone/>
              <a:defRPr/>
            </a:pPr>
            <a:r>
              <a:rPr lang="ru-RU" b="1" dirty="0">
                <a:solidFill>
                  <a:schemeClr val="bg2"/>
                </a:solidFill>
                <a:effectLst/>
              </a:rPr>
              <a:t>называется </a:t>
            </a:r>
          </a:p>
          <a:p>
            <a:pPr marL="0" indent="0" algn="ctr">
              <a:buFont typeface="Wingdings" pitchFamily="2" charset="2"/>
              <a:buNone/>
              <a:defRPr/>
            </a:pPr>
            <a:r>
              <a:rPr lang="ru-RU" sz="3600" b="1" dirty="0">
                <a:solidFill>
                  <a:srgbClr val="3333CC"/>
                </a:solidFill>
                <a:effectLst/>
              </a:rPr>
              <a:t>очередью по приоритетам</a:t>
            </a:r>
            <a:r>
              <a:rPr lang="ru-RU" b="1" dirty="0">
                <a:solidFill>
                  <a:schemeClr val="bg2"/>
                </a:solidFill>
                <a:effectLst/>
              </a:rPr>
              <a:t>.</a:t>
            </a:r>
          </a:p>
          <a:p>
            <a:pPr>
              <a:buFont typeface="Wingdings" pitchFamily="2" charset="2"/>
              <a:buNone/>
              <a:defRPr/>
            </a:pPr>
            <a:endParaRPr lang="ru-RU" dirty="0"/>
          </a:p>
        </p:txBody>
      </p:sp>
      <p:sp>
        <p:nvSpPr>
          <p:cNvPr id="4" name="Заголовок 1"/>
          <p:cNvSpPr txBox="1">
            <a:spLocks/>
          </p:cNvSpPr>
          <p:nvPr/>
        </p:nvSpPr>
        <p:spPr bwMode="auto">
          <a:xfrm>
            <a:off x="519113" y="288925"/>
            <a:ext cx="8229600" cy="455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 eaLnBrk="0" hangingPunct="0">
              <a:defRPr/>
            </a:pPr>
            <a:r>
              <a:rPr lang="ru-RU" sz="3600" kern="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Очереди по приоритетам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nimBg="1"/>
      <p:bldP spid="4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1128713"/>
            <a:ext cx="8229600" cy="4967287"/>
          </a:xfrm>
          <a:solidFill>
            <a:schemeClr val="tx1"/>
          </a:solidFill>
          <a:ln>
            <a:solidFill>
              <a:srgbClr val="000000"/>
            </a:solidFill>
          </a:ln>
        </p:spPr>
        <p:txBody>
          <a:bodyPr/>
          <a:lstStyle/>
          <a:p>
            <a:pPr>
              <a:buFont typeface="Wingdings" pitchFamily="2" charset="2"/>
              <a:buNone/>
              <a:defRPr/>
            </a:pPr>
            <a:r>
              <a:rPr lang="ru-RU" sz="2800" dirty="0">
                <a:solidFill>
                  <a:schemeClr val="bg1"/>
                </a:solidFill>
              </a:rPr>
              <a:t>•	</a:t>
            </a:r>
            <a:r>
              <a:rPr lang="ru-RU" sz="2800" dirty="0">
                <a:solidFill>
                  <a:srgbClr val="3333CC"/>
                </a:solidFill>
              </a:rPr>
              <a:t>Системы моделирования </a:t>
            </a:r>
            <a:r>
              <a:rPr lang="ru-RU" sz="2800" dirty="0">
                <a:solidFill>
                  <a:schemeClr val="bg1"/>
                </a:solidFill>
              </a:rPr>
              <a:t>– каждое событие системы характеризуется моментом возникновения, это помогает обслуживать события в хронологическом порядке.</a:t>
            </a:r>
          </a:p>
          <a:p>
            <a:pPr>
              <a:buFont typeface="Wingdings" pitchFamily="2" charset="2"/>
              <a:buNone/>
              <a:defRPr/>
            </a:pPr>
            <a:r>
              <a:rPr lang="ru-RU" sz="2800" dirty="0">
                <a:solidFill>
                  <a:schemeClr val="bg1"/>
                </a:solidFill>
              </a:rPr>
              <a:t>•	</a:t>
            </a:r>
            <a:r>
              <a:rPr lang="ru-RU" sz="2800" dirty="0">
                <a:solidFill>
                  <a:srgbClr val="3333CC"/>
                </a:solidFill>
              </a:rPr>
              <a:t>Системы планирования заданий</a:t>
            </a:r>
            <a:r>
              <a:rPr lang="ru-RU" sz="2800" dirty="0">
                <a:solidFill>
                  <a:schemeClr val="bg1"/>
                </a:solidFill>
              </a:rPr>
              <a:t> в вычислительных системах – приоритет указывает, какая задача должна выполнятся первой</a:t>
            </a:r>
          </a:p>
          <a:p>
            <a:pPr>
              <a:buFont typeface="Wingdings" pitchFamily="2" charset="2"/>
              <a:buNone/>
              <a:defRPr/>
            </a:pPr>
            <a:r>
              <a:rPr lang="ru-RU" sz="2800" dirty="0">
                <a:solidFill>
                  <a:schemeClr val="bg1"/>
                </a:solidFill>
              </a:rPr>
              <a:t>•	</a:t>
            </a:r>
            <a:r>
              <a:rPr lang="ru-RU" sz="2800" dirty="0">
                <a:solidFill>
                  <a:srgbClr val="3333CC"/>
                </a:solidFill>
              </a:rPr>
              <a:t>Численные расчеты </a:t>
            </a:r>
            <a:r>
              <a:rPr lang="ru-RU" sz="2800" dirty="0">
                <a:solidFill>
                  <a:schemeClr val="bg1"/>
                </a:solidFill>
              </a:rPr>
              <a:t>– приоритет (ошибка), наиболее грубые ошибки должны исправляться первыми.</a:t>
            </a:r>
          </a:p>
        </p:txBody>
      </p:sp>
      <p:sp>
        <p:nvSpPr>
          <p:cNvPr id="4" name="Заголовок 1"/>
          <p:cNvSpPr txBox="1">
            <a:spLocks/>
          </p:cNvSpPr>
          <p:nvPr/>
        </p:nvSpPr>
        <p:spPr bwMode="auto">
          <a:xfrm>
            <a:off x="519113" y="288925"/>
            <a:ext cx="8229600" cy="455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 eaLnBrk="0" hangingPunct="0">
              <a:defRPr/>
            </a:pPr>
            <a:r>
              <a:rPr lang="ru-RU" sz="3600" kern="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Очереди по приоритетам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nimBg="1"/>
      <p:bldP spid="4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1055688"/>
            <a:ext cx="8229600" cy="5040312"/>
          </a:xfrm>
          <a:solidFill>
            <a:schemeClr val="tx1"/>
          </a:solidFill>
          <a:ln>
            <a:solidFill>
              <a:srgbClr val="000000"/>
            </a:solidFill>
          </a:ln>
        </p:spPr>
        <p:txBody>
          <a:bodyPr/>
          <a:lstStyle/>
          <a:p>
            <a:pPr marL="0" indent="0">
              <a:buFont typeface="Wingdings" pitchFamily="2" charset="2"/>
              <a:buNone/>
              <a:defRPr/>
            </a:pPr>
            <a:r>
              <a:rPr lang="ru-RU" dirty="0">
                <a:solidFill>
                  <a:srgbClr val="000000"/>
                </a:solidFill>
              </a:rPr>
              <a:t>На практике очереди по приоритетам более сложны:</a:t>
            </a:r>
          </a:p>
          <a:p>
            <a:pPr>
              <a:buFont typeface="Wingdings" pitchFamily="2" charset="2"/>
              <a:buNone/>
              <a:defRPr/>
            </a:pPr>
            <a:r>
              <a:rPr lang="ru-RU" dirty="0">
                <a:solidFill>
                  <a:srgbClr val="000000"/>
                </a:solidFill>
              </a:rPr>
              <a:t>•	создать очередь по приоритетам из </a:t>
            </a:r>
            <a:r>
              <a:rPr lang="ru-RU" i="1" dirty="0">
                <a:solidFill>
                  <a:srgbClr val="000000"/>
                </a:solidFill>
              </a:rPr>
              <a:t>N</a:t>
            </a:r>
            <a:r>
              <a:rPr lang="ru-RU" dirty="0">
                <a:solidFill>
                  <a:srgbClr val="000000"/>
                </a:solidFill>
              </a:rPr>
              <a:t> заданных элементов;</a:t>
            </a:r>
          </a:p>
          <a:p>
            <a:pPr>
              <a:buFont typeface="Wingdings" pitchFamily="2" charset="2"/>
              <a:buNone/>
              <a:defRPr/>
            </a:pPr>
            <a:r>
              <a:rPr lang="ru-RU" dirty="0">
                <a:solidFill>
                  <a:srgbClr val="000000"/>
                </a:solidFill>
              </a:rPr>
              <a:t>•	изменить приоритет произвольного элемента;</a:t>
            </a:r>
          </a:p>
          <a:p>
            <a:pPr>
              <a:buFont typeface="Wingdings" pitchFamily="2" charset="2"/>
              <a:buNone/>
              <a:defRPr/>
            </a:pPr>
            <a:r>
              <a:rPr lang="ru-RU" dirty="0">
                <a:solidFill>
                  <a:srgbClr val="000000"/>
                </a:solidFill>
              </a:rPr>
              <a:t>•	удалить произвольный элемент;</a:t>
            </a:r>
          </a:p>
          <a:p>
            <a:pPr>
              <a:buFont typeface="Wingdings" pitchFamily="2" charset="2"/>
              <a:buNone/>
              <a:defRPr/>
            </a:pPr>
            <a:r>
              <a:rPr lang="ru-RU" dirty="0">
                <a:solidFill>
                  <a:srgbClr val="000000"/>
                </a:solidFill>
              </a:rPr>
              <a:t>•	объединить две очереди по приоритетам в одну.</a:t>
            </a:r>
          </a:p>
          <a:p>
            <a:pPr>
              <a:buFont typeface="Wingdings" pitchFamily="2" charset="2"/>
              <a:buNone/>
              <a:defRPr/>
            </a:pPr>
            <a:endParaRPr lang="ru-RU" dirty="0">
              <a:solidFill>
                <a:srgbClr val="000000"/>
              </a:solidFill>
            </a:endParaRPr>
          </a:p>
        </p:txBody>
      </p:sp>
      <p:sp>
        <p:nvSpPr>
          <p:cNvPr id="4" name="Заголовок 1"/>
          <p:cNvSpPr txBox="1">
            <a:spLocks/>
          </p:cNvSpPr>
          <p:nvPr/>
        </p:nvSpPr>
        <p:spPr bwMode="auto">
          <a:xfrm>
            <a:off x="519113" y="288925"/>
            <a:ext cx="8229600" cy="455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 eaLnBrk="0" hangingPunct="0">
              <a:defRPr/>
            </a:pPr>
            <a:r>
              <a:rPr lang="ru-RU" sz="3600" kern="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Очереди по приоритетам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50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3000"/>
                            </p:stCondLst>
                            <p:childTnLst>
                              <p:par>
                                <p:cTn id="2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500"/>
                            </p:stCondLst>
                            <p:childTnLst>
                              <p:par>
                                <p:cTn id="2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4000"/>
                            </p:stCondLst>
                            <p:childTnLst>
                              <p:par>
                                <p:cTn id="3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nimBg="1"/>
      <p:bldP spid="4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1019175"/>
            <a:ext cx="8229600" cy="5367338"/>
          </a:xfrm>
          <a:solidFill>
            <a:schemeClr val="tx1"/>
          </a:solidFill>
          <a:ln>
            <a:solidFill>
              <a:srgbClr val="000000"/>
            </a:solidFill>
          </a:ln>
        </p:spPr>
        <p:txBody>
          <a:bodyPr/>
          <a:lstStyle/>
          <a:p>
            <a:pPr marL="0" indent="0">
              <a:buFont typeface="Wingdings" pitchFamily="2" charset="2"/>
              <a:buNone/>
              <a:defRPr/>
            </a:pPr>
            <a:r>
              <a:rPr lang="ru-RU" dirty="0">
                <a:solidFill>
                  <a:srgbClr val="000000"/>
                </a:solidFill>
              </a:rPr>
              <a:t>Базовые структуры для очереди: </a:t>
            </a:r>
          </a:p>
          <a:p>
            <a:pPr marL="0" indent="0">
              <a:buClrTx/>
              <a:buSzPct val="100000"/>
              <a:buFont typeface="Arial" pitchFamily="34" charset="0"/>
              <a:buChar char="•"/>
              <a:defRPr/>
            </a:pPr>
            <a:r>
              <a:rPr lang="ru-RU" dirty="0">
                <a:solidFill>
                  <a:srgbClr val="000000"/>
                </a:solidFill>
              </a:rPr>
              <a:t> односвязный список, </a:t>
            </a:r>
          </a:p>
          <a:p>
            <a:pPr marL="0" indent="0">
              <a:buClrTx/>
              <a:buSzPct val="100000"/>
              <a:buFont typeface="Arial" pitchFamily="34" charset="0"/>
              <a:buChar char="•"/>
              <a:defRPr/>
            </a:pPr>
            <a:r>
              <a:rPr lang="ru-RU" dirty="0">
                <a:solidFill>
                  <a:srgbClr val="000000"/>
                </a:solidFill>
              </a:rPr>
              <a:t> двусвязный список </a:t>
            </a:r>
          </a:p>
          <a:p>
            <a:pPr marL="0" indent="0">
              <a:buClrTx/>
              <a:buSzPct val="100000"/>
              <a:buFont typeface="Arial" pitchFamily="34" charset="0"/>
              <a:buChar char="•"/>
              <a:defRPr/>
            </a:pPr>
            <a:r>
              <a:rPr lang="ru-RU" dirty="0">
                <a:solidFill>
                  <a:srgbClr val="000000"/>
                </a:solidFill>
              </a:rPr>
              <a:t> массив.</a:t>
            </a:r>
          </a:p>
          <a:p>
            <a:pPr marL="0" indent="0">
              <a:buFont typeface="Wingdings" pitchFamily="2" charset="2"/>
              <a:buNone/>
              <a:defRPr/>
            </a:pPr>
            <a:endParaRPr lang="ru-RU" dirty="0">
              <a:solidFill>
                <a:srgbClr val="000000"/>
              </a:solidFill>
            </a:endParaRPr>
          </a:p>
          <a:p>
            <a:pPr marL="0" indent="0">
              <a:buFont typeface="Wingdings" pitchFamily="2" charset="2"/>
              <a:buNone/>
              <a:defRPr/>
            </a:pPr>
            <a:r>
              <a:rPr lang="ru-RU" dirty="0">
                <a:solidFill>
                  <a:srgbClr val="000000"/>
                </a:solidFill>
              </a:rPr>
              <a:t>Каждая из описанных процедур может быть реализована различными способами, в зависимости от конкретной решаемой задачи.</a:t>
            </a:r>
          </a:p>
          <a:p>
            <a:pPr marL="0" indent="0">
              <a:buFont typeface="Wingdings" pitchFamily="2" charset="2"/>
              <a:buNone/>
              <a:defRPr/>
            </a:pPr>
            <a:endParaRPr lang="ru-RU" dirty="0">
              <a:solidFill>
                <a:srgbClr val="000000"/>
              </a:solidFill>
            </a:endParaRPr>
          </a:p>
        </p:txBody>
      </p:sp>
      <p:sp>
        <p:nvSpPr>
          <p:cNvPr id="4" name="Заголовок 1"/>
          <p:cNvSpPr txBox="1">
            <a:spLocks/>
          </p:cNvSpPr>
          <p:nvPr/>
        </p:nvSpPr>
        <p:spPr bwMode="auto">
          <a:xfrm>
            <a:off x="519113" y="288925"/>
            <a:ext cx="8229600" cy="455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 eaLnBrk="0" hangingPunct="0">
              <a:defRPr/>
            </a:pPr>
            <a:r>
              <a:rPr lang="ru-RU" sz="3600" kern="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Очереди по приоритетам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000"/>
                            </p:stCondLst>
                            <p:childTnLst>
                              <p:par>
                                <p:cTn id="22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3000"/>
                            </p:stCondLst>
                            <p:childTnLst>
                              <p:par>
                                <p:cTn id="28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4000"/>
                            </p:stCondLst>
                            <p:childTnLst>
                              <p:par>
                                <p:cTn id="34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nimBg="1"/>
      <p:bldP spid="4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09575" y="946150"/>
            <a:ext cx="8229600" cy="2190750"/>
          </a:xfrm>
          <a:solidFill>
            <a:schemeClr val="tx1"/>
          </a:solidFill>
          <a:ln>
            <a:solidFill>
              <a:srgbClr val="000000"/>
            </a:solidFill>
          </a:ln>
        </p:spPr>
        <p:txBody>
          <a:bodyPr/>
          <a:lstStyle/>
          <a:p>
            <a:pPr algn="ctr">
              <a:buFont typeface="Wingdings" pitchFamily="2" charset="2"/>
              <a:buNone/>
              <a:defRPr/>
            </a:pPr>
            <a:r>
              <a:rPr lang="ru-RU" sz="2800" b="1" dirty="0">
                <a:solidFill>
                  <a:srgbClr val="000000"/>
                </a:solidFill>
              </a:rPr>
              <a:t>Процедура вставки</a:t>
            </a:r>
          </a:p>
          <a:p>
            <a:pPr>
              <a:buClrTx/>
              <a:buSzPct val="100000"/>
              <a:buFont typeface="Arial" pitchFamily="34" charset="0"/>
              <a:buChar char="•"/>
              <a:defRPr/>
            </a:pPr>
            <a:r>
              <a:rPr lang="ru-RU" sz="2800" dirty="0">
                <a:solidFill>
                  <a:srgbClr val="000000"/>
                </a:solidFill>
              </a:rPr>
              <a:t>Вставлять элемент в начало очереди.  </a:t>
            </a:r>
          </a:p>
          <a:p>
            <a:pPr>
              <a:buClrTx/>
              <a:buSzPct val="100000"/>
              <a:buFont typeface="Arial" pitchFamily="34" charset="0"/>
              <a:buChar char="•"/>
              <a:defRPr/>
            </a:pPr>
            <a:r>
              <a:rPr lang="ru-RU" sz="2800" dirty="0">
                <a:solidFill>
                  <a:srgbClr val="000000"/>
                </a:solidFill>
              </a:rPr>
              <a:t>Вставлять элемент в конец очереди.</a:t>
            </a:r>
          </a:p>
          <a:p>
            <a:pPr>
              <a:buClrTx/>
              <a:buSzPct val="100000"/>
              <a:buFont typeface="Arial" pitchFamily="34" charset="0"/>
              <a:buChar char="•"/>
              <a:defRPr/>
            </a:pPr>
            <a:r>
              <a:rPr lang="ru-RU" sz="2800" dirty="0">
                <a:solidFill>
                  <a:srgbClr val="000000"/>
                </a:solidFill>
              </a:rPr>
              <a:t>Вставлять элемент в заданное место.</a:t>
            </a:r>
          </a:p>
          <a:p>
            <a:pPr>
              <a:buFont typeface="Wingdings" pitchFamily="2" charset="2"/>
              <a:buNone/>
              <a:defRPr/>
            </a:pPr>
            <a:endParaRPr lang="ru-RU" dirty="0">
              <a:solidFill>
                <a:srgbClr val="000000"/>
              </a:solidFill>
            </a:endParaRPr>
          </a:p>
        </p:txBody>
      </p:sp>
      <p:sp>
        <p:nvSpPr>
          <p:cNvPr id="4" name="Заголовок 1"/>
          <p:cNvSpPr txBox="1">
            <a:spLocks/>
          </p:cNvSpPr>
          <p:nvPr/>
        </p:nvSpPr>
        <p:spPr bwMode="auto">
          <a:xfrm>
            <a:off x="519113" y="288925"/>
            <a:ext cx="8229600" cy="455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 eaLnBrk="0" hangingPunct="0">
              <a:defRPr/>
            </a:pPr>
            <a:r>
              <a:rPr lang="ru-RU" sz="3600" kern="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Очереди по приоритетам</a:t>
            </a:r>
          </a:p>
        </p:txBody>
      </p:sp>
      <p:sp>
        <p:nvSpPr>
          <p:cNvPr id="5" name="Содержимое 2"/>
          <p:cNvSpPr txBox="1">
            <a:spLocks/>
          </p:cNvSpPr>
          <p:nvPr/>
        </p:nvSpPr>
        <p:spPr bwMode="auto">
          <a:xfrm>
            <a:off x="409575" y="3465513"/>
            <a:ext cx="8229600" cy="2957512"/>
          </a:xfrm>
          <a:prstGeom prst="rect">
            <a:avLst/>
          </a:prstGeom>
          <a:solidFill>
            <a:schemeClr val="tx1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/>
          <a:lstStyle/>
          <a:p>
            <a:pPr marL="342900" indent="-342900" algn="ctr" eaLnBrk="0" hangingPunct="0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None/>
              <a:defRPr/>
            </a:pPr>
            <a:r>
              <a:rPr lang="ru-RU" kern="0" dirty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cs typeface="+mn-cs"/>
              </a:rPr>
              <a:t>Процедура удаления элемента с наибольшим ключом</a:t>
            </a:r>
          </a:p>
          <a:p>
            <a:pPr eaLnBrk="0" hangingPunct="0">
              <a:spcBef>
                <a:spcPct val="20000"/>
              </a:spcBef>
              <a:buSzPct val="100000"/>
              <a:buFont typeface="Arial" pitchFamily="34" charset="0"/>
              <a:buChar char="•"/>
              <a:defRPr/>
            </a:pPr>
            <a:r>
              <a:rPr lang="ru-RU" b="0" kern="0" dirty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cs typeface="+mn-cs"/>
              </a:rPr>
              <a:t> Найти элемент с максимальным ключом и переставить его в конец. Удалить элемент.</a:t>
            </a:r>
          </a:p>
          <a:p>
            <a:pPr eaLnBrk="0" hangingPunct="0">
              <a:spcBef>
                <a:spcPct val="20000"/>
              </a:spcBef>
              <a:buSzPct val="100000"/>
              <a:buFont typeface="Arial" pitchFamily="34" charset="0"/>
              <a:buChar char="•"/>
              <a:defRPr/>
            </a:pPr>
            <a:r>
              <a:rPr lang="ru-RU" b="0" kern="0" dirty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cs typeface="+mn-cs"/>
              </a:rPr>
              <a:t> Найти элемент с максимальным ключом и сразу удалить его.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nimBg="1"/>
      <p:bldP spid="4" grpId="0"/>
      <p:bldP spid="5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46088" y="1676400"/>
            <a:ext cx="8229600" cy="4089400"/>
          </a:xfrm>
          <a:solidFill>
            <a:schemeClr val="tx1"/>
          </a:solidFill>
          <a:ln>
            <a:solidFill>
              <a:srgbClr val="000000"/>
            </a:solidFill>
          </a:ln>
        </p:spPr>
        <p:txBody>
          <a:bodyPr/>
          <a:lstStyle/>
          <a:p>
            <a:pPr algn="ctr">
              <a:buFont typeface="Wingdings" pitchFamily="2" charset="2"/>
              <a:buNone/>
              <a:defRPr/>
            </a:pPr>
            <a:r>
              <a:rPr lang="ru-RU" sz="2800" b="1" dirty="0">
                <a:solidFill>
                  <a:srgbClr val="000000"/>
                </a:solidFill>
              </a:rPr>
              <a:t>Упорядоченные последовательности элементов</a:t>
            </a:r>
          </a:p>
          <a:p>
            <a:pPr marL="0" indent="0">
              <a:buClrTx/>
              <a:buSzPct val="100000"/>
              <a:buFont typeface="Arial" pitchFamily="34" charset="0"/>
              <a:buChar char="•"/>
              <a:defRPr/>
            </a:pPr>
            <a:r>
              <a:rPr lang="en-US" sz="2800" dirty="0">
                <a:solidFill>
                  <a:srgbClr val="000000"/>
                </a:solidFill>
              </a:rPr>
              <a:t> </a:t>
            </a:r>
            <a:r>
              <a:rPr lang="ru-RU" sz="2800" dirty="0">
                <a:solidFill>
                  <a:srgbClr val="000000"/>
                </a:solidFill>
              </a:rPr>
              <a:t>Процедура вставки требует просмотра </a:t>
            </a:r>
            <a:r>
              <a:rPr lang="ru-RU" sz="2800" dirty="0">
                <a:solidFill>
                  <a:schemeClr val="bg2">
                    <a:lumMod val="60000"/>
                    <a:lumOff val="40000"/>
                  </a:schemeClr>
                </a:solidFill>
              </a:rPr>
              <a:t>всей</a:t>
            </a:r>
            <a:r>
              <a:rPr lang="ru-RU" sz="2800" dirty="0">
                <a:solidFill>
                  <a:srgbClr val="000000"/>
                </a:solidFill>
              </a:rPr>
              <a:t> последовательности элементов </a:t>
            </a:r>
            <a:r>
              <a:rPr lang="en-US" sz="2800" dirty="0">
                <a:solidFill>
                  <a:srgbClr val="000000"/>
                </a:solidFill>
              </a:rPr>
              <a:t> - O(n).</a:t>
            </a:r>
          </a:p>
          <a:p>
            <a:pPr marL="0" indent="0">
              <a:buClrTx/>
              <a:buSzPct val="100000"/>
              <a:buFont typeface="Wingdings" pitchFamily="2" charset="2"/>
              <a:buNone/>
              <a:defRPr/>
            </a:pPr>
            <a:endParaRPr lang="ru-RU" sz="2800" dirty="0">
              <a:solidFill>
                <a:srgbClr val="000000"/>
              </a:solidFill>
            </a:endParaRPr>
          </a:p>
          <a:p>
            <a:pPr marL="0" indent="0">
              <a:buClrTx/>
              <a:buSzPct val="100000"/>
              <a:buFont typeface="Arial" pitchFamily="34" charset="0"/>
              <a:buChar char="•"/>
              <a:defRPr/>
            </a:pPr>
            <a:r>
              <a:rPr lang="en-US" sz="2800" dirty="0">
                <a:solidFill>
                  <a:srgbClr val="000000"/>
                </a:solidFill>
              </a:rPr>
              <a:t> </a:t>
            </a:r>
            <a:r>
              <a:rPr lang="ru-RU" sz="2800" dirty="0">
                <a:solidFill>
                  <a:srgbClr val="000000"/>
                </a:solidFill>
              </a:rPr>
              <a:t>Процедура удаления и поиска максимального выполняется за </a:t>
            </a:r>
            <a:r>
              <a:rPr lang="ru-RU" sz="2800" dirty="0">
                <a:solidFill>
                  <a:schemeClr val="bg2">
                    <a:lumMod val="60000"/>
                    <a:lumOff val="40000"/>
                  </a:schemeClr>
                </a:solidFill>
              </a:rPr>
              <a:t>постоянное</a:t>
            </a:r>
            <a:r>
              <a:rPr lang="ru-RU" sz="2800" dirty="0">
                <a:solidFill>
                  <a:srgbClr val="000000"/>
                </a:solidFill>
              </a:rPr>
              <a:t> время </a:t>
            </a:r>
            <a:r>
              <a:rPr lang="en-US" sz="2800" dirty="0">
                <a:solidFill>
                  <a:srgbClr val="000000"/>
                </a:solidFill>
              </a:rPr>
              <a:t>- O(1).</a:t>
            </a:r>
            <a:endParaRPr lang="ru-RU" sz="2800" dirty="0">
              <a:solidFill>
                <a:srgbClr val="000000"/>
              </a:solidFill>
            </a:endParaRPr>
          </a:p>
          <a:p>
            <a:pPr>
              <a:buFont typeface="Wingdings" pitchFamily="2" charset="2"/>
              <a:buNone/>
              <a:defRPr/>
            </a:pPr>
            <a:endParaRPr lang="ru-RU" dirty="0">
              <a:solidFill>
                <a:srgbClr val="000000"/>
              </a:solidFill>
            </a:endParaRPr>
          </a:p>
        </p:txBody>
      </p:sp>
      <p:sp>
        <p:nvSpPr>
          <p:cNvPr id="4" name="Заголовок 1"/>
          <p:cNvSpPr txBox="1">
            <a:spLocks/>
          </p:cNvSpPr>
          <p:nvPr/>
        </p:nvSpPr>
        <p:spPr bwMode="auto">
          <a:xfrm>
            <a:off x="519113" y="288925"/>
            <a:ext cx="8229600" cy="455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 eaLnBrk="0" hangingPunct="0">
              <a:defRPr/>
            </a:pPr>
            <a:r>
              <a:rPr lang="ru-RU" sz="3600" kern="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Очереди по приоритетам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000"/>
                            </p:stCondLst>
                            <p:childTnLst>
                              <p:par>
                                <p:cTn id="22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3000"/>
                            </p:stCondLst>
                            <p:childTnLst>
                              <p:par>
                                <p:cTn id="28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nimBg="1"/>
      <p:bldP spid="4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982663"/>
            <a:ext cx="8229600" cy="2701925"/>
          </a:xfrm>
          <a:solidFill>
            <a:schemeClr val="tx1"/>
          </a:solidFill>
          <a:ln>
            <a:solidFill>
              <a:srgbClr val="000000"/>
            </a:solidFill>
          </a:ln>
        </p:spPr>
        <p:txBody>
          <a:bodyPr/>
          <a:lstStyle/>
          <a:p>
            <a:pPr algn="ctr">
              <a:buFont typeface="Wingdings" pitchFamily="2" charset="2"/>
              <a:buNone/>
              <a:defRPr/>
            </a:pPr>
            <a:r>
              <a:rPr lang="ru-RU" sz="2800" b="1" dirty="0">
                <a:solidFill>
                  <a:schemeClr val="bg2"/>
                </a:solidFill>
              </a:rPr>
              <a:t>Неупорядоченные последовательности</a:t>
            </a:r>
          </a:p>
          <a:p>
            <a:pPr marL="0" indent="0">
              <a:buClrTx/>
              <a:buSzPct val="100000"/>
              <a:buFont typeface="Arial" pitchFamily="34" charset="0"/>
              <a:buChar char="•"/>
              <a:defRPr/>
            </a:pPr>
            <a:r>
              <a:rPr lang="en-US" sz="2800" dirty="0">
                <a:solidFill>
                  <a:schemeClr val="bg2"/>
                </a:solidFill>
              </a:rPr>
              <a:t> </a:t>
            </a:r>
            <a:r>
              <a:rPr lang="ru-RU" sz="2800" dirty="0">
                <a:solidFill>
                  <a:schemeClr val="bg2"/>
                </a:solidFill>
              </a:rPr>
              <a:t>Процедура вставки выполняется за </a:t>
            </a:r>
            <a:r>
              <a:rPr lang="ru-RU" sz="2800" dirty="0">
                <a:solidFill>
                  <a:schemeClr val="bg2">
                    <a:lumMod val="40000"/>
                    <a:lumOff val="60000"/>
                  </a:schemeClr>
                </a:solidFill>
              </a:rPr>
              <a:t>постоянное</a:t>
            </a:r>
            <a:r>
              <a:rPr lang="ru-RU" sz="2800" dirty="0">
                <a:solidFill>
                  <a:schemeClr val="bg2"/>
                </a:solidFill>
              </a:rPr>
              <a:t> время</a:t>
            </a:r>
            <a:r>
              <a:rPr lang="en-US" sz="2800" dirty="0">
                <a:solidFill>
                  <a:schemeClr val="bg2"/>
                </a:solidFill>
              </a:rPr>
              <a:t> – O(1).</a:t>
            </a:r>
            <a:endParaRPr lang="ru-RU" sz="2800" dirty="0">
              <a:solidFill>
                <a:schemeClr val="bg2"/>
              </a:solidFill>
            </a:endParaRPr>
          </a:p>
          <a:p>
            <a:pPr marL="0" indent="0">
              <a:buClrTx/>
              <a:buSzPct val="100000"/>
              <a:buFont typeface="Arial" pitchFamily="34" charset="0"/>
              <a:buChar char="•"/>
              <a:defRPr/>
            </a:pPr>
            <a:r>
              <a:rPr lang="en-US" sz="2800" dirty="0">
                <a:solidFill>
                  <a:schemeClr val="bg2"/>
                </a:solidFill>
              </a:rPr>
              <a:t> </a:t>
            </a:r>
            <a:r>
              <a:rPr lang="ru-RU" sz="2800" dirty="0">
                <a:solidFill>
                  <a:schemeClr val="bg2"/>
                </a:solidFill>
              </a:rPr>
              <a:t>Процедура удаления и поиска требует просмотра </a:t>
            </a:r>
            <a:r>
              <a:rPr lang="ru-RU" sz="2800" dirty="0">
                <a:solidFill>
                  <a:schemeClr val="bg2">
                    <a:lumMod val="40000"/>
                    <a:lumOff val="60000"/>
                  </a:schemeClr>
                </a:solidFill>
              </a:rPr>
              <a:t>всей</a:t>
            </a:r>
            <a:r>
              <a:rPr lang="ru-RU" sz="2800" dirty="0">
                <a:solidFill>
                  <a:schemeClr val="bg2"/>
                </a:solidFill>
              </a:rPr>
              <a:t> последовательности</a:t>
            </a:r>
            <a:r>
              <a:rPr lang="en-US" sz="2800" dirty="0">
                <a:solidFill>
                  <a:schemeClr val="bg2"/>
                </a:solidFill>
              </a:rPr>
              <a:t> – O(n).</a:t>
            </a:r>
            <a:endParaRPr lang="ru-RU" sz="2800" dirty="0">
              <a:solidFill>
                <a:schemeClr val="bg2"/>
              </a:solidFill>
            </a:endParaRPr>
          </a:p>
          <a:p>
            <a:pPr>
              <a:buFont typeface="Wingdings" pitchFamily="2" charset="2"/>
              <a:buNone/>
              <a:defRPr/>
            </a:pPr>
            <a:endParaRPr lang="ru-RU" dirty="0">
              <a:solidFill>
                <a:schemeClr val="bg2"/>
              </a:solidFill>
            </a:endParaRPr>
          </a:p>
        </p:txBody>
      </p:sp>
      <p:sp>
        <p:nvSpPr>
          <p:cNvPr id="4" name="Заголовок 1"/>
          <p:cNvSpPr txBox="1">
            <a:spLocks/>
          </p:cNvSpPr>
          <p:nvPr/>
        </p:nvSpPr>
        <p:spPr bwMode="auto">
          <a:xfrm>
            <a:off x="519113" y="288925"/>
            <a:ext cx="8229600" cy="455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 eaLnBrk="0" hangingPunct="0">
              <a:defRPr/>
            </a:pPr>
            <a:r>
              <a:rPr lang="ru-RU" sz="3600" kern="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Очереди по приоритетам</a:t>
            </a:r>
          </a:p>
        </p:txBody>
      </p:sp>
      <p:sp>
        <p:nvSpPr>
          <p:cNvPr id="5" name="Прямоугольник 4"/>
          <p:cNvSpPr/>
          <p:nvPr/>
        </p:nvSpPr>
        <p:spPr bwMode="auto">
          <a:xfrm>
            <a:off x="519113" y="4049713"/>
            <a:ext cx="8178800" cy="2336800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None/>
              <a:defRPr/>
            </a:pPr>
            <a:r>
              <a:rPr lang="ru-RU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n-cs"/>
              </a:rPr>
              <a:t>Подходы к организации работы </a:t>
            </a:r>
          </a:p>
          <a:p>
            <a:pPr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None/>
              <a:defRPr/>
            </a:pPr>
            <a:r>
              <a:rPr lang="ru-RU" b="0" dirty="0">
                <a:solidFill>
                  <a:srgbClr val="3333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n-cs"/>
              </a:rPr>
              <a:t>Ленивый</a:t>
            </a:r>
            <a:r>
              <a:rPr lang="ru-RU" b="0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n-cs"/>
              </a:rPr>
              <a:t> – основная работа откладывается.  </a:t>
            </a:r>
          </a:p>
          <a:p>
            <a:pPr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None/>
              <a:defRPr/>
            </a:pPr>
            <a:r>
              <a:rPr lang="ru-RU" b="0" dirty="0">
                <a:solidFill>
                  <a:srgbClr val="3333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n-cs"/>
              </a:rPr>
              <a:t>Энергичный</a:t>
            </a:r>
            <a:r>
              <a:rPr lang="ru-RU" b="0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n-cs"/>
              </a:rPr>
              <a:t> – основная работа выполняется на этапе подготовки последовательности.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nimBg="1"/>
      <p:bldP spid="4" grpId="0"/>
      <p:bldP spid="5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1019175"/>
            <a:ext cx="8229600" cy="2628900"/>
          </a:xfrm>
          <a:solidFill>
            <a:schemeClr val="tx1"/>
          </a:solidFill>
          <a:ln>
            <a:solidFill>
              <a:srgbClr val="000000"/>
            </a:solidFill>
          </a:ln>
        </p:spPr>
        <p:txBody>
          <a:bodyPr/>
          <a:lstStyle/>
          <a:p>
            <a:pPr algn="ctr">
              <a:buFont typeface="Wingdings" pitchFamily="2" charset="2"/>
              <a:buNone/>
              <a:defRPr/>
            </a:pPr>
            <a:r>
              <a:rPr lang="ru-RU" sz="2800" b="1" dirty="0">
                <a:solidFill>
                  <a:srgbClr val="000000"/>
                </a:solidFill>
              </a:rPr>
              <a:t>Представление очереди с помощью пирамиды </a:t>
            </a:r>
          </a:p>
          <a:p>
            <a:pPr marL="0" indent="0">
              <a:buClrTx/>
              <a:buSzPct val="100000"/>
              <a:buFont typeface="Arial" pitchFamily="34" charset="0"/>
              <a:buChar char="•"/>
              <a:defRPr/>
            </a:pPr>
            <a:r>
              <a:rPr lang="ru-RU" sz="2800" dirty="0">
                <a:solidFill>
                  <a:srgbClr val="000000"/>
                </a:solidFill>
              </a:rPr>
              <a:t> Частично упорядоченный массив; </a:t>
            </a:r>
          </a:p>
          <a:p>
            <a:pPr marL="0" indent="0">
              <a:buClrTx/>
              <a:buSzPct val="100000"/>
              <a:buFont typeface="Arial" pitchFamily="34" charset="0"/>
              <a:buChar char="•"/>
              <a:defRPr/>
            </a:pPr>
            <a:r>
              <a:rPr lang="ru-RU" sz="2800" dirty="0">
                <a:solidFill>
                  <a:srgbClr val="000000"/>
                </a:solidFill>
              </a:rPr>
              <a:t> в корне дерева (первый элемент массива) находится элемент с наибольшим ключом.</a:t>
            </a:r>
          </a:p>
        </p:txBody>
      </p:sp>
      <p:sp>
        <p:nvSpPr>
          <p:cNvPr id="4" name="Заголовок 1"/>
          <p:cNvSpPr txBox="1">
            <a:spLocks/>
          </p:cNvSpPr>
          <p:nvPr/>
        </p:nvSpPr>
        <p:spPr bwMode="auto">
          <a:xfrm>
            <a:off x="519113" y="288925"/>
            <a:ext cx="8229600" cy="455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 eaLnBrk="0" hangingPunct="0">
              <a:defRPr/>
            </a:pPr>
            <a:r>
              <a:rPr lang="ru-RU" sz="3600" kern="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Очереди по приоритетам</a:t>
            </a:r>
          </a:p>
        </p:txBody>
      </p:sp>
      <p:sp>
        <p:nvSpPr>
          <p:cNvPr id="6" name="Прямоугольник 5"/>
          <p:cNvSpPr>
            <a:spLocks noChangeArrowheads="1"/>
          </p:cNvSpPr>
          <p:nvPr/>
        </p:nvSpPr>
        <p:spPr bwMode="auto">
          <a:xfrm>
            <a:off x="1395413" y="3794125"/>
            <a:ext cx="6535737" cy="954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None/>
            </a:pPr>
            <a:r>
              <a:rPr lang="ru-RU">
                <a:solidFill>
                  <a:srgbClr val="000000"/>
                </a:solidFill>
              </a:rPr>
              <a:t>Процедура добавления  нового элемента</a:t>
            </a:r>
          </a:p>
        </p:txBody>
      </p:sp>
      <p:sp>
        <p:nvSpPr>
          <p:cNvPr id="5" name="Прямоугольник 4"/>
          <p:cNvSpPr>
            <a:spLocks noChangeArrowheads="1"/>
          </p:cNvSpPr>
          <p:nvPr/>
        </p:nvSpPr>
        <p:spPr bwMode="auto">
          <a:xfrm>
            <a:off x="1577975" y="5035550"/>
            <a:ext cx="401638" cy="365125"/>
          </a:xfrm>
          <a:prstGeom prst="rect">
            <a:avLst/>
          </a:prstGeom>
          <a:solidFill>
            <a:schemeClr val="tx1"/>
          </a:solidFill>
          <a:ln w="9525" algn="ctr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pPr algn="ctr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None/>
            </a:pPr>
            <a:r>
              <a:rPr lang="en-US" sz="2000">
                <a:solidFill>
                  <a:srgbClr val="000000"/>
                </a:solidFill>
              </a:rPr>
              <a:t>2</a:t>
            </a:r>
            <a:endParaRPr lang="ru-RU" sz="2000">
              <a:solidFill>
                <a:srgbClr val="000000"/>
              </a:solidFill>
            </a:endParaRPr>
          </a:p>
        </p:txBody>
      </p:sp>
      <p:sp>
        <p:nvSpPr>
          <p:cNvPr id="7" name="Прямоугольник 6"/>
          <p:cNvSpPr/>
          <p:nvPr/>
        </p:nvSpPr>
        <p:spPr bwMode="auto">
          <a:xfrm>
            <a:off x="2162175" y="5035550"/>
            <a:ext cx="401638" cy="365125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None/>
              <a:defRPr/>
            </a:pPr>
            <a:r>
              <a:rPr lang="en-US" sz="20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n-cs"/>
              </a:rPr>
              <a:t>7</a:t>
            </a:r>
            <a:endParaRPr lang="ru-RU" sz="2000" dirty="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n-cs"/>
            </a:endParaRPr>
          </a:p>
        </p:txBody>
      </p:sp>
      <p:sp>
        <p:nvSpPr>
          <p:cNvPr id="8" name="Прямоугольник 7"/>
          <p:cNvSpPr/>
          <p:nvPr/>
        </p:nvSpPr>
        <p:spPr bwMode="auto">
          <a:xfrm>
            <a:off x="2746375" y="5035550"/>
            <a:ext cx="401638" cy="365125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None/>
              <a:defRPr/>
            </a:pPr>
            <a:r>
              <a:rPr lang="en-US" sz="20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n-cs"/>
              </a:rPr>
              <a:t>9</a:t>
            </a:r>
            <a:endParaRPr lang="ru-RU" sz="2000" dirty="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n-cs"/>
            </a:endParaRPr>
          </a:p>
        </p:txBody>
      </p:sp>
      <p:sp>
        <p:nvSpPr>
          <p:cNvPr id="9" name="Прямоугольник 8"/>
          <p:cNvSpPr/>
          <p:nvPr/>
        </p:nvSpPr>
        <p:spPr bwMode="auto">
          <a:xfrm>
            <a:off x="3330575" y="5035550"/>
            <a:ext cx="401638" cy="365125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None/>
              <a:defRPr/>
            </a:pPr>
            <a:r>
              <a:rPr lang="en-US" sz="20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n-cs"/>
              </a:rPr>
              <a:t>4</a:t>
            </a:r>
            <a:endParaRPr lang="ru-RU" sz="2000" dirty="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n-cs"/>
            </a:endParaRPr>
          </a:p>
        </p:txBody>
      </p:sp>
      <p:sp>
        <p:nvSpPr>
          <p:cNvPr id="10" name="Прямоугольник 9"/>
          <p:cNvSpPr/>
          <p:nvPr/>
        </p:nvSpPr>
        <p:spPr bwMode="auto">
          <a:xfrm>
            <a:off x="3987800" y="5035550"/>
            <a:ext cx="401638" cy="365125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None/>
              <a:defRPr/>
            </a:pPr>
            <a:r>
              <a:rPr lang="en-US" sz="20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n-cs"/>
              </a:rPr>
              <a:t>5</a:t>
            </a:r>
            <a:endParaRPr lang="ru-RU" sz="2000" dirty="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n-cs"/>
            </a:endParaRPr>
          </a:p>
        </p:txBody>
      </p:sp>
      <p:sp>
        <p:nvSpPr>
          <p:cNvPr id="11" name="Прямоугольник 10"/>
          <p:cNvSpPr/>
          <p:nvPr/>
        </p:nvSpPr>
        <p:spPr bwMode="auto">
          <a:xfrm>
            <a:off x="4645025" y="5035550"/>
            <a:ext cx="401638" cy="365125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None/>
              <a:defRPr/>
            </a:pPr>
            <a:r>
              <a:rPr lang="en-US" sz="20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n-cs"/>
              </a:rPr>
              <a:t>1</a:t>
            </a:r>
            <a:endParaRPr lang="ru-RU" sz="2000" dirty="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n-cs"/>
            </a:endParaRPr>
          </a:p>
        </p:txBody>
      </p:sp>
      <p:sp>
        <p:nvSpPr>
          <p:cNvPr id="12" name="Прямоугольник 11"/>
          <p:cNvSpPr/>
          <p:nvPr/>
        </p:nvSpPr>
        <p:spPr bwMode="auto">
          <a:xfrm>
            <a:off x="5229225" y="5035550"/>
            <a:ext cx="401638" cy="365125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None/>
              <a:defRPr/>
            </a:pPr>
            <a:r>
              <a:rPr lang="en-US" sz="20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n-cs"/>
              </a:rPr>
              <a:t>8</a:t>
            </a:r>
            <a:endParaRPr lang="ru-RU" sz="2000" dirty="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n-cs"/>
            </a:endParaRPr>
          </a:p>
        </p:txBody>
      </p:sp>
      <p:sp>
        <p:nvSpPr>
          <p:cNvPr id="13" name="Прямоугольник 12"/>
          <p:cNvSpPr/>
          <p:nvPr/>
        </p:nvSpPr>
        <p:spPr bwMode="auto">
          <a:xfrm>
            <a:off x="5813425" y="5035550"/>
            <a:ext cx="401638" cy="365125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None/>
              <a:defRPr/>
            </a:pPr>
            <a:r>
              <a:rPr lang="en-US" sz="20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n-cs"/>
              </a:rPr>
              <a:t>3</a:t>
            </a:r>
            <a:endParaRPr lang="ru-RU" sz="2000" dirty="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n-cs"/>
            </a:endParaRPr>
          </a:p>
        </p:txBody>
      </p:sp>
      <p:sp>
        <p:nvSpPr>
          <p:cNvPr id="14" name="Прямоугольник 13"/>
          <p:cNvSpPr/>
          <p:nvPr/>
        </p:nvSpPr>
        <p:spPr bwMode="auto">
          <a:xfrm>
            <a:off x="6397625" y="5035550"/>
            <a:ext cx="401638" cy="365125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None/>
              <a:defRPr/>
            </a:pPr>
            <a:r>
              <a:rPr lang="en-US" sz="20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n-cs"/>
              </a:rPr>
              <a:t>8</a:t>
            </a:r>
            <a:endParaRPr lang="ru-RU" sz="2000" dirty="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n-cs"/>
            </a:endParaRPr>
          </a:p>
        </p:txBody>
      </p:sp>
      <p:sp>
        <p:nvSpPr>
          <p:cNvPr id="15" name="Прямоугольник 14"/>
          <p:cNvSpPr/>
          <p:nvPr/>
        </p:nvSpPr>
        <p:spPr bwMode="auto">
          <a:xfrm>
            <a:off x="7054850" y="5035550"/>
            <a:ext cx="401638" cy="365125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None/>
              <a:defRPr/>
            </a:pPr>
            <a:r>
              <a:rPr lang="en-US" sz="20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n-cs"/>
              </a:rPr>
              <a:t>9</a:t>
            </a:r>
            <a:endParaRPr lang="ru-RU" sz="2000" dirty="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n-cs"/>
            </a:endParaRPr>
          </a:p>
        </p:txBody>
      </p:sp>
      <p:sp>
        <p:nvSpPr>
          <p:cNvPr id="16" name="Левая фигурная скобка 15"/>
          <p:cNvSpPr/>
          <p:nvPr/>
        </p:nvSpPr>
        <p:spPr bwMode="auto">
          <a:xfrm rot="16200000">
            <a:off x="4389438" y="2735263"/>
            <a:ext cx="401637" cy="6097587"/>
          </a:xfrm>
          <a:prstGeom prst="leftBrace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None/>
              <a:defRPr/>
            </a:pPr>
            <a:endParaRPr lang="ru-RU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n-cs"/>
            </a:endParaRPr>
          </a:p>
        </p:txBody>
      </p:sp>
      <p:sp>
        <p:nvSpPr>
          <p:cNvPr id="17" name="Прямоугольник 16"/>
          <p:cNvSpPr>
            <a:spLocks noChangeArrowheads="1"/>
          </p:cNvSpPr>
          <p:nvPr/>
        </p:nvSpPr>
        <p:spPr bwMode="auto">
          <a:xfrm>
            <a:off x="1431925" y="5838825"/>
            <a:ext cx="6535738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None/>
            </a:pPr>
            <a:r>
              <a:rPr lang="ru-RU" b="0">
                <a:solidFill>
                  <a:srgbClr val="000000"/>
                </a:solidFill>
              </a:rPr>
              <a:t>Исходный массив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500"/>
                            </p:stCondLst>
                            <p:childTnLst>
                              <p:par>
                                <p:cTn id="3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1000"/>
                            </p:stCondLst>
                            <p:childTnLst>
                              <p:par>
                                <p:cTn id="69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3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8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nimBg="1"/>
      <p:bldP spid="4" grpId="0"/>
      <p:bldP spid="6" grpId="0"/>
      <p:bldP spid="5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>
            <a:spLocks noChangeArrowheads="1"/>
          </p:cNvSpPr>
          <p:nvPr/>
        </p:nvSpPr>
        <p:spPr bwMode="auto">
          <a:xfrm>
            <a:off x="3805238" y="2479675"/>
            <a:ext cx="401637" cy="365125"/>
          </a:xfrm>
          <a:prstGeom prst="rect">
            <a:avLst/>
          </a:prstGeom>
          <a:solidFill>
            <a:schemeClr val="tx1"/>
          </a:solidFill>
          <a:ln w="9525" algn="ctr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pPr algn="ctr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None/>
            </a:pPr>
            <a:r>
              <a:rPr lang="en-US" sz="2000">
                <a:solidFill>
                  <a:srgbClr val="000000"/>
                </a:solidFill>
              </a:rPr>
              <a:t>2</a:t>
            </a:r>
            <a:endParaRPr lang="ru-RU" sz="2000">
              <a:solidFill>
                <a:srgbClr val="000000"/>
              </a:solidFill>
            </a:endParaRPr>
          </a:p>
        </p:txBody>
      </p:sp>
      <p:sp>
        <p:nvSpPr>
          <p:cNvPr id="5" name="Прямоугольник 4"/>
          <p:cNvSpPr/>
          <p:nvPr/>
        </p:nvSpPr>
        <p:spPr bwMode="auto">
          <a:xfrm>
            <a:off x="1979613" y="2479675"/>
            <a:ext cx="401637" cy="365125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None/>
              <a:defRPr/>
            </a:pPr>
            <a:r>
              <a:rPr lang="en-US" sz="20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n-cs"/>
              </a:rPr>
              <a:t>7</a:t>
            </a:r>
            <a:endParaRPr lang="ru-RU" sz="2000" dirty="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n-cs"/>
            </a:endParaRPr>
          </a:p>
        </p:txBody>
      </p:sp>
      <p:sp>
        <p:nvSpPr>
          <p:cNvPr id="6" name="Прямоугольник 5"/>
          <p:cNvSpPr/>
          <p:nvPr/>
        </p:nvSpPr>
        <p:spPr bwMode="auto">
          <a:xfrm>
            <a:off x="2490788" y="1274763"/>
            <a:ext cx="401637" cy="365125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None/>
              <a:defRPr/>
            </a:pPr>
            <a:r>
              <a:rPr lang="en-US" sz="20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n-cs"/>
              </a:rPr>
              <a:t>9</a:t>
            </a:r>
            <a:endParaRPr lang="ru-RU" sz="2000" dirty="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n-cs"/>
            </a:endParaRPr>
          </a:p>
        </p:txBody>
      </p:sp>
      <p:sp>
        <p:nvSpPr>
          <p:cNvPr id="7" name="Прямоугольник 6"/>
          <p:cNvSpPr/>
          <p:nvPr/>
        </p:nvSpPr>
        <p:spPr bwMode="auto">
          <a:xfrm>
            <a:off x="1212850" y="3063875"/>
            <a:ext cx="401638" cy="365125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None/>
              <a:defRPr/>
            </a:pPr>
            <a:r>
              <a:rPr lang="en-US" sz="20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n-cs"/>
              </a:rPr>
              <a:t>4</a:t>
            </a:r>
            <a:endParaRPr lang="ru-RU" sz="2000" dirty="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n-cs"/>
            </a:endParaRPr>
          </a:p>
        </p:txBody>
      </p:sp>
      <p:sp>
        <p:nvSpPr>
          <p:cNvPr id="8" name="Прямоугольник 7"/>
          <p:cNvSpPr/>
          <p:nvPr/>
        </p:nvSpPr>
        <p:spPr bwMode="auto">
          <a:xfrm>
            <a:off x="1833563" y="3063875"/>
            <a:ext cx="401637" cy="365125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None/>
              <a:defRPr/>
            </a:pPr>
            <a:r>
              <a:rPr lang="en-US" sz="20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n-cs"/>
              </a:rPr>
              <a:t>5</a:t>
            </a:r>
            <a:endParaRPr lang="ru-RU" sz="2000" dirty="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n-cs"/>
            </a:endParaRPr>
          </a:p>
        </p:txBody>
      </p:sp>
      <p:sp>
        <p:nvSpPr>
          <p:cNvPr id="9" name="Прямоугольник 8"/>
          <p:cNvSpPr/>
          <p:nvPr/>
        </p:nvSpPr>
        <p:spPr bwMode="auto">
          <a:xfrm>
            <a:off x="2928938" y="2479675"/>
            <a:ext cx="401637" cy="365125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None/>
              <a:defRPr/>
            </a:pPr>
            <a:r>
              <a:rPr lang="en-US" sz="20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n-cs"/>
              </a:rPr>
              <a:t>1</a:t>
            </a:r>
            <a:endParaRPr lang="ru-RU" sz="2000" dirty="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n-cs"/>
            </a:endParaRPr>
          </a:p>
        </p:txBody>
      </p:sp>
      <p:sp>
        <p:nvSpPr>
          <p:cNvPr id="10" name="Прямоугольник 9"/>
          <p:cNvSpPr/>
          <p:nvPr/>
        </p:nvSpPr>
        <p:spPr bwMode="auto">
          <a:xfrm>
            <a:off x="3367088" y="1895475"/>
            <a:ext cx="401637" cy="365125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None/>
              <a:defRPr/>
            </a:pPr>
            <a:r>
              <a:rPr lang="en-US" sz="20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n-cs"/>
              </a:rPr>
              <a:t>8</a:t>
            </a:r>
            <a:endParaRPr lang="ru-RU" sz="2000" dirty="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n-cs"/>
            </a:endParaRPr>
          </a:p>
        </p:txBody>
      </p:sp>
      <p:sp>
        <p:nvSpPr>
          <p:cNvPr id="11" name="Прямоугольник 10"/>
          <p:cNvSpPr/>
          <p:nvPr/>
        </p:nvSpPr>
        <p:spPr bwMode="auto">
          <a:xfrm>
            <a:off x="665163" y="3063875"/>
            <a:ext cx="401637" cy="365125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None/>
              <a:defRPr/>
            </a:pPr>
            <a:r>
              <a:rPr lang="en-US" sz="20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n-cs"/>
              </a:rPr>
              <a:t>3</a:t>
            </a:r>
            <a:endParaRPr lang="ru-RU" sz="2000" dirty="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n-cs"/>
            </a:endParaRPr>
          </a:p>
        </p:txBody>
      </p:sp>
      <p:sp>
        <p:nvSpPr>
          <p:cNvPr id="12" name="Прямоугольник 11"/>
          <p:cNvSpPr/>
          <p:nvPr/>
        </p:nvSpPr>
        <p:spPr bwMode="auto">
          <a:xfrm>
            <a:off x="993775" y="2479675"/>
            <a:ext cx="401638" cy="365125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None/>
              <a:defRPr/>
            </a:pPr>
            <a:r>
              <a:rPr lang="en-US" sz="20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n-cs"/>
              </a:rPr>
              <a:t>8</a:t>
            </a:r>
            <a:endParaRPr lang="ru-RU" sz="2000" dirty="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n-cs"/>
            </a:endParaRPr>
          </a:p>
        </p:txBody>
      </p:sp>
      <p:sp>
        <p:nvSpPr>
          <p:cNvPr id="13" name="Прямоугольник 12"/>
          <p:cNvSpPr/>
          <p:nvPr/>
        </p:nvSpPr>
        <p:spPr bwMode="auto">
          <a:xfrm>
            <a:off x="1541463" y="1895475"/>
            <a:ext cx="401637" cy="365125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None/>
              <a:defRPr/>
            </a:pPr>
            <a:r>
              <a:rPr lang="en-US" sz="20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n-cs"/>
              </a:rPr>
              <a:t>9</a:t>
            </a:r>
            <a:endParaRPr lang="ru-RU" sz="2000" dirty="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n-cs"/>
            </a:endParaRPr>
          </a:p>
        </p:txBody>
      </p:sp>
      <p:sp>
        <p:nvSpPr>
          <p:cNvPr id="14" name="Заголовок 1"/>
          <p:cNvSpPr txBox="1">
            <a:spLocks/>
          </p:cNvSpPr>
          <p:nvPr/>
        </p:nvSpPr>
        <p:spPr bwMode="auto">
          <a:xfrm>
            <a:off x="519113" y="288925"/>
            <a:ext cx="8229600" cy="985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 eaLnBrk="0" hangingPunct="0">
              <a:defRPr/>
            </a:pPr>
            <a:r>
              <a:rPr lang="ru-RU" sz="3600" kern="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Представление очереди пирамидой</a:t>
            </a:r>
          </a:p>
        </p:txBody>
      </p:sp>
      <p:cxnSp>
        <p:nvCxnSpPr>
          <p:cNvPr id="16" name="Прямая со стрелкой 15"/>
          <p:cNvCxnSpPr>
            <a:cxnSpLocks noChangeShapeType="1"/>
            <a:stCxn id="6" idx="2"/>
            <a:endCxn id="13" idx="0"/>
          </p:cNvCxnSpPr>
          <p:nvPr/>
        </p:nvCxnSpPr>
        <p:spPr bwMode="auto">
          <a:xfrm rot="5400000">
            <a:off x="2088357" y="1293019"/>
            <a:ext cx="255587" cy="949325"/>
          </a:xfrm>
          <a:prstGeom prst="straightConnector1">
            <a:avLst/>
          </a:prstGeom>
          <a:noFill/>
          <a:ln w="9525" algn="ctr">
            <a:solidFill>
              <a:srgbClr val="000000"/>
            </a:solidFill>
            <a:round/>
            <a:headEnd/>
            <a:tailEnd type="arrow" w="med" len="med"/>
          </a:ln>
        </p:spPr>
      </p:cxnSp>
      <p:cxnSp>
        <p:nvCxnSpPr>
          <p:cNvPr id="18" name="Прямая со стрелкой 17"/>
          <p:cNvCxnSpPr>
            <a:cxnSpLocks noChangeShapeType="1"/>
            <a:stCxn id="6" idx="2"/>
            <a:endCxn id="10" idx="0"/>
          </p:cNvCxnSpPr>
          <p:nvPr/>
        </p:nvCxnSpPr>
        <p:spPr bwMode="auto">
          <a:xfrm rot="16200000" flipH="1">
            <a:off x="3001169" y="1329532"/>
            <a:ext cx="255587" cy="876300"/>
          </a:xfrm>
          <a:prstGeom prst="straightConnector1">
            <a:avLst/>
          </a:prstGeom>
          <a:noFill/>
          <a:ln w="9525" algn="ctr">
            <a:solidFill>
              <a:srgbClr val="000000"/>
            </a:solidFill>
            <a:round/>
            <a:headEnd/>
            <a:tailEnd type="arrow" w="med" len="med"/>
          </a:ln>
        </p:spPr>
      </p:cxnSp>
      <p:cxnSp>
        <p:nvCxnSpPr>
          <p:cNvPr id="20" name="Прямая со стрелкой 19"/>
          <p:cNvCxnSpPr>
            <a:cxnSpLocks noChangeShapeType="1"/>
            <a:stCxn id="13" idx="2"/>
            <a:endCxn id="12" idx="0"/>
          </p:cNvCxnSpPr>
          <p:nvPr/>
        </p:nvCxnSpPr>
        <p:spPr bwMode="auto">
          <a:xfrm rot="5400000">
            <a:off x="1358106" y="2096294"/>
            <a:ext cx="219075" cy="547688"/>
          </a:xfrm>
          <a:prstGeom prst="straightConnector1">
            <a:avLst/>
          </a:prstGeom>
          <a:noFill/>
          <a:ln w="9525" algn="ctr">
            <a:solidFill>
              <a:srgbClr val="000000"/>
            </a:solidFill>
            <a:round/>
            <a:headEnd/>
            <a:tailEnd type="arrow" w="med" len="med"/>
          </a:ln>
        </p:spPr>
      </p:cxnSp>
      <p:cxnSp>
        <p:nvCxnSpPr>
          <p:cNvPr id="22" name="Прямая со стрелкой 21"/>
          <p:cNvCxnSpPr>
            <a:cxnSpLocks noChangeShapeType="1"/>
            <a:stCxn id="13" idx="2"/>
            <a:endCxn id="5" idx="0"/>
          </p:cNvCxnSpPr>
          <p:nvPr/>
        </p:nvCxnSpPr>
        <p:spPr bwMode="auto">
          <a:xfrm rot="16200000" flipH="1">
            <a:off x="1851025" y="2151063"/>
            <a:ext cx="219075" cy="438150"/>
          </a:xfrm>
          <a:prstGeom prst="straightConnector1">
            <a:avLst/>
          </a:prstGeom>
          <a:noFill/>
          <a:ln w="9525" algn="ctr">
            <a:solidFill>
              <a:srgbClr val="000000"/>
            </a:solidFill>
            <a:round/>
            <a:headEnd/>
            <a:tailEnd type="arrow" w="med" len="med"/>
          </a:ln>
        </p:spPr>
      </p:cxnSp>
      <p:cxnSp>
        <p:nvCxnSpPr>
          <p:cNvPr id="24" name="Прямая со стрелкой 23"/>
          <p:cNvCxnSpPr>
            <a:cxnSpLocks noChangeShapeType="1"/>
            <a:stCxn id="10" idx="2"/>
            <a:endCxn id="9" idx="0"/>
          </p:cNvCxnSpPr>
          <p:nvPr/>
        </p:nvCxnSpPr>
        <p:spPr bwMode="auto">
          <a:xfrm rot="5400000">
            <a:off x="3238500" y="2151063"/>
            <a:ext cx="219075" cy="438150"/>
          </a:xfrm>
          <a:prstGeom prst="straightConnector1">
            <a:avLst/>
          </a:prstGeom>
          <a:noFill/>
          <a:ln w="9525" algn="ctr">
            <a:solidFill>
              <a:srgbClr val="000000"/>
            </a:solidFill>
            <a:round/>
            <a:headEnd/>
            <a:tailEnd type="arrow" w="med" len="med"/>
          </a:ln>
        </p:spPr>
      </p:cxnSp>
      <p:cxnSp>
        <p:nvCxnSpPr>
          <p:cNvPr id="26" name="Прямая со стрелкой 25"/>
          <p:cNvCxnSpPr>
            <a:cxnSpLocks noChangeShapeType="1"/>
            <a:stCxn id="10" idx="2"/>
            <a:endCxn id="4" idx="0"/>
          </p:cNvCxnSpPr>
          <p:nvPr/>
        </p:nvCxnSpPr>
        <p:spPr bwMode="auto">
          <a:xfrm rot="16200000" flipH="1">
            <a:off x="3676650" y="2151063"/>
            <a:ext cx="219075" cy="438150"/>
          </a:xfrm>
          <a:prstGeom prst="straightConnector1">
            <a:avLst/>
          </a:prstGeom>
          <a:noFill/>
          <a:ln w="9525" algn="ctr">
            <a:solidFill>
              <a:srgbClr val="000000"/>
            </a:solidFill>
            <a:round/>
            <a:headEnd/>
            <a:tailEnd type="arrow" w="med" len="med"/>
          </a:ln>
        </p:spPr>
      </p:cxnSp>
      <p:cxnSp>
        <p:nvCxnSpPr>
          <p:cNvPr id="28" name="Прямая со стрелкой 27"/>
          <p:cNvCxnSpPr>
            <a:cxnSpLocks noChangeShapeType="1"/>
            <a:stCxn id="12" idx="2"/>
            <a:endCxn id="11" idx="0"/>
          </p:cNvCxnSpPr>
          <p:nvPr/>
        </p:nvCxnSpPr>
        <p:spPr bwMode="auto">
          <a:xfrm rot="5400000">
            <a:off x="919956" y="2790032"/>
            <a:ext cx="219075" cy="328612"/>
          </a:xfrm>
          <a:prstGeom prst="straightConnector1">
            <a:avLst/>
          </a:prstGeom>
          <a:noFill/>
          <a:ln w="9525" algn="ctr">
            <a:solidFill>
              <a:srgbClr val="000000"/>
            </a:solidFill>
            <a:round/>
            <a:headEnd/>
            <a:tailEnd type="arrow" w="med" len="med"/>
          </a:ln>
        </p:spPr>
      </p:cxnSp>
      <p:cxnSp>
        <p:nvCxnSpPr>
          <p:cNvPr id="30" name="Прямая со стрелкой 29"/>
          <p:cNvCxnSpPr>
            <a:cxnSpLocks noChangeShapeType="1"/>
            <a:stCxn id="12" idx="2"/>
            <a:endCxn id="7" idx="0"/>
          </p:cNvCxnSpPr>
          <p:nvPr/>
        </p:nvCxnSpPr>
        <p:spPr bwMode="auto">
          <a:xfrm rot="16200000" flipH="1">
            <a:off x="1193800" y="2844800"/>
            <a:ext cx="219075" cy="219075"/>
          </a:xfrm>
          <a:prstGeom prst="straightConnector1">
            <a:avLst/>
          </a:prstGeom>
          <a:noFill/>
          <a:ln w="9525" algn="ctr">
            <a:solidFill>
              <a:srgbClr val="000000"/>
            </a:solidFill>
            <a:round/>
            <a:headEnd/>
            <a:tailEnd type="arrow" w="med" len="med"/>
          </a:ln>
        </p:spPr>
      </p:cxnSp>
      <p:cxnSp>
        <p:nvCxnSpPr>
          <p:cNvPr id="32" name="Прямая со стрелкой 31"/>
          <p:cNvCxnSpPr>
            <a:cxnSpLocks noChangeShapeType="1"/>
            <a:stCxn id="5" idx="2"/>
            <a:endCxn id="8" idx="0"/>
          </p:cNvCxnSpPr>
          <p:nvPr/>
        </p:nvCxnSpPr>
        <p:spPr bwMode="auto">
          <a:xfrm rot="5400000">
            <a:off x="1997075" y="2881313"/>
            <a:ext cx="219075" cy="146050"/>
          </a:xfrm>
          <a:prstGeom prst="straightConnector1">
            <a:avLst/>
          </a:prstGeom>
          <a:noFill/>
          <a:ln w="9525" algn="ctr">
            <a:solidFill>
              <a:srgbClr val="000000"/>
            </a:solidFill>
            <a:round/>
            <a:headEnd/>
            <a:tailEnd type="arrow" w="med" len="med"/>
          </a:ln>
        </p:spPr>
      </p:cxnSp>
      <p:sp>
        <p:nvSpPr>
          <p:cNvPr id="33" name="Прямоугольник 32"/>
          <p:cNvSpPr/>
          <p:nvPr/>
        </p:nvSpPr>
        <p:spPr bwMode="auto">
          <a:xfrm>
            <a:off x="2417763" y="3063875"/>
            <a:ext cx="511175" cy="365125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None/>
              <a:defRPr/>
            </a:pPr>
            <a:r>
              <a:rPr lang="ru-RU" sz="20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n-cs"/>
              </a:rPr>
              <a:t>10</a:t>
            </a:r>
          </a:p>
        </p:txBody>
      </p:sp>
      <p:cxnSp>
        <p:nvCxnSpPr>
          <p:cNvPr id="35" name="Прямая со стрелкой 34"/>
          <p:cNvCxnSpPr>
            <a:cxnSpLocks noChangeShapeType="1"/>
            <a:stCxn id="5" idx="2"/>
            <a:endCxn id="33" idx="0"/>
          </p:cNvCxnSpPr>
          <p:nvPr/>
        </p:nvCxnSpPr>
        <p:spPr bwMode="auto">
          <a:xfrm rot="16200000" flipH="1">
            <a:off x="2316956" y="2707482"/>
            <a:ext cx="219075" cy="493712"/>
          </a:xfrm>
          <a:prstGeom prst="straightConnector1">
            <a:avLst/>
          </a:prstGeom>
          <a:noFill/>
          <a:ln w="9525" algn="ctr">
            <a:solidFill>
              <a:srgbClr val="000000"/>
            </a:solidFill>
            <a:round/>
            <a:headEnd/>
            <a:tailEnd type="arrow" w="med" len="med"/>
          </a:ln>
        </p:spPr>
      </p:cxnSp>
      <p:sp>
        <p:nvSpPr>
          <p:cNvPr id="36" name="Прямоугольник 35"/>
          <p:cNvSpPr>
            <a:spLocks noChangeArrowheads="1"/>
          </p:cNvSpPr>
          <p:nvPr/>
        </p:nvSpPr>
        <p:spPr bwMode="auto">
          <a:xfrm>
            <a:off x="7894638" y="2589213"/>
            <a:ext cx="401637" cy="365125"/>
          </a:xfrm>
          <a:prstGeom prst="rect">
            <a:avLst/>
          </a:prstGeom>
          <a:solidFill>
            <a:schemeClr val="tx1"/>
          </a:solidFill>
          <a:ln w="9525" algn="ctr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pPr algn="ctr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None/>
            </a:pPr>
            <a:r>
              <a:rPr lang="en-US" sz="2000">
                <a:solidFill>
                  <a:srgbClr val="000000"/>
                </a:solidFill>
              </a:rPr>
              <a:t>2</a:t>
            </a:r>
            <a:endParaRPr lang="ru-RU" sz="2000">
              <a:solidFill>
                <a:srgbClr val="000000"/>
              </a:solidFill>
            </a:endParaRPr>
          </a:p>
        </p:txBody>
      </p:sp>
      <p:sp>
        <p:nvSpPr>
          <p:cNvPr id="37" name="Прямоугольник 36"/>
          <p:cNvSpPr/>
          <p:nvPr/>
        </p:nvSpPr>
        <p:spPr bwMode="auto">
          <a:xfrm>
            <a:off x="6069013" y="2589213"/>
            <a:ext cx="401637" cy="365125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None/>
              <a:defRPr/>
            </a:pPr>
            <a:r>
              <a:rPr lang="en-US" sz="20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n-cs"/>
              </a:rPr>
              <a:t>7</a:t>
            </a:r>
            <a:endParaRPr lang="ru-RU" sz="2000" dirty="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n-cs"/>
            </a:endParaRPr>
          </a:p>
        </p:txBody>
      </p:sp>
      <p:sp>
        <p:nvSpPr>
          <p:cNvPr id="38" name="Прямоугольник 37"/>
          <p:cNvSpPr/>
          <p:nvPr/>
        </p:nvSpPr>
        <p:spPr bwMode="auto">
          <a:xfrm>
            <a:off x="6580188" y="1384300"/>
            <a:ext cx="401637" cy="365125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None/>
              <a:defRPr/>
            </a:pPr>
            <a:r>
              <a:rPr lang="en-US" sz="20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n-cs"/>
              </a:rPr>
              <a:t>9</a:t>
            </a:r>
            <a:endParaRPr lang="ru-RU" sz="2000" dirty="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n-cs"/>
            </a:endParaRPr>
          </a:p>
        </p:txBody>
      </p:sp>
      <p:sp>
        <p:nvSpPr>
          <p:cNvPr id="39" name="Прямоугольник 38"/>
          <p:cNvSpPr/>
          <p:nvPr/>
        </p:nvSpPr>
        <p:spPr bwMode="auto">
          <a:xfrm>
            <a:off x="5302250" y="3173413"/>
            <a:ext cx="401638" cy="365125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None/>
              <a:defRPr/>
            </a:pPr>
            <a:r>
              <a:rPr lang="en-US" sz="20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n-cs"/>
              </a:rPr>
              <a:t>4</a:t>
            </a:r>
            <a:endParaRPr lang="ru-RU" sz="2000" dirty="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n-cs"/>
            </a:endParaRPr>
          </a:p>
        </p:txBody>
      </p:sp>
      <p:sp>
        <p:nvSpPr>
          <p:cNvPr id="40" name="Прямоугольник 39"/>
          <p:cNvSpPr/>
          <p:nvPr/>
        </p:nvSpPr>
        <p:spPr bwMode="auto">
          <a:xfrm>
            <a:off x="5922963" y="3173413"/>
            <a:ext cx="401637" cy="365125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None/>
              <a:defRPr/>
            </a:pPr>
            <a:r>
              <a:rPr lang="en-US" sz="20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n-cs"/>
              </a:rPr>
              <a:t>5</a:t>
            </a:r>
            <a:endParaRPr lang="ru-RU" sz="2000" dirty="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n-cs"/>
            </a:endParaRPr>
          </a:p>
        </p:txBody>
      </p:sp>
      <p:sp>
        <p:nvSpPr>
          <p:cNvPr id="41" name="Прямоугольник 40"/>
          <p:cNvSpPr/>
          <p:nvPr/>
        </p:nvSpPr>
        <p:spPr bwMode="auto">
          <a:xfrm>
            <a:off x="7018338" y="2589213"/>
            <a:ext cx="401637" cy="365125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None/>
              <a:defRPr/>
            </a:pPr>
            <a:r>
              <a:rPr lang="en-US" sz="20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n-cs"/>
              </a:rPr>
              <a:t>1</a:t>
            </a:r>
            <a:endParaRPr lang="ru-RU" sz="2000" dirty="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n-cs"/>
            </a:endParaRPr>
          </a:p>
        </p:txBody>
      </p:sp>
      <p:sp>
        <p:nvSpPr>
          <p:cNvPr id="42" name="Прямоугольник 41"/>
          <p:cNvSpPr/>
          <p:nvPr/>
        </p:nvSpPr>
        <p:spPr bwMode="auto">
          <a:xfrm>
            <a:off x="7456488" y="2005013"/>
            <a:ext cx="401637" cy="365125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None/>
              <a:defRPr/>
            </a:pPr>
            <a:r>
              <a:rPr lang="en-US" sz="20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n-cs"/>
              </a:rPr>
              <a:t>8</a:t>
            </a:r>
            <a:endParaRPr lang="ru-RU" sz="2000" dirty="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n-cs"/>
            </a:endParaRPr>
          </a:p>
        </p:txBody>
      </p:sp>
      <p:sp>
        <p:nvSpPr>
          <p:cNvPr id="43" name="Прямоугольник 42"/>
          <p:cNvSpPr/>
          <p:nvPr/>
        </p:nvSpPr>
        <p:spPr bwMode="auto">
          <a:xfrm>
            <a:off x="4754563" y="3173413"/>
            <a:ext cx="401637" cy="365125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None/>
              <a:defRPr/>
            </a:pPr>
            <a:r>
              <a:rPr lang="en-US" sz="20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n-cs"/>
              </a:rPr>
              <a:t>3</a:t>
            </a:r>
            <a:endParaRPr lang="ru-RU" sz="2000" dirty="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n-cs"/>
            </a:endParaRPr>
          </a:p>
        </p:txBody>
      </p:sp>
      <p:sp>
        <p:nvSpPr>
          <p:cNvPr id="44" name="Прямоугольник 43"/>
          <p:cNvSpPr/>
          <p:nvPr/>
        </p:nvSpPr>
        <p:spPr bwMode="auto">
          <a:xfrm>
            <a:off x="5083175" y="2589213"/>
            <a:ext cx="401638" cy="365125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None/>
              <a:defRPr/>
            </a:pPr>
            <a:r>
              <a:rPr lang="en-US" sz="20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n-cs"/>
              </a:rPr>
              <a:t>8</a:t>
            </a:r>
            <a:endParaRPr lang="ru-RU" sz="2000" dirty="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n-cs"/>
            </a:endParaRPr>
          </a:p>
        </p:txBody>
      </p:sp>
      <p:sp>
        <p:nvSpPr>
          <p:cNvPr id="45" name="Прямоугольник 44"/>
          <p:cNvSpPr/>
          <p:nvPr/>
        </p:nvSpPr>
        <p:spPr bwMode="auto">
          <a:xfrm>
            <a:off x="5630863" y="2005013"/>
            <a:ext cx="401637" cy="365125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None/>
              <a:defRPr/>
            </a:pPr>
            <a:r>
              <a:rPr lang="en-US" sz="20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n-cs"/>
              </a:rPr>
              <a:t>9</a:t>
            </a:r>
            <a:endParaRPr lang="ru-RU" sz="2000" dirty="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n-cs"/>
            </a:endParaRPr>
          </a:p>
        </p:txBody>
      </p:sp>
      <p:cxnSp>
        <p:nvCxnSpPr>
          <p:cNvPr id="46" name="Прямая со стрелкой 45"/>
          <p:cNvCxnSpPr>
            <a:cxnSpLocks noChangeShapeType="1"/>
            <a:stCxn id="38" idx="2"/>
            <a:endCxn id="45" idx="0"/>
          </p:cNvCxnSpPr>
          <p:nvPr/>
        </p:nvCxnSpPr>
        <p:spPr bwMode="auto">
          <a:xfrm rot="5400000">
            <a:off x="6179344" y="1402556"/>
            <a:ext cx="255588" cy="949325"/>
          </a:xfrm>
          <a:prstGeom prst="straightConnector1">
            <a:avLst/>
          </a:prstGeom>
          <a:noFill/>
          <a:ln w="9525" algn="ctr">
            <a:solidFill>
              <a:srgbClr val="000000"/>
            </a:solidFill>
            <a:round/>
            <a:headEnd/>
            <a:tailEnd type="arrow" w="med" len="med"/>
          </a:ln>
        </p:spPr>
      </p:cxnSp>
      <p:cxnSp>
        <p:nvCxnSpPr>
          <p:cNvPr id="47" name="Прямая со стрелкой 46"/>
          <p:cNvCxnSpPr>
            <a:cxnSpLocks noChangeShapeType="1"/>
            <a:stCxn id="38" idx="2"/>
            <a:endCxn id="42" idx="0"/>
          </p:cNvCxnSpPr>
          <p:nvPr/>
        </p:nvCxnSpPr>
        <p:spPr bwMode="auto">
          <a:xfrm rot="16200000" flipH="1">
            <a:off x="7092156" y="1439069"/>
            <a:ext cx="255588" cy="876300"/>
          </a:xfrm>
          <a:prstGeom prst="straightConnector1">
            <a:avLst/>
          </a:prstGeom>
          <a:noFill/>
          <a:ln w="9525" algn="ctr">
            <a:solidFill>
              <a:srgbClr val="000000"/>
            </a:solidFill>
            <a:round/>
            <a:headEnd/>
            <a:tailEnd type="arrow" w="med" len="med"/>
          </a:ln>
        </p:spPr>
      </p:cxnSp>
      <p:cxnSp>
        <p:nvCxnSpPr>
          <p:cNvPr id="48" name="Прямая со стрелкой 47"/>
          <p:cNvCxnSpPr>
            <a:cxnSpLocks noChangeShapeType="1"/>
            <a:stCxn id="45" idx="2"/>
            <a:endCxn id="44" idx="0"/>
          </p:cNvCxnSpPr>
          <p:nvPr/>
        </p:nvCxnSpPr>
        <p:spPr bwMode="auto">
          <a:xfrm rot="5400000">
            <a:off x="5449094" y="2205832"/>
            <a:ext cx="219075" cy="547687"/>
          </a:xfrm>
          <a:prstGeom prst="straightConnector1">
            <a:avLst/>
          </a:prstGeom>
          <a:noFill/>
          <a:ln w="9525" algn="ctr">
            <a:solidFill>
              <a:srgbClr val="000000"/>
            </a:solidFill>
            <a:round/>
            <a:headEnd/>
            <a:tailEnd type="arrow" w="med" len="med"/>
          </a:ln>
        </p:spPr>
      </p:cxnSp>
      <p:cxnSp>
        <p:nvCxnSpPr>
          <p:cNvPr id="49" name="Прямая со стрелкой 48"/>
          <p:cNvCxnSpPr>
            <a:cxnSpLocks noChangeShapeType="1"/>
            <a:stCxn id="45" idx="2"/>
            <a:endCxn id="37" idx="0"/>
          </p:cNvCxnSpPr>
          <p:nvPr/>
        </p:nvCxnSpPr>
        <p:spPr bwMode="auto">
          <a:xfrm rot="16200000" flipH="1">
            <a:off x="5942012" y="2260601"/>
            <a:ext cx="219075" cy="438150"/>
          </a:xfrm>
          <a:prstGeom prst="straightConnector1">
            <a:avLst/>
          </a:prstGeom>
          <a:noFill/>
          <a:ln w="9525" algn="ctr">
            <a:solidFill>
              <a:srgbClr val="000000"/>
            </a:solidFill>
            <a:round/>
            <a:headEnd/>
            <a:tailEnd type="arrow" w="med" len="med"/>
          </a:ln>
        </p:spPr>
      </p:cxnSp>
      <p:cxnSp>
        <p:nvCxnSpPr>
          <p:cNvPr id="50" name="Прямая со стрелкой 49"/>
          <p:cNvCxnSpPr>
            <a:cxnSpLocks noChangeShapeType="1"/>
            <a:stCxn id="42" idx="2"/>
            <a:endCxn id="41" idx="0"/>
          </p:cNvCxnSpPr>
          <p:nvPr/>
        </p:nvCxnSpPr>
        <p:spPr bwMode="auto">
          <a:xfrm rot="5400000">
            <a:off x="7329487" y="2260601"/>
            <a:ext cx="219075" cy="438150"/>
          </a:xfrm>
          <a:prstGeom prst="straightConnector1">
            <a:avLst/>
          </a:prstGeom>
          <a:noFill/>
          <a:ln w="9525" algn="ctr">
            <a:solidFill>
              <a:srgbClr val="000000"/>
            </a:solidFill>
            <a:round/>
            <a:headEnd/>
            <a:tailEnd type="arrow" w="med" len="med"/>
          </a:ln>
        </p:spPr>
      </p:cxnSp>
      <p:cxnSp>
        <p:nvCxnSpPr>
          <p:cNvPr id="51" name="Прямая со стрелкой 50"/>
          <p:cNvCxnSpPr>
            <a:cxnSpLocks noChangeShapeType="1"/>
            <a:stCxn id="42" idx="2"/>
            <a:endCxn id="36" idx="0"/>
          </p:cNvCxnSpPr>
          <p:nvPr/>
        </p:nvCxnSpPr>
        <p:spPr bwMode="auto">
          <a:xfrm rot="16200000" flipH="1">
            <a:off x="7767637" y="2260601"/>
            <a:ext cx="219075" cy="438150"/>
          </a:xfrm>
          <a:prstGeom prst="straightConnector1">
            <a:avLst/>
          </a:prstGeom>
          <a:noFill/>
          <a:ln w="9525" algn="ctr">
            <a:solidFill>
              <a:srgbClr val="000000"/>
            </a:solidFill>
            <a:round/>
            <a:headEnd/>
            <a:tailEnd type="arrow" w="med" len="med"/>
          </a:ln>
        </p:spPr>
      </p:cxnSp>
      <p:cxnSp>
        <p:nvCxnSpPr>
          <p:cNvPr id="52" name="Прямая со стрелкой 51"/>
          <p:cNvCxnSpPr>
            <a:cxnSpLocks noChangeShapeType="1"/>
            <a:stCxn id="44" idx="2"/>
            <a:endCxn id="43" idx="0"/>
          </p:cNvCxnSpPr>
          <p:nvPr/>
        </p:nvCxnSpPr>
        <p:spPr bwMode="auto">
          <a:xfrm rot="5400000">
            <a:off x="5010944" y="2899569"/>
            <a:ext cx="219075" cy="328613"/>
          </a:xfrm>
          <a:prstGeom prst="straightConnector1">
            <a:avLst/>
          </a:prstGeom>
          <a:noFill/>
          <a:ln w="9525" algn="ctr">
            <a:solidFill>
              <a:srgbClr val="000000"/>
            </a:solidFill>
            <a:round/>
            <a:headEnd/>
            <a:tailEnd type="arrow" w="med" len="med"/>
          </a:ln>
        </p:spPr>
      </p:cxnSp>
      <p:cxnSp>
        <p:nvCxnSpPr>
          <p:cNvPr id="53" name="Прямая со стрелкой 52"/>
          <p:cNvCxnSpPr>
            <a:cxnSpLocks noChangeShapeType="1"/>
            <a:stCxn id="44" idx="2"/>
            <a:endCxn id="39" idx="0"/>
          </p:cNvCxnSpPr>
          <p:nvPr/>
        </p:nvCxnSpPr>
        <p:spPr bwMode="auto">
          <a:xfrm rot="16200000" flipH="1">
            <a:off x="5284788" y="2954338"/>
            <a:ext cx="219075" cy="219075"/>
          </a:xfrm>
          <a:prstGeom prst="straightConnector1">
            <a:avLst/>
          </a:prstGeom>
          <a:noFill/>
          <a:ln w="9525" algn="ctr">
            <a:solidFill>
              <a:srgbClr val="000000"/>
            </a:solidFill>
            <a:round/>
            <a:headEnd/>
            <a:tailEnd type="arrow" w="med" len="med"/>
          </a:ln>
        </p:spPr>
      </p:cxnSp>
      <p:cxnSp>
        <p:nvCxnSpPr>
          <p:cNvPr id="54" name="Прямая со стрелкой 53"/>
          <p:cNvCxnSpPr>
            <a:cxnSpLocks noChangeShapeType="1"/>
            <a:stCxn id="37" idx="2"/>
            <a:endCxn id="40" idx="0"/>
          </p:cNvCxnSpPr>
          <p:nvPr/>
        </p:nvCxnSpPr>
        <p:spPr bwMode="auto">
          <a:xfrm rot="5400000">
            <a:off x="6088062" y="2990851"/>
            <a:ext cx="219075" cy="146050"/>
          </a:xfrm>
          <a:prstGeom prst="straightConnector1">
            <a:avLst/>
          </a:prstGeom>
          <a:noFill/>
          <a:ln w="9525" algn="ctr">
            <a:solidFill>
              <a:srgbClr val="000000"/>
            </a:solidFill>
            <a:round/>
            <a:headEnd/>
            <a:tailEnd type="arrow" w="med" len="med"/>
          </a:ln>
        </p:spPr>
      </p:cxnSp>
      <p:sp>
        <p:nvSpPr>
          <p:cNvPr id="55" name="Прямоугольник 54"/>
          <p:cNvSpPr/>
          <p:nvPr/>
        </p:nvSpPr>
        <p:spPr bwMode="auto">
          <a:xfrm>
            <a:off x="6507163" y="3173413"/>
            <a:ext cx="511175" cy="365125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None/>
              <a:defRPr/>
            </a:pPr>
            <a:r>
              <a:rPr lang="ru-RU" sz="20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n-cs"/>
              </a:rPr>
              <a:t>10</a:t>
            </a:r>
          </a:p>
        </p:txBody>
      </p:sp>
      <p:cxnSp>
        <p:nvCxnSpPr>
          <p:cNvPr id="56" name="Прямая со стрелкой 55"/>
          <p:cNvCxnSpPr>
            <a:cxnSpLocks noChangeShapeType="1"/>
            <a:stCxn id="37" idx="2"/>
            <a:endCxn id="55" idx="0"/>
          </p:cNvCxnSpPr>
          <p:nvPr/>
        </p:nvCxnSpPr>
        <p:spPr bwMode="auto">
          <a:xfrm rot="16200000" flipH="1">
            <a:off x="6407150" y="2817813"/>
            <a:ext cx="219075" cy="492125"/>
          </a:xfrm>
          <a:prstGeom prst="straightConnector1">
            <a:avLst/>
          </a:prstGeom>
          <a:noFill/>
          <a:ln w="9525" algn="ctr">
            <a:solidFill>
              <a:srgbClr val="000000"/>
            </a:solidFill>
            <a:round/>
            <a:headEnd/>
            <a:tailEnd type="arrow" w="med" len="med"/>
          </a:ln>
        </p:spPr>
      </p:cxnSp>
      <p:sp>
        <p:nvSpPr>
          <p:cNvPr id="57" name="Прямоугольник 56"/>
          <p:cNvSpPr>
            <a:spLocks noChangeArrowheads="1"/>
          </p:cNvSpPr>
          <p:nvPr/>
        </p:nvSpPr>
        <p:spPr bwMode="auto">
          <a:xfrm>
            <a:off x="3841750" y="4962525"/>
            <a:ext cx="401638" cy="365125"/>
          </a:xfrm>
          <a:prstGeom prst="rect">
            <a:avLst/>
          </a:prstGeom>
          <a:solidFill>
            <a:schemeClr val="tx1"/>
          </a:solidFill>
          <a:ln w="9525" algn="ctr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pPr algn="ctr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None/>
            </a:pPr>
            <a:r>
              <a:rPr lang="en-US" sz="2000">
                <a:solidFill>
                  <a:srgbClr val="000000"/>
                </a:solidFill>
              </a:rPr>
              <a:t>2</a:t>
            </a:r>
            <a:endParaRPr lang="ru-RU" sz="2000">
              <a:solidFill>
                <a:srgbClr val="000000"/>
              </a:solidFill>
            </a:endParaRPr>
          </a:p>
        </p:txBody>
      </p:sp>
      <p:sp>
        <p:nvSpPr>
          <p:cNvPr id="59" name="Прямоугольник 58"/>
          <p:cNvSpPr/>
          <p:nvPr/>
        </p:nvSpPr>
        <p:spPr bwMode="auto">
          <a:xfrm>
            <a:off x="2527300" y="3757613"/>
            <a:ext cx="401638" cy="365125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None/>
              <a:defRPr/>
            </a:pPr>
            <a:r>
              <a:rPr lang="en-US" sz="20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n-cs"/>
              </a:rPr>
              <a:t>9</a:t>
            </a:r>
            <a:endParaRPr lang="ru-RU" sz="2000" dirty="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n-cs"/>
            </a:endParaRPr>
          </a:p>
        </p:txBody>
      </p:sp>
      <p:sp>
        <p:nvSpPr>
          <p:cNvPr id="60" name="Прямоугольник 59"/>
          <p:cNvSpPr/>
          <p:nvPr/>
        </p:nvSpPr>
        <p:spPr bwMode="auto">
          <a:xfrm>
            <a:off x="1249363" y="5546725"/>
            <a:ext cx="401637" cy="365125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None/>
              <a:defRPr/>
            </a:pPr>
            <a:r>
              <a:rPr lang="en-US" sz="20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n-cs"/>
              </a:rPr>
              <a:t>4</a:t>
            </a:r>
            <a:endParaRPr lang="ru-RU" sz="2000" dirty="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n-cs"/>
            </a:endParaRPr>
          </a:p>
        </p:txBody>
      </p:sp>
      <p:sp>
        <p:nvSpPr>
          <p:cNvPr id="61" name="Прямоугольник 60"/>
          <p:cNvSpPr/>
          <p:nvPr/>
        </p:nvSpPr>
        <p:spPr bwMode="auto">
          <a:xfrm>
            <a:off x="1870075" y="5546725"/>
            <a:ext cx="401638" cy="365125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None/>
              <a:defRPr/>
            </a:pPr>
            <a:r>
              <a:rPr lang="en-US" sz="20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n-cs"/>
              </a:rPr>
              <a:t>5</a:t>
            </a:r>
            <a:endParaRPr lang="ru-RU" sz="2000" dirty="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n-cs"/>
            </a:endParaRPr>
          </a:p>
        </p:txBody>
      </p:sp>
      <p:sp>
        <p:nvSpPr>
          <p:cNvPr id="62" name="Прямоугольник 61"/>
          <p:cNvSpPr/>
          <p:nvPr/>
        </p:nvSpPr>
        <p:spPr bwMode="auto">
          <a:xfrm>
            <a:off x="2965450" y="4962525"/>
            <a:ext cx="401638" cy="365125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None/>
              <a:defRPr/>
            </a:pPr>
            <a:r>
              <a:rPr lang="en-US" sz="20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n-cs"/>
              </a:rPr>
              <a:t>1</a:t>
            </a:r>
            <a:endParaRPr lang="ru-RU" sz="2000" dirty="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n-cs"/>
            </a:endParaRPr>
          </a:p>
        </p:txBody>
      </p:sp>
      <p:sp>
        <p:nvSpPr>
          <p:cNvPr id="63" name="Прямоугольник 62"/>
          <p:cNvSpPr/>
          <p:nvPr/>
        </p:nvSpPr>
        <p:spPr bwMode="auto">
          <a:xfrm>
            <a:off x="3403600" y="4378325"/>
            <a:ext cx="401638" cy="365125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None/>
              <a:defRPr/>
            </a:pPr>
            <a:r>
              <a:rPr lang="en-US" sz="20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n-cs"/>
              </a:rPr>
              <a:t>8</a:t>
            </a:r>
            <a:endParaRPr lang="ru-RU" sz="2000" dirty="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n-cs"/>
            </a:endParaRPr>
          </a:p>
        </p:txBody>
      </p:sp>
      <p:sp>
        <p:nvSpPr>
          <p:cNvPr id="64" name="Прямоугольник 63"/>
          <p:cNvSpPr/>
          <p:nvPr/>
        </p:nvSpPr>
        <p:spPr bwMode="auto">
          <a:xfrm>
            <a:off x="701675" y="5546725"/>
            <a:ext cx="401638" cy="365125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None/>
              <a:defRPr/>
            </a:pPr>
            <a:r>
              <a:rPr lang="en-US" sz="20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n-cs"/>
              </a:rPr>
              <a:t>3</a:t>
            </a:r>
            <a:endParaRPr lang="ru-RU" sz="2000" dirty="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n-cs"/>
            </a:endParaRPr>
          </a:p>
        </p:txBody>
      </p:sp>
      <p:sp>
        <p:nvSpPr>
          <p:cNvPr id="65" name="Прямоугольник 64"/>
          <p:cNvSpPr/>
          <p:nvPr/>
        </p:nvSpPr>
        <p:spPr bwMode="auto">
          <a:xfrm>
            <a:off x="1030288" y="4962525"/>
            <a:ext cx="401637" cy="365125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None/>
              <a:defRPr/>
            </a:pPr>
            <a:r>
              <a:rPr lang="en-US" sz="20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n-cs"/>
              </a:rPr>
              <a:t>8</a:t>
            </a:r>
            <a:endParaRPr lang="ru-RU" sz="2000" dirty="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n-cs"/>
            </a:endParaRPr>
          </a:p>
        </p:txBody>
      </p:sp>
      <p:sp>
        <p:nvSpPr>
          <p:cNvPr id="66" name="Прямоугольник 65"/>
          <p:cNvSpPr/>
          <p:nvPr/>
        </p:nvSpPr>
        <p:spPr bwMode="auto">
          <a:xfrm>
            <a:off x="1577975" y="4378325"/>
            <a:ext cx="401638" cy="365125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None/>
              <a:defRPr/>
            </a:pPr>
            <a:r>
              <a:rPr lang="en-US" sz="20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n-cs"/>
              </a:rPr>
              <a:t>9</a:t>
            </a:r>
            <a:endParaRPr lang="ru-RU" sz="2000" dirty="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n-cs"/>
            </a:endParaRPr>
          </a:p>
        </p:txBody>
      </p:sp>
      <p:cxnSp>
        <p:nvCxnSpPr>
          <p:cNvPr id="67" name="Прямая со стрелкой 66"/>
          <p:cNvCxnSpPr>
            <a:cxnSpLocks noChangeShapeType="1"/>
            <a:stCxn id="59" idx="2"/>
            <a:endCxn id="66" idx="0"/>
          </p:cNvCxnSpPr>
          <p:nvPr/>
        </p:nvCxnSpPr>
        <p:spPr bwMode="auto">
          <a:xfrm rot="5400000">
            <a:off x="2124869" y="3775869"/>
            <a:ext cx="255587" cy="949325"/>
          </a:xfrm>
          <a:prstGeom prst="straightConnector1">
            <a:avLst/>
          </a:prstGeom>
          <a:noFill/>
          <a:ln w="9525" algn="ctr">
            <a:solidFill>
              <a:srgbClr val="000000"/>
            </a:solidFill>
            <a:round/>
            <a:headEnd/>
            <a:tailEnd type="arrow" w="med" len="med"/>
          </a:ln>
        </p:spPr>
      </p:cxnSp>
      <p:cxnSp>
        <p:nvCxnSpPr>
          <p:cNvPr id="68" name="Прямая со стрелкой 67"/>
          <p:cNvCxnSpPr>
            <a:cxnSpLocks noChangeShapeType="1"/>
            <a:stCxn id="59" idx="2"/>
            <a:endCxn id="63" idx="0"/>
          </p:cNvCxnSpPr>
          <p:nvPr/>
        </p:nvCxnSpPr>
        <p:spPr bwMode="auto">
          <a:xfrm rot="16200000" flipH="1">
            <a:off x="3037681" y="3812382"/>
            <a:ext cx="255587" cy="876300"/>
          </a:xfrm>
          <a:prstGeom prst="straightConnector1">
            <a:avLst/>
          </a:prstGeom>
          <a:noFill/>
          <a:ln w="9525" algn="ctr">
            <a:solidFill>
              <a:srgbClr val="000000"/>
            </a:solidFill>
            <a:round/>
            <a:headEnd/>
            <a:tailEnd type="arrow" w="med" len="med"/>
          </a:ln>
        </p:spPr>
      </p:cxnSp>
      <p:cxnSp>
        <p:nvCxnSpPr>
          <p:cNvPr id="69" name="Прямая со стрелкой 68"/>
          <p:cNvCxnSpPr>
            <a:cxnSpLocks noChangeShapeType="1"/>
            <a:stCxn id="66" idx="2"/>
            <a:endCxn id="65" idx="0"/>
          </p:cNvCxnSpPr>
          <p:nvPr/>
        </p:nvCxnSpPr>
        <p:spPr bwMode="auto">
          <a:xfrm rot="5400000">
            <a:off x="1394619" y="4579144"/>
            <a:ext cx="219075" cy="547687"/>
          </a:xfrm>
          <a:prstGeom prst="straightConnector1">
            <a:avLst/>
          </a:prstGeom>
          <a:noFill/>
          <a:ln w="9525" algn="ctr">
            <a:solidFill>
              <a:srgbClr val="000000"/>
            </a:solidFill>
            <a:round/>
            <a:headEnd/>
            <a:tailEnd type="arrow" w="med" len="med"/>
          </a:ln>
        </p:spPr>
      </p:cxnSp>
      <p:cxnSp>
        <p:nvCxnSpPr>
          <p:cNvPr id="70" name="Прямая со стрелкой 69"/>
          <p:cNvCxnSpPr>
            <a:cxnSpLocks noChangeShapeType="1"/>
            <a:stCxn id="66" idx="2"/>
            <a:endCxn id="79" idx="0"/>
          </p:cNvCxnSpPr>
          <p:nvPr/>
        </p:nvCxnSpPr>
        <p:spPr bwMode="auto">
          <a:xfrm rot="16200000" flipH="1">
            <a:off x="1897062" y="4624388"/>
            <a:ext cx="219075" cy="457200"/>
          </a:xfrm>
          <a:prstGeom prst="straightConnector1">
            <a:avLst/>
          </a:prstGeom>
          <a:noFill/>
          <a:ln w="9525" algn="ctr">
            <a:solidFill>
              <a:srgbClr val="000000"/>
            </a:solidFill>
            <a:round/>
            <a:headEnd/>
            <a:tailEnd type="arrow" w="med" len="med"/>
          </a:ln>
        </p:spPr>
      </p:cxnSp>
      <p:cxnSp>
        <p:nvCxnSpPr>
          <p:cNvPr id="71" name="Прямая со стрелкой 70"/>
          <p:cNvCxnSpPr>
            <a:cxnSpLocks noChangeShapeType="1"/>
            <a:stCxn id="63" idx="2"/>
            <a:endCxn id="62" idx="0"/>
          </p:cNvCxnSpPr>
          <p:nvPr/>
        </p:nvCxnSpPr>
        <p:spPr bwMode="auto">
          <a:xfrm rot="5400000">
            <a:off x="3275012" y="4633913"/>
            <a:ext cx="219075" cy="438150"/>
          </a:xfrm>
          <a:prstGeom prst="straightConnector1">
            <a:avLst/>
          </a:prstGeom>
          <a:noFill/>
          <a:ln w="9525" algn="ctr">
            <a:solidFill>
              <a:srgbClr val="000000"/>
            </a:solidFill>
            <a:round/>
            <a:headEnd/>
            <a:tailEnd type="arrow" w="med" len="med"/>
          </a:ln>
        </p:spPr>
      </p:cxnSp>
      <p:cxnSp>
        <p:nvCxnSpPr>
          <p:cNvPr id="72" name="Прямая со стрелкой 71"/>
          <p:cNvCxnSpPr>
            <a:cxnSpLocks noChangeShapeType="1"/>
            <a:stCxn id="63" idx="2"/>
            <a:endCxn id="57" idx="0"/>
          </p:cNvCxnSpPr>
          <p:nvPr/>
        </p:nvCxnSpPr>
        <p:spPr bwMode="auto">
          <a:xfrm rot="16200000" flipH="1">
            <a:off x="3713162" y="4633913"/>
            <a:ext cx="219075" cy="438150"/>
          </a:xfrm>
          <a:prstGeom prst="straightConnector1">
            <a:avLst/>
          </a:prstGeom>
          <a:noFill/>
          <a:ln w="9525" algn="ctr">
            <a:solidFill>
              <a:srgbClr val="000000"/>
            </a:solidFill>
            <a:round/>
            <a:headEnd/>
            <a:tailEnd type="arrow" w="med" len="med"/>
          </a:ln>
        </p:spPr>
      </p:cxnSp>
      <p:cxnSp>
        <p:nvCxnSpPr>
          <p:cNvPr id="73" name="Прямая со стрелкой 72"/>
          <p:cNvCxnSpPr>
            <a:cxnSpLocks noChangeShapeType="1"/>
            <a:stCxn id="65" idx="2"/>
            <a:endCxn id="64" idx="0"/>
          </p:cNvCxnSpPr>
          <p:nvPr/>
        </p:nvCxnSpPr>
        <p:spPr bwMode="auto">
          <a:xfrm rot="5400000">
            <a:off x="956469" y="5272881"/>
            <a:ext cx="219075" cy="328613"/>
          </a:xfrm>
          <a:prstGeom prst="straightConnector1">
            <a:avLst/>
          </a:prstGeom>
          <a:noFill/>
          <a:ln w="9525" algn="ctr">
            <a:solidFill>
              <a:srgbClr val="000000"/>
            </a:solidFill>
            <a:round/>
            <a:headEnd/>
            <a:tailEnd type="arrow" w="med" len="med"/>
          </a:ln>
        </p:spPr>
      </p:cxnSp>
      <p:cxnSp>
        <p:nvCxnSpPr>
          <p:cNvPr id="74" name="Прямая со стрелкой 73"/>
          <p:cNvCxnSpPr>
            <a:cxnSpLocks noChangeShapeType="1"/>
            <a:stCxn id="65" idx="2"/>
            <a:endCxn id="60" idx="0"/>
          </p:cNvCxnSpPr>
          <p:nvPr/>
        </p:nvCxnSpPr>
        <p:spPr bwMode="auto">
          <a:xfrm rot="16200000" flipH="1">
            <a:off x="1230313" y="5327650"/>
            <a:ext cx="219075" cy="219075"/>
          </a:xfrm>
          <a:prstGeom prst="straightConnector1">
            <a:avLst/>
          </a:prstGeom>
          <a:noFill/>
          <a:ln w="9525" algn="ctr">
            <a:solidFill>
              <a:srgbClr val="000000"/>
            </a:solidFill>
            <a:round/>
            <a:headEnd/>
            <a:tailEnd type="arrow" w="med" len="med"/>
          </a:ln>
        </p:spPr>
      </p:cxnSp>
      <p:cxnSp>
        <p:nvCxnSpPr>
          <p:cNvPr id="75" name="Прямая со стрелкой 74"/>
          <p:cNvCxnSpPr>
            <a:cxnSpLocks noChangeShapeType="1"/>
            <a:endCxn id="61" idx="0"/>
          </p:cNvCxnSpPr>
          <p:nvPr/>
        </p:nvCxnSpPr>
        <p:spPr bwMode="auto">
          <a:xfrm rot="5400000">
            <a:off x="2033587" y="5364163"/>
            <a:ext cx="219075" cy="146050"/>
          </a:xfrm>
          <a:prstGeom prst="straightConnector1">
            <a:avLst/>
          </a:prstGeom>
          <a:noFill/>
          <a:ln w="9525" algn="ctr">
            <a:solidFill>
              <a:srgbClr val="000000"/>
            </a:solidFill>
            <a:round/>
            <a:headEnd/>
            <a:tailEnd type="arrow" w="med" len="med"/>
          </a:ln>
        </p:spPr>
      </p:cxnSp>
      <p:cxnSp>
        <p:nvCxnSpPr>
          <p:cNvPr id="77" name="Прямая со стрелкой 76"/>
          <p:cNvCxnSpPr>
            <a:cxnSpLocks noChangeShapeType="1"/>
            <a:endCxn id="80" idx="0"/>
          </p:cNvCxnSpPr>
          <p:nvPr/>
        </p:nvCxnSpPr>
        <p:spPr bwMode="auto">
          <a:xfrm>
            <a:off x="2216150" y="5327650"/>
            <a:ext cx="474663" cy="219075"/>
          </a:xfrm>
          <a:prstGeom prst="straightConnector1">
            <a:avLst/>
          </a:prstGeom>
          <a:noFill/>
          <a:ln w="9525" algn="ctr">
            <a:solidFill>
              <a:srgbClr val="000000"/>
            </a:solidFill>
            <a:round/>
            <a:headEnd/>
            <a:tailEnd type="arrow" w="med" len="med"/>
          </a:ln>
        </p:spPr>
      </p:cxnSp>
      <p:sp>
        <p:nvSpPr>
          <p:cNvPr id="79" name="Прямоугольник 78"/>
          <p:cNvSpPr/>
          <p:nvPr/>
        </p:nvSpPr>
        <p:spPr bwMode="auto">
          <a:xfrm>
            <a:off x="1979613" y="4962525"/>
            <a:ext cx="511175" cy="365125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None/>
              <a:defRPr/>
            </a:pPr>
            <a:r>
              <a:rPr lang="ru-RU" sz="20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n-cs"/>
              </a:rPr>
              <a:t>10</a:t>
            </a:r>
          </a:p>
        </p:txBody>
      </p:sp>
      <p:sp>
        <p:nvSpPr>
          <p:cNvPr id="80" name="Прямоугольник 79"/>
          <p:cNvSpPr/>
          <p:nvPr/>
        </p:nvSpPr>
        <p:spPr bwMode="auto">
          <a:xfrm>
            <a:off x="2490788" y="5546725"/>
            <a:ext cx="401637" cy="365125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None/>
              <a:defRPr/>
            </a:pPr>
            <a:r>
              <a:rPr lang="en-US" sz="20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n-cs"/>
              </a:rPr>
              <a:t>7</a:t>
            </a:r>
            <a:endParaRPr lang="ru-RU" sz="2000" dirty="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n-cs"/>
            </a:endParaRPr>
          </a:p>
        </p:txBody>
      </p:sp>
      <p:sp>
        <p:nvSpPr>
          <p:cNvPr id="83" name="Прямоугольник 82"/>
          <p:cNvSpPr>
            <a:spLocks noChangeArrowheads="1"/>
          </p:cNvSpPr>
          <p:nvPr/>
        </p:nvSpPr>
        <p:spPr bwMode="auto">
          <a:xfrm>
            <a:off x="7931150" y="4999038"/>
            <a:ext cx="401638" cy="365125"/>
          </a:xfrm>
          <a:prstGeom prst="rect">
            <a:avLst/>
          </a:prstGeom>
          <a:solidFill>
            <a:schemeClr val="tx1"/>
          </a:solidFill>
          <a:ln w="9525" algn="ctr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pPr algn="ctr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None/>
            </a:pPr>
            <a:r>
              <a:rPr lang="en-US" sz="2000">
                <a:solidFill>
                  <a:srgbClr val="000000"/>
                </a:solidFill>
              </a:rPr>
              <a:t>2</a:t>
            </a:r>
            <a:endParaRPr lang="ru-RU" sz="2000">
              <a:solidFill>
                <a:srgbClr val="000000"/>
              </a:solidFill>
            </a:endParaRPr>
          </a:p>
        </p:txBody>
      </p:sp>
      <p:sp>
        <p:nvSpPr>
          <p:cNvPr id="84" name="Прямоугольник 83"/>
          <p:cNvSpPr/>
          <p:nvPr/>
        </p:nvSpPr>
        <p:spPr bwMode="auto">
          <a:xfrm>
            <a:off x="6616700" y="3794125"/>
            <a:ext cx="401638" cy="365125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None/>
              <a:defRPr/>
            </a:pPr>
            <a:r>
              <a:rPr lang="en-US" sz="20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n-cs"/>
              </a:rPr>
              <a:t>9</a:t>
            </a:r>
            <a:endParaRPr lang="ru-RU" sz="2000" dirty="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n-cs"/>
            </a:endParaRPr>
          </a:p>
        </p:txBody>
      </p:sp>
      <p:sp>
        <p:nvSpPr>
          <p:cNvPr id="85" name="Прямоугольник 84"/>
          <p:cNvSpPr/>
          <p:nvPr/>
        </p:nvSpPr>
        <p:spPr bwMode="auto">
          <a:xfrm>
            <a:off x="5338763" y="5583238"/>
            <a:ext cx="401637" cy="365125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None/>
              <a:defRPr/>
            </a:pPr>
            <a:r>
              <a:rPr lang="en-US" sz="20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n-cs"/>
              </a:rPr>
              <a:t>4</a:t>
            </a:r>
            <a:endParaRPr lang="ru-RU" sz="2000" dirty="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n-cs"/>
            </a:endParaRPr>
          </a:p>
        </p:txBody>
      </p:sp>
      <p:sp>
        <p:nvSpPr>
          <p:cNvPr id="86" name="Прямоугольник 85"/>
          <p:cNvSpPr/>
          <p:nvPr/>
        </p:nvSpPr>
        <p:spPr bwMode="auto">
          <a:xfrm>
            <a:off x="5959475" y="5583238"/>
            <a:ext cx="401638" cy="365125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None/>
              <a:defRPr/>
            </a:pPr>
            <a:r>
              <a:rPr lang="en-US" sz="20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n-cs"/>
              </a:rPr>
              <a:t>5</a:t>
            </a:r>
            <a:endParaRPr lang="ru-RU" sz="2000" dirty="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n-cs"/>
            </a:endParaRPr>
          </a:p>
        </p:txBody>
      </p:sp>
      <p:sp>
        <p:nvSpPr>
          <p:cNvPr id="87" name="Прямоугольник 86"/>
          <p:cNvSpPr/>
          <p:nvPr/>
        </p:nvSpPr>
        <p:spPr bwMode="auto">
          <a:xfrm>
            <a:off x="7054850" y="4999038"/>
            <a:ext cx="401638" cy="365125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None/>
              <a:defRPr/>
            </a:pPr>
            <a:r>
              <a:rPr lang="en-US" sz="20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n-cs"/>
              </a:rPr>
              <a:t>1</a:t>
            </a:r>
            <a:endParaRPr lang="ru-RU" sz="2000" dirty="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n-cs"/>
            </a:endParaRPr>
          </a:p>
        </p:txBody>
      </p:sp>
      <p:sp>
        <p:nvSpPr>
          <p:cNvPr id="88" name="Прямоугольник 87"/>
          <p:cNvSpPr/>
          <p:nvPr/>
        </p:nvSpPr>
        <p:spPr bwMode="auto">
          <a:xfrm>
            <a:off x="7493000" y="4414838"/>
            <a:ext cx="401638" cy="365125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None/>
              <a:defRPr/>
            </a:pPr>
            <a:r>
              <a:rPr lang="en-US" sz="20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n-cs"/>
              </a:rPr>
              <a:t>8</a:t>
            </a:r>
            <a:endParaRPr lang="ru-RU" sz="2000" dirty="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n-cs"/>
            </a:endParaRPr>
          </a:p>
        </p:txBody>
      </p:sp>
      <p:sp>
        <p:nvSpPr>
          <p:cNvPr id="89" name="Прямоугольник 88"/>
          <p:cNvSpPr/>
          <p:nvPr/>
        </p:nvSpPr>
        <p:spPr bwMode="auto">
          <a:xfrm>
            <a:off x="4791075" y="5583238"/>
            <a:ext cx="401638" cy="365125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None/>
              <a:defRPr/>
            </a:pPr>
            <a:r>
              <a:rPr lang="en-US" sz="20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n-cs"/>
              </a:rPr>
              <a:t>3</a:t>
            </a:r>
            <a:endParaRPr lang="ru-RU" sz="2000" dirty="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n-cs"/>
            </a:endParaRPr>
          </a:p>
        </p:txBody>
      </p:sp>
      <p:sp>
        <p:nvSpPr>
          <p:cNvPr id="90" name="Прямоугольник 89"/>
          <p:cNvSpPr/>
          <p:nvPr/>
        </p:nvSpPr>
        <p:spPr bwMode="auto">
          <a:xfrm>
            <a:off x="5119688" y="4999038"/>
            <a:ext cx="401637" cy="365125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None/>
              <a:defRPr/>
            </a:pPr>
            <a:r>
              <a:rPr lang="en-US" sz="20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n-cs"/>
              </a:rPr>
              <a:t>8</a:t>
            </a:r>
            <a:endParaRPr lang="ru-RU" sz="2000" dirty="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n-cs"/>
            </a:endParaRPr>
          </a:p>
        </p:txBody>
      </p:sp>
      <p:cxnSp>
        <p:nvCxnSpPr>
          <p:cNvPr id="92" name="Прямая со стрелкой 91"/>
          <p:cNvCxnSpPr>
            <a:cxnSpLocks noChangeShapeType="1"/>
            <a:stCxn id="84" idx="2"/>
            <a:endCxn id="104" idx="0"/>
          </p:cNvCxnSpPr>
          <p:nvPr/>
        </p:nvCxnSpPr>
        <p:spPr bwMode="auto">
          <a:xfrm rot="5400000">
            <a:off x="6224588" y="3821112"/>
            <a:ext cx="255588" cy="931863"/>
          </a:xfrm>
          <a:prstGeom prst="straightConnector1">
            <a:avLst/>
          </a:prstGeom>
          <a:noFill/>
          <a:ln w="9525" algn="ctr">
            <a:solidFill>
              <a:srgbClr val="000000"/>
            </a:solidFill>
            <a:round/>
            <a:headEnd/>
            <a:tailEnd type="arrow" w="med" len="med"/>
          </a:ln>
        </p:spPr>
      </p:cxnSp>
      <p:cxnSp>
        <p:nvCxnSpPr>
          <p:cNvPr id="93" name="Прямая со стрелкой 92"/>
          <p:cNvCxnSpPr>
            <a:cxnSpLocks noChangeShapeType="1"/>
            <a:stCxn id="84" idx="2"/>
            <a:endCxn id="88" idx="0"/>
          </p:cNvCxnSpPr>
          <p:nvPr/>
        </p:nvCxnSpPr>
        <p:spPr bwMode="auto">
          <a:xfrm rot="16200000" flipH="1">
            <a:off x="7128669" y="3848894"/>
            <a:ext cx="255588" cy="876300"/>
          </a:xfrm>
          <a:prstGeom prst="straightConnector1">
            <a:avLst/>
          </a:prstGeom>
          <a:noFill/>
          <a:ln w="9525" algn="ctr">
            <a:solidFill>
              <a:srgbClr val="000000"/>
            </a:solidFill>
            <a:round/>
            <a:headEnd/>
            <a:tailEnd type="arrow" w="med" len="med"/>
          </a:ln>
        </p:spPr>
      </p:cxnSp>
      <p:cxnSp>
        <p:nvCxnSpPr>
          <p:cNvPr id="94" name="Прямая со стрелкой 93"/>
          <p:cNvCxnSpPr>
            <a:cxnSpLocks noChangeShapeType="1"/>
            <a:endCxn id="90" idx="0"/>
          </p:cNvCxnSpPr>
          <p:nvPr/>
        </p:nvCxnSpPr>
        <p:spPr bwMode="auto">
          <a:xfrm rot="5400000">
            <a:off x="5485606" y="4615657"/>
            <a:ext cx="219075" cy="547688"/>
          </a:xfrm>
          <a:prstGeom prst="straightConnector1">
            <a:avLst/>
          </a:prstGeom>
          <a:noFill/>
          <a:ln w="9525" algn="ctr">
            <a:solidFill>
              <a:srgbClr val="000000"/>
            </a:solidFill>
            <a:round/>
            <a:headEnd/>
            <a:tailEnd type="arrow" w="med" len="med"/>
          </a:ln>
        </p:spPr>
      </p:cxnSp>
      <p:cxnSp>
        <p:nvCxnSpPr>
          <p:cNvPr id="95" name="Прямая со стрелкой 94"/>
          <p:cNvCxnSpPr>
            <a:cxnSpLocks noChangeShapeType="1"/>
            <a:endCxn id="105" idx="0"/>
          </p:cNvCxnSpPr>
          <p:nvPr/>
        </p:nvCxnSpPr>
        <p:spPr bwMode="auto">
          <a:xfrm>
            <a:off x="5868988" y="4779963"/>
            <a:ext cx="401637" cy="219075"/>
          </a:xfrm>
          <a:prstGeom prst="straightConnector1">
            <a:avLst/>
          </a:prstGeom>
          <a:noFill/>
          <a:ln w="9525" algn="ctr">
            <a:solidFill>
              <a:srgbClr val="000000"/>
            </a:solidFill>
            <a:round/>
            <a:headEnd/>
            <a:tailEnd type="arrow" w="med" len="med"/>
          </a:ln>
        </p:spPr>
      </p:cxnSp>
      <p:cxnSp>
        <p:nvCxnSpPr>
          <p:cNvPr id="96" name="Прямая со стрелкой 95"/>
          <p:cNvCxnSpPr>
            <a:cxnSpLocks noChangeShapeType="1"/>
            <a:stCxn id="88" idx="2"/>
            <a:endCxn id="87" idx="0"/>
          </p:cNvCxnSpPr>
          <p:nvPr/>
        </p:nvCxnSpPr>
        <p:spPr bwMode="auto">
          <a:xfrm rot="5400000">
            <a:off x="7366000" y="4670426"/>
            <a:ext cx="219075" cy="438150"/>
          </a:xfrm>
          <a:prstGeom prst="straightConnector1">
            <a:avLst/>
          </a:prstGeom>
          <a:noFill/>
          <a:ln w="9525" algn="ctr">
            <a:solidFill>
              <a:srgbClr val="000000"/>
            </a:solidFill>
            <a:round/>
            <a:headEnd/>
            <a:tailEnd type="arrow" w="med" len="med"/>
          </a:ln>
        </p:spPr>
      </p:cxnSp>
      <p:cxnSp>
        <p:nvCxnSpPr>
          <p:cNvPr id="97" name="Прямая со стрелкой 96"/>
          <p:cNvCxnSpPr>
            <a:cxnSpLocks noChangeShapeType="1"/>
            <a:stCxn id="88" idx="2"/>
            <a:endCxn id="83" idx="0"/>
          </p:cNvCxnSpPr>
          <p:nvPr/>
        </p:nvCxnSpPr>
        <p:spPr bwMode="auto">
          <a:xfrm rot="16200000" flipH="1">
            <a:off x="7804150" y="4670426"/>
            <a:ext cx="219075" cy="438150"/>
          </a:xfrm>
          <a:prstGeom prst="straightConnector1">
            <a:avLst/>
          </a:prstGeom>
          <a:noFill/>
          <a:ln w="9525" algn="ctr">
            <a:solidFill>
              <a:srgbClr val="000000"/>
            </a:solidFill>
            <a:round/>
            <a:headEnd/>
            <a:tailEnd type="arrow" w="med" len="med"/>
          </a:ln>
        </p:spPr>
      </p:cxnSp>
      <p:cxnSp>
        <p:nvCxnSpPr>
          <p:cNvPr id="98" name="Прямая со стрелкой 97"/>
          <p:cNvCxnSpPr>
            <a:cxnSpLocks noChangeShapeType="1"/>
            <a:stCxn id="90" idx="2"/>
            <a:endCxn id="89" idx="0"/>
          </p:cNvCxnSpPr>
          <p:nvPr/>
        </p:nvCxnSpPr>
        <p:spPr bwMode="auto">
          <a:xfrm rot="5400000">
            <a:off x="5047456" y="5309395"/>
            <a:ext cx="219075" cy="328612"/>
          </a:xfrm>
          <a:prstGeom prst="straightConnector1">
            <a:avLst/>
          </a:prstGeom>
          <a:noFill/>
          <a:ln w="9525" algn="ctr">
            <a:solidFill>
              <a:srgbClr val="000000"/>
            </a:solidFill>
            <a:round/>
            <a:headEnd/>
            <a:tailEnd type="arrow" w="med" len="med"/>
          </a:ln>
        </p:spPr>
      </p:cxnSp>
      <p:cxnSp>
        <p:nvCxnSpPr>
          <p:cNvPr id="99" name="Прямая со стрелкой 98"/>
          <p:cNvCxnSpPr>
            <a:cxnSpLocks noChangeShapeType="1"/>
            <a:stCxn id="90" idx="2"/>
            <a:endCxn id="85" idx="0"/>
          </p:cNvCxnSpPr>
          <p:nvPr/>
        </p:nvCxnSpPr>
        <p:spPr bwMode="auto">
          <a:xfrm rot="16200000" flipH="1">
            <a:off x="5321300" y="5364163"/>
            <a:ext cx="219075" cy="219075"/>
          </a:xfrm>
          <a:prstGeom prst="straightConnector1">
            <a:avLst/>
          </a:prstGeom>
          <a:noFill/>
          <a:ln w="9525" algn="ctr">
            <a:solidFill>
              <a:srgbClr val="000000"/>
            </a:solidFill>
            <a:round/>
            <a:headEnd/>
            <a:tailEnd type="arrow" w="med" len="med"/>
          </a:ln>
        </p:spPr>
      </p:cxnSp>
      <p:cxnSp>
        <p:nvCxnSpPr>
          <p:cNvPr id="100" name="Прямая со стрелкой 99"/>
          <p:cNvCxnSpPr>
            <a:cxnSpLocks noChangeShapeType="1"/>
            <a:endCxn id="86" idx="0"/>
          </p:cNvCxnSpPr>
          <p:nvPr/>
        </p:nvCxnSpPr>
        <p:spPr bwMode="auto">
          <a:xfrm rot="5400000">
            <a:off x="6124575" y="5400676"/>
            <a:ext cx="219075" cy="146050"/>
          </a:xfrm>
          <a:prstGeom prst="straightConnector1">
            <a:avLst/>
          </a:prstGeom>
          <a:noFill/>
          <a:ln w="9525" algn="ctr">
            <a:solidFill>
              <a:srgbClr val="000000"/>
            </a:solidFill>
            <a:round/>
            <a:headEnd/>
            <a:tailEnd type="arrow" w="med" len="med"/>
          </a:ln>
        </p:spPr>
      </p:cxnSp>
      <p:cxnSp>
        <p:nvCxnSpPr>
          <p:cNvPr id="101" name="Прямая со стрелкой 100"/>
          <p:cNvCxnSpPr>
            <a:cxnSpLocks noChangeShapeType="1"/>
            <a:endCxn id="103" idx="0"/>
          </p:cNvCxnSpPr>
          <p:nvPr/>
        </p:nvCxnSpPr>
        <p:spPr bwMode="auto">
          <a:xfrm>
            <a:off x="6307138" y="5364163"/>
            <a:ext cx="474662" cy="219075"/>
          </a:xfrm>
          <a:prstGeom prst="straightConnector1">
            <a:avLst/>
          </a:prstGeom>
          <a:noFill/>
          <a:ln w="9525" algn="ctr">
            <a:solidFill>
              <a:srgbClr val="000000"/>
            </a:solidFill>
            <a:round/>
            <a:headEnd/>
            <a:tailEnd type="arrow" w="med" len="med"/>
          </a:ln>
        </p:spPr>
      </p:cxnSp>
      <p:sp>
        <p:nvSpPr>
          <p:cNvPr id="103" name="Прямоугольник 102"/>
          <p:cNvSpPr/>
          <p:nvPr/>
        </p:nvSpPr>
        <p:spPr bwMode="auto">
          <a:xfrm>
            <a:off x="6580188" y="5583238"/>
            <a:ext cx="401637" cy="365125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None/>
              <a:defRPr/>
            </a:pPr>
            <a:r>
              <a:rPr lang="en-US" sz="20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n-cs"/>
              </a:rPr>
              <a:t>7</a:t>
            </a:r>
            <a:endParaRPr lang="ru-RU" sz="2000" dirty="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n-cs"/>
            </a:endParaRPr>
          </a:p>
        </p:txBody>
      </p:sp>
      <p:sp>
        <p:nvSpPr>
          <p:cNvPr id="104" name="Прямоугольник 103"/>
          <p:cNvSpPr/>
          <p:nvPr/>
        </p:nvSpPr>
        <p:spPr bwMode="auto">
          <a:xfrm>
            <a:off x="5630863" y="4414838"/>
            <a:ext cx="511175" cy="365125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None/>
              <a:defRPr/>
            </a:pPr>
            <a:r>
              <a:rPr lang="ru-RU" sz="20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n-cs"/>
              </a:rPr>
              <a:t>10</a:t>
            </a:r>
          </a:p>
        </p:txBody>
      </p:sp>
      <p:sp>
        <p:nvSpPr>
          <p:cNvPr id="105" name="Прямоугольник 104"/>
          <p:cNvSpPr/>
          <p:nvPr/>
        </p:nvSpPr>
        <p:spPr bwMode="auto">
          <a:xfrm>
            <a:off x="6069013" y="4999038"/>
            <a:ext cx="401637" cy="365125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None/>
              <a:defRPr/>
            </a:pPr>
            <a:r>
              <a:rPr lang="en-US" sz="20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n-cs"/>
              </a:rPr>
              <a:t>9</a:t>
            </a:r>
            <a:endParaRPr lang="ru-RU" sz="2000" dirty="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n-cs"/>
            </a:endParaRPr>
          </a:p>
        </p:txBody>
      </p:sp>
      <p:sp>
        <p:nvSpPr>
          <p:cNvPr id="108" name="Заголовок 1"/>
          <p:cNvSpPr txBox="1">
            <a:spLocks/>
          </p:cNvSpPr>
          <p:nvPr/>
        </p:nvSpPr>
        <p:spPr bwMode="auto">
          <a:xfrm>
            <a:off x="336550" y="6094413"/>
            <a:ext cx="8229600" cy="5476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 eaLnBrk="0" hangingPunct="0">
              <a:defRPr/>
            </a:pPr>
            <a:r>
              <a:rPr lang="ru-RU" kern="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Добавление нового элемента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2500"/>
                            </p:stCondLst>
                            <p:childTnLst>
                              <p:par>
                                <p:cTn id="4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8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4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1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1000"/>
                            </p:stCondLst>
                            <p:childTnLst>
                              <p:par>
                                <p:cTn id="8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>
                            <p:stCondLst>
                              <p:cond delay="1500"/>
                            </p:stCondLst>
                            <p:childTnLst>
                              <p:par>
                                <p:cTn id="8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9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8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1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4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0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3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6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7" fill="hold">
                            <p:stCondLst>
                              <p:cond delay="2000"/>
                            </p:stCondLst>
                            <p:childTnLst>
                              <p:par>
                                <p:cTn id="11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0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3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6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7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9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0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2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3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5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6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8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9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1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2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4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5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7" dur="10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8" dur="10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9" dur="10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2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>
                      <p:stCondLst>
                        <p:cond delay="indefinite"/>
                      </p:stCondLst>
                      <p:childTnLst>
                        <p:par>
                          <p:cTn id="154" fill="hold">
                            <p:stCondLst>
                              <p:cond delay="0"/>
                            </p:stCondLst>
                            <p:childTnLst>
                              <p:par>
                                <p:cTn id="155" presetID="49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5.55556E-7 3.95559E-7 L 0.0592 0.08466 " pathEditMode="relative" rAng="0" ptsTypes="AA">
                                      <p:cBhvr>
                                        <p:cTn id="156" dur="2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000" y="4200"/>
                                    </p:animMotion>
                                  </p:childTnLst>
                                </p:cTn>
                              </p:par>
                              <p:par>
                                <p:cTn id="157" presetID="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52 -0.00046 L -0.05261 -0.0849 " pathEditMode="relative" rAng="0" ptsTypes="AA">
                                      <p:cBhvr>
                                        <p:cTn id="158" dur="20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900" y="-42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9" fill="hold">
                            <p:stCondLst>
                              <p:cond delay="2000"/>
                            </p:stCondLst>
                            <p:childTnLst>
                              <p:par>
                                <p:cTn id="160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2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3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5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6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8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9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1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2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4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7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0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3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4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6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7" fill="hold">
                            <p:stCondLst>
                              <p:cond delay="2500"/>
                            </p:stCondLst>
                            <p:childTnLst>
                              <p:par>
                                <p:cTn id="18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0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1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3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4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6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7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9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0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2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3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5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6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8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9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1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2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4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7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8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0" dur="10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1" dur="10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2" dur="10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3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5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6" fill="hold">
                      <p:stCondLst>
                        <p:cond delay="indefinite"/>
                      </p:stCondLst>
                      <p:childTnLst>
                        <p:par>
                          <p:cTn id="227" fill="hold">
                            <p:stCondLst>
                              <p:cond delay="0"/>
                            </p:stCondLst>
                            <p:childTnLst>
                              <p:par>
                                <p:cTn id="228" presetID="0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5521 -0.08374 " pathEditMode="relative" ptsTypes="AA">
                                      <p:cBhvr>
                                        <p:cTn id="229" dur="20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30" presetID="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5104 0.08906 " pathEditMode="relative" ptsTypes="AA">
                                      <p:cBhvr>
                                        <p:cTn id="231" dur="20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2" fill="hold">
                            <p:stCondLst>
                              <p:cond delay="2000"/>
                            </p:stCondLst>
                            <p:childTnLst>
                              <p:par>
                                <p:cTn id="23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5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6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8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9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1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2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4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7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0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3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4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6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7" fill="hold">
                            <p:stCondLst>
                              <p:cond delay="2500"/>
                            </p:stCondLst>
                            <p:childTnLst>
                              <p:par>
                                <p:cTn id="25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0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1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3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4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6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7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9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0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2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3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5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6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8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9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1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2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4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7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0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1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3" dur="100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4" dur="100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5" dur="10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6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8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9" fill="hold">
                      <p:stCondLst>
                        <p:cond delay="indefinite"/>
                      </p:stCondLst>
                      <p:childTnLst>
                        <p:par>
                          <p:cTn id="300" fill="hold">
                            <p:stCondLst>
                              <p:cond delay="0"/>
                            </p:stCondLst>
                            <p:childTnLst>
                              <p:par>
                                <p:cTn id="301" presetID="0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10625 0.08906 " pathEditMode="relative" ptsTypes="AA">
                                      <p:cBhvr>
                                        <p:cTn id="302" dur="20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03" presetID="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10625 -0.09438 " pathEditMode="relative" ptsTypes="AA">
                                      <p:cBhvr>
                                        <p:cTn id="304" dur="200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/>
      <p:bldP spid="33" grpId="0" animBg="1"/>
      <p:bldP spid="36" grpId="0" animBg="1"/>
      <p:bldP spid="37" grpId="0" animBg="1"/>
      <p:bldP spid="37" grpId="1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45" grpId="0" animBg="1"/>
      <p:bldP spid="55" grpId="0" animBg="1"/>
      <p:bldP spid="55" grpId="1" animBg="1"/>
      <p:bldP spid="57" grpId="0" animBg="1"/>
      <p:bldP spid="59" grpId="0" animBg="1"/>
      <p:bldP spid="60" grpId="0" animBg="1"/>
      <p:bldP spid="61" grpId="0" animBg="1"/>
      <p:bldP spid="62" grpId="0" animBg="1"/>
      <p:bldP spid="63" grpId="0" animBg="1"/>
      <p:bldP spid="64" grpId="0" animBg="1"/>
      <p:bldP spid="65" grpId="0" animBg="1"/>
      <p:bldP spid="66" grpId="0" animBg="1"/>
      <p:bldP spid="66" grpId="1" animBg="1"/>
      <p:bldP spid="79" grpId="0" animBg="1"/>
      <p:bldP spid="79" grpId="1" animBg="1"/>
      <p:bldP spid="80" grpId="0" animBg="1"/>
      <p:bldP spid="83" grpId="0" animBg="1"/>
      <p:bldP spid="84" grpId="0" animBg="1"/>
      <p:bldP spid="84" grpId="1" animBg="1"/>
      <p:bldP spid="85" grpId="0" animBg="1"/>
      <p:bldP spid="86" grpId="0" animBg="1"/>
      <p:bldP spid="87" grpId="0" animBg="1"/>
      <p:bldP spid="88" grpId="0" animBg="1"/>
      <p:bldP spid="89" grpId="0" animBg="1"/>
      <p:bldP spid="90" grpId="0" animBg="1"/>
      <p:bldP spid="103" grpId="0" animBg="1"/>
      <p:bldP spid="104" grpId="0" animBg="1"/>
      <p:bldP spid="104" grpId="1" animBg="1"/>
      <p:bldP spid="105" grpId="0" animBg="1"/>
      <p:bldP spid="108" grpId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/>
          <p:cNvSpPr txBox="1">
            <a:spLocks/>
          </p:cNvSpPr>
          <p:nvPr/>
        </p:nvSpPr>
        <p:spPr bwMode="auto">
          <a:xfrm>
            <a:off x="519113" y="288925"/>
            <a:ext cx="8229600" cy="985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 eaLnBrk="0" hangingPunct="0">
              <a:defRPr/>
            </a:pPr>
            <a:r>
              <a:rPr lang="ru-RU" sz="3600" kern="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Представление очереди пирамидой</a:t>
            </a:r>
          </a:p>
        </p:txBody>
      </p:sp>
      <p:sp>
        <p:nvSpPr>
          <p:cNvPr id="5" name="Заголовок 1"/>
          <p:cNvSpPr txBox="1">
            <a:spLocks/>
          </p:cNvSpPr>
          <p:nvPr/>
        </p:nvSpPr>
        <p:spPr bwMode="auto">
          <a:xfrm>
            <a:off x="336550" y="6094413"/>
            <a:ext cx="8229600" cy="5476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 eaLnBrk="0" hangingPunct="0">
              <a:defRPr/>
            </a:pPr>
            <a:r>
              <a:rPr lang="ru-RU" kern="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Добавление нового элемента</a:t>
            </a:r>
          </a:p>
        </p:txBody>
      </p:sp>
      <p:sp>
        <p:nvSpPr>
          <p:cNvPr id="6" name="Прямоугольник 5"/>
          <p:cNvSpPr/>
          <p:nvPr/>
        </p:nvSpPr>
        <p:spPr bwMode="auto">
          <a:xfrm>
            <a:off x="1030288" y="1749425"/>
            <a:ext cx="6754812" cy="3943350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spcBef>
                <a:spcPct val="20000"/>
              </a:spcBef>
              <a:buSzPct val="100000"/>
              <a:buFont typeface="Arial" pitchFamily="34" charset="0"/>
              <a:buChar char="•"/>
              <a:defRPr/>
            </a:pPr>
            <a:r>
              <a:rPr lang="ru-RU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n-cs"/>
              </a:rPr>
              <a:t> Добавление нового элемента в конец массива.</a:t>
            </a:r>
          </a:p>
          <a:p>
            <a:pPr>
              <a:spcBef>
                <a:spcPct val="20000"/>
              </a:spcBef>
              <a:buSzPct val="100000"/>
              <a:buFont typeface="Arial" pitchFamily="34" charset="0"/>
              <a:buChar char="•"/>
              <a:defRPr/>
            </a:pPr>
            <a:r>
              <a:rPr lang="ru-RU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n-cs"/>
              </a:rPr>
              <a:t> Передвижение элемента к своему месту. </a:t>
            </a:r>
            <a:endParaRPr lang="ru-RU" dirty="0">
              <a:solidFill>
                <a:srgbClr val="000000"/>
              </a:solidFill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/>
          <p:cNvSpPr txBox="1">
            <a:spLocks/>
          </p:cNvSpPr>
          <p:nvPr/>
        </p:nvSpPr>
        <p:spPr bwMode="auto">
          <a:xfrm>
            <a:off x="519113" y="288925"/>
            <a:ext cx="8229600" cy="985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 eaLnBrk="0" hangingPunct="0">
              <a:defRPr/>
            </a:pPr>
            <a:r>
              <a:rPr lang="ru-RU" sz="3600" kern="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Представление очереди пирамидой</a:t>
            </a:r>
          </a:p>
        </p:txBody>
      </p:sp>
      <p:sp>
        <p:nvSpPr>
          <p:cNvPr id="5" name="Прямоугольник 4"/>
          <p:cNvSpPr>
            <a:spLocks noChangeArrowheads="1"/>
          </p:cNvSpPr>
          <p:nvPr/>
        </p:nvSpPr>
        <p:spPr bwMode="auto">
          <a:xfrm>
            <a:off x="3476625" y="2808288"/>
            <a:ext cx="401638" cy="365125"/>
          </a:xfrm>
          <a:prstGeom prst="rect">
            <a:avLst/>
          </a:prstGeom>
          <a:solidFill>
            <a:schemeClr val="tx1"/>
          </a:solidFill>
          <a:ln w="9525" algn="ctr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pPr algn="ctr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None/>
            </a:pPr>
            <a:r>
              <a:rPr lang="en-US" sz="2000">
                <a:solidFill>
                  <a:srgbClr val="000000"/>
                </a:solidFill>
              </a:rPr>
              <a:t>2</a:t>
            </a:r>
            <a:endParaRPr lang="ru-RU" sz="2000">
              <a:solidFill>
                <a:srgbClr val="000000"/>
              </a:solidFill>
            </a:endParaRPr>
          </a:p>
        </p:txBody>
      </p:sp>
      <p:sp>
        <p:nvSpPr>
          <p:cNvPr id="7" name="Прямоугольник 6"/>
          <p:cNvSpPr/>
          <p:nvPr/>
        </p:nvSpPr>
        <p:spPr bwMode="auto">
          <a:xfrm>
            <a:off x="884238" y="3392488"/>
            <a:ext cx="401637" cy="365125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None/>
              <a:defRPr/>
            </a:pPr>
            <a:r>
              <a:rPr lang="en-US" sz="20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n-cs"/>
              </a:rPr>
              <a:t>4</a:t>
            </a:r>
            <a:endParaRPr lang="ru-RU" sz="2000" dirty="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n-cs"/>
            </a:endParaRPr>
          </a:p>
        </p:txBody>
      </p:sp>
      <p:sp>
        <p:nvSpPr>
          <p:cNvPr id="8" name="Прямоугольник 7"/>
          <p:cNvSpPr/>
          <p:nvPr/>
        </p:nvSpPr>
        <p:spPr bwMode="auto">
          <a:xfrm>
            <a:off x="1504950" y="3392488"/>
            <a:ext cx="401638" cy="365125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None/>
              <a:defRPr/>
            </a:pPr>
            <a:r>
              <a:rPr lang="en-US" sz="20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n-cs"/>
              </a:rPr>
              <a:t>5</a:t>
            </a:r>
            <a:endParaRPr lang="ru-RU" sz="2000" dirty="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n-cs"/>
            </a:endParaRPr>
          </a:p>
        </p:txBody>
      </p:sp>
      <p:sp>
        <p:nvSpPr>
          <p:cNvPr id="9" name="Прямоугольник 8"/>
          <p:cNvSpPr/>
          <p:nvPr/>
        </p:nvSpPr>
        <p:spPr bwMode="auto">
          <a:xfrm>
            <a:off x="2600325" y="2808288"/>
            <a:ext cx="401638" cy="365125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None/>
              <a:defRPr/>
            </a:pPr>
            <a:r>
              <a:rPr lang="en-US" sz="20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n-cs"/>
              </a:rPr>
              <a:t>1</a:t>
            </a:r>
            <a:endParaRPr lang="ru-RU" sz="2000" dirty="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n-cs"/>
            </a:endParaRPr>
          </a:p>
        </p:txBody>
      </p:sp>
      <p:sp>
        <p:nvSpPr>
          <p:cNvPr id="10" name="Прямоугольник 9"/>
          <p:cNvSpPr/>
          <p:nvPr/>
        </p:nvSpPr>
        <p:spPr bwMode="auto">
          <a:xfrm>
            <a:off x="3038475" y="2224088"/>
            <a:ext cx="401638" cy="365125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None/>
              <a:defRPr/>
            </a:pPr>
            <a:r>
              <a:rPr lang="en-US" sz="20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n-cs"/>
              </a:rPr>
              <a:t>8</a:t>
            </a:r>
            <a:endParaRPr lang="ru-RU" sz="2000" dirty="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n-cs"/>
            </a:endParaRPr>
          </a:p>
        </p:txBody>
      </p:sp>
      <p:sp>
        <p:nvSpPr>
          <p:cNvPr id="11" name="Прямоугольник 10"/>
          <p:cNvSpPr/>
          <p:nvPr/>
        </p:nvSpPr>
        <p:spPr bwMode="auto">
          <a:xfrm>
            <a:off x="336550" y="3392488"/>
            <a:ext cx="401638" cy="365125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None/>
              <a:defRPr/>
            </a:pPr>
            <a:r>
              <a:rPr lang="en-US" sz="20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n-cs"/>
              </a:rPr>
              <a:t>3</a:t>
            </a:r>
            <a:endParaRPr lang="ru-RU" sz="2000" dirty="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n-cs"/>
            </a:endParaRPr>
          </a:p>
        </p:txBody>
      </p:sp>
      <p:sp>
        <p:nvSpPr>
          <p:cNvPr id="12" name="Прямоугольник 11"/>
          <p:cNvSpPr/>
          <p:nvPr/>
        </p:nvSpPr>
        <p:spPr bwMode="auto">
          <a:xfrm>
            <a:off x="665163" y="2808288"/>
            <a:ext cx="401637" cy="365125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None/>
              <a:defRPr/>
            </a:pPr>
            <a:r>
              <a:rPr lang="en-US" sz="20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n-cs"/>
              </a:rPr>
              <a:t>8</a:t>
            </a:r>
            <a:endParaRPr lang="ru-RU" sz="2000" dirty="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n-cs"/>
            </a:endParaRPr>
          </a:p>
        </p:txBody>
      </p:sp>
      <p:cxnSp>
        <p:nvCxnSpPr>
          <p:cNvPr id="13" name="Прямая со стрелкой 12"/>
          <p:cNvCxnSpPr>
            <a:cxnSpLocks noChangeShapeType="1"/>
          </p:cNvCxnSpPr>
          <p:nvPr/>
        </p:nvCxnSpPr>
        <p:spPr bwMode="auto">
          <a:xfrm rot="5400000">
            <a:off x="1760538" y="1639887"/>
            <a:ext cx="255588" cy="912813"/>
          </a:xfrm>
          <a:prstGeom prst="straightConnector1">
            <a:avLst/>
          </a:prstGeom>
          <a:noFill/>
          <a:ln w="9525" algn="ctr">
            <a:solidFill>
              <a:srgbClr val="000000"/>
            </a:solidFill>
            <a:round/>
            <a:headEnd/>
            <a:tailEnd type="arrow" w="med" len="med"/>
          </a:ln>
        </p:spPr>
      </p:cxnSp>
      <p:cxnSp>
        <p:nvCxnSpPr>
          <p:cNvPr id="14" name="Прямая со стрелкой 13"/>
          <p:cNvCxnSpPr>
            <a:cxnSpLocks noChangeShapeType="1"/>
            <a:endCxn id="10" idx="0"/>
          </p:cNvCxnSpPr>
          <p:nvPr/>
        </p:nvCxnSpPr>
        <p:spPr bwMode="auto">
          <a:xfrm rot="16200000" flipH="1">
            <a:off x="2663825" y="1649413"/>
            <a:ext cx="255588" cy="893762"/>
          </a:xfrm>
          <a:prstGeom prst="straightConnector1">
            <a:avLst/>
          </a:prstGeom>
          <a:noFill/>
          <a:ln w="9525" algn="ctr">
            <a:solidFill>
              <a:srgbClr val="000000"/>
            </a:solidFill>
            <a:round/>
            <a:headEnd/>
            <a:tailEnd type="arrow" w="med" len="med"/>
          </a:ln>
        </p:spPr>
      </p:cxnSp>
      <p:cxnSp>
        <p:nvCxnSpPr>
          <p:cNvPr id="15" name="Прямая со стрелкой 14"/>
          <p:cNvCxnSpPr>
            <a:cxnSpLocks noChangeShapeType="1"/>
            <a:endCxn id="12" idx="0"/>
          </p:cNvCxnSpPr>
          <p:nvPr/>
        </p:nvCxnSpPr>
        <p:spPr bwMode="auto">
          <a:xfrm rot="5400000">
            <a:off x="1029494" y="2424907"/>
            <a:ext cx="219075" cy="547687"/>
          </a:xfrm>
          <a:prstGeom prst="straightConnector1">
            <a:avLst/>
          </a:prstGeom>
          <a:noFill/>
          <a:ln w="9525" algn="ctr">
            <a:solidFill>
              <a:srgbClr val="000000"/>
            </a:solidFill>
            <a:round/>
            <a:headEnd/>
            <a:tailEnd type="arrow" w="med" len="med"/>
          </a:ln>
        </p:spPr>
      </p:cxnSp>
      <p:cxnSp>
        <p:nvCxnSpPr>
          <p:cNvPr id="16" name="Прямая со стрелкой 15"/>
          <p:cNvCxnSpPr>
            <a:cxnSpLocks noChangeShapeType="1"/>
            <a:endCxn id="25" idx="0"/>
          </p:cNvCxnSpPr>
          <p:nvPr/>
        </p:nvCxnSpPr>
        <p:spPr bwMode="auto">
          <a:xfrm>
            <a:off x="1412875" y="2589213"/>
            <a:ext cx="401638" cy="219075"/>
          </a:xfrm>
          <a:prstGeom prst="straightConnector1">
            <a:avLst/>
          </a:prstGeom>
          <a:noFill/>
          <a:ln w="9525" algn="ctr">
            <a:solidFill>
              <a:srgbClr val="000000"/>
            </a:solidFill>
            <a:round/>
            <a:headEnd/>
            <a:tailEnd type="arrow" w="med" len="med"/>
          </a:ln>
        </p:spPr>
      </p:cxnSp>
      <p:cxnSp>
        <p:nvCxnSpPr>
          <p:cNvPr id="17" name="Прямая со стрелкой 16"/>
          <p:cNvCxnSpPr>
            <a:cxnSpLocks noChangeShapeType="1"/>
            <a:stCxn id="10" idx="2"/>
            <a:endCxn id="9" idx="0"/>
          </p:cNvCxnSpPr>
          <p:nvPr/>
        </p:nvCxnSpPr>
        <p:spPr bwMode="auto">
          <a:xfrm rot="5400000">
            <a:off x="2909887" y="2479676"/>
            <a:ext cx="219075" cy="438150"/>
          </a:xfrm>
          <a:prstGeom prst="straightConnector1">
            <a:avLst/>
          </a:prstGeom>
          <a:noFill/>
          <a:ln w="9525" algn="ctr">
            <a:solidFill>
              <a:srgbClr val="000000"/>
            </a:solidFill>
            <a:round/>
            <a:headEnd/>
            <a:tailEnd type="arrow" w="med" len="med"/>
          </a:ln>
        </p:spPr>
      </p:cxnSp>
      <p:cxnSp>
        <p:nvCxnSpPr>
          <p:cNvPr id="18" name="Прямая со стрелкой 17"/>
          <p:cNvCxnSpPr>
            <a:cxnSpLocks noChangeShapeType="1"/>
            <a:stCxn id="10" idx="2"/>
            <a:endCxn id="5" idx="0"/>
          </p:cNvCxnSpPr>
          <p:nvPr/>
        </p:nvCxnSpPr>
        <p:spPr bwMode="auto">
          <a:xfrm rot="16200000" flipH="1">
            <a:off x="3348037" y="2479676"/>
            <a:ext cx="219075" cy="438150"/>
          </a:xfrm>
          <a:prstGeom prst="straightConnector1">
            <a:avLst/>
          </a:prstGeom>
          <a:noFill/>
          <a:ln w="9525" algn="ctr">
            <a:solidFill>
              <a:srgbClr val="000000"/>
            </a:solidFill>
            <a:round/>
            <a:headEnd/>
            <a:tailEnd type="arrow" w="med" len="med"/>
          </a:ln>
        </p:spPr>
      </p:cxnSp>
      <p:cxnSp>
        <p:nvCxnSpPr>
          <p:cNvPr id="19" name="Прямая со стрелкой 18"/>
          <p:cNvCxnSpPr>
            <a:cxnSpLocks noChangeShapeType="1"/>
            <a:stCxn id="12" idx="2"/>
            <a:endCxn id="11" idx="0"/>
          </p:cNvCxnSpPr>
          <p:nvPr/>
        </p:nvCxnSpPr>
        <p:spPr bwMode="auto">
          <a:xfrm rot="5400000">
            <a:off x="591344" y="3118644"/>
            <a:ext cx="219075" cy="328613"/>
          </a:xfrm>
          <a:prstGeom prst="straightConnector1">
            <a:avLst/>
          </a:prstGeom>
          <a:noFill/>
          <a:ln w="9525" algn="ctr">
            <a:solidFill>
              <a:srgbClr val="000000"/>
            </a:solidFill>
            <a:round/>
            <a:headEnd/>
            <a:tailEnd type="arrow" w="med" len="med"/>
          </a:ln>
        </p:spPr>
      </p:cxnSp>
      <p:cxnSp>
        <p:nvCxnSpPr>
          <p:cNvPr id="20" name="Прямая со стрелкой 19"/>
          <p:cNvCxnSpPr>
            <a:cxnSpLocks noChangeShapeType="1"/>
            <a:stCxn id="12" idx="2"/>
            <a:endCxn id="7" idx="0"/>
          </p:cNvCxnSpPr>
          <p:nvPr/>
        </p:nvCxnSpPr>
        <p:spPr bwMode="auto">
          <a:xfrm rot="16200000" flipH="1">
            <a:off x="865188" y="3173413"/>
            <a:ext cx="219075" cy="219075"/>
          </a:xfrm>
          <a:prstGeom prst="straightConnector1">
            <a:avLst/>
          </a:prstGeom>
          <a:noFill/>
          <a:ln w="9525" algn="ctr">
            <a:solidFill>
              <a:srgbClr val="000000"/>
            </a:solidFill>
            <a:round/>
            <a:headEnd/>
            <a:tailEnd type="arrow" w="med" len="med"/>
          </a:ln>
        </p:spPr>
      </p:cxnSp>
      <p:cxnSp>
        <p:nvCxnSpPr>
          <p:cNvPr id="21" name="Прямая со стрелкой 20"/>
          <p:cNvCxnSpPr>
            <a:cxnSpLocks noChangeShapeType="1"/>
            <a:endCxn id="8" idx="0"/>
          </p:cNvCxnSpPr>
          <p:nvPr/>
        </p:nvCxnSpPr>
        <p:spPr bwMode="auto">
          <a:xfrm rot="5400000">
            <a:off x="1668462" y="3209926"/>
            <a:ext cx="219075" cy="146050"/>
          </a:xfrm>
          <a:prstGeom prst="straightConnector1">
            <a:avLst/>
          </a:prstGeom>
          <a:noFill/>
          <a:ln w="9525" algn="ctr">
            <a:solidFill>
              <a:srgbClr val="000000"/>
            </a:solidFill>
            <a:round/>
            <a:headEnd/>
            <a:tailEnd type="arrow" w="med" len="med"/>
          </a:ln>
        </p:spPr>
      </p:cxnSp>
      <p:cxnSp>
        <p:nvCxnSpPr>
          <p:cNvPr id="22" name="Прямая со стрелкой 21"/>
          <p:cNvCxnSpPr>
            <a:cxnSpLocks noChangeShapeType="1"/>
            <a:endCxn id="23" idx="0"/>
          </p:cNvCxnSpPr>
          <p:nvPr/>
        </p:nvCxnSpPr>
        <p:spPr bwMode="auto">
          <a:xfrm>
            <a:off x="1851025" y="3173413"/>
            <a:ext cx="474663" cy="219075"/>
          </a:xfrm>
          <a:prstGeom prst="straightConnector1">
            <a:avLst/>
          </a:prstGeom>
          <a:noFill/>
          <a:ln w="9525" algn="ctr">
            <a:solidFill>
              <a:srgbClr val="000000"/>
            </a:solidFill>
            <a:round/>
            <a:headEnd/>
            <a:tailEnd type="arrow" w="med" len="med"/>
          </a:ln>
        </p:spPr>
      </p:cxnSp>
      <p:sp>
        <p:nvSpPr>
          <p:cNvPr id="23" name="Прямоугольник 22"/>
          <p:cNvSpPr/>
          <p:nvPr/>
        </p:nvSpPr>
        <p:spPr bwMode="auto">
          <a:xfrm>
            <a:off x="2125663" y="3392488"/>
            <a:ext cx="401637" cy="365125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None/>
              <a:defRPr/>
            </a:pPr>
            <a:r>
              <a:rPr lang="en-US" sz="20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n-cs"/>
              </a:rPr>
              <a:t>7</a:t>
            </a:r>
            <a:endParaRPr lang="ru-RU" sz="2000" dirty="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n-cs"/>
            </a:endParaRPr>
          </a:p>
        </p:txBody>
      </p:sp>
      <p:sp>
        <p:nvSpPr>
          <p:cNvPr id="25" name="Прямоугольник 24"/>
          <p:cNvSpPr/>
          <p:nvPr/>
        </p:nvSpPr>
        <p:spPr bwMode="auto">
          <a:xfrm>
            <a:off x="1614488" y="2808288"/>
            <a:ext cx="401637" cy="365125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None/>
              <a:defRPr/>
            </a:pPr>
            <a:r>
              <a:rPr lang="en-US" sz="20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n-cs"/>
              </a:rPr>
              <a:t>9</a:t>
            </a:r>
            <a:endParaRPr lang="ru-RU" sz="2000" dirty="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n-cs"/>
            </a:endParaRPr>
          </a:p>
        </p:txBody>
      </p:sp>
      <p:sp>
        <p:nvSpPr>
          <p:cNvPr id="28" name="Прямоугольник 27"/>
          <p:cNvSpPr/>
          <p:nvPr/>
        </p:nvSpPr>
        <p:spPr bwMode="auto">
          <a:xfrm>
            <a:off x="1193800" y="2224088"/>
            <a:ext cx="401638" cy="365125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None/>
              <a:defRPr/>
            </a:pPr>
            <a:r>
              <a:rPr lang="en-US" sz="20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n-cs"/>
              </a:rPr>
              <a:t>9</a:t>
            </a:r>
            <a:endParaRPr lang="ru-RU" sz="2000" dirty="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n-cs"/>
            </a:endParaRPr>
          </a:p>
        </p:txBody>
      </p:sp>
      <p:sp>
        <p:nvSpPr>
          <p:cNvPr id="29" name="Прямоугольник 28"/>
          <p:cNvSpPr/>
          <p:nvPr/>
        </p:nvSpPr>
        <p:spPr bwMode="auto">
          <a:xfrm>
            <a:off x="2070100" y="1603375"/>
            <a:ext cx="511175" cy="365125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None/>
              <a:defRPr/>
            </a:pPr>
            <a:r>
              <a:rPr lang="ru-RU" sz="20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n-cs"/>
              </a:rPr>
              <a:t>10</a:t>
            </a:r>
          </a:p>
        </p:txBody>
      </p:sp>
      <p:sp>
        <p:nvSpPr>
          <p:cNvPr id="32" name="Заголовок 1"/>
          <p:cNvSpPr txBox="1">
            <a:spLocks/>
          </p:cNvSpPr>
          <p:nvPr/>
        </p:nvSpPr>
        <p:spPr bwMode="auto">
          <a:xfrm>
            <a:off x="336550" y="6167438"/>
            <a:ext cx="8229600" cy="5476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 eaLnBrk="0" hangingPunct="0">
              <a:defRPr/>
            </a:pPr>
            <a:r>
              <a:rPr lang="ru-RU" kern="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Удаление максимального элемента</a:t>
            </a:r>
          </a:p>
        </p:txBody>
      </p:sp>
      <p:sp>
        <p:nvSpPr>
          <p:cNvPr id="33" name="Прямоугольник 32"/>
          <p:cNvSpPr>
            <a:spLocks noChangeArrowheads="1"/>
          </p:cNvSpPr>
          <p:nvPr/>
        </p:nvSpPr>
        <p:spPr bwMode="auto">
          <a:xfrm>
            <a:off x="7602538" y="2808288"/>
            <a:ext cx="401637" cy="365125"/>
          </a:xfrm>
          <a:prstGeom prst="rect">
            <a:avLst/>
          </a:prstGeom>
          <a:solidFill>
            <a:schemeClr val="tx1"/>
          </a:solidFill>
          <a:ln w="9525" algn="ctr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pPr algn="ctr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None/>
            </a:pPr>
            <a:r>
              <a:rPr lang="en-US" sz="2000">
                <a:solidFill>
                  <a:srgbClr val="000000"/>
                </a:solidFill>
              </a:rPr>
              <a:t>2</a:t>
            </a:r>
            <a:endParaRPr lang="ru-RU" sz="2000">
              <a:solidFill>
                <a:srgbClr val="000000"/>
              </a:solidFill>
            </a:endParaRPr>
          </a:p>
        </p:txBody>
      </p:sp>
      <p:sp>
        <p:nvSpPr>
          <p:cNvPr id="34" name="Прямоугольник 33"/>
          <p:cNvSpPr/>
          <p:nvPr/>
        </p:nvSpPr>
        <p:spPr bwMode="auto">
          <a:xfrm>
            <a:off x="5010150" y="3392488"/>
            <a:ext cx="401638" cy="365125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None/>
              <a:defRPr/>
            </a:pPr>
            <a:r>
              <a:rPr lang="en-US" sz="20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n-cs"/>
              </a:rPr>
              <a:t>4</a:t>
            </a:r>
            <a:endParaRPr lang="ru-RU" sz="2000" dirty="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n-cs"/>
            </a:endParaRPr>
          </a:p>
        </p:txBody>
      </p:sp>
      <p:sp>
        <p:nvSpPr>
          <p:cNvPr id="35" name="Прямоугольник 34"/>
          <p:cNvSpPr/>
          <p:nvPr/>
        </p:nvSpPr>
        <p:spPr bwMode="auto">
          <a:xfrm>
            <a:off x="5630863" y="3392488"/>
            <a:ext cx="401637" cy="365125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None/>
              <a:defRPr/>
            </a:pPr>
            <a:r>
              <a:rPr lang="en-US" sz="20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n-cs"/>
              </a:rPr>
              <a:t>5</a:t>
            </a:r>
            <a:endParaRPr lang="ru-RU" sz="2000" dirty="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n-cs"/>
            </a:endParaRPr>
          </a:p>
        </p:txBody>
      </p:sp>
      <p:sp>
        <p:nvSpPr>
          <p:cNvPr id="36" name="Прямоугольник 35"/>
          <p:cNvSpPr/>
          <p:nvPr/>
        </p:nvSpPr>
        <p:spPr bwMode="auto">
          <a:xfrm>
            <a:off x="6726238" y="2808288"/>
            <a:ext cx="401637" cy="365125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None/>
              <a:defRPr/>
            </a:pPr>
            <a:r>
              <a:rPr lang="en-US" sz="20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n-cs"/>
              </a:rPr>
              <a:t>1</a:t>
            </a:r>
            <a:endParaRPr lang="ru-RU" sz="2000" dirty="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n-cs"/>
            </a:endParaRPr>
          </a:p>
        </p:txBody>
      </p:sp>
      <p:sp>
        <p:nvSpPr>
          <p:cNvPr id="37" name="Прямоугольник 36"/>
          <p:cNvSpPr/>
          <p:nvPr/>
        </p:nvSpPr>
        <p:spPr bwMode="auto">
          <a:xfrm>
            <a:off x="7164388" y="2224088"/>
            <a:ext cx="401637" cy="365125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None/>
              <a:defRPr/>
            </a:pPr>
            <a:r>
              <a:rPr lang="en-US" sz="20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n-cs"/>
              </a:rPr>
              <a:t>8</a:t>
            </a:r>
            <a:endParaRPr lang="ru-RU" sz="2000" dirty="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n-cs"/>
            </a:endParaRPr>
          </a:p>
        </p:txBody>
      </p:sp>
      <p:sp>
        <p:nvSpPr>
          <p:cNvPr id="38" name="Прямоугольник 37"/>
          <p:cNvSpPr/>
          <p:nvPr/>
        </p:nvSpPr>
        <p:spPr bwMode="auto">
          <a:xfrm>
            <a:off x="4462463" y="3392488"/>
            <a:ext cx="401637" cy="365125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None/>
              <a:defRPr/>
            </a:pPr>
            <a:r>
              <a:rPr lang="en-US" sz="20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n-cs"/>
              </a:rPr>
              <a:t>3</a:t>
            </a:r>
            <a:endParaRPr lang="ru-RU" sz="2000" dirty="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n-cs"/>
            </a:endParaRPr>
          </a:p>
        </p:txBody>
      </p:sp>
      <p:sp>
        <p:nvSpPr>
          <p:cNvPr id="39" name="Прямоугольник 38"/>
          <p:cNvSpPr/>
          <p:nvPr/>
        </p:nvSpPr>
        <p:spPr bwMode="auto">
          <a:xfrm>
            <a:off x="4791075" y="2808288"/>
            <a:ext cx="401638" cy="365125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None/>
              <a:defRPr/>
            </a:pPr>
            <a:r>
              <a:rPr lang="en-US" sz="20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n-cs"/>
              </a:rPr>
              <a:t>8</a:t>
            </a:r>
            <a:endParaRPr lang="ru-RU" sz="2000" dirty="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n-cs"/>
            </a:endParaRPr>
          </a:p>
        </p:txBody>
      </p:sp>
      <p:cxnSp>
        <p:nvCxnSpPr>
          <p:cNvPr id="40" name="Прямая со стрелкой 39"/>
          <p:cNvCxnSpPr>
            <a:cxnSpLocks noChangeShapeType="1"/>
          </p:cNvCxnSpPr>
          <p:nvPr/>
        </p:nvCxnSpPr>
        <p:spPr bwMode="auto">
          <a:xfrm rot="5400000">
            <a:off x="5886450" y="1639888"/>
            <a:ext cx="255588" cy="912812"/>
          </a:xfrm>
          <a:prstGeom prst="straightConnector1">
            <a:avLst/>
          </a:prstGeom>
          <a:noFill/>
          <a:ln w="9525" algn="ctr">
            <a:solidFill>
              <a:srgbClr val="000000"/>
            </a:solidFill>
            <a:round/>
            <a:headEnd/>
            <a:tailEnd type="arrow" w="med" len="med"/>
          </a:ln>
        </p:spPr>
      </p:cxnSp>
      <p:cxnSp>
        <p:nvCxnSpPr>
          <p:cNvPr id="41" name="Прямая со стрелкой 40"/>
          <p:cNvCxnSpPr>
            <a:cxnSpLocks noChangeShapeType="1"/>
            <a:endCxn id="37" idx="0"/>
          </p:cNvCxnSpPr>
          <p:nvPr/>
        </p:nvCxnSpPr>
        <p:spPr bwMode="auto">
          <a:xfrm rot="16200000" flipH="1">
            <a:off x="6790531" y="1648619"/>
            <a:ext cx="255588" cy="895350"/>
          </a:xfrm>
          <a:prstGeom prst="straightConnector1">
            <a:avLst/>
          </a:prstGeom>
          <a:noFill/>
          <a:ln w="9525" algn="ctr">
            <a:solidFill>
              <a:srgbClr val="000000"/>
            </a:solidFill>
            <a:round/>
            <a:headEnd/>
            <a:tailEnd type="arrow" w="med" len="med"/>
          </a:ln>
        </p:spPr>
      </p:cxnSp>
      <p:cxnSp>
        <p:nvCxnSpPr>
          <p:cNvPr id="42" name="Прямая со стрелкой 41"/>
          <p:cNvCxnSpPr>
            <a:cxnSpLocks noChangeShapeType="1"/>
            <a:endCxn id="39" idx="0"/>
          </p:cNvCxnSpPr>
          <p:nvPr/>
        </p:nvCxnSpPr>
        <p:spPr bwMode="auto">
          <a:xfrm rot="5400000">
            <a:off x="5156994" y="2424907"/>
            <a:ext cx="219075" cy="547687"/>
          </a:xfrm>
          <a:prstGeom prst="straightConnector1">
            <a:avLst/>
          </a:prstGeom>
          <a:noFill/>
          <a:ln w="9525" algn="ctr">
            <a:solidFill>
              <a:srgbClr val="000000"/>
            </a:solidFill>
            <a:round/>
            <a:headEnd/>
            <a:tailEnd type="arrow" w="med" len="med"/>
          </a:ln>
        </p:spPr>
      </p:cxnSp>
      <p:cxnSp>
        <p:nvCxnSpPr>
          <p:cNvPr id="43" name="Прямая со стрелкой 42"/>
          <p:cNvCxnSpPr>
            <a:cxnSpLocks noChangeShapeType="1"/>
            <a:endCxn id="51" idx="0"/>
          </p:cNvCxnSpPr>
          <p:nvPr/>
        </p:nvCxnSpPr>
        <p:spPr bwMode="auto">
          <a:xfrm>
            <a:off x="5540375" y="2589213"/>
            <a:ext cx="401638" cy="219075"/>
          </a:xfrm>
          <a:prstGeom prst="straightConnector1">
            <a:avLst/>
          </a:prstGeom>
          <a:noFill/>
          <a:ln w="9525" algn="ctr">
            <a:solidFill>
              <a:srgbClr val="000000"/>
            </a:solidFill>
            <a:round/>
            <a:headEnd/>
            <a:tailEnd type="arrow" w="med" len="med"/>
          </a:ln>
        </p:spPr>
      </p:cxnSp>
      <p:cxnSp>
        <p:nvCxnSpPr>
          <p:cNvPr id="44" name="Прямая со стрелкой 43"/>
          <p:cNvCxnSpPr>
            <a:cxnSpLocks noChangeShapeType="1"/>
            <a:stCxn id="37" idx="2"/>
            <a:endCxn id="36" idx="0"/>
          </p:cNvCxnSpPr>
          <p:nvPr/>
        </p:nvCxnSpPr>
        <p:spPr bwMode="auto">
          <a:xfrm rot="5400000">
            <a:off x="7037387" y="2479676"/>
            <a:ext cx="219075" cy="438150"/>
          </a:xfrm>
          <a:prstGeom prst="straightConnector1">
            <a:avLst/>
          </a:prstGeom>
          <a:noFill/>
          <a:ln w="9525" algn="ctr">
            <a:solidFill>
              <a:srgbClr val="000000"/>
            </a:solidFill>
            <a:round/>
            <a:headEnd/>
            <a:tailEnd type="arrow" w="med" len="med"/>
          </a:ln>
        </p:spPr>
      </p:cxnSp>
      <p:cxnSp>
        <p:nvCxnSpPr>
          <p:cNvPr id="45" name="Прямая со стрелкой 44"/>
          <p:cNvCxnSpPr>
            <a:cxnSpLocks noChangeShapeType="1"/>
            <a:stCxn id="37" idx="2"/>
            <a:endCxn id="33" idx="0"/>
          </p:cNvCxnSpPr>
          <p:nvPr/>
        </p:nvCxnSpPr>
        <p:spPr bwMode="auto">
          <a:xfrm rot="16200000" flipH="1">
            <a:off x="7475537" y="2479676"/>
            <a:ext cx="219075" cy="438150"/>
          </a:xfrm>
          <a:prstGeom prst="straightConnector1">
            <a:avLst/>
          </a:prstGeom>
          <a:noFill/>
          <a:ln w="9525" algn="ctr">
            <a:solidFill>
              <a:srgbClr val="000000"/>
            </a:solidFill>
            <a:round/>
            <a:headEnd/>
            <a:tailEnd type="arrow" w="med" len="med"/>
          </a:ln>
        </p:spPr>
      </p:cxnSp>
      <p:cxnSp>
        <p:nvCxnSpPr>
          <p:cNvPr id="46" name="Прямая со стрелкой 45"/>
          <p:cNvCxnSpPr>
            <a:cxnSpLocks noChangeShapeType="1"/>
            <a:stCxn id="39" idx="2"/>
            <a:endCxn id="38" idx="0"/>
          </p:cNvCxnSpPr>
          <p:nvPr/>
        </p:nvCxnSpPr>
        <p:spPr bwMode="auto">
          <a:xfrm rot="5400000">
            <a:off x="4718844" y="3118644"/>
            <a:ext cx="219075" cy="328613"/>
          </a:xfrm>
          <a:prstGeom prst="straightConnector1">
            <a:avLst/>
          </a:prstGeom>
          <a:noFill/>
          <a:ln w="9525" algn="ctr">
            <a:solidFill>
              <a:srgbClr val="000000"/>
            </a:solidFill>
            <a:round/>
            <a:headEnd/>
            <a:tailEnd type="arrow" w="med" len="med"/>
          </a:ln>
        </p:spPr>
      </p:cxnSp>
      <p:cxnSp>
        <p:nvCxnSpPr>
          <p:cNvPr id="47" name="Прямая со стрелкой 46"/>
          <p:cNvCxnSpPr>
            <a:cxnSpLocks noChangeShapeType="1"/>
            <a:stCxn id="39" idx="2"/>
            <a:endCxn id="34" idx="0"/>
          </p:cNvCxnSpPr>
          <p:nvPr/>
        </p:nvCxnSpPr>
        <p:spPr bwMode="auto">
          <a:xfrm rot="16200000" flipH="1">
            <a:off x="4992688" y="3173413"/>
            <a:ext cx="219075" cy="219075"/>
          </a:xfrm>
          <a:prstGeom prst="straightConnector1">
            <a:avLst/>
          </a:prstGeom>
          <a:noFill/>
          <a:ln w="9525" algn="ctr">
            <a:solidFill>
              <a:srgbClr val="000000"/>
            </a:solidFill>
            <a:round/>
            <a:headEnd/>
            <a:tailEnd type="arrow" w="med" len="med"/>
          </a:ln>
        </p:spPr>
      </p:cxnSp>
      <p:cxnSp>
        <p:nvCxnSpPr>
          <p:cNvPr id="48" name="Прямая со стрелкой 47"/>
          <p:cNvCxnSpPr>
            <a:cxnSpLocks noChangeShapeType="1"/>
            <a:endCxn id="35" idx="0"/>
          </p:cNvCxnSpPr>
          <p:nvPr/>
        </p:nvCxnSpPr>
        <p:spPr bwMode="auto">
          <a:xfrm rot="5400000">
            <a:off x="5795962" y="3209926"/>
            <a:ext cx="219075" cy="146050"/>
          </a:xfrm>
          <a:prstGeom prst="straightConnector1">
            <a:avLst/>
          </a:prstGeom>
          <a:noFill/>
          <a:ln w="9525" algn="ctr">
            <a:solidFill>
              <a:srgbClr val="000000"/>
            </a:solidFill>
            <a:round/>
            <a:headEnd/>
            <a:tailEnd type="arrow" w="med" len="med"/>
          </a:ln>
        </p:spPr>
      </p:cxnSp>
      <p:cxnSp>
        <p:nvCxnSpPr>
          <p:cNvPr id="49" name="Прямая со стрелкой 48"/>
          <p:cNvCxnSpPr>
            <a:cxnSpLocks noChangeShapeType="1"/>
          </p:cNvCxnSpPr>
          <p:nvPr/>
        </p:nvCxnSpPr>
        <p:spPr bwMode="auto">
          <a:xfrm>
            <a:off x="5978525" y="3173413"/>
            <a:ext cx="474663" cy="219075"/>
          </a:xfrm>
          <a:prstGeom prst="straightConnector1">
            <a:avLst/>
          </a:prstGeom>
          <a:noFill/>
          <a:ln w="9525" algn="ctr">
            <a:solidFill>
              <a:srgbClr val="000000"/>
            </a:solidFill>
            <a:round/>
            <a:headEnd/>
            <a:tailEnd type="arrow" w="med" len="med"/>
          </a:ln>
        </p:spPr>
      </p:cxnSp>
      <p:sp>
        <p:nvSpPr>
          <p:cNvPr id="51" name="Прямоугольник 50"/>
          <p:cNvSpPr/>
          <p:nvPr/>
        </p:nvSpPr>
        <p:spPr bwMode="auto">
          <a:xfrm>
            <a:off x="5740400" y="2808288"/>
            <a:ext cx="401638" cy="365125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None/>
              <a:defRPr/>
            </a:pPr>
            <a:r>
              <a:rPr lang="en-US" sz="20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n-cs"/>
              </a:rPr>
              <a:t>9</a:t>
            </a:r>
            <a:endParaRPr lang="ru-RU" sz="2000" dirty="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n-cs"/>
            </a:endParaRPr>
          </a:p>
        </p:txBody>
      </p:sp>
      <p:sp>
        <p:nvSpPr>
          <p:cNvPr id="52" name="Прямоугольник 51"/>
          <p:cNvSpPr/>
          <p:nvPr/>
        </p:nvSpPr>
        <p:spPr bwMode="auto">
          <a:xfrm>
            <a:off x="5321300" y="2224088"/>
            <a:ext cx="401638" cy="365125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None/>
              <a:defRPr/>
            </a:pPr>
            <a:r>
              <a:rPr lang="en-US" sz="20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n-cs"/>
              </a:rPr>
              <a:t>9</a:t>
            </a:r>
            <a:endParaRPr lang="ru-RU" sz="2000" dirty="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n-cs"/>
            </a:endParaRPr>
          </a:p>
        </p:txBody>
      </p:sp>
      <p:sp>
        <p:nvSpPr>
          <p:cNvPr id="53" name="Прямоугольник 52"/>
          <p:cNvSpPr/>
          <p:nvPr/>
        </p:nvSpPr>
        <p:spPr bwMode="auto">
          <a:xfrm>
            <a:off x="6251575" y="3392488"/>
            <a:ext cx="511175" cy="365125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None/>
              <a:defRPr/>
            </a:pPr>
            <a:r>
              <a:rPr lang="ru-RU" sz="20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n-cs"/>
              </a:rPr>
              <a:t>10</a:t>
            </a:r>
          </a:p>
        </p:txBody>
      </p:sp>
      <p:sp>
        <p:nvSpPr>
          <p:cNvPr id="75" name="Прямоугольник 74"/>
          <p:cNvSpPr/>
          <p:nvPr/>
        </p:nvSpPr>
        <p:spPr bwMode="auto">
          <a:xfrm>
            <a:off x="6251575" y="1603375"/>
            <a:ext cx="401638" cy="365125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None/>
              <a:defRPr/>
            </a:pPr>
            <a:r>
              <a:rPr lang="en-US" sz="20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n-cs"/>
              </a:rPr>
              <a:t>7</a:t>
            </a:r>
            <a:endParaRPr lang="ru-RU" sz="2000" dirty="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n-cs"/>
            </a:endParaRPr>
          </a:p>
        </p:txBody>
      </p:sp>
      <p:sp>
        <p:nvSpPr>
          <p:cNvPr id="76" name="Прямоугольник 75"/>
          <p:cNvSpPr>
            <a:spLocks noChangeArrowheads="1"/>
          </p:cNvSpPr>
          <p:nvPr/>
        </p:nvSpPr>
        <p:spPr bwMode="auto">
          <a:xfrm>
            <a:off x="3622675" y="5108575"/>
            <a:ext cx="401638" cy="365125"/>
          </a:xfrm>
          <a:prstGeom prst="rect">
            <a:avLst/>
          </a:prstGeom>
          <a:solidFill>
            <a:schemeClr val="tx1"/>
          </a:solidFill>
          <a:ln w="9525" algn="ctr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pPr algn="ctr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None/>
            </a:pPr>
            <a:r>
              <a:rPr lang="en-US" sz="2000">
                <a:solidFill>
                  <a:srgbClr val="000000"/>
                </a:solidFill>
              </a:rPr>
              <a:t>2</a:t>
            </a:r>
            <a:endParaRPr lang="ru-RU" sz="2000">
              <a:solidFill>
                <a:srgbClr val="000000"/>
              </a:solidFill>
            </a:endParaRPr>
          </a:p>
        </p:txBody>
      </p:sp>
      <p:sp>
        <p:nvSpPr>
          <p:cNvPr id="77" name="Прямоугольник 76"/>
          <p:cNvSpPr/>
          <p:nvPr/>
        </p:nvSpPr>
        <p:spPr bwMode="auto">
          <a:xfrm>
            <a:off x="1030288" y="5692775"/>
            <a:ext cx="401637" cy="365125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None/>
              <a:defRPr/>
            </a:pPr>
            <a:r>
              <a:rPr lang="en-US" sz="20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n-cs"/>
              </a:rPr>
              <a:t>4</a:t>
            </a:r>
            <a:endParaRPr lang="ru-RU" sz="2000" dirty="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n-cs"/>
            </a:endParaRPr>
          </a:p>
        </p:txBody>
      </p:sp>
      <p:sp>
        <p:nvSpPr>
          <p:cNvPr id="78" name="Прямоугольник 77"/>
          <p:cNvSpPr/>
          <p:nvPr/>
        </p:nvSpPr>
        <p:spPr bwMode="auto">
          <a:xfrm>
            <a:off x="1651000" y="5692775"/>
            <a:ext cx="401638" cy="365125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None/>
              <a:defRPr/>
            </a:pPr>
            <a:r>
              <a:rPr lang="en-US" sz="20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n-cs"/>
              </a:rPr>
              <a:t>5</a:t>
            </a:r>
            <a:endParaRPr lang="ru-RU" sz="2000" dirty="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n-cs"/>
            </a:endParaRPr>
          </a:p>
        </p:txBody>
      </p:sp>
      <p:sp>
        <p:nvSpPr>
          <p:cNvPr id="79" name="Прямоугольник 78"/>
          <p:cNvSpPr/>
          <p:nvPr/>
        </p:nvSpPr>
        <p:spPr bwMode="auto">
          <a:xfrm>
            <a:off x="2746375" y="5108575"/>
            <a:ext cx="401638" cy="365125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None/>
              <a:defRPr/>
            </a:pPr>
            <a:r>
              <a:rPr lang="en-US" sz="20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n-cs"/>
              </a:rPr>
              <a:t>1</a:t>
            </a:r>
            <a:endParaRPr lang="ru-RU" sz="2000" dirty="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n-cs"/>
            </a:endParaRPr>
          </a:p>
        </p:txBody>
      </p:sp>
      <p:sp>
        <p:nvSpPr>
          <p:cNvPr id="80" name="Прямоугольник 79"/>
          <p:cNvSpPr/>
          <p:nvPr/>
        </p:nvSpPr>
        <p:spPr bwMode="auto">
          <a:xfrm>
            <a:off x="3184525" y="4524375"/>
            <a:ext cx="401638" cy="365125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None/>
              <a:defRPr/>
            </a:pPr>
            <a:r>
              <a:rPr lang="en-US" sz="20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n-cs"/>
              </a:rPr>
              <a:t>8</a:t>
            </a:r>
            <a:endParaRPr lang="ru-RU" sz="2000" dirty="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n-cs"/>
            </a:endParaRPr>
          </a:p>
        </p:txBody>
      </p:sp>
      <p:sp>
        <p:nvSpPr>
          <p:cNvPr id="81" name="Прямоугольник 80"/>
          <p:cNvSpPr/>
          <p:nvPr/>
        </p:nvSpPr>
        <p:spPr bwMode="auto">
          <a:xfrm>
            <a:off x="482600" y="5692775"/>
            <a:ext cx="401638" cy="365125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None/>
              <a:defRPr/>
            </a:pPr>
            <a:r>
              <a:rPr lang="en-US" sz="20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n-cs"/>
              </a:rPr>
              <a:t>3</a:t>
            </a:r>
            <a:endParaRPr lang="ru-RU" sz="2000" dirty="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n-cs"/>
            </a:endParaRPr>
          </a:p>
        </p:txBody>
      </p:sp>
      <p:sp>
        <p:nvSpPr>
          <p:cNvPr id="82" name="Прямоугольник 81"/>
          <p:cNvSpPr/>
          <p:nvPr/>
        </p:nvSpPr>
        <p:spPr bwMode="auto">
          <a:xfrm>
            <a:off x="811213" y="5108575"/>
            <a:ext cx="401637" cy="365125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None/>
              <a:defRPr/>
            </a:pPr>
            <a:r>
              <a:rPr lang="en-US" sz="20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n-cs"/>
              </a:rPr>
              <a:t>8</a:t>
            </a:r>
            <a:endParaRPr lang="ru-RU" sz="2000" dirty="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n-cs"/>
            </a:endParaRPr>
          </a:p>
        </p:txBody>
      </p:sp>
      <p:cxnSp>
        <p:nvCxnSpPr>
          <p:cNvPr id="83" name="Прямая со стрелкой 82"/>
          <p:cNvCxnSpPr>
            <a:cxnSpLocks noChangeShapeType="1"/>
          </p:cNvCxnSpPr>
          <p:nvPr/>
        </p:nvCxnSpPr>
        <p:spPr bwMode="auto">
          <a:xfrm rot="5400000">
            <a:off x="1906588" y="3940175"/>
            <a:ext cx="255587" cy="912813"/>
          </a:xfrm>
          <a:prstGeom prst="straightConnector1">
            <a:avLst/>
          </a:prstGeom>
          <a:noFill/>
          <a:ln w="9525" algn="ctr">
            <a:solidFill>
              <a:srgbClr val="000000"/>
            </a:solidFill>
            <a:round/>
            <a:headEnd/>
            <a:tailEnd type="arrow" w="med" len="med"/>
          </a:ln>
        </p:spPr>
      </p:cxnSp>
      <p:cxnSp>
        <p:nvCxnSpPr>
          <p:cNvPr id="84" name="Прямая со стрелкой 83"/>
          <p:cNvCxnSpPr>
            <a:cxnSpLocks noChangeShapeType="1"/>
            <a:endCxn id="80" idx="0"/>
          </p:cNvCxnSpPr>
          <p:nvPr/>
        </p:nvCxnSpPr>
        <p:spPr bwMode="auto">
          <a:xfrm rot="16200000" flipH="1">
            <a:off x="2809875" y="3949701"/>
            <a:ext cx="255587" cy="893762"/>
          </a:xfrm>
          <a:prstGeom prst="straightConnector1">
            <a:avLst/>
          </a:prstGeom>
          <a:noFill/>
          <a:ln w="9525" algn="ctr">
            <a:solidFill>
              <a:srgbClr val="000000"/>
            </a:solidFill>
            <a:round/>
            <a:headEnd/>
            <a:tailEnd type="arrow" w="med" len="med"/>
          </a:ln>
        </p:spPr>
      </p:cxnSp>
      <p:cxnSp>
        <p:nvCxnSpPr>
          <p:cNvPr id="85" name="Прямая со стрелкой 84"/>
          <p:cNvCxnSpPr>
            <a:cxnSpLocks noChangeShapeType="1"/>
            <a:endCxn id="82" idx="0"/>
          </p:cNvCxnSpPr>
          <p:nvPr/>
        </p:nvCxnSpPr>
        <p:spPr bwMode="auto">
          <a:xfrm rot="5400000">
            <a:off x="1175544" y="4725194"/>
            <a:ext cx="219075" cy="547687"/>
          </a:xfrm>
          <a:prstGeom prst="straightConnector1">
            <a:avLst/>
          </a:prstGeom>
          <a:noFill/>
          <a:ln w="9525" algn="ctr">
            <a:solidFill>
              <a:srgbClr val="000000"/>
            </a:solidFill>
            <a:round/>
            <a:headEnd/>
            <a:tailEnd type="arrow" w="med" len="med"/>
          </a:ln>
        </p:spPr>
      </p:cxnSp>
      <p:cxnSp>
        <p:nvCxnSpPr>
          <p:cNvPr id="86" name="Прямая со стрелкой 85"/>
          <p:cNvCxnSpPr>
            <a:cxnSpLocks noChangeShapeType="1"/>
            <a:endCxn id="93" idx="0"/>
          </p:cNvCxnSpPr>
          <p:nvPr/>
        </p:nvCxnSpPr>
        <p:spPr bwMode="auto">
          <a:xfrm>
            <a:off x="1558925" y="4889500"/>
            <a:ext cx="401638" cy="219075"/>
          </a:xfrm>
          <a:prstGeom prst="straightConnector1">
            <a:avLst/>
          </a:prstGeom>
          <a:noFill/>
          <a:ln w="9525" algn="ctr">
            <a:solidFill>
              <a:srgbClr val="000000"/>
            </a:solidFill>
            <a:round/>
            <a:headEnd/>
            <a:tailEnd type="arrow" w="med" len="med"/>
          </a:ln>
        </p:spPr>
      </p:cxnSp>
      <p:cxnSp>
        <p:nvCxnSpPr>
          <p:cNvPr id="87" name="Прямая со стрелкой 86"/>
          <p:cNvCxnSpPr>
            <a:cxnSpLocks noChangeShapeType="1"/>
            <a:stCxn id="80" idx="2"/>
            <a:endCxn id="79" idx="0"/>
          </p:cNvCxnSpPr>
          <p:nvPr/>
        </p:nvCxnSpPr>
        <p:spPr bwMode="auto">
          <a:xfrm rot="5400000">
            <a:off x="3055937" y="4779963"/>
            <a:ext cx="219075" cy="438150"/>
          </a:xfrm>
          <a:prstGeom prst="straightConnector1">
            <a:avLst/>
          </a:prstGeom>
          <a:noFill/>
          <a:ln w="9525" algn="ctr">
            <a:solidFill>
              <a:srgbClr val="000000"/>
            </a:solidFill>
            <a:round/>
            <a:headEnd/>
            <a:tailEnd type="arrow" w="med" len="med"/>
          </a:ln>
        </p:spPr>
      </p:cxnSp>
      <p:cxnSp>
        <p:nvCxnSpPr>
          <p:cNvPr id="88" name="Прямая со стрелкой 87"/>
          <p:cNvCxnSpPr>
            <a:cxnSpLocks noChangeShapeType="1"/>
            <a:stCxn id="80" idx="2"/>
            <a:endCxn id="76" idx="0"/>
          </p:cNvCxnSpPr>
          <p:nvPr/>
        </p:nvCxnSpPr>
        <p:spPr bwMode="auto">
          <a:xfrm rot="16200000" flipH="1">
            <a:off x="3494087" y="4779963"/>
            <a:ext cx="219075" cy="438150"/>
          </a:xfrm>
          <a:prstGeom prst="straightConnector1">
            <a:avLst/>
          </a:prstGeom>
          <a:noFill/>
          <a:ln w="9525" algn="ctr">
            <a:solidFill>
              <a:srgbClr val="000000"/>
            </a:solidFill>
            <a:round/>
            <a:headEnd/>
            <a:tailEnd type="arrow" w="med" len="med"/>
          </a:ln>
        </p:spPr>
      </p:cxnSp>
      <p:cxnSp>
        <p:nvCxnSpPr>
          <p:cNvPr id="89" name="Прямая со стрелкой 88"/>
          <p:cNvCxnSpPr>
            <a:cxnSpLocks noChangeShapeType="1"/>
            <a:stCxn id="82" idx="2"/>
            <a:endCxn id="81" idx="0"/>
          </p:cNvCxnSpPr>
          <p:nvPr/>
        </p:nvCxnSpPr>
        <p:spPr bwMode="auto">
          <a:xfrm rot="5400000">
            <a:off x="737394" y="5418931"/>
            <a:ext cx="219075" cy="328613"/>
          </a:xfrm>
          <a:prstGeom prst="straightConnector1">
            <a:avLst/>
          </a:prstGeom>
          <a:noFill/>
          <a:ln w="9525" algn="ctr">
            <a:solidFill>
              <a:srgbClr val="000000"/>
            </a:solidFill>
            <a:round/>
            <a:headEnd/>
            <a:tailEnd type="arrow" w="med" len="med"/>
          </a:ln>
        </p:spPr>
      </p:cxnSp>
      <p:cxnSp>
        <p:nvCxnSpPr>
          <p:cNvPr id="90" name="Прямая со стрелкой 89"/>
          <p:cNvCxnSpPr>
            <a:cxnSpLocks noChangeShapeType="1"/>
            <a:stCxn id="82" idx="2"/>
            <a:endCxn id="77" idx="0"/>
          </p:cNvCxnSpPr>
          <p:nvPr/>
        </p:nvCxnSpPr>
        <p:spPr bwMode="auto">
          <a:xfrm rot="16200000" flipH="1">
            <a:off x="1011238" y="5473700"/>
            <a:ext cx="219075" cy="219075"/>
          </a:xfrm>
          <a:prstGeom prst="straightConnector1">
            <a:avLst/>
          </a:prstGeom>
          <a:noFill/>
          <a:ln w="9525" algn="ctr">
            <a:solidFill>
              <a:srgbClr val="000000"/>
            </a:solidFill>
            <a:round/>
            <a:headEnd/>
            <a:tailEnd type="arrow" w="med" len="med"/>
          </a:ln>
        </p:spPr>
      </p:cxnSp>
      <p:cxnSp>
        <p:nvCxnSpPr>
          <p:cNvPr id="91" name="Прямая со стрелкой 90"/>
          <p:cNvCxnSpPr>
            <a:cxnSpLocks noChangeShapeType="1"/>
            <a:endCxn id="78" idx="0"/>
          </p:cNvCxnSpPr>
          <p:nvPr/>
        </p:nvCxnSpPr>
        <p:spPr bwMode="auto">
          <a:xfrm rot="5400000">
            <a:off x="1814512" y="5510213"/>
            <a:ext cx="219075" cy="146050"/>
          </a:xfrm>
          <a:prstGeom prst="straightConnector1">
            <a:avLst/>
          </a:prstGeom>
          <a:noFill/>
          <a:ln w="9525" algn="ctr">
            <a:solidFill>
              <a:srgbClr val="000000"/>
            </a:solidFill>
            <a:round/>
            <a:headEnd/>
            <a:tailEnd type="arrow" w="med" len="med"/>
          </a:ln>
        </p:spPr>
      </p:cxnSp>
      <p:sp>
        <p:nvSpPr>
          <p:cNvPr id="93" name="Прямоугольник 92"/>
          <p:cNvSpPr/>
          <p:nvPr/>
        </p:nvSpPr>
        <p:spPr bwMode="auto">
          <a:xfrm>
            <a:off x="1760538" y="5108575"/>
            <a:ext cx="401637" cy="365125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None/>
              <a:defRPr/>
            </a:pPr>
            <a:r>
              <a:rPr lang="en-US" sz="20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n-cs"/>
              </a:rPr>
              <a:t>9</a:t>
            </a:r>
            <a:endParaRPr lang="ru-RU" sz="2000" dirty="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n-cs"/>
            </a:endParaRPr>
          </a:p>
        </p:txBody>
      </p:sp>
      <p:sp>
        <p:nvSpPr>
          <p:cNvPr id="94" name="Прямоугольник 93"/>
          <p:cNvSpPr/>
          <p:nvPr/>
        </p:nvSpPr>
        <p:spPr bwMode="auto">
          <a:xfrm>
            <a:off x="1339850" y="4524375"/>
            <a:ext cx="401638" cy="365125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None/>
              <a:defRPr/>
            </a:pPr>
            <a:r>
              <a:rPr lang="en-US" sz="20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n-cs"/>
              </a:rPr>
              <a:t>9</a:t>
            </a:r>
            <a:endParaRPr lang="ru-RU" sz="2000" dirty="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n-cs"/>
            </a:endParaRPr>
          </a:p>
        </p:txBody>
      </p:sp>
      <p:sp>
        <p:nvSpPr>
          <p:cNvPr id="96" name="Прямоугольник 95"/>
          <p:cNvSpPr/>
          <p:nvPr/>
        </p:nvSpPr>
        <p:spPr bwMode="auto">
          <a:xfrm>
            <a:off x="2271713" y="3903663"/>
            <a:ext cx="401637" cy="365125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None/>
              <a:defRPr/>
            </a:pPr>
            <a:r>
              <a:rPr lang="en-US" sz="20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n-cs"/>
              </a:rPr>
              <a:t>7</a:t>
            </a:r>
            <a:endParaRPr lang="ru-RU" sz="2000" dirty="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n-cs"/>
            </a:endParaRPr>
          </a:p>
        </p:txBody>
      </p:sp>
      <p:sp>
        <p:nvSpPr>
          <p:cNvPr id="97" name="Прямоугольник 96"/>
          <p:cNvSpPr>
            <a:spLocks noChangeArrowheads="1"/>
          </p:cNvSpPr>
          <p:nvPr/>
        </p:nvSpPr>
        <p:spPr bwMode="auto">
          <a:xfrm>
            <a:off x="7712075" y="5181600"/>
            <a:ext cx="401638" cy="365125"/>
          </a:xfrm>
          <a:prstGeom prst="rect">
            <a:avLst/>
          </a:prstGeom>
          <a:solidFill>
            <a:schemeClr val="tx1"/>
          </a:solidFill>
          <a:ln w="9525" algn="ctr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pPr algn="ctr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None/>
            </a:pPr>
            <a:r>
              <a:rPr lang="en-US" sz="2000">
                <a:solidFill>
                  <a:srgbClr val="000000"/>
                </a:solidFill>
              </a:rPr>
              <a:t>2</a:t>
            </a:r>
            <a:endParaRPr lang="ru-RU" sz="2000">
              <a:solidFill>
                <a:srgbClr val="000000"/>
              </a:solidFill>
            </a:endParaRPr>
          </a:p>
        </p:txBody>
      </p:sp>
      <p:sp>
        <p:nvSpPr>
          <p:cNvPr id="98" name="Прямоугольник 97"/>
          <p:cNvSpPr/>
          <p:nvPr/>
        </p:nvSpPr>
        <p:spPr bwMode="auto">
          <a:xfrm>
            <a:off x="5119688" y="5765800"/>
            <a:ext cx="401637" cy="365125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None/>
              <a:defRPr/>
            </a:pPr>
            <a:r>
              <a:rPr lang="en-US" sz="20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n-cs"/>
              </a:rPr>
              <a:t>4</a:t>
            </a:r>
            <a:endParaRPr lang="ru-RU" sz="2000" dirty="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n-cs"/>
            </a:endParaRPr>
          </a:p>
        </p:txBody>
      </p:sp>
      <p:sp>
        <p:nvSpPr>
          <p:cNvPr id="99" name="Прямоугольник 98"/>
          <p:cNvSpPr/>
          <p:nvPr/>
        </p:nvSpPr>
        <p:spPr bwMode="auto">
          <a:xfrm>
            <a:off x="5740400" y="5765800"/>
            <a:ext cx="401638" cy="365125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None/>
              <a:defRPr/>
            </a:pPr>
            <a:r>
              <a:rPr lang="en-US" sz="20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n-cs"/>
              </a:rPr>
              <a:t>5</a:t>
            </a:r>
            <a:endParaRPr lang="ru-RU" sz="2000" dirty="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n-cs"/>
            </a:endParaRPr>
          </a:p>
        </p:txBody>
      </p:sp>
      <p:sp>
        <p:nvSpPr>
          <p:cNvPr id="100" name="Прямоугольник 99"/>
          <p:cNvSpPr/>
          <p:nvPr/>
        </p:nvSpPr>
        <p:spPr bwMode="auto">
          <a:xfrm>
            <a:off x="6835775" y="5181600"/>
            <a:ext cx="401638" cy="365125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None/>
              <a:defRPr/>
            </a:pPr>
            <a:r>
              <a:rPr lang="en-US" sz="20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n-cs"/>
              </a:rPr>
              <a:t>1</a:t>
            </a:r>
            <a:endParaRPr lang="ru-RU" sz="2000" dirty="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n-cs"/>
            </a:endParaRPr>
          </a:p>
        </p:txBody>
      </p:sp>
      <p:sp>
        <p:nvSpPr>
          <p:cNvPr id="101" name="Прямоугольник 100"/>
          <p:cNvSpPr/>
          <p:nvPr/>
        </p:nvSpPr>
        <p:spPr bwMode="auto">
          <a:xfrm>
            <a:off x="7273925" y="4597400"/>
            <a:ext cx="401638" cy="365125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None/>
              <a:defRPr/>
            </a:pPr>
            <a:r>
              <a:rPr lang="en-US" sz="20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n-cs"/>
              </a:rPr>
              <a:t>8</a:t>
            </a:r>
            <a:endParaRPr lang="ru-RU" sz="2000" dirty="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n-cs"/>
            </a:endParaRPr>
          </a:p>
        </p:txBody>
      </p:sp>
      <p:sp>
        <p:nvSpPr>
          <p:cNvPr id="102" name="Прямоугольник 101"/>
          <p:cNvSpPr/>
          <p:nvPr/>
        </p:nvSpPr>
        <p:spPr bwMode="auto">
          <a:xfrm>
            <a:off x="4572000" y="5765800"/>
            <a:ext cx="401638" cy="365125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None/>
              <a:defRPr/>
            </a:pPr>
            <a:r>
              <a:rPr lang="en-US" sz="20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n-cs"/>
              </a:rPr>
              <a:t>3</a:t>
            </a:r>
            <a:endParaRPr lang="ru-RU" sz="2000" dirty="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n-cs"/>
            </a:endParaRPr>
          </a:p>
        </p:txBody>
      </p:sp>
      <p:sp>
        <p:nvSpPr>
          <p:cNvPr id="103" name="Прямоугольник 102"/>
          <p:cNvSpPr/>
          <p:nvPr/>
        </p:nvSpPr>
        <p:spPr bwMode="auto">
          <a:xfrm>
            <a:off x="4900613" y="5181600"/>
            <a:ext cx="401637" cy="365125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None/>
              <a:defRPr/>
            </a:pPr>
            <a:r>
              <a:rPr lang="en-US" sz="20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n-cs"/>
              </a:rPr>
              <a:t>8</a:t>
            </a:r>
            <a:endParaRPr lang="ru-RU" sz="2000" dirty="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n-cs"/>
            </a:endParaRPr>
          </a:p>
        </p:txBody>
      </p:sp>
      <p:cxnSp>
        <p:nvCxnSpPr>
          <p:cNvPr id="104" name="Прямая со стрелкой 103"/>
          <p:cNvCxnSpPr>
            <a:cxnSpLocks noChangeShapeType="1"/>
          </p:cNvCxnSpPr>
          <p:nvPr/>
        </p:nvCxnSpPr>
        <p:spPr bwMode="auto">
          <a:xfrm rot="5400000">
            <a:off x="5995988" y="4013200"/>
            <a:ext cx="255587" cy="912813"/>
          </a:xfrm>
          <a:prstGeom prst="straightConnector1">
            <a:avLst/>
          </a:prstGeom>
          <a:noFill/>
          <a:ln w="9525" algn="ctr">
            <a:solidFill>
              <a:srgbClr val="000000"/>
            </a:solidFill>
            <a:round/>
            <a:headEnd/>
            <a:tailEnd type="arrow" w="med" len="med"/>
          </a:ln>
        </p:spPr>
      </p:cxnSp>
      <p:cxnSp>
        <p:nvCxnSpPr>
          <p:cNvPr id="105" name="Прямая со стрелкой 104"/>
          <p:cNvCxnSpPr>
            <a:cxnSpLocks noChangeShapeType="1"/>
            <a:endCxn id="101" idx="0"/>
          </p:cNvCxnSpPr>
          <p:nvPr/>
        </p:nvCxnSpPr>
        <p:spPr bwMode="auto">
          <a:xfrm rot="16200000" flipH="1">
            <a:off x="6900069" y="4021932"/>
            <a:ext cx="255587" cy="895350"/>
          </a:xfrm>
          <a:prstGeom prst="straightConnector1">
            <a:avLst/>
          </a:prstGeom>
          <a:noFill/>
          <a:ln w="9525" algn="ctr">
            <a:solidFill>
              <a:srgbClr val="000000"/>
            </a:solidFill>
            <a:round/>
            <a:headEnd/>
            <a:tailEnd type="arrow" w="med" len="med"/>
          </a:ln>
        </p:spPr>
      </p:cxnSp>
      <p:cxnSp>
        <p:nvCxnSpPr>
          <p:cNvPr id="106" name="Прямая со стрелкой 105"/>
          <p:cNvCxnSpPr>
            <a:cxnSpLocks noChangeShapeType="1"/>
            <a:endCxn id="103" idx="0"/>
          </p:cNvCxnSpPr>
          <p:nvPr/>
        </p:nvCxnSpPr>
        <p:spPr bwMode="auto">
          <a:xfrm rot="5400000">
            <a:off x="5266531" y="4798219"/>
            <a:ext cx="219075" cy="547688"/>
          </a:xfrm>
          <a:prstGeom prst="straightConnector1">
            <a:avLst/>
          </a:prstGeom>
          <a:noFill/>
          <a:ln w="9525" algn="ctr">
            <a:solidFill>
              <a:srgbClr val="000000"/>
            </a:solidFill>
            <a:round/>
            <a:headEnd/>
            <a:tailEnd type="arrow" w="med" len="med"/>
          </a:ln>
        </p:spPr>
      </p:cxnSp>
      <p:cxnSp>
        <p:nvCxnSpPr>
          <p:cNvPr id="107" name="Прямая со стрелкой 106"/>
          <p:cNvCxnSpPr>
            <a:cxnSpLocks noChangeShapeType="1"/>
            <a:endCxn id="113" idx="0"/>
          </p:cNvCxnSpPr>
          <p:nvPr/>
        </p:nvCxnSpPr>
        <p:spPr bwMode="auto">
          <a:xfrm>
            <a:off x="5649913" y="4962525"/>
            <a:ext cx="401637" cy="219075"/>
          </a:xfrm>
          <a:prstGeom prst="straightConnector1">
            <a:avLst/>
          </a:prstGeom>
          <a:noFill/>
          <a:ln w="9525" algn="ctr">
            <a:solidFill>
              <a:srgbClr val="000000"/>
            </a:solidFill>
            <a:round/>
            <a:headEnd/>
            <a:tailEnd type="arrow" w="med" len="med"/>
          </a:ln>
        </p:spPr>
      </p:cxnSp>
      <p:cxnSp>
        <p:nvCxnSpPr>
          <p:cNvPr id="108" name="Прямая со стрелкой 107"/>
          <p:cNvCxnSpPr>
            <a:cxnSpLocks noChangeShapeType="1"/>
            <a:stCxn id="101" idx="2"/>
            <a:endCxn id="100" idx="0"/>
          </p:cNvCxnSpPr>
          <p:nvPr/>
        </p:nvCxnSpPr>
        <p:spPr bwMode="auto">
          <a:xfrm rot="5400000">
            <a:off x="7146925" y="4852988"/>
            <a:ext cx="219075" cy="438150"/>
          </a:xfrm>
          <a:prstGeom prst="straightConnector1">
            <a:avLst/>
          </a:prstGeom>
          <a:noFill/>
          <a:ln w="9525" algn="ctr">
            <a:solidFill>
              <a:srgbClr val="000000"/>
            </a:solidFill>
            <a:round/>
            <a:headEnd/>
            <a:tailEnd type="arrow" w="med" len="med"/>
          </a:ln>
        </p:spPr>
      </p:cxnSp>
      <p:cxnSp>
        <p:nvCxnSpPr>
          <p:cNvPr id="109" name="Прямая со стрелкой 108"/>
          <p:cNvCxnSpPr>
            <a:cxnSpLocks noChangeShapeType="1"/>
            <a:stCxn id="101" idx="2"/>
            <a:endCxn id="97" idx="0"/>
          </p:cNvCxnSpPr>
          <p:nvPr/>
        </p:nvCxnSpPr>
        <p:spPr bwMode="auto">
          <a:xfrm rot="16200000" flipH="1">
            <a:off x="7585075" y="4852988"/>
            <a:ext cx="219075" cy="438150"/>
          </a:xfrm>
          <a:prstGeom prst="straightConnector1">
            <a:avLst/>
          </a:prstGeom>
          <a:noFill/>
          <a:ln w="9525" algn="ctr">
            <a:solidFill>
              <a:srgbClr val="000000"/>
            </a:solidFill>
            <a:round/>
            <a:headEnd/>
            <a:tailEnd type="arrow" w="med" len="med"/>
          </a:ln>
        </p:spPr>
      </p:cxnSp>
      <p:cxnSp>
        <p:nvCxnSpPr>
          <p:cNvPr id="110" name="Прямая со стрелкой 109"/>
          <p:cNvCxnSpPr>
            <a:cxnSpLocks noChangeShapeType="1"/>
            <a:stCxn id="103" idx="2"/>
            <a:endCxn id="102" idx="0"/>
          </p:cNvCxnSpPr>
          <p:nvPr/>
        </p:nvCxnSpPr>
        <p:spPr bwMode="auto">
          <a:xfrm rot="5400000">
            <a:off x="4828381" y="5491957"/>
            <a:ext cx="219075" cy="328612"/>
          </a:xfrm>
          <a:prstGeom prst="straightConnector1">
            <a:avLst/>
          </a:prstGeom>
          <a:noFill/>
          <a:ln w="9525" algn="ctr">
            <a:solidFill>
              <a:srgbClr val="000000"/>
            </a:solidFill>
            <a:round/>
            <a:headEnd/>
            <a:tailEnd type="arrow" w="med" len="med"/>
          </a:ln>
        </p:spPr>
      </p:cxnSp>
      <p:cxnSp>
        <p:nvCxnSpPr>
          <p:cNvPr id="111" name="Прямая со стрелкой 110"/>
          <p:cNvCxnSpPr>
            <a:cxnSpLocks noChangeShapeType="1"/>
            <a:stCxn id="103" idx="2"/>
            <a:endCxn id="98" idx="0"/>
          </p:cNvCxnSpPr>
          <p:nvPr/>
        </p:nvCxnSpPr>
        <p:spPr bwMode="auto">
          <a:xfrm rot="16200000" flipH="1">
            <a:off x="5102225" y="5546725"/>
            <a:ext cx="219075" cy="219075"/>
          </a:xfrm>
          <a:prstGeom prst="straightConnector1">
            <a:avLst/>
          </a:prstGeom>
          <a:noFill/>
          <a:ln w="9525" algn="ctr">
            <a:solidFill>
              <a:srgbClr val="000000"/>
            </a:solidFill>
            <a:round/>
            <a:headEnd/>
            <a:tailEnd type="arrow" w="med" len="med"/>
          </a:ln>
        </p:spPr>
      </p:cxnSp>
      <p:cxnSp>
        <p:nvCxnSpPr>
          <p:cNvPr id="112" name="Прямая со стрелкой 111"/>
          <p:cNvCxnSpPr>
            <a:cxnSpLocks noChangeShapeType="1"/>
            <a:endCxn id="99" idx="0"/>
          </p:cNvCxnSpPr>
          <p:nvPr/>
        </p:nvCxnSpPr>
        <p:spPr bwMode="auto">
          <a:xfrm rot="5400000">
            <a:off x="5905500" y="5583238"/>
            <a:ext cx="219075" cy="146050"/>
          </a:xfrm>
          <a:prstGeom prst="straightConnector1">
            <a:avLst/>
          </a:prstGeom>
          <a:noFill/>
          <a:ln w="9525" algn="ctr">
            <a:solidFill>
              <a:srgbClr val="000000"/>
            </a:solidFill>
            <a:round/>
            <a:headEnd/>
            <a:tailEnd type="arrow" w="med" len="med"/>
          </a:ln>
        </p:spPr>
      </p:cxnSp>
      <p:sp>
        <p:nvSpPr>
          <p:cNvPr id="113" name="Прямоугольник 112"/>
          <p:cNvSpPr/>
          <p:nvPr/>
        </p:nvSpPr>
        <p:spPr bwMode="auto">
          <a:xfrm>
            <a:off x="5849938" y="5181600"/>
            <a:ext cx="401637" cy="365125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None/>
              <a:defRPr/>
            </a:pPr>
            <a:r>
              <a:rPr lang="ru-RU" sz="20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n-cs"/>
              </a:rPr>
              <a:t>7</a:t>
            </a:r>
          </a:p>
        </p:txBody>
      </p:sp>
      <p:sp>
        <p:nvSpPr>
          <p:cNvPr id="114" name="Прямоугольник 113"/>
          <p:cNvSpPr/>
          <p:nvPr/>
        </p:nvSpPr>
        <p:spPr bwMode="auto">
          <a:xfrm>
            <a:off x="5430838" y="4597400"/>
            <a:ext cx="401637" cy="365125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None/>
              <a:defRPr/>
            </a:pPr>
            <a:r>
              <a:rPr lang="en-US" sz="20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n-cs"/>
              </a:rPr>
              <a:t>9</a:t>
            </a:r>
            <a:endParaRPr lang="ru-RU" sz="2000" dirty="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n-cs"/>
            </a:endParaRPr>
          </a:p>
        </p:txBody>
      </p:sp>
      <p:sp>
        <p:nvSpPr>
          <p:cNvPr id="115" name="Прямоугольник 114"/>
          <p:cNvSpPr/>
          <p:nvPr/>
        </p:nvSpPr>
        <p:spPr bwMode="auto">
          <a:xfrm>
            <a:off x="6361113" y="3976688"/>
            <a:ext cx="401637" cy="365125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None/>
              <a:defRPr/>
            </a:pPr>
            <a:r>
              <a:rPr lang="ru-RU" sz="20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n-cs"/>
              </a:rPr>
              <a:t>9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1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0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04 0.26232 " pathEditMode="relative" ptsTypes="AA">
                                      <p:cBhvr>
                                        <p:cTn id="85" dur="2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86" presetID="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382 0.00162 L -0.00399 -0.25584 " pathEditMode="relative" rAng="0" ptsTypes="AA">
                                      <p:cBhvr>
                                        <p:cTn id="87" dur="2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2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3000"/>
                            </p:stCondLst>
                            <p:childTnLst>
                              <p:par>
                                <p:cTn id="8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1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4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0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3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6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5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8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1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4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0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3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6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9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2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5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6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8" dur="1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9" dur="1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0" dur="10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3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4" fill="hold">
                      <p:stCondLst>
                        <p:cond delay="indefinite"/>
                      </p:stCondLst>
                      <p:childTnLst>
                        <p:par>
                          <p:cTn id="155" fill="hold">
                            <p:stCondLst>
                              <p:cond delay="0"/>
                            </p:stCondLst>
                            <p:childTnLst>
                              <p:par>
                                <p:cTn id="156" presetID="55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57" dur="1000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ppt_w*0.7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8" dur="1000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59" dur="10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1" presetID="55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62" dur="1000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ppt_w*0.7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3" dur="1000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64" dur="10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6" fill="hold">
                            <p:stCondLst>
                              <p:cond delay="1000"/>
                            </p:stCondLst>
                            <p:childTnLst>
                              <p:par>
                                <p:cTn id="16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9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0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2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3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5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6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8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9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1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2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4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7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0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1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3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4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6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7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9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0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2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3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5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6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8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9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1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2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4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7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0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3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4" fill="hold">
                      <p:stCondLst>
                        <p:cond delay="indefinite"/>
                      </p:stCondLst>
                      <p:childTnLst>
                        <p:par>
                          <p:cTn id="225" fill="hold">
                            <p:stCondLst>
                              <p:cond delay="0"/>
                            </p:stCondLst>
                            <p:childTnLst>
                              <p:par>
                                <p:cTn id="22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8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9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1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2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4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7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0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3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4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6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7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9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0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2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3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5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6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8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9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1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2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4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7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0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1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3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4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6"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7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9"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0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2"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23" grpId="0" animBg="1"/>
      <p:bldP spid="23" grpId="1" animBg="1"/>
      <p:bldP spid="25" grpId="0" animBg="1"/>
      <p:bldP spid="28" grpId="0" animBg="1"/>
      <p:bldP spid="29" grpId="0" animBg="1"/>
      <p:bldP spid="29" grpId="1" animBg="1"/>
      <p:bldP spid="32" grpId="0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51" grpId="0" animBg="1"/>
      <p:bldP spid="52" grpId="0" animBg="1"/>
      <p:bldP spid="53" grpId="0" animBg="1"/>
      <p:bldP spid="53" grpId="1" animBg="1"/>
      <p:bldP spid="75" grpId="0" animBg="1"/>
      <p:bldP spid="76" grpId="0" animBg="1"/>
      <p:bldP spid="77" grpId="0" animBg="1"/>
      <p:bldP spid="78" grpId="0" animBg="1"/>
      <p:bldP spid="79" grpId="0" animBg="1"/>
      <p:bldP spid="80" grpId="0" animBg="1"/>
      <p:bldP spid="81" grpId="0" animBg="1"/>
      <p:bldP spid="82" grpId="0" animBg="1"/>
      <p:bldP spid="93" grpId="0" animBg="1"/>
      <p:bldP spid="94" grpId="0" animBg="1"/>
      <p:bldP spid="96" grpId="0" animBg="1"/>
      <p:bldP spid="97" grpId="0" animBg="1"/>
      <p:bldP spid="98" grpId="0" animBg="1"/>
      <p:bldP spid="99" grpId="0" animBg="1"/>
      <p:bldP spid="100" grpId="0" animBg="1"/>
      <p:bldP spid="101" grpId="0" animBg="1"/>
      <p:bldP spid="102" grpId="0" animBg="1"/>
      <p:bldP spid="103" grpId="0" animBg="1"/>
      <p:bldP spid="113" grpId="0" animBg="1"/>
      <p:bldP spid="114" grpId="0" animBg="1"/>
      <p:bldP spid="115" grpId="0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/>
          <p:cNvSpPr txBox="1">
            <a:spLocks/>
          </p:cNvSpPr>
          <p:nvPr/>
        </p:nvSpPr>
        <p:spPr bwMode="auto">
          <a:xfrm>
            <a:off x="519113" y="288925"/>
            <a:ext cx="8229600" cy="985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 eaLnBrk="0" hangingPunct="0">
              <a:defRPr/>
            </a:pPr>
            <a:r>
              <a:rPr lang="ru-RU" sz="3600" kern="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Представление очереди пирамидой</a:t>
            </a:r>
          </a:p>
        </p:txBody>
      </p:sp>
      <p:sp>
        <p:nvSpPr>
          <p:cNvPr id="5" name="Заголовок 1"/>
          <p:cNvSpPr txBox="1">
            <a:spLocks/>
          </p:cNvSpPr>
          <p:nvPr/>
        </p:nvSpPr>
        <p:spPr bwMode="auto">
          <a:xfrm>
            <a:off x="336550" y="6094413"/>
            <a:ext cx="8229600" cy="5476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 eaLnBrk="0" hangingPunct="0">
              <a:defRPr/>
            </a:pPr>
            <a:r>
              <a:rPr lang="ru-RU" kern="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Удаление максимального элемента</a:t>
            </a:r>
          </a:p>
        </p:txBody>
      </p:sp>
      <p:sp>
        <p:nvSpPr>
          <p:cNvPr id="6" name="Прямоугольник 5"/>
          <p:cNvSpPr/>
          <p:nvPr/>
        </p:nvSpPr>
        <p:spPr bwMode="auto">
          <a:xfrm>
            <a:off x="1030288" y="1749425"/>
            <a:ext cx="6754812" cy="3943350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spcBef>
                <a:spcPct val="20000"/>
              </a:spcBef>
              <a:buSzPct val="100000"/>
              <a:buFont typeface="Arial" pitchFamily="34" charset="0"/>
              <a:buChar char="•"/>
              <a:defRPr/>
            </a:pPr>
            <a:r>
              <a:rPr lang="ru-RU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n-cs"/>
              </a:rPr>
              <a:t> Обмен первого и последнего элемента</a:t>
            </a:r>
          </a:p>
          <a:p>
            <a:pPr>
              <a:spcBef>
                <a:spcPct val="20000"/>
              </a:spcBef>
              <a:buSzPct val="100000"/>
              <a:buFont typeface="Arial" pitchFamily="34" charset="0"/>
              <a:buChar char="•"/>
              <a:defRPr/>
            </a:pPr>
            <a:r>
              <a:rPr lang="ru-RU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n-cs"/>
              </a:rPr>
              <a:t> Удаление последнего элемента массива.</a:t>
            </a:r>
          </a:p>
          <a:p>
            <a:pPr>
              <a:spcBef>
                <a:spcPct val="20000"/>
              </a:spcBef>
              <a:buSzPct val="100000"/>
              <a:buFont typeface="Arial" pitchFamily="34" charset="0"/>
              <a:buChar char="•"/>
              <a:defRPr/>
            </a:pPr>
            <a:r>
              <a:rPr lang="ru-RU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n-cs"/>
              </a:rPr>
              <a:t> Перестройка пирамиды на первом элементе.  </a:t>
            </a:r>
            <a:endParaRPr lang="ru-RU" dirty="0">
              <a:solidFill>
                <a:srgbClr val="000000"/>
              </a:solidFill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/>
          <p:cNvSpPr txBox="1">
            <a:spLocks/>
          </p:cNvSpPr>
          <p:nvPr/>
        </p:nvSpPr>
        <p:spPr bwMode="auto">
          <a:xfrm>
            <a:off x="519113" y="288925"/>
            <a:ext cx="8229600" cy="985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 eaLnBrk="0" hangingPunct="0">
              <a:defRPr/>
            </a:pPr>
            <a:r>
              <a:rPr lang="ru-RU" sz="3600" kern="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Представление очереди пирамидой</a:t>
            </a:r>
          </a:p>
        </p:txBody>
      </p:sp>
      <p:sp>
        <p:nvSpPr>
          <p:cNvPr id="5" name="Заголовок 1"/>
          <p:cNvSpPr txBox="1">
            <a:spLocks/>
          </p:cNvSpPr>
          <p:nvPr/>
        </p:nvSpPr>
        <p:spPr bwMode="auto">
          <a:xfrm>
            <a:off x="336550" y="6167438"/>
            <a:ext cx="8229600" cy="5476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 eaLnBrk="0" hangingPunct="0">
              <a:defRPr/>
            </a:pPr>
            <a:r>
              <a:rPr lang="ru-RU" kern="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Изменение приоритета элемента</a:t>
            </a:r>
          </a:p>
        </p:txBody>
      </p:sp>
      <p:sp>
        <p:nvSpPr>
          <p:cNvPr id="6" name="Прямоугольник 5"/>
          <p:cNvSpPr>
            <a:spLocks noChangeArrowheads="1"/>
          </p:cNvSpPr>
          <p:nvPr/>
        </p:nvSpPr>
        <p:spPr bwMode="auto">
          <a:xfrm>
            <a:off x="3586163" y="3063875"/>
            <a:ext cx="401637" cy="365125"/>
          </a:xfrm>
          <a:prstGeom prst="rect">
            <a:avLst/>
          </a:prstGeom>
          <a:solidFill>
            <a:schemeClr val="tx1"/>
          </a:solidFill>
          <a:ln w="9525" algn="ctr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pPr algn="ctr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None/>
            </a:pPr>
            <a:r>
              <a:rPr lang="en-US" sz="2000">
                <a:solidFill>
                  <a:srgbClr val="000000"/>
                </a:solidFill>
              </a:rPr>
              <a:t>2</a:t>
            </a:r>
            <a:endParaRPr lang="ru-RU" sz="2000">
              <a:solidFill>
                <a:srgbClr val="000000"/>
              </a:solidFill>
            </a:endParaRPr>
          </a:p>
        </p:txBody>
      </p:sp>
      <p:sp>
        <p:nvSpPr>
          <p:cNvPr id="7" name="Прямоугольник 6"/>
          <p:cNvSpPr/>
          <p:nvPr/>
        </p:nvSpPr>
        <p:spPr bwMode="auto">
          <a:xfrm>
            <a:off x="993775" y="3648075"/>
            <a:ext cx="401638" cy="365125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None/>
              <a:defRPr/>
            </a:pPr>
            <a:r>
              <a:rPr lang="en-US" sz="20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n-cs"/>
              </a:rPr>
              <a:t>4</a:t>
            </a:r>
            <a:endParaRPr lang="ru-RU" sz="2000" dirty="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n-cs"/>
            </a:endParaRPr>
          </a:p>
        </p:txBody>
      </p:sp>
      <p:sp>
        <p:nvSpPr>
          <p:cNvPr id="8" name="Прямоугольник 7"/>
          <p:cNvSpPr/>
          <p:nvPr/>
        </p:nvSpPr>
        <p:spPr bwMode="auto">
          <a:xfrm>
            <a:off x="1614488" y="3648075"/>
            <a:ext cx="401637" cy="365125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None/>
              <a:defRPr/>
            </a:pPr>
            <a:r>
              <a:rPr lang="en-US" sz="20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n-cs"/>
              </a:rPr>
              <a:t>5</a:t>
            </a:r>
            <a:endParaRPr lang="ru-RU" sz="2000" dirty="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n-cs"/>
            </a:endParaRPr>
          </a:p>
        </p:txBody>
      </p:sp>
      <p:sp>
        <p:nvSpPr>
          <p:cNvPr id="9" name="Прямоугольник 8"/>
          <p:cNvSpPr/>
          <p:nvPr/>
        </p:nvSpPr>
        <p:spPr bwMode="auto">
          <a:xfrm>
            <a:off x="2709863" y="3063875"/>
            <a:ext cx="401637" cy="365125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None/>
              <a:defRPr/>
            </a:pPr>
            <a:r>
              <a:rPr lang="en-US" sz="20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n-cs"/>
              </a:rPr>
              <a:t>1</a:t>
            </a:r>
            <a:endParaRPr lang="ru-RU" sz="2000" dirty="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n-cs"/>
            </a:endParaRPr>
          </a:p>
        </p:txBody>
      </p:sp>
      <p:sp>
        <p:nvSpPr>
          <p:cNvPr id="10" name="Прямоугольник 9"/>
          <p:cNvSpPr/>
          <p:nvPr/>
        </p:nvSpPr>
        <p:spPr bwMode="auto">
          <a:xfrm>
            <a:off x="3148013" y="2479675"/>
            <a:ext cx="401637" cy="365125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None/>
              <a:defRPr/>
            </a:pPr>
            <a:r>
              <a:rPr lang="en-US" sz="20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n-cs"/>
              </a:rPr>
              <a:t>8</a:t>
            </a:r>
            <a:endParaRPr lang="ru-RU" sz="2000" dirty="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n-cs"/>
            </a:endParaRPr>
          </a:p>
        </p:txBody>
      </p:sp>
      <p:sp>
        <p:nvSpPr>
          <p:cNvPr id="11" name="Прямоугольник 10"/>
          <p:cNvSpPr/>
          <p:nvPr/>
        </p:nvSpPr>
        <p:spPr bwMode="auto">
          <a:xfrm>
            <a:off x="446088" y="3648075"/>
            <a:ext cx="401637" cy="365125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None/>
              <a:defRPr/>
            </a:pPr>
            <a:r>
              <a:rPr lang="en-US" sz="20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n-cs"/>
              </a:rPr>
              <a:t>3</a:t>
            </a:r>
            <a:endParaRPr lang="ru-RU" sz="2000" dirty="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n-cs"/>
            </a:endParaRPr>
          </a:p>
        </p:txBody>
      </p:sp>
      <p:sp>
        <p:nvSpPr>
          <p:cNvPr id="12" name="Прямоугольник 11"/>
          <p:cNvSpPr/>
          <p:nvPr/>
        </p:nvSpPr>
        <p:spPr bwMode="auto">
          <a:xfrm>
            <a:off x="774700" y="3063875"/>
            <a:ext cx="401638" cy="365125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None/>
              <a:defRPr/>
            </a:pPr>
            <a:r>
              <a:rPr lang="en-US" sz="20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n-cs"/>
              </a:rPr>
              <a:t>8</a:t>
            </a:r>
            <a:endParaRPr lang="ru-RU" sz="2000" dirty="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n-cs"/>
            </a:endParaRPr>
          </a:p>
        </p:txBody>
      </p:sp>
      <p:cxnSp>
        <p:nvCxnSpPr>
          <p:cNvPr id="13" name="Прямая со стрелкой 12"/>
          <p:cNvCxnSpPr>
            <a:cxnSpLocks noChangeShapeType="1"/>
          </p:cNvCxnSpPr>
          <p:nvPr/>
        </p:nvCxnSpPr>
        <p:spPr bwMode="auto">
          <a:xfrm rot="5400000">
            <a:off x="1870075" y="1895476"/>
            <a:ext cx="255587" cy="912812"/>
          </a:xfrm>
          <a:prstGeom prst="straightConnector1">
            <a:avLst/>
          </a:prstGeom>
          <a:noFill/>
          <a:ln w="9525" algn="ctr">
            <a:solidFill>
              <a:srgbClr val="000000"/>
            </a:solidFill>
            <a:round/>
            <a:headEnd/>
            <a:tailEnd type="arrow" w="med" len="med"/>
          </a:ln>
        </p:spPr>
      </p:cxnSp>
      <p:cxnSp>
        <p:nvCxnSpPr>
          <p:cNvPr id="14" name="Прямая со стрелкой 13"/>
          <p:cNvCxnSpPr>
            <a:cxnSpLocks noChangeShapeType="1"/>
            <a:endCxn id="10" idx="0"/>
          </p:cNvCxnSpPr>
          <p:nvPr/>
        </p:nvCxnSpPr>
        <p:spPr bwMode="auto">
          <a:xfrm rot="16200000" flipH="1">
            <a:off x="2773363" y="1905000"/>
            <a:ext cx="255587" cy="893763"/>
          </a:xfrm>
          <a:prstGeom prst="straightConnector1">
            <a:avLst/>
          </a:prstGeom>
          <a:noFill/>
          <a:ln w="9525" algn="ctr">
            <a:solidFill>
              <a:srgbClr val="000000"/>
            </a:solidFill>
            <a:round/>
            <a:headEnd/>
            <a:tailEnd type="arrow" w="med" len="med"/>
          </a:ln>
        </p:spPr>
      </p:cxnSp>
      <p:cxnSp>
        <p:nvCxnSpPr>
          <p:cNvPr id="15" name="Прямая со стрелкой 14"/>
          <p:cNvCxnSpPr>
            <a:cxnSpLocks noChangeShapeType="1"/>
            <a:endCxn id="12" idx="0"/>
          </p:cNvCxnSpPr>
          <p:nvPr/>
        </p:nvCxnSpPr>
        <p:spPr bwMode="auto">
          <a:xfrm rot="5400000">
            <a:off x="1139031" y="2680494"/>
            <a:ext cx="219075" cy="547688"/>
          </a:xfrm>
          <a:prstGeom prst="straightConnector1">
            <a:avLst/>
          </a:prstGeom>
          <a:noFill/>
          <a:ln w="9525" algn="ctr">
            <a:solidFill>
              <a:srgbClr val="000000"/>
            </a:solidFill>
            <a:round/>
            <a:headEnd/>
            <a:tailEnd type="arrow" w="med" len="med"/>
          </a:ln>
        </p:spPr>
      </p:cxnSp>
      <p:cxnSp>
        <p:nvCxnSpPr>
          <p:cNvPr id="16" name="Прямая со стрелкой 15"/>
          <p:cNvCxnSpPr>
            <a:cxnSpLocks noChangeShapeType="1"/>
            <a:endCxn id="22" idx="0"/>
          </p:cNvCxnSpPr>
          <p:nvPr/>
        </p:nvCxnSpPr>
        <p:spPr bwMode="auto">
          <a:xfrm>
            <a:off x="1522413" y="2844800"/>
            <a:ext cx="401637" cy="219075"/>
          </a:xfrm>
          <a:prstGeom prst="straightConnector1">
            <a:avLst/>
          </a:prstGeom>
          <a:noFill/>
          <a:ln w="9525" algn="ctr">
            <a:solidFill>
              <a:srgbClr val="000000"/>
            </a:solidFill>
            <a:round/>
            <a:headEnd/>
            <a:tailEnd type="arrow" w="med" len="med"/>
          </a:ln>
        </p:spPr>
      </p:cxnSp>
      <p:cxnSp>
        <p:nvCxnSpPr>
          <p:cNvPr id="17" name="Прямая со стрелкой 16"/>
          <p:cNvCxnSpPr>
            <a:cxnSpLocks noChangeShapeType="1"/>
            <a:stCxn id="10" idx="2"/>
            <a:endCxn id="9" idx="0"/>
          </p:cNvCxnSpPr>
          <p:nvPr/>
        </p:nvCxnSpPr>
        <p:spPr bwMode="auto">
          <a:xfrm rot="5400000">
            <a:off x="3019425" y="2735263"/>
            <a:ext cx="219075" cy="438150"/>
          </a:xfrm>
          <a:prstGeom prst="straightConnector1">
            <a:avLst/>
          </a:prstGeom>
          <a:noFill/>
          <a:ln w="9525" algn="ctr">
            <a:solidFill>
              <a:srgbClr val="000000"/>
            </a:solidFill>
            <a:round/>
            <a:headEnd/>
            <a:tailEnd type="arrow" w="med" len="med"/>
          </a:ln>
        </p:spPr>
      </p:cxnSp>
      <p:cxnSp>
        <p:nvCxnSpPr>
          <p:cNvPr id="18" name="Прямая со стрелкой 17"/>
          <p:cNvCxnSpPr>
            <a:cxnSpLocks noChangeShapeType="1"/>
            <a:stCxn id="10" idx="2"/>
            <a:endCxn id="6" idx="0"/>
          </p:cNvCxnSpPr>
          <p:nvPr/>
        </p:nvCxnSpPr>
        <p:spPr bwMode="auto">
          <a:xfrm rot="16200000" flipH="1">
            <a:off x="3457575" y="2735263"/>
            <a:ext cx="219075" cy="438150"/>
          </a:xfrm>
          <a:prstGeom prst="straightConnector1">
            <a:avLst/>
          </a:prstGeom>
          <a:noFill/>
          <a:ln w="9525" algn="ctr">
            <a:solidFill>
              <a:srgbClr val="000000"/>
            </a:solidFill>
            <a:round/>
            <a:headEnd/>
            <a:tailEnd type="arrow" w="med" len="med"/>
          </a:ln>
        </p:spPr>
      </p:cxnSp>
      <p:cxnSp>
        <p:nvCxnSpPr>
          <p:cNvPr id="19" name="Прямая со стрелкой 18"/>
          <p:cNvCxnSpPr>
            <a:cxnSpLocks noChangeShapeType="1"/>
            <a:stCxn id="12" idx="2"/>
            <a:endCxn id="11" idx="0"/>
          </p:cNvCxnSpPr>
          <p:nvPr/>
        </p:nvCxnSpPr>
        <p:spPr bwMode="auto">
          <a:xfrm rot="5400000">
            <a:off x="700881" y="3374232"/>
            <a:ext cx="219075" cy="328612"/>
          </a:xfrm>
          <a:prstGeom prst="straightConnector1">
            <a:avLst/>
          </a:prstGeom>
          <a:noFill/>
          <a:ln w="9525" algn="ctr">
            <a:solidFill>
              <a:srgbClr val="000000"/>
            </a:solidFill>
            <a:round/>
            <a:headEnd/>
            <a:tailEnd type="arrow" w="med" len="med"/>
          </a:ln>
        </p:spPr>
      </p:cxnSp>
      <p:cxnSp>
        <p:nvCxnSpPr>
          <p:cNvPr id="20" name="Прямая со стрелкой 19"/>
          <p:cNvCxnSpPr>
            <a:cxnSpLocks noChangeShapeType="1"/>
            <a:stCxn id="12" idx="2"/>
            <a:endCxn id="7" idx="0"/>
          </p:cNvCxnSpPr>
          <p:nvPr/>
        </p:nvCxnSpPr>
        <p:spPr bwMode="auto">
          <a:xfrm rot="16200000" flipH="1">
            <a:off x="974725" y="3429000"/>
            <a:ext cx="219075" cy="219075"/>
          </a:xfrm>
          <a:prstGeom prst="straightConnector1">
            <a:avLst/>
          </a:prstGeom>
          <a:noFill/>
          <a:ln w="9525" algn="ctr">
            <a:solidFill>
              <a:srgbClr val="000000"/>
            </a:solidFill>
            <a:round/>
            <a:headEnd/>
            <a:tailEnd type="arrow" w="med" len="med"/>
          </a:ln>
        </p:spPr>
      </p:cxnSp>
      <p:cxnSp>
        <p:nvCxnSpPr>
          <p:cNvPr id="21" name="Прямая со стрелкой 20"/>
          <p:cNvCxnSpPr>
            <a:cxnSpLocks noChangeShapeType="1"/>
            <a:endCxn id="8" idx="0"/>
          </p:cNvCxnSpPr>
          <p:nvPr/>
        </p:nvCxnSpPr>
        <p:spPr bwMode="auto">
          <a:xfrm rot="5400000">
            <a:off x="1778000" y="3465513"/>
            <a:ext cx="219075" cy="146050"/>
          </a:xfrm>
          <a:prstGeom prst="straightConnector1">
            <a:avLst/>
          </a:prstGeom>
          <a:noFill/>
          <a:ln w="9525" algn="ctr">
            <a:solidFill>
              <a:srgbClr val="000000"/>
            </a:solidFill>
            <a:round/>
            <a:headEnd/>
            <a:tailEnd type="arrow" w="med" len="med"/>
          </a:ln>
        </p:spPr>
      </p:cxnSp>
      <p:sp>
        <p:nvSpPr>
          <p:cNvPr id="22" name="Прямоугольник 21"/>
          <p:cNvSpPr/>
          <p:nvPr/>
        </p:nvSpPr>
        <p:spPr bwMode="auto">
          <a:xfrm>
            <a:off x="1724025" y="3063875"/>
            <a:ext cx="401638" cy="365125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None/>
              <a:defRPr/>
            </a:pPr>
            <a:r>
              <a:rPr lang="ru-RU" sz="20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n-cs"/>
              </a:rPr>
              <a:t>7</a:t>
            </a:r>
          </a:p>
        </p:txBody>
      </p:sp>
      <p:sp>
        <p:nvSpPr>
          <p:cNvPr id="23" name="Прямоугольник 22"/>
          <p:cNvSpPr/>
          <p:nvPr/>
        </p:nvSpPr>
        <p:spPr bwMode="auto">
          <a:xfrm>
            <a:off x="1303338" y="2479675"/>
            <a:ext cx="401637" cy="365125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None/>
              <a:defRPr/>
            </a:pPr>
            <a:r>
              <a:rPr lang="en-US" sz="20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n-cs"/>
              </a:rPr>
              <a:t>9</a:t>
            </a:r>
            <a:endParaRPr lang="ru-RU" sz="2000" dirty="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n-cs"/>
            </a:endParaRPr>
          </a:p>
        </p:txBody>
      </p:sp>
      <p:sp>
        <p:nvSpPr>
          <p:cNvPr id="24" name="Прямоугольник 23"/>
          <p:cNvSpPr/>
          <p:nvPr/>
        </p:nvSpPr>
        <p:spPr bwMode="auto">
          <a:xfrm>
            <a:off x="2235200" y="1858963"/>
            <a:ext cx="401638" cy="365125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None/>
              <a:defRPr/>
            </a:pPr>
            <a:r>
              <a:rPr lang="ru-RU" sz="20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n-cs"/>
              </a:rPr>
              <a:t>9</a:t>
            </a:r>
          </a:p>
        </p:txBody>
      </p:sp>
      <p:sp>
        <p:nvSpPr>
          <p:cNvPr id="25" name="Прямоугольник 24"/>
          <p:cNvSpPr/>
          <p:nvPr/>
        </p:nvSpPr>
        <p:spPr bwMode="auto">
          <a:xfrm>
            <a:off x="1285875" y="2479675"/>
            <a:ext cx="401638" cy="365125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None/>
              <a:defRPr/>
            </a:pPr>
            <a:r>
              <a:rPr lang="ru-RU" sz="20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n-cs"/>
              </a:rPr>
              <a:t>3</a:t>
            </a:r>
          </a:p>
        </p:txBody>
      </p:sp>
      <p:sp>
        <p:nvSpPr>
          <p:cNvPr id="26" name="Прямоугольник 25"/>
          <p:cNvSpPr>
            <a:spLocks noChangeArrowheads="1"/>
          </p:cNvSpPr>
          <p:nvPr/>
        </p:nvSpPr>
        <p:spPr bwMode="auto">
          <a:xfrm>
            <a:off x="7748588" y="3027363"/>
            <a:ext cx="401637" cy="365125"/>
          </a:xfrm>
          <a:prstGeom prst="rect">
            <a:avLst/>
          </a:prstGeom>
          <a:solidFill>
            <a:schemeClr val="tx1"/>
          </a:solidFill>
          <a:ln w="9525" algn="ctr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pPr algn="ctr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None/>
            </a:pPr>
            <a:r>
              <a:rPr lang="en-US" sz="2000">
                <a:solidFill>
                  <a:srgbClr val="000000"/>
                </a:solidFill>
              </a:rPr>
              <a:t>2</a:t>
            </a:r>
            <a:endParaRPr lang="ru-RU" sz="2000">
              <a:solidFill>
                <a:srgbClr val="000000"/>
              </a:solidFill>
            </a:endParaRPr>
          </a:p>
        </p:txBody>
      </p:sp>
      <p:sp>
        <p:nvSpPr>
          <p:cNvPr id="27" name="Прямоугольник 26"/>
          <p:cNvSpPr/>
          <p:nvPr/>
        </p:nvSpPr>
        <p:spPr bwMode="auto">
          <a:xfrm>
            <a:off x="5156200" y="3611563"/>
            <a:ext cx="401638" cy="365125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None/>
              <a:defRPr/>
            </a:pPr>
            <a:r>
              <a:rPr lang="ru-RU" sz="20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n-cs"/>
              </a:rPr>
              <a:t>3</a:t>
            </a:r>
          </a:p>
        </p:txBody>
      </p:sp>
      <p:sp>
        <p:nvSpPr>
          <p:cNvPr id="28" name="Прямоугольник 27"/>
          <p:cNvSpPr/>
          <p:nvPr/>
        </p:nvSpPr>
        <p:spPr bwMode="auto">
          <a:xfrm>
            <a:off x="5776913" y="3611563"/>
            <a:ext cx="401637" cy="365125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None/>
              <a:defRPr/>
            </a:pPr>
            <a:r>
              <a:rPr lang="en-US" sz="20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n-cs"/>
              </a:rPr>
              <a:t>5</a:t>
            </a:r>
            <a:endParaRPr lang="ru-RU" sz="2000" dirty="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n-cs"/>
            </a:endParaRPr>
          </a:p>
        </p:txBody>
      </p:sp>
      <p:sp>
        <p:nvSpPr>
          <p:cNvPr id="29" name="Прямоугольник 28"/>
          <p:cNvSpPr/>
          <p:nvPr/>
        </p:nvSpPr>
        <p:spPr bwMode="auto">
          <a:xfrm>
            <a:off x="6872288" y="3027363"/>
            <a:ext cx="401637" cy="365125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None/>
              <a:defRPr/>
            </a:pPr>
            <a:r>
              <a:rPr lang="en-US" sz="20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n-cs"/>
              </a:rPr>
              <a:t>1</a:t>
            </a:r>
            <a:endParaRPr lang="ru-RU" sz="2000" dirty="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n-cs"/>
            </a:endParaRPr>
          </a:p>
        </p:txBody>
      </p:sp>
      <p:sp>
        <p:nvSpPr>
          <p:cNvPr id="30" name="Прямоугольник 29"/>
          <p:cNvSpPr/>
          <p:nvPr/>
        </p:nvSpPr>
        <p:spPr bwMode="auto">
          <a:xfrm>
            <a:off x="7310438" y="2443163"/>
            <a:ext cx="401637" cy="365125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None/>
              <a:defRPr/>
            </a:pPr>
            <a:r>
              <a:rPr lang="en-US" sz="20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n-cs"/>
              </a:rPr>
              <a:t>8</a:t>
            </a:r>
            <a:endParaRPr lang="ru-RU" sz="2000" dirty="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n-cs"/>
            </a:endParaRPr>
          </a:p>
        </p:txBody>
      </p:sp>
      <p:sp>
        <p:nvSpPr>
          <p:cNvPr id="31" name="Прямоугольник 30"/>
          <p:cNvSpPr/>
          <p:nvPr/>
        </p:nvSpPr>
        <p:spPr bwMode="auto">
          <a:xfrm>
            <a:off x="4608513" y="3611563"/>
            <a:ext cx="401637" cy="365125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None/>
              <a:defRPr/>
            </a:pPr>
            <a:r>
              <a:rPr lang="en-US" sz="20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n-cs"/>
              </a:rPr>
              <a:t>3</a:t>
            </a:r>
            <a:endParaRPr lang="ru-RU" sz="2000" dirty="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n-cs"/>
            </a:endParaRPr>
          </a:p>
        </p:txBody>
      </p:sp>
      <p:sp>
        <p:nvSpPr>
          <p:cNvPr id="32" name="Прямоугольник 31"/>
          <p:cNvSpPr/>
          <p:nvPr/>
        </p:nvSpPr>
        <p:spPr bwMode="auto">
          <a:xfrm>
            <a:off x="4937125" y="3027363"/>
            <a:ext cx="401638" cy="365125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None/>
              <a:defRPr/>
            </a:pPr>
            <a:r>
              <a:rPr lang="ru-RU" sz="20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n-cs"/>
              </a:rPr>
              <a:t>4</a:t>
            </a:r>
          </a:p>
        </p:txBody>
      </p:sp>
      <p:cxnSp>
        <p:nvCxnSpPr>
          <p:cNvPr id="33" name="Прямая со стрелкой 32"/>
          <p:cNvCxnSpPr>
            <a:cxnSpLocks noChangeShapeType="1"/>
          </p:cNvCxnSpPr>
          <p:nvPr/>
        </p:nvCxnSpPr>
        <p:spPr bwMode="auto">
          <a:xfrm rot="5400000">
            <a:off x="6032500" y="1858963"/>
            <a:ext cx="255588" cy="912812"/>
          </a:xfrm>
          <a:prstGeom prst="straightConnector1">
            <a:avLst/>
          </a:prstGeom>
          <a:noFill/>
          <a:ln w="9525" algn="ctr">
            <a:solidFill>
              <a:srgbClr val="000000"/>
            </a:solidFill>
            <a:round/>
            <a:headEnd/>
            <a:tailEnd type="arrow" w="med" len="med"/>
          </a:ln>
        </p:spPr>
      </p:cxnSp>
      <p:cxnSp>
        <p:nvCxnSpPr>
          <p:cNvPr id="34" name="Прямая со стрелкой 33"/>
          <p:cNvCxnSpPr>
            <a:cxnSpLocks noChangeShapeType="1"/>
            <a:endCxn id="30" idx="0"/>
          </p:cNvCxnSpPr>
          <p:nvPr/>
        </p:nvCxnSpPr>
        <p:spPr bwMode="auto">
          <a:xfrm rot="16200000" flipH="1">
            <a:off x="6936581" y="1867694"/>
            <a:ext cx="255588" cy="895350"/>
          </a:xfrm>
          <a:prstGeom prst="straightConnector1">
            <a:avLst/>
          </a:prstGeom>
          <a:noFill/>
          <a:ln w="9525" algn="ctr">
            <a:solidFill>
              <a:srgbClr val="000000"/>
            </a:solidFill>
            <a:round/>
            <a:headEnd/>
            <a:tailEnd type="arrow" w="med" len="med"/>
          </a:ln>
        </p:spPr>
      </p:cxnSp>
      <p:cxnSp>
        <p:nvCxnSpPr>
          <p:cNvPr id="35" name="Прямая со стрелкой 34"/>
          <p:cNvCxnSpPr>
            <a:cxnSpLocks noChangeShapeType="1"/>
            <a:endCxn id="32" idx="0"/>
          </p:cNvCxnSpPr>
          <p:nvPr/>
        </p:nvCxnSpPr>
        <p:spPr bwMode="auto">
          <a:xfrm rot="5400000">
            <a:off x="5303044" y="2643982"/>
            <a:ext cx="219075" cy="547687"/>
          </a:xfrm>
          <a:prstGeom prst="straightConnector1">
            <a:avLst/>
          </a:prstGeom>
          <a:noFill/>
          <a:ln w="9525" algn="ctr">
            <a:solidFill>
              <a:srgbClr val="000000"/>
            </a:solidFill>
            <a:round/>
            <a:headEnd/>
            <a:tailEnd type="arrow" w="med" len="med"/>
          </a:ln>
        </p:spPr>
      </p:cxnSp>
      <p:cxnSp>
        <p:nvCxnSpPr>
          <p:cNvPr id="36" name="Прямая со стрелкой 35"/>
          <p:cNvCxnSpPr>
            <a:cxnSpLocks noChangeShapeType="1"/>
            <a:endCxn id="42" idx="0"/>
          </p:cNvCxnSpPr>
          <p:nvPr/>
        </p:nvCxnSpPr>
        <p:spPr bwMode="auto">
          <a:xfrm>
            <a:off x="5686425" y="2808288"/>
            <a:ext cx="401638" cy="219075"/>
          </a:xfrm>
          <a:prstGeom prst="straightConnector1">
            <a:avLst/>
          </a:prstGeom>
          <a:noFill/>
          <a:ln w="9525" algn="ctr">
            <a:solidFill>
              <a:srgbClr val="000000"/>
            </a:solidFill>
            <a:round/>
            <a:headEnd/>
            <a:tailEnd type="arrow" w="med" len="med"/>
          </a:ln>
        </p:spPr>
      </p:cxnSp>
      <p:cxnSp>
        <p:nvCxnSpPr>
          <p:cNvPr id="37" name="Прямая со стрелкой 36"/>
          <p:cNvCxnSpPr>
            <a:cxnSpLocks noChangeShapeType="1"/>
            <a:stCxn id="30" idx="2"/>
            <a:endCxn id="29" idx="0"/>
          </p:cNvCxnSpPr>
          <p:nvPr/>
        </p:nvCxnSpPr>
        <p:spPr bwMode="auto">
          <a:xfrm rot="5400000">
            <a:off x="7183437" y="2698751"/>
            <a:ext cx="219075" cy="438150"/>
          </a:xfrm>
          <a:prstGeom prst="straightConnector1">
            <a:avLst/>
          </a:prstGeom>
          <a:noFill/>
          <a:ln w="9525" algn="ctr">
            <a:solidFill>
              <a:srgbClr val="000000"/>
            </a:solidFill>
            <a:round/>
            <a:headEnd/>
            <a:tailEnd type="arrow" w="med" len="med"/>
          </a:ln>
        </p:spPr>
      </p:cxnSp>
      <p:cxnSp>
        <p:nvCxnSpPr>
          <p:cNvPr id="38" name="Прямая со стрелкой 37"/>
          <p:cNvCxnSpPr>
            <a:cxnSpLocks noChangeShapeType="1"/>
            <a:stCxn id="30" idx="2"/>
            <a:endCxn id="26" idx="0"/>
          </p:cNvCxnSpPr>
          <p:nvPr/>
        </p:nvCxnSpPr>
        <p:spPr bwMode="auto">
          <a:xfrm rot="16200000" flipH="1">
            <a:off x="7621587" y="2698751"/>
            <a:ext cx="219075" cy="438150"/>
          </a:xfrm>
          <a:prstGeom prst="straightConnector1">
            <a:avLst/>
          </a:prstGeom>
          <a:noFill/>
          <a:ln w="9525" algn="ctr">
            <a:solidFill>
              <a:srgbClr val="000000"/>
            </a:solidFill>
            <a:round/>
            <a:headEnd/>
            <a:tailEnd type="arrow" w="med" len="med"/>
          </a:ln>
        </p:spPr>
      </p:cxnSp>
      <p:cxnSp>
        <p:nvCxnSpPr>
          <p:cNvPr id="39" name="Прямая со стрелкой 38"/>
          <p:cNvCxnSpPr>
            <a:cxnSpLocks noChangeShapeType="1"/>
            <a:stCxn id="32" idx="2"/>
            <a:endCxn id="31" idx="0"/>
          </p:cNvCxnSpPr>
          <p:nvPr/>
        </p:nvCxnSpPr>
        <p:spPr bwMode="auto">
          <a:xfrm rot="5400000">
            <a:off x="4864894" y="3337719"/>
            <a:ext cx="219075" cy="328613"/>
          </a:xfrm>
          <a:prstGeom prst="straightConnector1">
            <a:avLst/>
          </a:prstGeom>
          <a:noFill/>
          <a:ln w="9525" algn="ctr">
            <a:solidFill>
              <a:srgbClr val="000000"/>
            </a:solidFill>
            <a:round/>
            <a:headEnd/>
            <a:tailEnd type="arrow" w="med" len="med"/>
          </a:ln>
        </p:spPr>
      </p:cxnSp>
      <p:cxnSp>
        <p:nvCxnSpPr>
          <p:cNvPr id="40" name="Прямая со стрелкой 39"/>
          <p:cNvCxnSpPr>
            <a:cxnSpLocks noChangeShapeType="1"/>
            <a:stCxn id="32" idx="2"/>
            <a:endCxn id="27" idx="0"/>
          </p:cNvCxnSpPr>
          <p:nvPr/>
        </p:nvCxnSpPr>
        <p:spPr bwMode="auto">
          <a:xfrm rot="16200000" flipH="1">
            <a:off x="5138738" y="3392488"/>
            <a:ext cx="219075" cy="219075"/>
          </a:xfrm>
          <a:prstGeom prst="straightConnector1">
            <a:avLst/>
          </a:prstGeom>
          <a:noFill/>
          <a:ln w="9525" algn="ctr">
            <a:solidFill>
              <a:srgbClr val="000000"/>
            </a:solidFill>
            <a:round/>
            <a:headEnd/>
            <a:tailEnd type="arrow" w="med" len="med"/>
          </a:ln>
        </p:spPr>
      </p:cxnSp>
      <p:cxnSp>
        <p:nvCxnSpPr>
          <p:cNvPr id="41" name="Прямая со стрелкой 40"/>
          <p:cNvCxnSpPr>
            <a:cxnSpLocks noChangeShapeType="1"/>
            <a:endCxn id="28" idx="0"/>
          </p:cNvCxnSpPr>
          <p:nvPr/>
        </p:nvCxnSpPr>
        <p:spPr bwMode="auto">
          <a:xfrm rot="5400000">
            <a:off x="5942012" y="3429001"/>
            <a:ext cx="219075" cy="146050"/>
          </a:xfrm>
          <a:prstGeom prst="straightConnector1">
            <a:avLst/>
          </a:prstGeom>
          <a:noFill/>
          <a:ln w="9525" algn="ctr">
            <a:solidFill>
              <a:srgbClr val="000000"/>
            </a:solidFill>
            <a:round/>
            <a:headEnd/>
            <a:tailEnd type="arrow" w="med" len="med"/>
          </a:ln>
        </p:spPr>
      </p:cxnSp>
      <p:sp>
        <p:nvSpPr>
          <p:cNvPr id="42" name="Прямоугольник 41"/>
          <p:cNvSpPr/>
          <p:nvPr/>
        </p:nvSpPr>
        <p:spPr bwMode="auto">
          <a:xfrm>
            <a:off x="5886450" y="3027363"/>
            <a:ext cx="401638" cy="365125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None/>
              <a:defRPr/>
            </a:pPr>
            <a:r>
              <a:rPr lang="ru-RU" sz="20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n-cs"/>
              </a:rPr>
              <a:t>7</a:t>
            </a:r>
          </a:p>
        </p:txBody>
      </p:sp>
      <p:sp>
        <p:nvSpPr>
          <p:cNvPr id="44" name="Прямоугольник 43"/>
          <p:cNvSpPr/>
          <p:nvPr/>
        </p:nvSpPr>
        <p:spPr bwMode="auto">
          <a:xfrm>
            <a:off x="6397625" y="1822450"/>
            <a:ext cx="401638" cy="365125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None/>
              <a:defRPr/>
            </a:pPr>
            <a:r>
              <a:rPr lang="ru-RU" sz="20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n-cs"/>
              </a:rPr>
              <a:t>9</a:t>
            </a:r>
          </a:p>
        </p:txBody>
      </p:sp>
      <p:sp>
        <p:nvSpPr>
          <p:cNvPr id="45" name="Прямоугольник 44"/>
          <p:cNvSpPr/>
          <p:nvPr/>
        </p:nvSpPr>
        <p:spPr bwMode="auto">
          <a:xfrm>
            <a:off x="5448300" y="2443163"/>
            <a:ext cx="401638" cy="365125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None/>
              <a:defRPr/>
            </a:pPr>
            <a:r>
              <a:rPr lang="ru-RU" sz="20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n-cs"/>
              </a:rPr>
              <a:t>8</a:t>
            </a:r>
          </a:p>
        </p:txBody>
      </p:sp>
      <p:sp>
        <p:nvSpPr>
          <p:cNvPr id="46" name="Прямоугольник 45"/>
          <p:cNvSpPr>
            <a:spLocks noChangeArrowheads="1"/>
          </p:cNvSpPr>
          <p:nvPr/>
        </p:nvSpPr>
        <p:spPr bwMode="auto">
          <a:xfrm>
            <a:off x="592138" y="4195763"/>
            <a:ext cx="7959725" cy="1935162"/>
          </a:xfrm>
          <a:prstGeom prst="rect">
            <a:avLst/>
          </a:prstGeom>
          <a:solidFill>
            <a:schemeClr val="tx1"/>
          </a:solidFill>
          <a:ln w="9525" algn="ctr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pPr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None/>
            </a:pPr>
            <a:r>
              <a:rPr lang="ru-RU">
                <a:solidFill>
                  <a:srgbClr val="000000"/>
                </a:solidFill>
              </a:rPr>
              <a:t>При уменьшении приоритета – «спуск элемента»</a:t>
            </a:r>
          </a:p>
          <a:p>
            <a:pPr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None/>
            </a:pPr>
            <a:r>
              <a:rPr lang="ru-RU">
                <a:solidFill>
                  <a:srgbClr val="000000"/>
                </a:solidFill>
              </a:rPr>
              <a:t>При увеличении приоритета – «подъем» элемента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55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77" dur="10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ppt_w*0.7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10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79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>
                            <p:stCondLst>
                              <p:cond delay="1000"/>
                            </p:stCondLst>
                            <p:childTnLst>
                              <p:par>
                                <p:cTn id="82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4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6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>
                            <p:stCondLst>
                              <p:cond delay="2000"/>
                            </p:stCondLst>
                            <p:childTnLst>
                              <p:par>
                                <p:cTn id="8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1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4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0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3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6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7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0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3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5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6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8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9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1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2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4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5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6" dur="10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>
                      <p:stCondLst>
                        <p:cond delay="indefinite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1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2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3" dur="10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22" grpId="0" animBg="1"/>
      <p:bldP spid="23" grpId="0" animBg="1"/>
      <p:bldP spid="23" grpId="1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42" grpId="0" animBg="1"/>
      <p:bldP spid="44" grpId="0" animBg="1"/>
      <p:bldP spid="45" grpId="0" animBg="1"/>
      <p:bldP spid="46" grpId="0" animBg="1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/>
          <p:cNvSpPr txBox="1">
            <a:spLocks/>
          </p:cNvSpPr>
          <p:nvPr/>
        </p:nvSpPr>
        <p:spPr bwMode="auto">
          <a:xfrm>
            <a:off x="519113" y="288925"/>
            <a:ext cx="8229600" cy="985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 eaLnBrk="0" hangingPunct="0">
              <a:defRPr/>
            </a:pPr>
            <a:endParaRPr lang="ru-RU" sz="3600" kern="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5" name="Заголовок 1"/>
          <p:cNvSpPr txBox="1">
            <a:spLocks/>
          </p:cNvSpPr>
          <p:nvPr/>
        </p:nvSpPr>
        <p:spPr bwMode="auto">
          <a:xfrm>
            <a:off x="592138" y="215900"/>
            <a:ext cx="8229600" cy="985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 eaLnBrk="0" hangingPunct="0">
              <a:defRPr/>
            </a:pPr>
            <a:r>
              <a:rPr lang="ru-RU" sz="3600" kern="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Биномиальная очередь</a:t>
            </a:r>
          </a:p>
        </p:txBody>
      </p:sp>
      <p:sp>
        <p:nvSpPr>
          <p:cNvPr id="6" name="Прямоугольник 5"/>
          <p:cNvSpPr/>
          <p:nvPr/>
        </p:nvSpPr>
        <p:spPr bwMode="auto">
          <a:xfrm>
            <a:off x="409575" y="1128713"/>
            <a:ext cx="8324850" cy="2811462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None/>
              <a:defRPr/>
            </a:pPr>
            <a:r>
              <a:rPr lang="ru-RU" dirty="0">
                <a:solidFill>
                  <a:srgbClr val="000000"/>
                </a:solidFill>
                <a:cs typeface="+mn-cs"/>
              </a:rPr>
              <a:t>(1978 г. </a:t>
            </a:r>
            <a:r>
              <a:rPr lang="ru-RU" dirty="0" err="1">
                <a:solidFill>
                  <a:srgbClr val="000000"/>
                </a:solidFill>
                <a:cs typeface="+mn-cs"/>
              </a:rPr>
              <a:t>Вильемин</a:t>
            </a:r>
            <a:r>
              <a:rPr lang="ru-RU" dirty="0">
                <a:solidFill>
                  <a:srgbClr val="000000"/>
                </a:solidFill>
                <a:cs typeface="+mn-cs"/>
              </a:rPr>
              <a:t>)</a:t>
            </a:r>
          </a:p>
          <a:p>
            <a:pPr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None/>
              <a:defRPr/>
            </a:pPr>
            <a:r>
              <a:rPr lang="ru-RU" dirty="0">
                <a:solidFill>
                  <a:srgbClr val="000000"/>
                </a:solidFill>
                <a:cs typeface="+mn-cs"/>
              </a:rPr>
              <a:t>Бинарное дерево называется </a:t>
            </a:r>
            <a:r>
              <a:rPr lang="ru-RU" dirty="0">
                <a:solidFill>
                  <a:schemeClr val="bg2">
                    <a:lumMod val="60000"/>
                    <a:lumOff val="40000"/>
                  </a:schemeClr>
                </a:solidFill>
                <a:cs typeface="+mn-cs"/>
              </a:rPr>
              <a:t>левосторонним пирамидально упорядоченным</a:t>
            </a:r>
            <a:r>
              <a:rPr lang="ru-RU" dirty="0">
                <a:solidFill>
                  <a:srgbClr val="000000"/>
                </a:solidFill>
                <a:cs typeface="+mn-cs"/>
              </a:rPr>
              <a:t>, если ключ каждого узла больше или равен всем ключам левого поддерева, если таковое имеется.</a:t>
            </a:r>
          </a:p>
        </p:txBody>
      </p:sp>
      <p:sp>
        <p:nvSpPr>
          <p:cNvPr id="8" name="Прямоугольник 7"/>
          <p:cNvSpPr>
            <a:spLocks noChangeArrowheads="1"/>
          </p:cNvSpPr>
          <p:nvPr/>
        </p:nvSpPr>
        <p:spPr bwMode="auto">
          <a:xfrm>
            <a:off x="3951288" y="5364163"/>
            <a:ext cx="401637" cy="365125"/>
          </a:xfrm>
          <a:prstGeom prst="rect">
            <a:avLst/>
          </a:prstGeom>
          <a:solidFill>
            <a:schemeClr val="tx1"/>
          </a:solidFill>
          <a:ln w="9525" algn="ctr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pPr algn="ctr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None/>
            </a:pPr>
            <a:r>
              <a:rPr lang="en-US" sz="2000">
                <a:solidFill>
                  <a:srgbClr val="000000"/>
                </a:solidFill>
              </a:rPr>
              <a:t>2</a:t>
            </a:r>
            <a:endParaRPr lang="ru-RU" sz="2000">
              <a:solidFill>
                <a:srgbClr val="000000"/>
              </a:solidFill>
            </a:endParaRPr>
          </a:p>
        </p:txBody>
      </p:sp>
      <p:sp>
        <p:nvSpPr>
          <p:cNvPr id="9" name="Прямоугольник 8"/>
          <p:cNvSpPr/>
          <p:nvPr/>
        </p:nvSpPr>
        <p:spPr bwMode="auto">
          <a:xfrm>
            <a:off x="2125663" y="5364163"/>
            <a:ext cx="401637" cy="365125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None/>
              <a:defRPr/>
            </a:pPr>
            <a:r>
              <a:rPr lang="en-US" sz="20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n-cs"/>
              </a:rPr>
              <a:t>7</a:t>
            </a:r>
            <a:endParaRPr lang="ru-RU" sz="2000" dirty="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n-cs"/>
            </a:endParaRPr>
          </a:p>
        </p:txBody>
      </p:sp>
      <p:sp>
        <p:nvSpPr>
          <p:cNvPr id="10" name="Прямоугольник 9"/>
          <p:cNvSpPr/>
          <p:nvPr/>
        </p:nvSpPr>
        <p:spPr bwMode="auto">
          <a:xfrm>
            <a:off x="2636838" y="4159250"/>
            <a:ext cx="401637" cy="365125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None/>
              <a:defRPr/>
            </a:pPr>
            <a:r>
              <a:rPr lang="en-US" sz="20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n-cs"/>
              </a:rPr>
              <a:t>9</a:t>
            </a:r>
            <a:endParaRPr lang="ru-RU" sz="2000" dirty="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n-cs"/>
            </a:endParaRPr>
          </a:p>
        </p:txBody>
      </p:sp>
      <p:sp>
        <p:nvSpPr>
          <p:cNvPr id="11" name="Прямоугольник 10"/>
          <p:cNvSpPr/>
          <p:nvPr/>
        </p:nvSpPr>
        <p:spPr bwMode="auto">
          <a:xfrm>
            <a:off x="1358900" y="5948363"/>
            <a:ext cx="401638" cy="365125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None/>
              <a:defRPr/>
            </a:pPr>
            <a:r>
              <a:rPr lang="en-US" sz="20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n-cs"/>
              </a:rPr>
              <a:t>4</a:t>
            </a:r>
            <a:endParaRPr lang="ru-RU" sz="2000" dirty="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n-cs"/>
            </a:endParaRPr>
          </a:p>
        </p:txBody>
      </p:sp>
      <p:sp>
        <p:nvSpPr>
          <p:cNvPr id="12" name="Прямоугольник 11"/>
          <p:cNvSpPr/>
          <p:nvPr/>
        </p:nvSpPr>
        <p:spPr bwMode="auto">
          <a:xfrm>
            <a:off x="1979613" y="5948363"/>
            <a:ext cx="401637" cy="365125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None/>
              <a:defRPr/>
            </a:pPr>
            <a:r>
              <a:rPr lang="en-US" sz="20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n-cs"/>
              </a:rPr>
              <a:t>5</a:t>
            </a:r>
            <a:endParaRPr lang="ru-RU" sz="2000" dirty="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n-cs"/>
            </a:endParaRPr>
          </a:p>
        </p:txBody>
      </p:sp>
      <p:sp>
        <p:nvSpPr>
          <p:cNvPr id="13" name="Прямоугольник 12"/>
          <p:cNvSpPr/>
          <p:nvPr/>
        </p:nvSpPr>
        <p:spPr bwMode="auto">
          <a:xfrm>
            <a:off x="3074988" y="5364163"/>
            <a:ext cx="401637" cy="365125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None/>
              <a:defRPr/>
            </a:pPr>
            <a:r>
              <a:rPr lang="en-US" sz="20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n-cs"/>
              </a:rPr>
              <a:t>1</a:t>
            </a:r>
            <a:endParaRPr lang="ru-RU" sz="2000" dirty="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n-cs"/>
            </a:endParaRPr>
          </a:p>
        </p:txBody>
      </p:sp>
      <p:sp>
        <p:nvSpPr>
          <p:cNvPr id="14" name="Прямоугольник 13"/>
          <p:cNvSpPr/>
          <p:nvPr/>
        </p:nvSpPr>
        <p:spPr bwMode="auto">
          <a:xfrm>
            <a:off x="3513138" y="4779963"/>
            <a:ext cx="401637" cy="365125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None/>
              <a:defRPr/>
            </a:pPr>
            <a:r>
              <a:rPr lang="en-US" sz="20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n-cs"/>
              </a:rPr>
              <a:t>8</a:t>
            </a:r>
            <a:endParaRPr lang="ru-RU" sz="2000" dirty="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n-cs"/>
            </a:endParaRPr>
          </a:p>
        </p:txBody>
      </p:sp>
      <p:sp>
        <p:nvSpPr>
          <p:cNvPr id="15" name="Прямоугольник 14"/>
          <p:cNvSpPr/>
          <p:nvPr/>
        </p:nvSpPr>
        <p:spPr bwMode="auto">
          <a:xfrm>
            <a:off x="811213" y="5948363"/>
            <a:ext cx="401637" cy="365125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None/>
              <a:defRPr/>
            </a:pPr>
            <a:r>
              <a:rPr lang="en-US" sz="20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n-cs"/>
              </a:rPr>
              <a:t>3</a:t>
            </a:r>
            <a:endParaRPr lang="ru-RU" sz="2000" dirty="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n-cs"/>
            </a:endParaRPr>
          </a:p>
        </p:txBody>
      </p:sp>
      <p:sp>
        <p:nvSpPr>
          <p:cNvPr id="16" name="Прямоугольник 15"/>
          <p:cNvSpPr/>
          <p:nvPr/>
        </p:nvSpPr>
        <p:spPr bwMode="auto">
          <a:xfrm>
            <a:off x="1139825" y="5364163"/>
            <a:ext cx="401638" cy="365125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None/>
              <a:defRPr/>
            </a:pPr>
            <a:r>
              <a:rPr lang="en-US" sz="20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n-cs"/>
              </a:rPr>
              <a:t>8</a:t>
            </a:r>
            <a:endParaRPr lang="ru-RU" sz="2000" dirty="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n-cs"/>
            </a:endParaRPr>
          </a:p>
        </p:txBody>
      </p:sp>
      <p:sp>
        <p:nvSpPr>
          <p:cNvPr id="17" name="Прямоугольник 16"/>
          <p:cNvSpPr/>
          <p:nvPr/>
        </p:nvSpPr>
        <p:spPr bwMode="auto">
          <a:xfrm>
            <a:off x="1687513" y="4779963"/>
            <a:ext cx="401637" cy="365125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None/>
              <a:defRPr/>
            </a:pPr>
            <a:r>
              <a:rPr lang="en-US" sz="20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n-cs"/>
              </a:rPr>
              <a:t>9</a:t>
            </a:r>
            <a:endParaRPr lang="ru-RU" sz="2000" dirty="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n-cs"/>
            </a:endParaRPr>
          </a:p>
        </p:txBody>
      </p:sp>
      <p:cxnSp>
        <p:nvCxnSpPr>
          <p:cNvPr id="18" name="Прямая со стрелкой 17"/>
          <p:cNvCxnSpPr>
            <a:cxnSpLocks noChangeShapeType="1"/>
            <a:stCxn id="10" idx="2"/>
            <a:endCxn id="17" idx="0"/>
          </p:cNvCxnSpPr>
          <p:nvPr/>
        </p:nvCxnSpPr>
        <p:spPr bwMode="auto">
          <a:xfrm rot="5400000">
            <a:off x="2234407" y="4177506"/>
            <a:ext cx="255588" cy="949325"/>
          </a:xfrm>
          <a:prstGeom prst="straightConnector1">
            <a:avLst/>
          </a:prstGeom>
          <a:noFill/>
          <a:ln w="9525" algn="ctr">
            <a:solidFill>
              <a:srgbClr val="000000"/>
            </a:solidFill>
            <a:round/>
            <a:headEnd/>
            <a:tailEnd type="arrow" w="med" len="med"/>
          </a:ln>
        </p:spPr>
      </p:cxnSp>
      <p:cxnSp>
        <p:nvCxnSpPr>
          <p:cNvPr id="19" name="Прямая со стрелкой 18"/>
          <p:cNvCxnSpPr>
            <a:cxnSpLocks noChangeShapeType="1"/>
            <a:stCxn id="10" idx="2"/>
            <a:endCxn id="14" idx="0"/>
          </p:cNvCxnSpPr>
          <p:nvPr/>
        </p:nvCxnSpPr>
        <p:spPr bwMode="auto">
          <a:xfrm rot="16200000" flipH="1">
            <a:off x="3147219" y="4214019"/>
            <a:ext cx="255588" cy="876300"/>
          </a:xfrm>
          <a:prstGeom prst="straightConnector1">
            <a:avLst/>
          </a:prstGeom>
          <a:noFill/>
          <a:ln w="9525" algn="ctr">
            <a:solidFill>
              <a:srgbClr val="000000"/>
            </a:solidFill>
            <a:round/>
            <a:headEnd/>
            <a:tailEnd type="arrow" w="med" len="med"/>
          </a:ln>
        </p:spPr>
      </p:cxnSp>
      <p:cxnSp>
        <p:nvCxnSpPr>
          <p:cNvPr id="20" name="Прямая со стрелкой 19"/>
          <p:cNvCxnSpPr>
            <a:cxnSpLocks noChangeShapeType="1"/>
            <a:stCxn id="17" idx="2"/>
            <a:endCxn id="16" idx="0"/>
          </p:cNvCxnSpPr>
          <p:nvPr/>
        </p:nvCxnSpPr>
        <p:spPr bwMode="auto">
          <a:xfrm rot="5400000">
            <a:off x="1504156" y="4980782"/>
            <a:ext cx="219075" cy="547688"/>
          </a:xfrm>
          <a:prstGeom prst="straightConnector1">
            <a:avLst/>
          </a:prstGeom>
          <a:noFill/>
          <a:ln w="9525" algn="ctr">
            <a:solidFill>
              <a:srgbClr val="000000"/>
            </a:solidFill>
            <a:round/>
            <a:headEnd/>
            <a:tailEnd type="arrow" w="med" len="med"/>
          </a:ln>
        </p:spPr>
      </p:cxnSp>
      <p:cxnSp>
        <p:nvCxnSpPr>
          <p:cNvPr id="21" name="Прямая со стрелкой 20"/>
          <p:cNvCxnSpPr>
            <a:cxnSpLocks noChangeShapeType="1"/>
            <a:stCxn id="17" idx="2"/>
            <a:endCxn id="9" idx="0"/>
          </p:cNvCxnSpPr>
          <p:nvPr/>
        </p:nvCxnSpPr>
        <p:spPr bwMode="auto">
          <a:xfrm rot="16200000" flipH="1">
            <a:off x="1997075" y="5035551"/>
            <a:ext cx="219075" cy="438150"/>
          </a:xfrm>
          <a:prstGeom prst="straightConnector1">
            <a:avLst/>
          </a:prstGeom>
          <a:noFill/>
          <a:ln w="9525" algn="ctr">
            <a:solidFill>
              <a:srgbClr val="000000"/>
            </a:solidFill>
            <a:round/>
            <a:headEnd/>
            <a:tailEnd type="arrow" w="med" len="med"/>
          </a:ln>
        </p:spPr>
      </p:cxnSp>
      <p:cxnSp>
        <p:nvCxnSpPr>
          <p:cNvPr id="22" name="Прямая со стрелкой 21"/>
          <p:cNvCxnSpPr>
            <a:cxnSpLocks noChangeShapeType="1"/>
            <a:stCxn id="14" idx="2"/>
            <a:endCxn id="13" idx="0"/>
          </p:cNvCxnSpPr>
          <p:nvPr/>
        </p:nvCxnSpPr>
        <p:spPr bwMode="auto">
          <a:xfrm rot="5400000">
            <a:off x="3384550" y="5035551"/>
            <a:ext cx="219075" cy="438150"/>
          </a:xfrm>
          <a:prstGeom prst="straightConnector1">
            <a:avLst/>
          </a:prstGeom>
          <a:noFill/>
          <a:ln w="9525" algn="ctr">
            <a:solidFill>
              <a:srgbClr val="000000"/>
            </a:solidFill>
            <a:round/>
            <a:headEnd/>
            <a:tailEnd type="arrow" w="med" len="med"/>
          </a:ln>
        </p:spPr>
      </p:cxnSp>
      <p:cxnSp>
        <p:nvCxnSpPr>
          <p:cNvPr id="23" name="Прямая со стрелкой 22"/>
          <p:cNvCxnSpPr>
            <a:cxnSpLocks noChangeShapeType="1"/>
            <a:stCxn id="14" idx="2"/>
            <a:endCxn id="8" idx="0"/>
          </p:cNvCxnSpPr>
          <p:nvPr/>
        </p:nvCxnSpPr>
        <p:spPr bwMode="auto">
          <a:xfrm rot="16200000" flipH="1">
            <a:off x="3822700" y="5035551"/>
            <a:ext cx="219075" cy="438150"/>
          </a:xfrm>
          <a:prstGeom prst="straightConnector1">
            <a:avLst/>
          </a:prstGeom>
          <a:noFill/>
          <a:ln w="9525" algn="ctr">
            <a:solidFill>
              <a:srgbClr val="000000"/>
            </a:solidFill>
            <a:round/>
            <a:headEnd/>
            <a:tailEnd type="arrow" w="med" len="med"/>
          </a:ln>
        </p:spPr>
      </p:cxnSp>
      <p:cxnSp>
        <p:nvCxnSpPr>
          <p:cNvPr id="24" name="Прямая со стрелкой 23"/>
          <p:cNvCxnSpPr>
            <a:cxnSpLocks noChangeShapeType="1"/>
            <a:stCxn id="16" idx="2"/>
            <a:endCxn id="15" idx="0"/>
          </p:cNvCxnSpPr>
          <p:nvPr/>
        </p:nvCxnSpPr>
        <p:spPr bwMode="auto">
          <a:xfrm rot="5400000">
            <a:off x="1066006" y="5674520"/>
            <a:ext cx="219075" cy="328612"/>
          </a:xfrm>
          <a:prstGeom prst="straightConnector1">
            <a:avLst/>
          </a:prstGeom>
          <a:noFill/>
          <a:ln w="9525" algn="ctr">
            <a:solidFill>
              <a:srgbClr val="000000"/>
            </a:solidFill>
            <a:round/>
            <a:headEnd/>
            <a:tailEnd type="arrow" w="med" len="med"/>
          </a:ln>
        </p:spPr>
      </p:cxnSp>
      <p:cxnSp>
        <p:nvCxnSpPr>
          <p:cNvPr id="25" name="Прямая со стрелкой 24"/>
          <p:cNvCxnSpPr>
            <a:cxnSpLocks noChangeShapeType="1"/>
            <a:stCxn id="16" idx="2"/>
            <a:endCxn id="11" idx="0"/>
          </p:cNvCxnSpPr>
          <p:nvPr/>
        </p:nvCxnSpPr>
        <p:spPr bwMode="auto">
          <a:xfrm rot="16200000" flipH="1">
            <a:off x="1339850" y="5729288"/>
            <a:ext cx="219075" cy="219075"/>
          </a:xfrm>
          <a:prstGeom prst="straightConnector1">
            <a:avLst/>
          </a:prstGeom>
          <a:noFill/>
          <a:ln w="9525" algn="ctr">
            <a:solidFill>
              <a:srgbClr val="000000"/>
            </a:solidFill>
            <a:round/>
            <a:headEnd/>
            <a:tailEnd type="arrow" w="med" len="med"/>
          </a:ln>
        </p:spPr>
      </p:cxnSp>
      <p:cxnSp>
        <p:nvCxnSpPr>
          <p:cNvPr id="26" name="Прямая со стрелкой 25"/>
          <p:cNvCxnSpPr>
            <a:cxnSpLocks noChangeShapeType="1"/>
            <a:stCxn id="9" idx="2"/>
            <a:endCxn id="12" idx="0"/>
          </p:cNvCxnSpPr>
          <p:nvPr/>
        </p:nvCxnSpPr>
        <p:spPr bwMode="auto">
          <a:xfrm rot="5400000">
            <a:off x="2143125" y="5765801"/>
            <a:ext cx="219075" cy="146050"/>
          </a:xfrm>
          <a:prstGeom prst="straightConnector1">
            <a:avLst/>
          </a:prstGeom>
          <a:noFill/>
          <a:ln w="9525" algn="ctr">
            <a:solidFill>
              <a:srgbClr val="000000"/>
            </a:solidFill>
            <a:round/>
            <a:headEnd/>
            <a:tailEnd type="arrow" w="med" len="med"/>
          </a:ln>
        </p:spPr>
      </p:cxnSp>
      <p:sp>
        <p:nvSpPr>
          <p:cNvPr id="29" name="Прямоугольник 28"/>
          <p:cNvSpPr>
            <a:spLocks noChangeArrowheads="1"/>
          </p:cNvSpPr>
          <p:nvPr/>
        </p:nvSpPr>
        <p:spPr bwMode="auto">
          <a:xfrm>
            <a:off x="7894638" y="5473700"/>
            <a:ext cx="620712" cy="365125"/>
          </a:xfrm>
          <a:prstGeom prst="rect">
            <a:avLst/>
          </a:prstGeom>
          <a:solidFill>
            <a:schemeClr val="tx1"/>
          </a:solidFill>
          <a:ln w="9525" algn="ctr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pPr algn="ctr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None/>
            </a:pPr>
            <a:r>
              <a:rPr lang="ru-RU" sz="2000">
                <a:solidFill>
                  <a:srgbClr val="000000"/>
                </a:solidFill>
              </a:rPr>
              <a:t>14</a:t>
            </a:r>
          </a:p>
        </p:txBody>
      </p:sp>
      <p:sp>
        <p:nvSpPr>
          <p:cNvPr id="30" name="Прямоугольник 29"/>
          <p:cNvSpPr/>
          <p:nvPr/>
        </p:nvSpPr>
        <p:spPr bwMode="auto">
          <a:xfrm>
            <a:off x="6069013" y="5473700"/>
            <a:ext cx="401637" cy="365125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None/>
              <a:defRPr/>
            </a:pPr>
            <a:r>
              <a:rPr lang="ru-RU" sz="20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n-cs"/>
              </a:rPr>
              <a:t>9</a:t>
            </a:r>
          </a:p>
        </p:txBody>
      </p:sp>
      <p:sp>
        <p:nvSpPr>
          <p:cNvPr id="31" name="Прямоугольник 30"/>
          <p:cNvSpPr/>
          <p:nvPr/>
        </p:nvSpPr>
        <p:spPr bwMode="auto">
          <a:xfrm>
            <a:off x="6580188" y="4268788"/>
            <a:ext cx="620712" cy="365125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None/>
              <a:defRPr/>
            </a:pPr>
            <a:r>
              <a:rPr lang="ru-RU" sz="20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n-cs"/>
              </a:rPr>
              <a:t>10</a:t>
            </a:r>
          </a:p>
        </p:txBody>
      </p:sp>
      <p:sp>
        <p:nvSpPr>
          <p:cNvPr id="32" name="Прямоугольник 31"/>
          <p:cNvSpPr/>
          <p:nvPr/>
        </p:nvSpPr>
        <p:spPr bwMode="auto">
          <a:xfrm>
            <a:off x="5302250" y="6057900"/>
            <a:ext cx="401638" cy="365125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None/>
              <a:defRPr/>
            </a:pPr>
            <a:r>
              <a:rPr lang="ru-RU" sz="20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n-cs"/>
              </a:rPr>
              <a:t>8</a:t>
            </a:r>
          </a:p>
        </p:txBody>
      </p:sp>
      <p:sp>
        <p:nvSpPr>
          <p:cNvPr id="33" name="Прямоугольник 32"/>
          <p:cNvSpPr/>
          <p:nvPr/>
        </p:nvSpPr>
        <p:spPr bwMode="auto">
          <a:xfrm>
            <a:off x="6507163" y="6094413"/>
            <a:ext cx="401637" cy="365125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None/>
              <a:defRPr/>
            </a:pPr>
            <a:r>
              <a:rPr lang="ru-RU" sz="20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n-cs"/>
              </a:rPr>
              <a:t>9</a:t>
            </a:r>
          </a:p>
        </p:txBody>
      </p:sp>
      <p:sp>
        <p:nvSpPr>
          <p:cNvPr id="34" name="Прямоугольник 33"/>
          <p:cNvSpPr/>
          <p:nvPr/>
        </p:nvSpPr>
        <p:spPr bwMode="auto">
          <a:xfrm>
            <a:off x="7018338" y="5473700"/>
            <a:ext cx="584200" cy="365125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None/>
              <a:defRPr/>
            </a:pPr>
            <a:r>
              <a:rPr lang="en-US" sz="20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n-cs"/>
              </a:rPr>
              <a:t>1</a:t>
            </a:r>
            <a:r>
              <a:rPr lang="ru-RU" sz="20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n-cs"/>
              </a:rPr>
              <a:t>1</a:t>
            </a:r>
          </a:p>
        </p:txBody>
      </p:sp>
      <p:sp>
        <p:nvSpPr>
          <p:cNvPr id="35" name="Прямоугольник 34"/>
          <p:cNvSpPr/>
          <p:nvPr/>
        </p:nvSpPr>
        <p:spPr bwMode="auto">
          <a:xfrm>
            <a:off x="7456488" y="4889500"/>
            <a:ext cx="584200" cy="365125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None/>
              <a:defRPr/>
            </a:pPr>
            <a:r>
              <a:rPr lang="ru-RU" sz="20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n-cs"/>
              </a:rPr>
              <a:t>12</a:t>
            </a:r>
          </a:p>
        </p:txBody>
      </p:sp>
      <p:sp>
        <p:nvSpPr>
          <p:cNvPr id="36" name="Прямоугольник 35"/>
          <p:cNvSpPr/>
          <p:nvPr/>
        </p:nvSpPr>
        <p:spPr bwMode="auto">
          <a:xfrm>
            <a:off x="4754563" y="6057900"/>
            <a:ext cx="401637" cy="365125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None/>
              <a:defRPr/>
            </a:pPr>
            <a:r>
              <a:rPr lang="en-US" sz="20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n-cs"/>
              </a:rPr>
              <a:t>3</a:t>
            </a:r>
            <a:endParaRPr lang="ru-RU" sz="2000" dirty="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n-cs"/>
            </a:endParaRPr>
          </a:p>
        </p:txBody>
      </p:sp>
      <p:sp>
        <p:nvSpPr>
          <p:cNvPr id="37" name="Прямоугольник 36"/>
          <p:cNvSpPr/>
          <p:nvPr/>
        </p:nvSpPr>
        <p:spPr bwMode="auto">
          <a:xfrm>
            <a:off x="5083175" y="5473700"/>
            <a:ext cx="401638" cy="365125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None/>
              <a:defRPr/>
            </a:pPr>
            <a:r>
              <a:rPr lang="ru-RU" sz="20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n-cs"/>
              </a:rPr>
              <a:t>7</a:t>
            </a:r>
          </a:p>
        </p:txBody>
      </p:sp>
      <p:sp>
        <p:nvSpPr>
          <p:cNvPr id="38" name="Прямоугольник 37"/>
          <p:cNvSpPr/>
          <p:nvPr/>
        </p:nvSpPr>
        <p:spPr bwMode="auto">
          <a:xfrm>
            <a:off x="5630863" y="4889500"/>
            <a:ext cx="401637" cy="365125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None/>
              <a:defRPr/>
            </a:pPr>
            <a:r>
              <a:rPr lang="en-US" sz="20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n-cs"/>
              </a:rPr>
              <a:t>9</a:t>
            </a:r>
            <a:endParaRPr lang="ru-RU" sz="2000" dirty="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n-cs"/>
            </a:endParaRPr>
          </a:p>
        </p:txBody>
      </p:sp>
      <p:cxnSp>
        <p:nvCxnSpPr>
          <p:cNvPr id="39" name="Прямая со стрелкой 38"/>
          <p:cNvCxnSpPr>
            <a:cxnSpLocks noChangeShapeType="1"/>
            <a:stCxn id="31" idx="2"/>
            <a:endCxn id="38" idx="0"/>
          </p:cNvCxnSpPr>
          <p:nvPr/>
        </p:nvCxnSpPr>
        <p:spPr bwMode="auto">
          <a:xfrm rot="5400000">
            <a:off x="6234113" y="4232275"/>
            <a:ext cx="255587" cy="1058863"/>
          </a:xfrm>
          <a:prstGeom prst="straightConnector1">
            <a:avLst/>
          </a:prstGeom>
          <a:noFill/>
          <a:ln w="9525" algn="ctr">
            <a:solidFill>
              <a:srgbClr val="000000"/>
            </a:solidFill>
            <a:round/>
            <a:headEnd/>
            <a:tailEnd type="arrow" w="med" len="med"/>
          </a:ln>
        </p:spPr>
      </p:cxnSp>
      <p:cxnSp>
        <p:nvCxnSpPr>
          <p:cNvPr id="40" name="Прямая со стрелкой 39"/>
          <p:cNvCxnSpPr>
            <a:cxnSpLocks noChangeShapeType="1"/>
            <a:stCxn id="31" idx="2"/>
            <a:endCxn id="35" idx="0"/>
          </p:cNvCxnSpPr>
          <p:nvPr/>
        </p:nvCxnSpPr>
        <p:spPr bwMode="auto">
          <a:xfrm rot="16200000" flipH="1">
            <a:off x="7192169" y="4333082"/>
            <a:ext cx="255587" cy="857250"/>
          </a:xfrm>
          <a:prstGeom prst="straightConnector1">
            <a:avLst/>
          </a:prstGeom>
          <a:noFill/>
          <a:ln w="9525" algn="ctr">
            <a:solidFill>
              <a:srgbClr val="000000"/>
            </a:solidFill>
            <a:round/>
            <a:headEnd/>
            <a:tailEnd type="arrow" w="med" len="med"/>
          </a:ln>
        </p:spPr>
      </p:cxnSp>
      <p:cxnSp>
        <p:nvCxnSpPr>
          <p:cNvPr id="41" name="Прямая со стрелкой 40"/>
          <p:cNvCxnSpPr>
            <a:cxnSpLocks noChangeShapeType="1"/>
            <a:stCxn id="38" idx="2"/>
            <a:endCxn id="37" idx="0"/>
          </p:cNvCxnSpPr>
          <p:nvPr/>
        </p:nvCxnSpPr>
        <p:spPr bwMode="auto">
          <a:xfrm rot="5400000">
            <a:off x="5449094" y="5090319"/>
            <a:ext cx="219075" cy="547687"/>
          </a:xfrm>
          <a:prstGeom prst="straightConnector1">
            <a:avLst/>
          </a:prstGeom>
          <a:noFill/>
          <a:ln w="9525" algn="ctr">
            <a:solidFill>
              <a:srgbClr val="000000"/>
            </a:solidFill>
            <a:round/>
            <a:headEnd/>
            <a:tailEnd type="arrow" w="med" len="med"/>
          </a:ln>
        </p:spPr>
      </p:cxnSp>
      <p:cxnSp>
        <p:nvCxnSpPr>
          <p:cNvPr id="42" name="Прямая со стрелкой 41"/>
          <p:cNvCxnSpPr>
            <a:cxnSpLocks noChangeShapeType="1"/>
            <a:stCxn id="38" idx="2"/>
            <a:endCxn id="30" idx="0"/>
          </p:cNvCxnSpPr>
          <p:nvPr/>
        </p:nvCxnSpPr>
        <p:spPr bwMode="auto">
          <a:xfrm rot="16200000" flipH="1">
            <a:off x="5942012" y="5145088"/>
            <a:ext cx="219075" cy="438150"/>
          </a:xfrm>
          <a:prstGeom prst="straightConnector1">
            <a:avLst/>
          </a:prstGeom>
          <a:noFill/>
          <a:ln w="9525" algn="ctr">
            <a:solidFill>
              <a:srgbClr val="000000"/>
            </a:solidFill>
            <a:round/>
            <a:headEnd/>
            <a:tailEnd type="arrow" w="med" len="med"/>
          </a:ln>
        </p:spPr>
      </p:cxnSp>
      <p:cxnSp>
        <p:nvCxnSpPr>
          <p:cNvPr id="43" name="Прямая со стрелкой 42"/>
          <p:cNvCxnSpPr>
            <a:cxnSpLocks noChangeShapeType="1"/>
            <a:stCxn id="35" idx="2"/>
            <a:endCxn id="34" idx="0"/>
          </p:cNvCxnSpPr>
          <p:nvPr/>
        </p:nvCxnSpPr>
        <p:spPr bwMode="auto">
          <a:xfrm rot="5400000">
            <a:off x="7419975" y="5145088"/>
            <a:ext cx="219075" cy="438150"/>
          </a:xfrm>
          <a:prstGeom prst="straightConnector1">
            <a:avLst/>
          </a:prstGeom>
          <a:noFill/>
          <a:ln w="9525" algn="ctr">
            <a:solidFill>
              <a:srgbClr val="000000"/>
            </a:solidFill>
            <a:round/>
            <a:headEnd/>
            <a:tailEnd type="arrow" w="med" len="med"/>
          </a:ln>
        </p:spPr>
      </p:cxnSp>
      <p:cxnSp>
        <p:nvCxnSpPr>
          <p:cNvPr id="44" name="Прямая со стрелкой 43"/>
          <p:cNvCxnSpPr>
            <a:cxnSpLocks noChangeShapeType="1"/>
            <a:stCxn id="35" idx="2"/>
            <a:endCxn id="29" idx="0"/>
          </p:cNvCxnSpPr>
          <p:nvPr/>
        </p:nvCxnSpPr>
        <p:spPr bwMode="auto">
          <a:xfrm rot="16200000" flipH="1">
            <a:off x="7867650" y="5135563"/>
            <a:ext cx="219075" cy="457200"/>
          </a:xfrm>
          <a:prstGeom prst="straightConnector1">
            <a:avLst/>
          </a:prstGeom>
          <a:noFill/>
          <a:ln w="9525" algn="ctr">
            <a:solidFill>
              <a:srgbClr val="000000"/>
            </a:solidFill>
            <a:round/>
            <a:headEnd/>
            <a:tailEnd type="arrow" w="med" len="med"/>
          </a:ln>
        </p:spPr>
      </p:cxnSp>
      <p:cxnSp>
        <p:nvCxnSpPr>
          <p:cNvPr id="45" name="Прямая со стрелкой 44"/>
          <p:cNvCxnSpPr>
            <a:cxnSpLocks noChangeShapeType="1"/>
            <a:stCxn id="37" idx="2"/>
            <a:endCxn id="36" idx="0"/>
          </p:cNvCxnSpPr>
          <p:nvPr/>
        </p:nvCxnSpPr>
        <p:spPr bwMode="auto">
          <a:xfrm rot="5400000">
            <a:off x="5010944" y="5784056"/>
            <a:ext cx="219075" cy="328613"/>
          </a:xfrm>
          <a:prstGeom prst="straightConnector1">
            <a:avLst/>
          </a:prstGeom>
          <a:noFill/>
          <a:ln w="9525" algn="ctr">
            <a:solidFill>
              <a:srgbClr val="000000"/>
            </a:solidFill>
            <a:round/>
            <a:headEnd/>
            <a:tailEnd type="arrow" w="med" len="med"/>
          </a:ln>
        </p:spPr>
      </p:cxnSp>
      <p:cxnSp>
        <p:nvCxnSpPr>
          <p:cNvPr id="46" name="Прямая со стрелкой 45"/>
          <p:cNvCxnSpPr>
            <a:cxnSpLocks noChangeShapeType="1"/>
            <a:stCxn id="37" idx="2"/>
            <a:endCxn id="32" idx="0"/>
          </p:cNvCxnSpPr>
          <p:nvPr/>
        </p:nvCxnSpPr>
        <p:spPr bwMode="auto">
          <a:xfrm rot="16200000" flipH="1">
            <a:off x="5284788" y="5838825"/>
            <a:ext cx="219075" cy="219075"/>
          </a:xfrm>
          <a:prstGeom prst="straightConnector1">
            <a:avLst/>
          </a:prstGeom>
          <a:noFill/>
          <a:ln w="9525" algn="ctr">
            <a:solidFill>
              <a:srgbClr val="000000"/>
            </a:solidFill>
            <a:round/>
            <a:headEnd/>
            <a:tailEnd type="arrow" w="med" len="med"/>
          </a:ln>
        </p:spPr>
      </p:cxnSp>
      <p:cxnSp>
        <p:nvCxnSpPr>
          <p:cNvPr id="47" name="Прямая со стрелкой 46"/>
          <p:cNvCxnSpPr>
            <a:cxnSpLocks noChangeShapeType="1"/>
            <a:stCxn id="30" idx="2"/>
            <a:endCxn id="33" idx="0"/>
          </p:cNvCxnSpPr>
          <p:nvPr/>
        </p:nvCxnSpPr>
        <p:spPr bwMode="auto">
          <a:xfrm rot="16200000" flipH="1">
            <a:off x="6361906" y="5747544"/>
            <a:ext cx="255588" cy="438150"/>
          </a:xfrm>
          <a:prstGeom prst="straightConnector1">
            <a:avLst/>
          </a:prstGeom>
          <a:noFill/>
          <a:ln w="9525" algn="ctr">
            <a:solidFill>
              <a:srgbClr val="000000"/>
            </a:solidFill>
            <a:round/>
            <a:headEnd/>
            <a:tailEnd type="arrow" w="med" len="med"/>
          </a:ln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1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4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0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3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6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5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8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1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4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0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3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/>
          <p:cNvSpPr txBox="1">
            <a:spLocks/>
          </p:cNvSpPr>
          <p:nvPr/>
        </p:nvSpPr>
        <p:spPr bwMode="auto">
          <a:xfrm>
            <a:off x="592138" y="215900"/>
            <a:ext cx="8229600" cy="985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 eaLnBrk="0" hangingPunct="0">
              <a:defRPr/>
            </a:pPr>
            <a:r>
              <a:rPr lang="ru-RU" sz="3600" kern="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Биномиальная очередь</a:t>
            </a:r>
          </a:p>
        </p:txBody>
      </p:sp>
      <p:sp>
        <p:nvSpPr>
          <p:cNvPr id="5" name="Прямоугольник 4"/>
          <p:cNvSpPr/>
          <p:nvPr/>
        </p:nvSpPr>
        <p:spPr>
          <a:xfrm>
            <a:off x="519113" y="1165225"/>
            <a:ext cx="8324850" cy="2246313"/>
          </a:xfrm>
          <a:prstGeom prst="rect">
            <a:avLst/>
          </a:prstGeom>
          <a:solidFill>
            <a:schemeClr val="tx1"/>
          </a:solidFill>
          <a:ln>
            <a:solidFill>
              <a:srgbClr val="000000"/>
            </a:solidFill>
          </a:ln>
        </p:spPr>
        <p:txBody>
          <a:bodyPr>
            <a:spAutoFit/>
          </a:bodyPr>
          <a:lstStyle/>
          <a:p>
            <a:pPr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None/>
              <a:defRPr/>
            </a:pPr>
            <a:r>
              <a:rPr lang="ru-RU" dirty="0">
                <a:solidFill>
                  <a:schemeClr val="bg2">
                    <a:lumMod val="60000"/>
                    <a:lumOff val="40000"/>
                  </a:schemeClr>
                </a:solidFill>
                <a:cs typeface="+mn-cs"/>
              </a:rPr>
              <a:t>Сортирующее дерево степени 2 </a:t>
            </a:r>
            <a:r>
              <a:rPr lang="ru-RU" dirty="0">
                <a:solidFill>
                  <a:srgbClr val="000000"/>
                </a:solidFill>
                <a:cs typeface="+mn-cs"/>
              </a:rPr>
              <a:t>есть левостороннее пирамидально упорядоченное дерево, состоящее из корневого узла с пустым правым поддеревом и полным левым поддеревом.</a:t>
            </a:r>
          </a:p>
        </p:txBody>
      </p:sp>
      <p:sp>
        <p:nvSpPr>
          <p:cNvPr id="7" name="Прямоугольник 6"/>
          <p:cNvSpPr/>
          <p:nvPr/>
        </p:nvSpPr>
        <p:spPr bwMode="auto">
          <a:xfrm>
            <a:off x="2125663" y="5364163"/>
            <a:ext cx="401637" cy="365125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None/>
              <a:defRPr/>
            </a:pPr>
            <a:r>
              <a:rPr lang="en-US" sz="20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n-cs"/>
              </a:rPr>
              <a:t>8</a:t>
            </a:r>
            <a:endParaRPr lang="ru-RU" sz="2000" dirty="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n-cs"/>
            </a:endParaRPr>
          </a:p>
        </p:txBody>
      </p:sp>
      <p:sp>
        <p:nvSpPr>
          <p:cNvPr id="8" name="Прямоугольник 7"/>
          <p:cNvSpPr/>
          <p:nvPr/>
        </p:nvSpPr>
        <p:spPr bwMode="auto">
          <a:xfrm>
            <a:off x="2454275" y="4159250"/>
            <a:ext cx="584200" cy="365125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None/>
              <a:defRPr/>
            </a:pPr>
            <a:r>
              <a:rPr lang="en-US" sz="20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n-cs"/>
              </a:rPr>
              <a:t>10</a:t>
            </a:r>
            <a:endParaRPr lang="ru-RU" sz="2000" dirty="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n-cs"/>
            </a:endParaRPr>
          </a:p>
        </p:txBody>
      </p:sp>
      <p:sp>
        <p:nvSpPr>
          <p:cNvPr id="9" name="Прямоугольник 8"/>
          <p:cNvSpPr/>
          <p:nvPr/>
        </p:nvSpPr>
        <p:spPr bwMode="auto">
          <a:xfrm>
            <a:off x="1358900" y="5948363"/>
            <a:ext cx="401638" cy="365125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None/>
              <a:defRPr/>
            </a:pPr>
            <a:r>
              <a:rPr lang="en-US" sz="20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n-cs"/>
              </a:rPr>
              <a:t>7</a:t>
            </a:r>
            <a:endParaRPr lang="ru-RU" sz="2000" dirty="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n-cs"/>
            </a:endParaRPr>
          </a:p>
        </p:txBody>
      </p:sp>
      <p:sp>
        <p:nvSpPr>
          <p:cNvPr id="10" name="Прямоугольник 9"/>
          <p:cNvSpPr/>
          <p:nvPr/>
        </p:nvSpPr>
        <p:spPr bwMode="auto">
          <a:xfrm>
            <a:off x="1979613" y="5948363"/>
            <a:ext cx="401637" cy="365125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None/>
              <a:defRPr/>
            </a:pPr>
            <a:r>
              <a:rPr lang="en-US" sz="20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n-cs"/>
              </a:rPr>
              <a:t>2</a:t>
            </a:r>
            <a:endParaRPr lang="ru-RU" sz="2000" dirty="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n-cs"/>
            </a:endParaRPr>
          </a:p>
        </p:txBody>
      </p:sp>
      <p:sp>
        <p:nvSpPr>
          <p:cNvPr id="13" name="Прямоугольник 12"/>
          <p:cNvSpPr/>
          <p:nvPr/>
        </p:nvSpPr>
        <p:spPr bwMode="auto">
          <a:xfrm>
            <a:off x="811213" y="5948363"/>
            <a:ext cx="401637" cy="365125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None/>
              <a:defRPr/>
            </a:pPr>
            <a:r>
              <a:rPr lang="en-US" sz="20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n-cs"/>
              </a:rPr>
              <a:t>4</a:t>
            </a:r>
            <a:endParaRPr lang="ru-RU" sz="2000" dirty="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n-cs"/>
            </a:endParaRPr>
          </a:p>
        </p:txBody>
      </p:sp>
      <p:sp>
        <p:nvSpPr>
          <p:cNvPr id="14" name="Прямоугольник 13"/>
          <p:cNvSpPr/>
          <p:nvPr/>
        </p:nvSpPr>
        <p:spPr bwMode="auto">
          <a:xfrm>
            <a:off x="1139825" y="5364163"/>
            <a:ext cx="401638" cy="365125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None/>
              <a:defRPr/>
            </a:pPr>
            <a:r>
              <a:rPr lang="en-US" sz="20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n-cs"/>
              </a:rPr>
              <a:t>8</a:t>
            </a:r>
            <a:endParaRPr lang="ru-RU" sz="2000" dirty="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n-cs"/>
            </a:endParaRPr>
          </a:p>
        </p:txBody>
      </p:sp>
      <p:sp>
        <p:nvSpPr>
          <p:cNvPr id="15" name="Прямоугольник 14"/>
          <p:cNvSpPr/>
          <p:nvPr/>
        </p:nvSpPr>
        <p:spPr bwMode="auto">
          <a:xfrm>
            <a:off x="1687513" y="4779963"/>
            <a:ext cx="401637" cy="365125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None/>
              <a:defRPr/>
            </a:pPr>
            <a:r>
              <a:rPr lang="en-US" sz="20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n-cs"/>
              </a:rPr>
              <a:t>9</a:t>
            </a:r>
            <a:endParaRPr lang="ru-RU" sz="2000" dirty="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n-cs"/>
            </a:endParaRPr>
          </a:p>
        </p:txBody>
      </p:sp>
      <p:cxnSp>
        <p:nvCxnSpPr>
          <p:cNvPr id="16" name="Прямая со стрелкой 15"/>
          <p:cNvCxnSpPr>
            <a:cxnSpLocks noChangeShapeType="1"/>
            <a:stCxn id="8" idx="2"/>
            <a:endCxn id="15" idx="0"/>
          </p:cNvCxnSpPr>
          <p:nvPr/>
        </p:nvCxnSpPr>
        <p:spPr bwMode="auto">
          <a:xfrm rot="5400000">
            <a:off x="2189163" y="4222750"/>
            <a:ext cx="255588" cy="858837"/>
          </a:xfrm>
          <a:prstGeom prst="straightConnector1">
            <a:avLst/>
          </a:prstGeom>
          <a:noFill/>
          <a:ln w="9525" algn="ctr">
            <a:solidFill>
              <a:srgbClr val="000000"/>
            </a:solidFill>
            <a:round/>
            <a:headEnd/>
            <a:tailEnd type="arrow" w="med" len="med"/>
          </a:ln>
        </p:spPr>
      </p:cxnSp>
      <p:cxnSp>
        <p:nvCxnSpPr>
          <p:cNvPr id="17" name="Прямая со стрелкой 16"/>
          <p:cNvCxnSpPr>
            <a:cxnSpLocks noChangeShapeType="1"/>
            <a:stCxn id="8" idx="2"/>
          </p:cNvCxnSpPr>
          <p:nvPr/>
        </p:nvCxnSpPr>
        <p:spPr bwMode="auto">
          <a:xfrm rot="16200000" flipH="1">
            <a:off x="3101975" y="4168775"/>
            <a:ext cx="255588" cy="966788"/>
          </a:xfrm>
          <a:prstGeom prst="straightConnector1">
            <a:avLst/>
          </a:prstGeom>
          <a:noFill/>
          <a:ln w="9525" algn="ctr">
            <a:solidFill>
              <a:srgbClr val="000000"/>
            </a:solidFill>
            <a:round/>
            <a:headEnd/>
            <a:tailEnd type="arrow" w="med" len="med"/>
          </a:ln>
        </p:spPr>
      </p:cxnSp>
      <p:cxnSp>
        <p:nvCxnSpPr>
          <p:cNvPr id="18" name="Прямая со стрелкой 17"/>
          <p:cNvCxnSpPr>
            <a:cxnSpLocks noChangeShapeType="1"/>
            <a:stCxn id="15" idx="2"/>
            <a:endCxn id="14" idx="0"/>
          </p:cNvCxnSpPr>
          <p:nvPr/>
        </p:nvCxnSpPr>
        <p:spPr bwMode="auto">
          <a:xfrm rot="5400000">
            <a:off x="1504156" y="4980782"/>
            <a:ext cx="219075" cy="547688"/>
          </a:xfrm>
          <a:prstGeom prst="straightConnector1">
            <a:avLst/>
          </a:prstGeom>
          <a:noFill/>
          <a:ln w="9525" algn="ctr">
            <a:solidFill>
              <a:srgbClr val="000000"/>
            </a:solidFill>
            <a:round/>
            <a:headEnd/>
            <a:tailEnd type="arrow" w="med" len="med"/>
          </a:ln>
        </p:spPr>
      </p:cxnSp>
      <p:cxnSp>
        <p:nvCxnSpPr>
          <p:cNvPr id="19" name="Прямая со стрелкой 18"/>
          <p:cNvCxnSpPr>
            <a:cxnSpLocks noChangeShapeType="1"/>
            <a:stCxn id="15" idx="2"/>
            <a:endCxn id="7" idx="0"/>
          </p:cNvCxnSpPr>
          <p:nvPr/>
        </p:nvCxnSpPr>
        <p:spPr bwMode="auto">
          <a:xfrm rot="16200000" flipH="1">
            <a:off x="1997075" y="5035551"/>
            <a:ext cx="219075" cy="438150"/>
          </a:xfrm>
          <a:prstGeom prst="straightConnector1">
            <a:avLst/>
          </a:prstGeom>
          <a:noFill/>
          <a:ln w="9525" algn="ctr">
            <a:solidFill>
              <a:srgbClr val="000000"/>
            </a:solidFill>
            <a:round/>
            <a:headEnd/>
            <a:tailEnd type="arrow" w="med" len="med"/>
          </a:ln>
        </p:spPr>
      </p:cxnSp>
      <p:cxnSp>
        <p:nvCxnSpPr>
          <p:cNvPr id="22" name="Прямая со стрелкой 21"/>
          <p:cNvCxnSpPr>
            <a:cxnSpLocks noChangeShapeType="1"/>
            <a:stCxn id="14" idx="2"/>
            <a:endCxn id="13" idx="0"/>
          </p:cNvCxnSpPr>
          <p:nvPr/>
        </p:nvCxnSpPr>
        <p:spPr bwMode="auto">
          <a:xfrm rot="5400000">
            <a:off x="1066006" y="5674520"/>
            <a:ext cx="219075" cy="328612"/>
          </a:xfrm>
          <a:prstGeom prst="straightConnector1">
            <a:avLst/>
          </a:prstGeom>
          <a:noFill/>
          <a:ln w="9525" algn="ctr">
            <a:solidFill>
              <a:srgbClr val="000000"/>
            </a:solidFill>
            <a:round/>
            <a:headEnd/>
            <a:tailEnd type="arrow" w="med" len="med"/>
          </a:ln>
        </p:spPr>
      </p:cxnSp>
      <p:cxnSp>
        <p:nvCxnSpPr>
          <p:cNvPr id="23" name="Прямая со стрелкой 22"/>
          <p:cNvCxnSpPr>
            <a:cxnSpLocks noChangeShapeType="1"/>
            <a:stCxn id="14" idx="2"/>
            <a:endCxn id="9" idx="0"/>
          </p:cNvCxnSpPr>
          <p:nvPr/>
        </p:nvCxnSpPr>
        <p:spPr bwMode="auto">
          <a:xfrm rot="16200000" flipH="1">
            <a:off x="1339850" y="5729288"/>
            <a:ext cx="219075" cy="219075"/>
          </a:xfrm>
          <a:prstGeom prst="straightConnector1">
            <a:avLst/>
          </a:prstGeom>
          <a:noFill/>
          <a:ln w="9525" algn="ctr">
            <a:solidFill>
              <a:srgbClr val="000000"/>
            </a:solidFill>
            <a:round/>
            <a:headEnd/>
            <a:tailEnd type="arrow" w="med" len="med"/>
          </a:ln>
        </p:spPr>
      </p:cxnSp>
      <p:cxnSp>
        <p:nvCxnSpPr>
          <p:cNvPr id="24" name="Прямая со стрелкой 23"/>
          <p:cNvCxnSpPr>
            <a:cxnSpLocks noChangeShapeType="1"/>
            <a:stCxn id="7" idx="2"/>
            <a:endCxn id="10" idx="0"/>
          </p:cNvCxnSpPr>
          <p:nvPr/>
        </p:nvCxnSpPr>
        <p:spPr bwMode="auto">
          <a:xfrm rot="5400000">
            <a:off x="2143125" y="5765801"/>
            <a:ext cx="219075" cy="146050"/>
          </a:xfrm>
          <a:prstGeom prst="straightConnector1">
            <a:avLst/>
          </a:prstGeom>
          <a:noFill/>
          <a:ln w="9525" algn="ctr">
            <a:solidFill>
              <a:srgbClr val="000000"/>
            </a:solidFill>
            <a:round/>
            <a:headEnd/>
            <a:tailEnd type="arrow" w="med" len="med"/>
          </a:ln>
        </p:spPr>
      </p:cxnSp>
      <p:sp>
        <p:nvSpPr>
          <p:cNvPr id="25" name="Прямоугольник 24"/>
          <p:cNvSpPr/>
          <p:nvPr/>
        </p:nvSpPr>
        <p:spPr bwMode="auto">
          <a:xfrm>
            <a:off x="2563813" y="5948363"/>
            <a:ext cx="401637" cy="365125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None/>
              <a:defRPr/>
            </a:pPr>
            <a:r>
              <a:rPr lang="en-US" sz="20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n-cs"/>
              </a:rPr>
              <a:t>1</a:t>
            </a:r>
            <a:endParaRPr lang="ru-RU" sz="2000" dirty="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n-cs"/>
            </a:endParaRPr>
          </a:p>
        </p:txBody>
      </p:sp>
      <p:cxnSp>
        <p:nvCxnSpPr>
          <p:cNvPr id="27" name="Прямая со стрелкой 26"/>
          <p:cNvCxnSpPr>
            <a:cxnSpLocks noChangeShapeType="1"/>
            <a:stCxn id="7" idx="2"/>
            <a:endCxn id="25" idx="0"/>
          </p:cNvCxnSpPr>
          <p:nvPr/>
        </p:nvCxnSpPr>
        <p:spPr bwMode="auto">
          <a:xfrm rot="16200000" flipH="1">
            <a:off x="2435225" y="5619751"/>
            <a:ext cx="219075" cy="438150"/>
          </a:xfrm>
          <a:prstGeom prst="straightConnector1">
            <a:avLst/>
          </a:prstGeom>
          <a:noFill/>
          <a:ln w="9525" algn="ctr">
            <a:solidFill>
              <a:srgbClr val="000000"/>
            </a:solidFill>
            <a:round/>
            <a:headEnd/>
            <a:tailEnd type="arrow" w="med" len="med"/>
          </a:ln>
        </p:spPr>
      </p:cxnSp>
      <p:sp>
        <p:nvSpPr>
          <p:cNvPr id="28" name="Прямоугольник 27"/>
          <p:cNvSpPr/>
          <p:nvPr/>
        </p:nvSpPr>
        <p:spPr bwMode="auto">
          <a:xfrm>
            <a:off x="3695700" y="4633913"/>
            <a:ext cx="949325" cy="365125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None/>
              <a:defRPr/>
            </a:pPr>
            <a:r>
              <a:rPr lang="en-US" sz="20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n-cs"/>
              </a:rPr>
              <a:t>Null</a:t>
            </a:r>
            <a:endParaRPr lang="ru-RU" sz="2000" dirty="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 animBg="1"/>
      <p:bldP spid="7" grpId="0" animBg="1"/>
      <p:bldP spid="8" grpId="0" animBg="1"/>
      <p:bldP spid="9" grpId="0" animBg="1"/>
      <p:bldP spid="10" grpId="0" animBg="1"/>
      <p:bldP spid="13" grpId="0" animBg="1"/>
      <p:bldP spid="14" grpId="0" animBg="1"/>
      <p:bldP spid="15" grpId="0" animBg="1"/>
      <p:bldP spid="25" grpId="0" animBg="1"/>
      <p:bldP spid="28" grpId="0" animBg="1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/>
          <p:cNvSpPr txBox="1">
            <a:spLocks/>
          </p:cNvSpPr>
          <p:nvPr/>
        </p:nvSpPr>
        <p:spPr bwMode="auto">
          <a:xfrm>
            <a:off x="592138" y="215900"/>
            <a:ext cx="8229600" cy="985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 eaLnBrk="0" hangingPunct="0">
              <a:defRPr/>
            </a:pPr>
            <a:r>
              <a:rPr lang="ru-RU" sz="3600" kern="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Биномиальная очередь</a:t>
            </a:r>
          </a:p>
        </p:txBody>
      </p:sp>
      <p:sp>
        <p:nvSpPr>
          <p:cNvPr id="7" name="Прямоугольник 6"/>
          <p:cNvSpPr/>
          <p:nvPr/>
        </p:nvSpPr>
        <p:spPr>
          <a:xfrm>
            <a:off x="263525" y="1457325"/>
            <a:ext cx="8507413" cy="4746625"/>
          </a:xfrm>
          <a:prstGeom prst="rect">
            <a:avLst/>
          </a:prstGeom>
          <a:solidFill>
            <a:schemeClr val="tx1"/>
          </a:solidFill>
          <a:ln>
            <a:solidFill>
              <a:srgbClr val="000000"/>
            </a:solidFill>
          </a:ln>
        </p:spPr>
        <p:txBody>
          <a:bodyPr>
            <a:spAutoFit/>
          </a:bodyPr>
          <a:lstStyle/>
          <a:p>
            <a:pPr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None/>
              <a:defRPr/>
            </a:pPr>
            <a:r>
              <a:rPr lang="ru-RU" dirty="0">
                <a:solidFill>
                  <a:schemeClr val="bg2"/>
                </a:solidFill>
                <a:cs typeface="+mn-cs"/>
              </a:rPr>
              <a:t>Левый потомок сортирующего дерева степени 2 называется </a:t>
            </a:r>
            <a:r>
              <a:rPr lang="ru-RU" dirty="0">
                <a:solidFill>
                  <a:schemeClr val="bg2">
                    <a:lumMod val="60000"/>
                    <a:lumOff val="40000"/>
                  </a:schemeClr>
                </a:solidFill>
                <a:cs typeface="+mn-cs"/>
              </a:rPr>
              <a:t>биномиальным деревом.</a:t>
            </a:r>
            <a:endParaRPr lang="en-US" dirty="0">
              <a:solidFill>
                <a:schemeClr val="bg2">
                  <a:lumMod val="60000"/>
                  <a:lumOff val="40000"/>
                </a:schemeClr>
              </a:solidFill>
              <a:cs typeface="+mn-cs"/>
            </a:endParaRPr>
          </a:p>
          <a:p>
            <a:pPr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None/>
              <a:defRPr/>
            </a:pPr>
            <a:endParaRPr lang="ru-RU" dirty="0">
              <a:solidFill>
                <a:schemeClr val="bg2"/>
              </a:solidFill>
              <a:cs typeface="+mn-cs"/>
            </a:endParaRPr>
          </a:p>
          <a:p>
            <a:pPr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None/>
              <a:defRPr/>
            </a:pPr>
            <a:r>
              <a:rPr lang="ru-RU" dirty="0">
                <a:solidFill>
                  <a:schemeClr val="bg2"/>
                </a:solidFill>
                <a:cs typeface="+mn-cs"/>
              </a:rPr>
              <a:t>•</a:t>
            </a:r>
            <a:r>
              <a:rPr lang="en-US" dirty="0">
                <a:solidFill>
                  <a:schemeClr val="bg2"/>
                </a:solidFill>
                <a:cs typeface="+mn-cs"/>
              </a:rPr>
              <a:t> </a:t>
            </a:r>
            <a:r>
              <a:rPr lang="ru-RU" dirty="0">
                <a:solidFill>
                  <a:schemeClr val="bg2"/>
                </a:solidFill>
                <a:cs typeface="+mn-cs"/>
              </a:rPr>
              <a:t>Кол-во узлов сортирующего дерева степени 2 есть число степени 2</a:t>
            </a:r>
            <a:r>
              <a:rPr lang="en-US" dirty="0">
                <a:solidFill>
                  <a:schemeClr val="bg2"/>
                </a:solidFill>
                <a:cs typeface="+mn-cs"/>
              </a:rPr>
              <a:t>.</a:t>
            </a:r>
            <a:endParaRPr lang="ru-RU" dirty="0">
              <a:solidFill>
                <a:schemeClr val="bg2"/>
              </a:solidFill>
              <a:cs typeface="+mn-cs"/>
            </a:endParaRPr>
          </a:p>
          <a:p>
            <a:pPr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None/>
              <a:defRPr/>
            </a:pPr>
            <a:r>
              <a:rPr lang="ru-RU" dirty="0">
                <a:solidFill>
                  <a:schemeClr val="bg2"/>
                </a:solidFill>
                <a:cs typeface="+mn-cs"/>
              </a:rPr>
              <a:t>•</a:t>
            </a:r>
            <a:r>
              <a:rPr lang="en-US" dirty="0">
                <a:solidFill>
                  <a:schemeClr val="bg2"/>
                </a:solidFill>
                <a:cs typeface="+mn-cs"/>
              </a:rPr>
              <a:t> </a:t>
            </a:r>
            <a:r>
              <a:rPr lang="ru-RU" dirty="0">
                <a:solidFill>
                  <a:schemeClr val="bg2"/>
                </a:solidFill>
                <a:cs typeface="+mn-cs"/>
              </a:rPr>
              <a:t>Ни один из ключей не обладает значением, большим ключа корня дерева</a:t>
            </a:r>
            <a:r>
              <a:rPr lang="en-US" dirty="0">
                <a:solidFill>
                  <a:schemeClr val="bg2"/>
                </a:solidFill>
                <a:cs typeface="+mn-cs"/>
              </a:rPr>
              <a:t>.</a:t>
            </a:r>
            <a:endParaRPr lang="ru-RU" dirty="0">
              <a:solidFill>
                <a:schemeClr val="bg2"/>
              </a:solidFill>
              <a:cs typeface="+mn-cs"/>
            </a:endParaRPr>
          </a:p>
          <a:p>
            <a:pPr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None/>
              <a:defRPr/>
            </a:pPr>
            <a:r>
              <a:rPr lang="ru-RU" dirty="0">
                <a:solidFill>
                  <a:schemeClr val="bg2"/>
                </a:solidFill>
                <a:cs typeface="+mn-cs"/>
              </a:rPr>
              <a:t>•</a:t>
            </a:r>
            <a:r>
              <a:rPr lang="en-US" dirty="0">
                <a:solidFill>
                  <a:schemeClr val="bg2"/>
                </a:solidFill>
                <a:cs typeface="+mn-cs"/>
              </a:rPr>
              <a:t> </a:t>
            </a:r>
            <a:r>
              <a:rPr lang="ru-RU" dirty="0">
                <a:solidFill>
                  <a:schemeClr val="bg2"/>
                </a:solidFill>
                <a:cs typeface="+mn-cs"/>
              </a:rPr>
              <a:t>Биномиальные деревья пирамидально упорядочены</a:t>
            </a:r>
            <a:r>
              <a:rPr lang="en-US" dirty="0">
                <a:solidFill>
                  <a:schemeClr val="bg2"/>
                </a:solidFill>
                <a:cs typeface="+mn-cs"/>
              </a:rPr>
              <a:t>.</a:t>
            </a:r>
            <a:endParaRPr lang="ru-RU" dirty="0">
              <a:solidFill>
                <a:schemeClr val="bg2"/>
              </a:solidFill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 animBg="1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/>
          <p:cNvSpPr txBox="1">
            <a:spLocks/>
          </p:cNvSpPr>
          <p:nvPr/>
        </p:nvSpPr>
        <p:spPr bwMode="auto">
          <a:xfrm>
            <a:off x="592138" y="215900"/>
            <a:ext cx="8229600" cy="985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 eaLnBrk="0" hangingPunct="0">
              <a:defRPr/>
            </a:pPr>
            <a:r>
              <a:rPr lang="ru-RU" sz="3600" kern="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Биномиальная очередь</a:t>
            </a:r>
          </a:p>
        </p:txBody>
      </p:sp>
      <p:sp>
        <p:nvSpPr>
          <p:cNvPr id="5" name="Прямоугольник 4"/>
          <p:cNvSpPr>
            <a:spLocks noChangeArrowheads="1"/>
          </p:cNvSpPr>
          <p:nvPr/>
        </p:nvSpPr>
        <p:spPr bwMode="auto">
          <a:xfrm>
            <a:off x="482600" y="1092200"/>
            <a:ext cx="8069263" cy="2246313"/>
          </a:xfrm>
          <a:prstGeom prst="rect">
            <a:avLst/>
          </a:prstGeom>
          <a:solidFill>
            <a:schemeClr val="tx1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None/>
            </a:pPr>
            <a:r>
              <a:rPr lang="ru-RU">
                <a:solidFill>
                  <a:schemeClr val="bg2"/>
                </a:solidFill>
              </a:rPr>
              <a:t>Если реализация биномиального дерева выполнена на основе связных структур, то объединение двух деревьев одинакового размера в одно сводится к изменению двух связей.</a:t>
            </a:r>
          </a:p>
        </p:txBody>
      </p:sp>
      <p:sp>
        <p:nvSpPr>
          <p:cNvPr id="6" name="TextBox 5"/>
          <p:cNvSpPr txBox="1">
            <a:spLocks noChangeArrowheads="1"/>
          </p:cNvSpPr>
          <p:nvPr/>
        </p:nvSpPr>
        <p:spPr bwMode="auto">
          <a:xfrm>
            <a:off x="701675" y="3830638"/>
            <a:ext cx="3541713" cy="2074862"/>
          </a:xfrm>
          <a:prstGeom prst="rect">
            <a:avLst/>
          </a:prstGeom>
          <a:solidFill>
            <a:schemeClr val="tx1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None/>
            </a:pPr>
            <a:r>
              <a:rPr lang="en-US" i="1">
                <a:solidFill>
                  <a:srgbClr val="0070C0"/>
                </a:solidFill>
              </a:rPr>
              <a:t>struct  Root {</a:t>
            </a:r>
          </a:p>
          <a:p>
            <a:pPr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None/>
            </a:pPr>
            <a:r>
              <a:rPr lang="en-US" i="1">
                <a:solidFill>
                  <a:srgbClr val="0070C0"/>
                </a:solidFill>
              </a:rPr>
              <a:t>int d;</a:t>
            </a:r>
          </a:p>
          <a:p>
            <a:pPr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None/>
            </a:pPr>
            <a:r>
              <a:rPr lang="en-US" i="1">
                <a:solidFill>
                  <a:srgbClr val="0070C0"/>
                </a:solidFill>
              </a:rPr>
              <a:t>Root *left;</a:t>
            </a:r>
          </a:p>
          <a:p>
            <a:pPr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None/>
            </a:pPr>
            <a:r>
              <a:rPr lang="en-US" i="1">
                <a:solidFill>
                  <a:srgbClr val="0070C0"/>
                </a:solidFill>
              </a:rPr>
              <a:t>Root *rigth; }</a:t>
            </a:r>
            <a:endParaRPr lang="ru-RU" i="1">
              <a:solidFill>
                <a:srgbClr val="0070C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 animBg="1"/>
      <p:bldP spid="6" grpId="0" animBg="1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/>
          <p:cNvSpPr txBox="1">
            <a:spLocks/>
          </p:cNvSpPr>
          <p:nvPr/>
        </p:nvSpPr>
        <p:spPr bwMode="auto">
          <a:xfrm>
            <a:off x="592138" y="215900"/>
            <a:ext cx="8229600" cy="985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 eaLnBrk="0" hangingPunct="0">
              <a:defRPr/>
            </a:pPr>
            <a:r>
              <a:rPr lang="ru-RU" sz="3600" kern="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Биномиальная очередь</a:t>
            </a:r>
          </a:p>
        </p:txBody>
      </p:sp>
      <p:sp>
        <p:nvSpPr>
          <p:cNvPr id="5" name="Прямоугольник 4"/>
          <p:cNvSpPr/>
          <p:nvPr/>
        </p:nvSpPr>
        <p:spPr bwMode="auto">
          <a:xfrm>
            <a:off x="1906588" y="3282950"/>
            <a:ext cx="401637" cy="365125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None/>
              <a:defRPr/>
            </a:pPr>
            <a:r>
              <a:rPr lang="en-US" sz="20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n-cs"/>
              </a:rPr>
              <a:t>8</a:t>
            </a:r>
            <a:endParaRPr lang="ru-RU" sz="2000" dirty="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n-cs"/>
            </a:endParaRPr>
          </a:p>
        </p:txBody>
      </p:sp>
      <p:sp>
        <p:nvSpPr>
          <p:cNvPr id="6" name="Прямоугольник 5"/>
          <p:cNvSpPr/>
          <p:nvPr/>
        </p:nvSpPr>
        <p:spPr bwMode="auto">
          <a:xfrm>
            <a:off x="2235200" y="2078038"/>
            <a:ext cx="584200" cy="365125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None/>
              <a:defRPr/>
            </a:pPr>
            <a:r>
              <a:rPr lang="en-US" sz="20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n-cs"/>
              </a:rPr>
              <a:t>10</a:t>
            </a:r>
            <a:endParaRPr lang="ru-RU" sz="2000" dirty="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n-cs"/>
            </a:endParaRPr>
          </a:p>
        </p:txBody>
      </p:sp>
      <p:sp>
        <p:nvSpPr>
          <p:cNvPr id="7" name="Прямоугольник 6"/>
          <p:cNvSpPr/>
          <p:nvPr/>
        </p:nvSpPr>
        <p:spPr bwMode="auto">
          <a:xfrm>
            <a:off x="1139825" y="3867150"/>
            <a:ext cx="401638" cy="365125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None/>
              <a:defRPr/>
            </a:pPr>
            <a:r>
              <a:rPr lang="en-US" sz="20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n-cs"/>
              </a:rPr>
              <a:t>7</a:t>
            </a:r>
            <a:endParaRPr lang="ru-RU" sz="2000" dirty="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n-cs"/>
            </a:endParaRPr>
          </a:p>
        </p:txBody>
      </p:sp>
      <p:sp>
        <p:nvSpPr>
          <p:cNvPr id="8" name="Прямоугольник 7"/>
          <p:cNvSpPr/>
          <p:nvPr/>
        </p:nvSpPr>
        <p:spPr bwMode="auto">
          <a:xfrm>
            <a:off x="1760538" y="3867150"/>
            <a:ext cx="401637" cy="365125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None/>
              <a:defRPr/>
            </a:pPr>
            <a:r>
              <a:rPr lang="en-US" sz="20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n-cs"/>
              </a:rPr>
              <a:t>2</a:t>
            </a:r>
            <a:endParaRPr lang="ru-RU" sz="2000" dirty="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n-cs"/>
            </a:endParaRPr>
          </a:p>
        </p:txBody>
      </p:sp>
      <p:sp>
        <p:nvSpPr>
          <p:cNvPr id="9" name="Прямоугольник 8"/>
          <p:cNvSpPr/>
          <p:nvPr/>
        </p:nvSpPr>
        <p:spPr bwMode="auto">
          <a:xfrm>
            <a:off x="592138" y="3867150"/>
            <a:ext cx="401637" cy="365125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None/>
              <a:defRPr/>
            </a:pPr>
            <a:r>
              <a:rPr lang="en-US" sz="20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n-cs"/>
              </a:rPr>
              <a:t>4</a:t>
            </a:r>
            <a:endParaRPr lang="ru-RU" sz="2000" dirty="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n-cs"/>
            </a:endParaRPr>
          </a:p>
        </p:txBody>
      </p:sp>
      <p:sp>
        <p:nvSpPr>
          <p:cNvPr id="10" name="Прямоугольник 9"/>
          <p:cNvSpPr/>
          <p:nvPr/>
        </p:nvSpPr>
        <p:spPr bwMode="auto">
          <a:xfrm>
            <a:off x="920750" y="3282950"/>
            <a:ext cx="401638" cy="365125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None/>
              <a:defRPr/>
            </a:pPr>
            <a:r>
              <a:rPr lang="en-US" sz="20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n-cs"/>
              </a:rPr>
              <a:t>8</a:t>
            </a:r>
            <a:endParaRPr lang="ru-RU" sz="2000" dirty="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n-cs"/>
            </a:endParaRPr>
          </a:p>
        </p:txBody>
      </p:sp>
      <p:sp>
        <p:nvSpPr>
          <p:cNvPr id="11" name="Прямоугольник 10"/>
          <p:cNvSpPr/>
          <p:nvPr/>
        </p:nvSpPr>
        <p:spPr bwMode="auto">
          <a:xfrm>
            <a:off x="1468438" y="2698750"/>
            <a:ext cx="401637" cy="365125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None/>
              <a:defRPr/>
            </a:pPr>
            <a:r>
              <a:rPr lang="en-US" sz="20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n-cs"/>
              </a:rPr>
              <a:t>9</a:t>
            </a:r>
            <a:endParaRPr lang="ru-RU" sz="2000" dirty="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n-cs"/>
            </a:endParaRPr>
          </a:p>
        </p:txBody>
      </p:sp>
      <p:cxnSp>
        <p:nvCxnSpPr>
          <p:cNvPr id="12" name="Прямая со стрелкой 11"/>
          <p:cNvCxnSpPr>
            <a:cxnSpLocks noChangeShapeType="1"/>
            <a:stCxn id="6" idx="2"/>
            <a:endCxn id="11" idx="0"/>
          </p:cNvCxnSpPr>
          <p:nvPr/>
        </p:nvCxnSpPr>
        <p:spPr bwMode="auto">
          <a:xfrm rot="5400000">
            <a:off x="1970088" y="2141538"/>
            <a:ext cx="255587" cy="858837"/>
          </a:xfrm>
          <a:prstGeom prst="straightConnector1">
            <a:avLst/>
          </a:prstGeom>
          <a:noFill/>
          <a:ln w="9525" algn="ctr">
            <a:solidFill>
              <a:srgbClr val="000000"/>
            </a:solidFill>
            <a:round/>
            <a:headEnd/>
            <a:tailEnd type="arrow" w="med" len="med"/>
          </a:ln>
        </p:spPr>
      </p:cxnSp>
      <p:cxnSp>
        <p:nvCxnSpPr>
          <p:cNvPr id="13" name="Прямая со стрелкой 12"/>
          <p:cNvCxnSpPr>
            <a:cxnSpLocks noChangeShapeType="1"/>
            <a:stCxn id="6" idx="2"/>
          </p:cNvCxnSpPr>
          <p:nvPr/>
        </p:nvCxnSpPr>
        <p:spPr bwMode="auto">
          <a:xfrm rot="16200000" flipH="1">
            <a:off x="2882900" y="2087563"/>
            <a:ext cx="255587" cy="966788"/>
          </a:xfrm>
          <a:prstGeom prst="straightConnector1">
            <a:avLst/>
          </a:prstGeom>
          <a:noFill/>
          <a:ln w="9525" algn="ctr">
            <a:solidFill>
              <a:srgbClr val="000000"/>
            </a:solidFill>
            <a:round/>
            <a:headEnd/>
            <a:tailEnd type="arrow" w="med" len="med"/>
          </a:ln>
        </p:spPr>
      </p:cxnSp>
      <p:cxnSp>
        <p:nvCxnSpPr>
          <p:cNvPr id="14" name="Прямая со стрелкой 13"/>
          <p:cNvCxnSpPr>
            <a:cxnSpLocks noChangeShapeType="1"/>
            <a:stCxn id="11" idx="2"/>
            <a:endCxn id="10" idx="0"/>
          </p:cNvCxnSpPr>
          <p:nvPr/>
        </p:nvCxnSpPr>
        <p:spPr bwMode="auto">
          <a:xfrm rot="5400000">
            <a:off x="1285081" y="2899569"/>
            <a:ext cx="219075" cy="547688"/>
          </a:xfrm>
          <a:prstGeom prst="straightConnector1">
            <a:avLst/>
          </a:prstGeom>
          <a:noFill/>
          <a:ln w="9525" algn="ctr">
            <a:solidFill>
              <a:srgbClr val="000000"/>
            </a:solidFill>
            <a:round/>
            <a:headEnd/>
            <a:tailEnd type="arrow" w="med" len="med"/>
          </a:ln>
        </p:spPr>
      </p:cxnSp>
      <p:cxnSp>
        <p:nvCxnSpPr>
          <p:cNvPr id="15" name="Прямая со стрелкой 14"/>
          <p:cNvCxnSpPr>
            <a:cxnSpLocks noChangeShapeType="1"/>
            <a:stCxn id="11" idx="2"/>
            <a:endCxn id="5" idx="0"/>
          </p:cNvCxnSpPr>
          <p:nvPr/>
        </p:nvCxnSpPr>
        <p:spPr bwMode="auto">
          <a:xfrm rot="16200000" flipH="1">
            <a:off x="1778000" y="2954338"/>
            <a:ext cx="219075" cy="438150"/>
          </a:xfrm>
          <a:prstGeom prst="straightConnector1">
            <a:avLst/>
          </a:prstGeom>
          <a:noFill/>
          <a:ln w="9525" algn="ctr">
            <a:solidFill>
              <a:srgbClr val="000000"/>
            </a:solidFill>
            <a:round/>
            <a:headEnd/>
            <a:tailEnd type="arrow" w="med" len="med"/>
          </a:ln>
        </p:spPr>
      </p:cxnSp>
      <p:cxnSp>
        <p:nvCxnSpPr>
          <p:cNvPr id="16" name="Прямая со стрелкой 15"/>
          <p:cNvCxnSpPr>
            <a:cxnSpLocks noChangeShapeType="1"/>
            <a:stCxn id="10" idx="2"/>
            <a:endCxn id="9" idx="0"/>
          </p:cNvCxnSpPr>
          <p:nvPr/>
        </p:nvCxnSpPr>
        <p:spPr bwMode="auto">
          <a:xfrm rot="5400000">
            <a:off x="846931" y="3593307"/>
            <a:ext cx="219075" cy="328612"/>
          </a:xfrm>
          <a:prstGeom prst="straightConnector1">
            <a:avLst/>
          </a:prstGeom>
          <a:noFill/>
          <a:ln w="9525" algn="ctr">
            <a:solidFill>
              <a:srgbClr val="000000"/>
            </a:solidFill>
            <a:round/>
            <a:headEnd/>
            <a:tailEnd type="arrow" w="med" len="med"/>
          </a:ln>
        </p:spPr>
      </p:cxnSp>
      <p:cxnSp>
        <p:nvCxnSpPr>
          <p:cNvPr id="17" name="Прямая со стрелкой 16"/>
          <p:cNvCxnSpPr>
            <a:cxnSpLocks noChangeShapeType="1"/>
            <a:stCxn id="10" idx="2"/>
            <a:endCxn id="7" idx="0"/>
          </p:cNvCxnSpPr>
          <p:nvPr/>
        </p:nvCxnSpPr>
        <p:spPr bwMode="auto">
          <a:xfrm rot="16200000" flipH="1">
            <a:off x="1120775" y="3648075"/>
            <a:ext cx="219075" cy="219075"/>
          </a:xfrm>
          <a:prstGeom prst="straightConnector1">
            <a:avLst/>
          </a:prstGeom>
          <a:noFill/>
          <a:ln w="9525" algn="ctr">
            <a:solidFill>
              <a:srgbClr val="000000"/>
            </a:solidFill>
            <a:round/>
            <a:headEnd/>
            <a:tailEnd type="arrow" w="med" len="med"/>
          </a:ln>
        </p:spPr>
      </p:cxnSp>
      <p:cxnSp>
        <p:nvCxnSpPr>
          <p:cNvPr id="18" name="Прямая со стрелкой 17"/>
          <p:cNvCxnSpPr>
            <a:cxnSpLocks noChangeShapeType="1"/>
            <a:stCxn id="5" idx="2"/>
            <a:endCxn id="8" idx="0"/>
          </p:cNvCxnSpPr>
          <p:nvPr/>
        </p:nvCxnSpPr>
        <p:spPr bwMode="auto">
          <a:xfrm rot="5400000">
            <a:off x="1924050" y="3684588"/>
            <a:ext cx="219075" cy="146050"/>
          </a:xfrm>
          <a:prstGeom prst="straightConnector1">
            <a:avLst/>
          </a:prstGeom>
          <a:noFill/>
          <a:ln w="9525" algn="ctr">
            <a:solidFill>
              <a:srgbClr val="000000"/>
            </a:solidFill>
            <a:round/>
            <a:headEnd/>
            <a:tailEnd type="arrow" w="med" len="med"/>
          </a:ln>
        </p:spPr>
      </p:cxnSp>
      <p:sp>
        <p:nvSpPr>
          <p:cNvPr id="19" name="Прямоугольник 18"/>
          <p:cNvSpPr/>
          <p:nvPr/>
        </p:nvSpPr>
        <p:spPr bwMode="auto">
          <a:xfrm>
            <a:off x="2344738" y="3867150"/>
            <a:ext cx="401637" cy="365125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None/>
              <a:defRPr/>
            </a:pPr>
            <a:r>
              <a:rPr lang="en-US" sz="20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n-cs"/>
              </a:rPr>
              <a:t>1</a:t>
            </a:r>
            <a:endParaRPr lang="ru-RU" sz="2000" dirty="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n-cs"/>
            </a:endParaRPr>
          </a:p>
        </p:txBody>
      </p:sp>
      <p:cxnSp>
        <p:nvCxnSpPr>
          <p:cNvPr id="20" name="Прямая со стрелкой 19"/>
          <p:cNvCxnSpPr>
            <a:cxnSpLocks noChangeShapeType="1"/>
            <a:stCxn id="5" idx="2"/>
            <a:endCxn id="19" idx="0"/>
          </p:cNvCxnSpPr>
          <p:nvPr/>
        </p:nvCxnSpPr>
        <p:spPr bwMode="auto">
          <a:xfrm rot="16200000" flipH="1">
            <a:off x="2216150" y="3538538"/>
            <a:ext cx="219075" cy="438150"/>
          </a:xfrm>
          <a:prstGeom prst="straightConnector1">
            <a:avLst/>
          </a:prstGeom>
          <a:noFill/>
          <a:ln w="9525" algn="ctr">
            <a:solidFill>
              <a:srgbClr val="000000"/>
            </a:solidFill>
            <a:round/>
            <a:headEnd/>
            <a:tailEnd type="arrow" w="med" len="med"/>
          </a:ln>
        </p:spPr>
      </p:cxnSp>
      <p:sp>
        <p:nvSpPr>
          <p:cNvPr id="21" name="Прямоугольник 20"/>
          <p:cNvSpPr/>
          <p:nvPr/>
        </p:nvSpPr>
        <p:spPr bwMode="auto">
          <a:xfrm>
            <a:off x="3476625" y="2552700"/>
            <a:ext cx="949325" cy="365125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None/>
              <a:defRPr/>
            </a:pPr>
            <a:r>
              <a:rPr lang="en-US" sz="20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n-cs"/>
              </a:rPr>
              <a:t>Null</a:t>
            </a:r>
            <a:endParaRPr lang="ru-RU" sz="2000" dirty="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n-cs"/>
            </a:endParaRPr>
          </a:p>
        </p:txBody>
      </p:sp>
      <p:sp>
        <p:nvSpPr>
          <p:cNvPr id="22" name="Прямоугольник 21"/>
          <p:cNvSpPr/>
          <p:nvPr/>
        </p:nvSpPr>
        <p:spPr bwMode="auto">
          <a:xfrm>
            <a:off x="5849938" y="3282950"/>
            <a:ext cx="401637" cy="365125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None/>
              <a:defRPr/>
            </a:pPr>
            <a:r>
              <a:rPr lang="en-US" sz="20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n-cs"/>
              </a:rPr>
              <a:t>5</a:t>
            </a:r>
            <a:endParaRPr lang="ru-RU" sz="2000" dirty="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n-cs"/>
            </a:endParaRPr>
          </a:p>
        </p:txBody>
      </p:sp>
      <p:sp>
        <p:nvSpPr>
          <p:cNvPr id="23" name="Прямоугольник 22"/>
          <p:cNvSpPr/>
          <p:nvPr/>
        </p:nvSpPr>
        <p:spPr bwMode="auto">
          <a:xfrm>
            <a:off x="6178550" y="2078038"/>
            <a:ext cx="584200" cy="365125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None/>
              <a:defRPr/>
            </a:pPr>
            <a:r>
              <a:rPr lang="en-US" sz="20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n-cs"/>
              </a:rPr>
              <a:t>8</a:t>
            </a:r>
            <a:endParaRPr lang="ru-RU" sz="2000" dirty="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n-cs"/>
            </a:endParaRPr>
          </a:p>
        </p:txBody>
      </p:sp>
      <p:sp>
        <p:nvSpPr>
          <p:cNvPr id="24" name="Прямоугольник 23"/>
          <p:cNvSpPr/>
          <p:nvPr/>
        </p:nvSpPr>
        <p:spPr bwMode="auto">
          <a:xfrm>
            <a:off x="5083175" y="3867150"/>
            <a:ext cx="401638" cy="365125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None/>
              <a:defRPr/>
            </a:pPr>
            <a:r>
              <a:rPr lang="en-US" sz="20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n-cs"/>
              </a:rPr>
              <a:t>2</a:t>
            </a:r>
            <a:endParaRPr lang="ru-RU" sz="2000" dirty="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n-cs"/>
            </a:endParaRPr>
          </a:p>
        </p:txBody>
      </p:sp>
      <p:sp>
        <p:nvSpPr>
          <p:cNvPr id="25" name="Прямоугольник 24"/>
          <p:cNvSpPr/>
          <p:nvPr/>
        </p:nvSpPr>
        <p:spPr bwMode="auto">
          <a:xfrm>
            <a:off x="5703888" y="3867150"/>
            <a:ext cx="401637" cy="365125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None/>
              <a:defRPr/>
            </a:pPr>
            <a:r>
              <a:rPr lang="en-US" sz="20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n-cs"/>
              </a:rPr>
              <a:t>4</a:t>
            </a:r>
            <a:endParaRPr lang="ru-RU" sz="2000" dirty="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n-cs"/>
            </a:endParaRPr>
          </a:p>
        </p:txBody>
      </p:sp>
      <p:sp>
        <p:nvSpPr>
          <p:cNvPr id="26" name="Прямоугольник 25"/>
          <p:cNvSpPr/>
          <p:nvPr/>
        </p:nvSpPr>
        <p:spPr bwMode="auto">
          <a:xfrm>
            <a:off x="4535488" y="3867150"/>
            <a:ext cx="401637" cy="365125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None/>
              <a:defRPr/>
            </a:pPr>
            <a:r>
              <a:rPr lang="en-US" sz="20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n-cs"/>
              </a:rPr>
              <a:t>3</a:t>
            </a:r>
            <a:endParaRPr lang="ru-RU" sz="2000" dirty="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n-cs"/>
            </a:endParaRPr>
          </a:p>
        </p:txBody>
      </p:sp>
      <p:sp>
        <p:nvSpPr>
          <p:cNvPr id="27" name="Прямоугольник 26"/>
          <p:cNvSpPr/>
          <p:nvPr/>
        </p:nvSpPr>
        <p:spPr bwMode="auto">
          <a:xfrm>
            <a:off x="4864100" y="3282950"/>
            <a:ext cx="401638" cy="365125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None/>
              <a:defRPr/>
            </a:pPr>
            <a:r>
              <a:rPr lang="en-US" sz="20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n-cs"/>
              </a:rPr>
              <a:t>4</a:t>
            </a:r>
            <a:endParaRPr lang="ru-RU" sz="2000" dirty="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n-cs"/>
            </a:endParaRPr>
          </a:p>
        </p:txBody>
      </p:sp>
      <p:sp>
        <p:nvSpPr>
          <p:cNvPr id="28" name="Прямоугольник 27"/>
          <p:cNvSpPr/>
          <p:nvPr/>
        </p:nvSpPr>
        <p:spPr bwMode="auto">
          <a:xfrm>
            <a:off x="5411788" y="2698750"/>
            <a:ext cx="401637" cy="365125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None/>
              <a:defRPr/>
            </a:pPr>
            <a:r>
              <a:rPr lang="en-US" sz="20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n-cs"/>
              </a:rPr>
              <a:t>7</a:t>
            </a:r>
            <a:endParaRPr lang="ru-RU" sz="2000" dirty="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n-cs"/>
            </a:endParaRPr>
          </a:p>
        </p:txBody>
      </p:sp>
      <p:cxnSp>
        <p:nvCxnSpPr>
          <p:cNvPr id="29" name="Прямая со стрелкой 28"/>
          <p:cNvCxnSpPr>
            <a:cxnSpLocks noChangeShapeType="1"/>
            <a:stCxn id="23" idx="2"/>
            <a:endCxn id="28" idx="0"/>
          </p:cNvCxnSpPr>
          <p:nvPr/>
        </p:nvCxnSpPr>
        <p:spPr bwMode="auto">
          <a:xfrm rot="5400000">
            <a:off x="5914231" y="2142332"/>
            <a:ext cx="255587" cy="857250"/>
          </a:xfrm>
          <a:prstGeom prst="straightConnector1">
            <a:avLst/>
          </a:prstGeom>
          <a:noFill/>
          <a:ln w="9525" algn="ctr">
            <a:solidFill>
              <a:srgbClr val="000000"/>
            </a:solidFill>
            <a:round/>
            <a:headEnd/>
            <a:tailEnd type="arrow" w="med" len="med"/>
          </a:ln>
        </p:spPr>
      </p:cxnSp>
      <p:cxnSp>
        <p:nvCxnSpPr>
          <p:cNvPr id="30" name="Прямая со стрелкой 29"/>
          <p:cNvCxnSpPr>
            <a:cxnSpLocks noChangeShapeType="1"/>
            <a:stCxn id="23" idx="2"/>
          </p:cNvCxnSpPr>
          <p:nvPr/>
        </p:nvCxnSpPr>
        <p:spPr bwMode="auto">
          <a:xfrm rot="16200000" flipH="1">
            <a:off x="6827044" y="2086769"/>
            <a:ext cx="255587" cy="968375"/>
          </a:xfrm>
          <a:prstGeom prst="straightConnector1">
            <a:avLst/>
          </a:prstGeom>
          <a:noFill/>
          <a:ln w="9525" algn="ctr">
            <a:solidFill>
              <a:srgbClr val="000000"/>
            </a:solidFill>
            <a:round/>
            <a:headEnd/>
            <a:tailEnd type="arrow" w="med" len="med"/>
          </a:ln>
        </p:spPr>
      </p:cxnSp>
      <p:cxnSp>
        <p:nvCxnSpPr>
          <p:cNvPr id="31" name="Прямая со стрелкой 30"/>
          <p:cNvCxnSpPr>
            <a:cxnSpLocks noChangeShapeType="1"/>
            <a:stCxn id="28" idx="2"/>
            <a:endCxn id="27" idx="0"/>
          </p:cNvCxnSpPr>
          <p:nvPr/>
        </p:nvCxnSpPr>
        <p:spPr bwMode="auto">
          <a:xfrm rot="5400000">
            <a:off x="5230019" y="2899569"/>
            <a:ext cx="219075" cy="547687"/>
          </a:xfrm>
          <a:prstGeom prst="straightConnector1">
            <a:avLst/>
          </a:prstGeom>
          <a:noFill/>
          <a:ln w="9525" algn="ctr">
            <a:solidFill>
              <a:srgbClr val="000000"/>
            </a:solidFill>
            <a:round/>
            <a:headEnd/>
            <a:tailEnd type="arrow" w="med" len="med"/>
          </a:ln>
        </p:spPr>
      </p:cxnSp>
      <p:cxnSp>
        <p:nvCxnSpPr>
          <p:cNvPr id="32" name="Прямая со стрелкой 31"/>
          <p:cNvCxnSpPr>
            <a:cxnSpLocks noChangeShapeType="1"/>
            <a:stCxn id="28" idx="2"/>
            <a:endCxn id="22" idx="0"/>
          </p:cNvCxnSpPr>
          <p:nvPr/>
        </p:nvCxnSpPr>
        <p:spPr bwMode="auto">
          <a:xfrm rot="16200000" flipH="1">
            <a:off x="5722937" y="2954338"/>
            <a:ext cx="219075" cy="438150"/>
          </a:xfrm>
          <a:prstGeom prst="straightConnector1">
            <a:avLst/>
          </a:prstGeom>
          <a:noFill/>
          <a:ln w="9525" algn="ctr">
            <a:solidFill>
              <a:srgbClr val="000000"/>
            </a:solidFill>
            <a:round/>
            <a:headEnd/>
            <a:tailEnd type="arrow" w="med" len="med"/>
          </a:ln>
        </p:spPr>
      </p:cxnSp>
      <p:cxnSp>
        <p:nvCxnSpPr>
          <p:cNvPr id="33" name="Прямая со стрелкой 32"/>
          <p:cNvCxnSpPr>
            <a:cxnSpLocks noChangeShapeType="1"/>
            <a:stCxn id="27" idx="2"/>
            <a:endCxn id="26" idx="0"/>
          </p:cNvCxnSpPr>
          <p:nvPr/>
        </p:nvCxnSpPr>
        <p:spPr bwMode="auto">
          <a:xfrm rot="5400000">
            <a:off x="4791869" y="3593306"/>
            <a:ext cx="219075" cy="328613"/>
          </a:xfrm>
          <a:prstGeom prst="straightConnector1">
            <a:avLst/>
          </a:prstGeom>
          <a:noFill/>
          <a:ln w="9525" algn="ctr">
            <a:solidFill>
              <a:srgbClr val="000000"/>
            </a:solidFill>
            <a:round/>
            <a:headEnd/>
            <a:tailEnd type="arrow" w="med" len="med"/>
          </a:ln>
        </p:spPr>
      </p:cxnSp>
      <p:cxnSp>
        <p:nvCxnSpPr>
          <p:cNvPr id="34" name="Прямая со стрелкой 33"/>
          <p:cNvCxnSpPr>
            <a:cxnSpLocks noChangeShapeType="1"/>
            <a:stCxn id="27" idx="2"/>
            <a:endCxn id="24" idx="0"/>
          </p:cNvCxnSpPr>
          <p:nvPr/>
        </p:nvCxnSpPr>
        <p:spPr bwMode="auto">
          <a:xfrm rot="16200000" flipH="1">
            <a:off x="5065713" y="3648075"/>
            <a:ext cx="219075" cy="219075"/>
          </a:xfrm>
          <a:prstGeom prst="straightConnector1">
            <a:avLst/>
          </a:prstGeom>
          <a:noFill/>
          <a:ln w="9525" algn="ctr">
            <a:solidFill>
              <a:srgbClr val="000000"/>
            </a:solidFill>
            <a:round/>
            <a:headEnd/>
            <a:tailEnd type="arrow" w="med" len="med"/>
          </a:ln>
        </p:spPr>
      </p:cxnSp>
      <p:cxnSp>
        <p:nvCxnSpPr>
          <p:cNvPr id="35" name="Прямая со стрелкой 34"/>
          <p:cNvCxnSpPr>
            <a:cxnSpLocks noChangeShapeType="1"/>
            <a:stCxn id="22" idx="2"/>
            <a:endCxn id="25" idx="0"/>
          </p:cNvCxnSpPr>
          <p:nvPr/>
        </p:nvCxnSpPr>
        <p:spPr bwMode="auto">
          <a:xfrm rot="5400000">
            <a:off x="5868987" y="3684588"/>
            <a:ext cx="219075" cy="146050"/>
          </a:xfrm>
          <a:prstGeom prst="straightConnector1">
            <a:avLst/>
          </a:prstGeom>
          <a:noFill/>
          <a:ln w="9525" algn="ctr">
            <a:solidFill>
              <a:srgbClr val="000000"/>
            </a:solidFill>
            <a:round/>
            <a:headEnd/>
            <a:tailEnd type="arrow" w="med" len="med"/>
          </a:ln>
        </p:spPr>
      </p:cxnSp>
      <p:sp>
        <p:nvSpPr>
          <p:cNvPr id="36" name="Прямоугольник 35"/>
          <p:cNvSpPr/>
          <p:nvPr/>
        </p:nvSpPr>
        <p:spPr bwMode="auto">
          <a:xfrm>
            <a:off x="6288088" y="3867150"/>
            <a:ext cx="401637" cy="365125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None/>
              <a:defRPr/>
            </a:pPr>
            <a:r>
              <a:rPr lang="en-US" sz="20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n-cs"/>
              </a:rPr>
              <a:t>1</a:t>
            </a:r>
            <a:endParaRPr lang="ru-RU" sz="2000" dirty="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n-cs"/>
            </a:endParaRPr>
          </a:p>
        </p:txBody>
      </p:sp>
      <p:cxnSp>
        <p:nvCxnSpPr>
          <p:cNvPr id="37" name="Прямая со стрелкой 36"/>
          <p:cNvCxnSpPr>
            <a:cxnSpLocks noChangeShapeType="1"/>
            <a:stCxn id="22" idx="2"/>
            <a:endCxn id="36" idx="0"/>
          </p:cNvCxnSpPr>
          <p:nvPr/>
        </p:nvCxnSpPr>
        <p:spPr bwMode="auto">
          <a:xfrm rot="16200000" flipH="1">
            <a:off x="6161087" y="3538538"/>
            <a:ext cx="219075" cy="438150"/>
          </a:xfrm>
          <a:prstGeom prst="straightConnector1">
            <a:avLst/>
          </a:prstGeom>
          <a:noFill/>
          <a:ln w="9525" algn="ctr">
            <a:solidFill>
              <a:srgbClr val="000000"/>
            </a:solidFill>
            <a:round/>
            <a:headEnd/>
            <a:tailEnd type="arrow" w="med" len="med"/>
          </a:ln>
        </p:spPr>
      </p:cxnSp>
      <p:sp>
        <p:nvSpPr>
          <p:cNvPr id="38" name="Прямоугольник 37"/>
          <p:cNvSpPr/>
          <p:nvPr/>
        </p:nvSpPr>
        <p:spPr bwMode="auto">
          <a:xfrm>
            <a:off x="7419975" y="2552700"/>
            <a:ext cx="949325" cy="365125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None/>
              <a:defRPr/>
            </a:pPr>
            <a:r>
              <a:rPr lang="en-US" sz="20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n-cs"/>
              </a:rPr>
              <a:t>Null</a:t>
            </a:r>
            <a:endParaRPr lang="ru-RU" sz="2000" dirty="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n-cs"/>
            </a:endParaRPr>
          </a:p>
        </p:txBody>
      </p:sp>
      <p:sp>
        <p:nvSpPr>
          <p:cNvPr id="39" name="TextBox 38"/>
          <p:cNvSpPr txBox="1">
            <a:spLocks noChangeArrowheads="1"/>
          </p:cNvSpPr>
          <p:nvPr/>
        </p:nvSpPr>
        <p:spPr bwMode="auto">
          <a:xfrm>
            <a:off x="993775" y="1420813"/>
            <a:ext cx="2117725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None/>
            </a:pPr>
            <a:r>
              <a:rPr lang="en-US" i="1">
                <a:solidFill>
                  <a:schemeClr val="bg2"/>
                </a:solidFill>
              </a:rPr>
              <a:t>Root * r1</a:t>
            </a:r>
            <a:endParaRPr lang="ru-RU" i="1">
              <a:solidFill>
                <a:schemeClr val="bg2"/>
              </a:solidFill>
            </a:endParaRPr>
          </a:p>
        </p:txBody>
      </p:sp>
      <p:sp>
        <p:nvSpPr>
          <p:cNvPr id="40" name="TextBox 39"/>
          <p:cNvSpPr txBox="1">
            <a:spLocks noChangeArrowheads="1"/>
          </p:cNvSpPr>
          <p:nvPr/>
        </p:nvSpPr>
        <p:spPr bwMode="auto">
          <a:xfrm>
            <a:off x="5375275" y="1420813"/>
            <a:ext cx="2117725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None/>
            </a:pPr>
            <a:r>
              <a:rPr lang="en-US" i="1">
                <a:solidFill>
                  <a:schemeClr val="bg2"/>
                </a:solidFill>
              </a:rPr>
              <a:t>Root * r2</a:t>
            </a:r>
            <a:endParaRPr lang="ru-RU" i="1">
              <a:solidFill>
                <a:schemeClr val="bg2"/>
              </a:solidFill>
            </a:endParaRPr>
          </a:p>
        </p:txBody>
      </p:sp>
      <p:sp>
        <p:nvSpPr>
          <p:cNvPr id="41" name="TextBox 40"/>
          <p:cNvSpPr txBox="1">
            <a:spLocks noChangeArrowheads="1"/>
          </p:cNvSpPr>
          <p:nvPr/>
        </p:nvSpPr>
        <p:spPr bwMode="auto">
          <a:xfrm>
            <a:off x="190500" y="4487863"/>
            <a:ext cx="5367338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None/>
            </a:pPr>
            <a:r>
              <a:rPr lang="en-US" i="1">
                <a:solidFill>
                  <a:schemeClr val="bg2"/>
                </a:solidFill>
              </a:rPr>
              <a:t>Root * temp = r1-&gt; left</a:t>
            </a:r>
            <a:endParaRPr lang="ru-RU" i="1">
              <a:solidFill>
                <a:schemeClr val="bg2"/>
              </a:solidFill>
            </a:endParaRPr>
          </a:p>
        </p:txBody>
      </p:sp>
      <p:cxnSp>
        <p:nvCxnSpPr>
          <p:cNvPr id="44" name="Прямая со стрелкой 43"/>
          <p:cNvCxnSpPr>
            <a:cxnSpLocks noChangeShapeType="1"/>
            <a:stCxn id="41" idx="3"/>
            <a:endCxn id="11" idx="3"/>
          </p:cNvCxnSpPr>
          <p:nvPr/>
        </p:nvCxnSpPr>
        <p:spPr bwMode="auto">
          <a:xfrm flipH="1" flipV="1">
            <a:off x="1870075" y="2881313"/>
            <a:ext cx="3687763" cy="1868487"/>
          </a:xfrm>
          <a:prstGeom prst="straightConnector1">
            <a:avLst/>
          </a:prstGeom>
          <a:noFill/>
          <a:ln w="9525" algn="ctr">
            <a:solidFill>
              <a:srgbClr val="FF0000"/>
            </a:solidFill>
            <a:round/>
            <a:headEnd/>
            <a:tailEnd type="arrow" w="med" len="med"/>
          </a:ln>
        </p:spPr>
      </p:cxnSp>
      <p:sp>
        <p:nvSpPr>
          <p:cNvPr id="45" name="TextBox 44"/>
          <p:cNvSpPr txBox="1">
            <a:spLocks noChangeArrowheads="1"/>
          </p:cNvSpPr>
          <p:nvPr/>
        </p:nvSpPr>
        <p:spPr bwMode="auto">
          <a:xfrm>
            <a:off x="153988" y="5254625"/>
            <a:ext cx="5367337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None/>
            </a:pPr>
            <a:r>
              <a:rPr lang="en-US" i="1">
                <a:solidFill>
                  <a:schemeClr val="bg2"/>
                </a:solidFill>
              </a:rPr>
              <a:t> r1-&gt; left = r2</a:t>
            </a:r>
            <a:endParaRPr lang="ru-RU" i="1">
              <a:solidFill>
                <a:schemeClr val="bg2"/>
              </a:solidFill>
            </a:endParaRPr>
          </a:p>
        </p:txBody>
      </p:sp>
      <p:cxnSp>
        <p:nvCxnSpPr>
          <p:cNvPr id="47" name="Прямая со стрелкой 46"/>
          <p:cNvCxnSpPr>
            <a:cxnSpLocks noChangeShapeType="1"/>
            <a:stCxn id="6" idx="2"/>
            <a:endCxn id="23" idx="1"/>
          </p:cNvCxnSpPr>
          <p:nvPr/>
        </p:nvCxnSpPr>
        <p:spPr bwMode="auto">
          <a:xfrm rot="5400000" flipH="1" flipV="1">
            <a:off x="4261643" y="526257"/>
            <a:ext cx="182563" cy="3651250"/>
          </a:xfrm>
          <a:prstGeom prst="straightConnector1">
            <a:avLst/>
          </a:prstGeom>
          <a:noFill/>
          <a:ln w="9525" algn="ctr">
            <a:solidFill>
              <a:srgbClr val="FF0000"/>
            </a:solidFill>
            <a:round/>
            <a:headEnd/>
            <a:tailEnd type="arrow" w="med" len="med"/>
          </a:ln>
        </p:spPr>
      </p:cxnSp>
      <p:sp>
        <p:nvSpPr>
          <p:cNvPr id="48" name="TextBox 47"/>
          <p:cNvSpPr txBox="1">
            <a:spLocks noChangeArrowheads="1"/>
          </p:cNvSpPr>
          <p:nvPr/>
        </p:nvSpPr>
        <p:spPr bwMode="auto">
          <a:xfrm>
            <a:off x="190500" y="6021388"/>
            <a:ext cx="5367338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None/>
            </a:pPr>
            <a:r>
              <a:rPr lang="en-US" i="1">
                <a:solidFill>
                  <a:schemeClr val="bg2"/>
                </a:solidFill>
              </a:rPr>
              <a:t> r2-&gt; right = temp</a:t>
            </a:r>
            <a:endParaRPr lang="ru-RU" i="1">
              <a:solidFill>
                <a:schemeClr val="bg2"/>
              </a:solidFill>
            </a:endParaRPr>
          </a:p>
        </p:txBody>
      </p:sp>
      <p:cxnSp>
        <p:nvCxnSpPr>
          <p:cNvPr id="50" name="Прямая со стрелкой 49"/>
          <p:cNvCxnSpPr>
            <a:cxnSpLocks noChangeShapeType="1"/>
            <a:stCxn id="23" idx="2"/>
            <a:endCxn id="11" idx="3"/>
          </p:cNvCxnSpPr>
          <p:nvPr/>
        </p:nvCxnSpPr>
        <p:spPr bwMode="auto">
          <a:xfrm rot="5400000">
            <a:off x="3951288" y="361950"/>
            <a:ext cx="438150" cy="4600575"/>
          </a:xfrm>
          <a:prstGeom prst="straightConnector1">
            <a:avLst/>
          </a:prstGeom>
          <a:noFill/>
          <a:ln w="9525" algn="ctr">
            <a:solidFill>
              <a:srgbClr val="FF0000"/>
            </a:solidFill>
            <a:round/>
            <a:headEnd/>
            <a:tailEnd type="arrow" w="med" len="med"/>
          </a:ln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1500"/>
                            </p:stCondLst>
                            <p:childTnLst>
                              <p:par>
                                <p:cTn id="6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8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1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4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0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3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8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1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indefinite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6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7" fill="hold">
                            <p:stCondLst>
                              <p:cond delay="500"/>
                            </p:stCondLst>
                            <p:childTnLst>
                              <p:par>
                                <p:cTn id="128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0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5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6" fill="hold">
                            <p:stCondLst>
                              <p:cond delay="500"/>
                            </p:stCondLst>
                            <p:childTnLst>
                              <p:par>
                                <p:cTn id="137" presetID="55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38" dur="10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ppt_w*0.7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9" dur="10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40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2" fill="hold">
                            <p:stCondLst>
                              <p:cond delay="1500"/>
                            </p:stCondLst>
                            <p:childTnLst>
                              <p:par>
                                <p:cTn id="143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5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6" fill="hold">
                      <p:stCondLst>
                        <p:cond delay="indefinite"/>
                      </p:stCondLst>
                      <p:childTnLst>
                        <p:par>
                          <p:cTn id="147" fill="hold">
                            <p:stCondLst>
                              <p:cond delay="0"/>
                            </p:stCondLst>
                            <p:childTnLst>
                              <p:par>
                                <p:cTn id="14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0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1" fill="hold">
                            <p:stCondLst>
                              <p:cond delay="500"/>
                            </p:stCondLst>
                            <p:childTnLst>
                              <p:par>
                                <p:cTn id="152" presetID="55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53" dur="10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ppt_w*0.7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4" dur="10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55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7" fill="hold">
                            <p:stCondLst>
                              <p:cond delay="1500"/>
                            </p:stCondLst>
                            <p:childTnLst>
                              <p:par>
                                <p:cTn id="15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0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9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36" grpId="0" animBg="1"/>
      <p:bldP spid="38" grpId="0" animBg="1"/>
      <p:bldP spid="39" grpId="0"/>
      <p:bldP spid="40" grpId="0"/>
      <p:bldP spid="41" grpId="0"/>
      <p:bldP spid="45" grpId="0"/>
      <p:bldP spid="48" grpId="0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/>
          <p:cNvSpPr txBox="1">
            <a:spLocks/>
          </p:cNvSpPr>
          <p:nvPr/>
        </p:nvSpPr>
        <p:spPr bwMode="auto">
          <a:xfrm>
            <a:off x="592138" y="215900"/>
            <a:ext cx="8229600" cy="985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 eaLnBrk="0" hangingPunct="0">
              <a:defRPr/>
            </a:pPr>
            <a:r>
              <a:rPr lang="ru-RU" sz="3600" kern="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Биномиальная очередь</a:t>
            </a:r>
          </a:p>
        </p:txBody>
      </p:sp>
      <p:sp>
        <p:nvSpPr>
          <p:cNvPr id="5" name="Прямоугольник 4"/>
          <p:cNvSpPr/>
          <p:nvPr/>
        </p:nvSpPr>
        <p:spPr bwMode="auto">
          <a:xfrm>
            <a:off x="4060825" y="3538538"/>
            <a:ext cx="401638" cy="365125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None/>
              <a:defRPr/>
            </a:pPr>
            <a:r>
              <a:rPr lang="en-US" sz="20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n-cs"/>
              </a:rPr>
              <a:t>8</a:t>
            </a:r>
            <a:endParaRPr lang="ru-RU" sz="2000" dirty="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n-cs"/>
            </a:endParaRPr>
          </a:p>
        </p:txBody>
      </p:sp>
      <p:sp>
        <p:nvSpPr>
          <p:cNvPr id="6" name="Прямоугольник 5"/>
          <p:cNvSpPr/>
          <p:nvPr/>
        </p:nvSpPr>
        <p:spPr bwMode="auto">
          <a:xfrm>
            <a:off x="3294063" y="1384300"/>
            <a:ext cx="584200" cy="365125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None/>
              <a:defRPr/>
            </a:pPr>
            <a:r>
              <a:rPr lang="en-US" sz="20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n-cs"/>
              </a:rPr>
              <a:t>10</a:t>
            </a:r>
            <a:endParaRPr lang="ru-RU" sz="2000" dirty="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n-cs"/>
            </a:endParaRPr>
          </a:p>
        </p:txBody>
      </p:sp>
      <p:sp>
        <p:nvSpPr>
          <p:cNvPr id="7" name="Прямоугольник 6"/>
          <p:cNvSpPr/>
          <p:nvPr/>
        </p:nvSpPr>
        <p:spPr bwMode="auto">
          <a:xfrm>
            <a:off x="3294063" y="4122738"/>
            <a:ext cx="401637" cy="365125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None/>
              <a:defRPr/>
            </a:pPr>
            <a:r>
              <a:rPr lang="en-US" sz="20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n-cs"/>
              </a:rPr>
              <a:t>7</a:t>
            </a:r>
            <a:endParaRPr lang="ru-RU" sz="2000" dirty="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n-cs"/>
            </a:endParaRPr>
          </a:p>
        </p:txBody>
      </p:sp>
      <p:sp>
        <p:nvSpPr>
          <p:cNvPr id="8" name="Прямоугольник 7"/>
          <p:cNvSpPr/>
          <p:nvPr/>
        </p:nvSpPr>
        <p:spPr bwMode="auto">
          <a:xfrm>
            <a:off x="3914775" y="4122738"/>
            <a:ext cx="401638" cy="365125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None/>
              <a:defRPr/>
            </a:pPr>
            <a:r>
              <a:rPr lang="en-US" sz="20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n-cs"/>
              </a:rPr>
              <a:t>2</a:t>
            </a:r>
            <a:endParaRPr lang="ru-RU" sz="2000" dirty="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n-cs"/>
            </a:endParaRPr>
          </a:p>
        </p:txBody>
      </p:sp>
      <p:sp>
        <p:nvSpPr>
          <p:cNvPr id="9" name="Прямоугольник 8"/>
          <p:cNvSpPr/>
          <p:nvPr/>
        </p:nvSpPr>
        <p:spPr bwMode="auto">
          <a:xfrm>
            <a:off x="2746375" y="4122738"/>
            <a:ext cx="401638" cy="365125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None/>
              <a:defRPr/>
            </a:pPr>
            <a:r>
              <a:rPr lang="en-US" sz="20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n-cs"/>
              </a:rPr>
              <a:t>4</a:t>
            </a:r>
            <a:endParaRPr lang="ru-RU" sz="2000" dirty="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n-cs"/>
            </a:endParaRPr>
          </a:p>
        </p:txBody>
      </p:sp>
      <p:sp>
        <p:nvSpPr>
          <p:cNvPr id="10" name="Прямоугольник 9"/>
          <p:cNvSpPr/>
          <p:nvPr/>
        </p:nvSpPr>
        <p:spPr bwMode="auto">
          <a:xfrm>
            <a:off x="3074988" y="3538538"/>
            <a:ext cx="401637" cy="365125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None/>
              <a:defRPr/>
            </a:pPr>
            <a:r>
              <a:rPr lang="en-US" sz="20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n-cs"/>
              </a:rPr>
              <a:t>8</a:t>
            </a:r>
            <a:endParaRPr lang="ru-RU" sz="2000" dirty="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n-cs"/>
            </a:endParaRPr>
          </a:p>
        </p:txBody>
      </p:sp>
      <p:sp>
        <p:nvSpPr>
          <p:cNvPr id="11" name="Прямоугольник 10"/>
          <p:cNvSpPr/>
          <p:nvPr/>
        </p:nvSpPr>
        <p:spPr bwMode="auto">
          <a:xfrm>
            <a:off x="3622675" y="2954338"/>
            <a:ext cx="401638" cy="365125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None/>
              <a:defRPr/>
            </a:pPr>
            <a:r>
              <a:rPr lang="en-US" sz="20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n-cs"/>
              </a:rPr>
              <a:t>9</a:t>
            </a:r>
            <a:endParaRPr lang="ru-RU" sz="2000" dirty="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n-cs"/>
            </a:endParaRPr>
          </a:p>
        </p:txBody>
      </p:sp>
      <p:cxnSp>
        <p:nvCxnSpPr>
          <p:cNvPr id="12" name="Прямая со стрелкой 11"/>
          <p:cNvCxnSpPr>
            <a:cxnSpLocks noChangeShapeType="1"/>
            <a:stCxn id="6" idx="2"/>
            <a:endCxn id="23" idx="0"/>
          </p:cNvCxnSpPr>
          <p:nvPr/>
        </p:nvCxnSpPr>
        <p:spPr bwMode="auto">
          <a:xfrm rot="5400000">
            <a:off x="2618582" y="1329531"/>
            <a:ext cx="547688" cy="1387475"/>
          </a:xfrm>
          <a:prstGeom prst="straightConnector1">
            <a:avLst/>
          </a:prstGeom>
          <a:noFill/>
          <a:ln w="9525" algn="ctr">
            <a:solidFill>
              <a:srgbClr val="000000"/>
            </a:solidFill>
            <a:round/>
            <a:headEnd/>
            <a:tailEnd type="arrow" w="med" len="med"/>
          </a:ln>
        </p:spPr>
      </p:cxnSp>
      <p:cxnSp>
        <p:nvCxnSpPr>
          <p:cNvPr id="13" name="Прямая со стрелкой 12"/>
          <p:cNvCxnSpPr>
            <a:cxnSpLocks noChangeShapeType="1"/>
            <a:stCxn id="6" idx="2"/>
            <a:endCxn id="44" idx="0"/>
          </p:cNvCxnSpPr>
          <p:nvPr/>
        </p:nvCxnSpPr>
        <p:spPr bwMode="auto">
          <a:xfrm rot="16200000" flipH="1">
            <a:off x="3951288" y="1384300"/>
            <a:ext cx="255588" cy="985837"/>
          </a:xfrm>
          <a:prstGeom prst="straightConnector1">
            <a:avLst/>
          </a:prstGeom>
          <a:noFill/>
          <a:ln w="9525" algn="ctr">
            <a:solidFill>
              <a:srgbClr val="000000"/>
            </a:solidFill>
            <a:round/>
            <a:headEnd/>
            <a:tailEnd type="arrow" w="med" len="med"/>
          </a:ln>
        </p:spPr>
      </p:cxnSp>
      <p:cxnSp>
        <p:nvCxnSpPr>
          <p:cNvPr id="14" name="Прямая со стрелкой 13"/>
          <p:cNvCxnSpPr>
            <a:cxnSpLocks noChangeShapeType="1"/>
            <a:stCxn id="11" idx="2"/>
            <a:endCxn id="10" idx="0"/>
          </p:cNvCxnSpPr>
          <p:nvPr/>
        </p:nvCxnSpPr>
        <p:spPr bwMode="auto">
          <a:xfrm rot="5400000">
            <a:off x="3439319" y="3155157"/>
            <a:ext cx="219075" cy="547687"/>
          </a:xfrm>
          <a:prstGeom prst="straightConnector1">
            <a:avLst/>
          </a:prstGeom>
          <a:noFill/>
          <a:ln w="9525" algn="ctr">
            <a:solidFill>
              <a:srgbClr val="000000"/>
            </a:solidFill>
            <a:round/>
            <a:headEnd/>
            <a:tailEnd type="arrow" w="med" len="med"/>
          </a:ln>
        </p:spPr>
      </p:cxnSp>
      <p:cxnSp>
        <p:nvCxnSpPr>
          <p:cNvPr id="15" name="Прямая со стрелкой 14"/>
          <p:cNvCxnSpPr>
            <a:cxnSpLocks noChangeShapeType="1"/>
            <a:stCxn id="11" idx="2"/>
            <a:endCxn id="5" idx="0"/>
          </p:cNvCxnSpPr>
          <p:nvPr/>
        </p:nvCxnSpPr>
        <p:spPr bwMode="auto">
          <a:xfrm rot="16200000" flipH="1">
            <a:off x="3932237" y="3209926"/>
            <a:ext cx="219075" cy="438150"/>
          </a:xfrm>
          <a:prstGeom prst="straightConnector1">
            <a:avLst/>
          </a:prstGeom>
          <a:noFill/>
          <a:ln w="9525" algn="ctr">
            <a:solidFill>
              <a:srgbClr val="000000"/>
            </a:solidFill>
            <a:round/>
            <a:headEnd/>
            <a:tailEnd type="arrow" w="med" len="med"/>
          </a:ln>
        </p:spPr>
      </p:cxnSp>
      <p:cxnSp>
        <p:nvCxnSpPr>
          <p:cNvPr id="16" name="Прямая со стрелкой 15"/>
          <p:cNvCxnSpPr>
            <a:cxnSpLocks noChangeShapeType="1"/>
            <a:stCxn id="10" idx="2"/>
            <a:endCxn id="9" idx="0"/>
          </p:cNvCxnSpPr>
          <p:nvPr/>
        </p:nvCxnSpPr>
        <p:spPr bwMode="auto">
          <a:xfrm rot="5400000">
            <a:off x="3001169" y="3848894"/>
            <a:ext cx="219075" cy="328613"/>
          </a:xfrm>
          <a:prstGeom prst="straightConnector1">
            <a:avLst/>
          </a:prstGeom>
          <a:noFill/>
          <a:ln w="9525" algn="ctr">
            <a:solidFill>
              <a:srgbClr val="000000"/>
            </a:solidFill>
            <a:round/>
            <a:headEnd/>
            <a:tailEnd type="arrow" w="med" len="med"/>
          </a:ln>
        </p:spPr>
      </p:cxnSp>
      <p:cxnSp>
        <p:nvCxnSpPr>
          <p:cNvPr id="17" name="Прямая со стрелкой 16"/>
          <p:cNvCxnSpPr>
            <a:cxnSpLocks noChangeShapeType="1"/>
            <a:stCxn id="10" idx="2"/>
            <a:endCxn id="7" idx="0"/>
          </p:cNvCxnSpPr>
          <p:nvPr/>
        </p:nvCxnSpPr>
        <p:spPr bwMode="auto">
          <a:xfrm rot="16200000" flipH="1">
            <a:off x="3275013" y="3903663"/>
            <a:ext cx="219075" cy="219075"/>
          </a:xfrm>
          <a:prstGeom prst="straightConnector1">
            <a:avLst/>
          </a:prstGeom>
          <a:noFill/>
          <a:ln w="9525" algn="ctr">
            <a:solidFill>
              <a:srgbClr val="000000"/>
            </a:solidFill>
            <a:round/>
            <a:headEnd/>
            <a:tailEnd type="arrow" w="med" len="med"/>
          </a:ln>
        </p:spPr>
      </p:cxnSp>
      <p:cxnSp>
        <p:nvCxnSpPr>
          <p:cNvPr id="18" name="Прямая со стрелкой 17"/>
          <p:cNvCxnSpPr>
            <a:cxnSpLocks noChangeShapeType="1"/>
            <a:stCxn id="5" idx="2"/>
            <a:endCxn id="8" idx="0"/>
          </p:cNvCxnSpPr>
          <p:nvPr/>
        </p:nvCxnSpPr>
        <p:spPr bwMode="auto">
          <a:xfrm rot="5400000">
            <a:off x="4078287" y="3940176"/>
            <a:ext cx="219075" cy="146050"/>
          </a:xfrm>
          <a:prstGeom prst="straightConnector1">
            <a:avLst/>
          </a:prstGeom>
          <a:noFill/>
          <a:ln w="9525" algn="ctr">
            <a:solidFill>
              <a:srgbClr val="000000"/>
            </a:solidFill>
            <a:round/>
            <a:headEnd/>
            <a:tailEnd type="arrow" w="med" len="med"/>
          </a:ln>
        </p:spPr>
      </p:cxnSp>
      <p:sp>
        <p:nvSpPr>
          <p:cNvPr id="19" name="Прямоугольник 18"/>
          <p:cNvSpPr/>
          <p:nvPr/>
        </p:nvSpPr>
        <p:spPr bwMode="auto">
          <a:xfrm>
            <a:off x="4498975" y="4122738"/>
            <a:ext cx="401638" cy="365125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None/>
              <a:defRPr/>
            </a:pPr>
            <a:r>
              <a:rPr lang="en-US" sz="20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n-cs"/>
              </a:rPr>
              <a:t>1</a:t>
            </a:r>
            <a:endParaRPr lang="ru-RU" sz="2000" dirty="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n-cs"/>
            </a:endParaRPr>
          </a:p>
        </p:txBody>
      </p:sp>
      <p:cxnSp>
        <p:nvCxnSpPr>
          <p:cNvPr id="20" name="Прямая со стрелкой 19"/>
          <p:cNvCxnSpPr>
            <a:cxnSpLocks noChangeShapeType="1"/>
            <a:stCxn id="5" idx="2"/>
            <a:endCxn id="19" idx="0"/>
          </p:cNvCxnSpPr>
          <p:nvPr/>
        </p:nvCxnSpPr>
        <p:spPr bwMode="auto">
          <a:xfrm rot="16200000" flipH="1">
            <a:off x="4371181" y="3793332"/>
            <a:ext cx="219075" cy="439738"/>
          </a:xfrm>
          <a:prstGeom prst="straightConnector1">
            <a:avLst/>
          </a:prstGeom>
          <a:noFill/>
          <a:ln w="9525" algn="ctr">
            <a:solidFill>
              <a:srgbClr val="000000"/>
            </a:solidFill>
            <a:round/>
            <a:headEnd/>
            <a:tailEnd type="arrow" w="med" len="med"/>
          </a:ln>
        </p:spPr>
      </p:cxnSp>
      <p:sp>
        <p:nvSpPr>
          <p:cNvPr id="22" name="Прямоугольник 21"/>
          <p:cNvSpPr/>
          <p:nvPr/>
        </p:nvSpPr>
        <p:spPr bwMode="auto">
          <a:xfrm>
            <a:off x="1577975" y="3502025"/>
            <a:ext cx="401638" cy="365125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None/>
              <a:defRPr/>
            </a:pPr>
            <a:r>
              <a:rPr lang="en-US" sz="20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n-cs"/>
              </a:rPr>
              <a:t>5</a:t>
            </a:r>
            <a:endParaRPr lang="ru-RU" sz="2000" dirty="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n-cs"/>
            </a:endParaRPr>
          </a:p>
        </p:txBody>
      </p:sp>
      <p:sp>
        <p:nvSpPr>
          <p:cNvPr id="23" name="Прямоугольник 22"/>
          <p:cNvSpPr/>
          <p:nvPr/>
        </p:nvSpPr>
        <p:spPr bwMode="auto">
          <a:xfrm>
            <a:off x="1906588" y="2297113"/>
            <a:ext cx="584200" cy="365125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None/>
              <a:defRPr/>
            </a:pPr>
            <a:r>
              <a:rPr lang="en-US" sz="20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n-cs"/>
              </a:rPr>
              <a:t>8</a:t>
            </a:r>
            <a:endParaRPr lang="ru-RU" sz="2000" dirty="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n-cs"/>
            </a:endParaRPr>
          </a:p>
        </p:txBody>
      </p:sp>
      <p:sp>
        <p:nvSpPr>
          <p:cNvPr id="24" name="Прямоугольник 23"/>
          <p:cNvSpPr/>
          <p:nvPr/>
        </p:nvSpPr>
        <p:spPr bwMode="auto">
          <a:xfrm>
            <a:off x="811213" y="4086225"/>
            <a:ext cx="401637" cy="365125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None/>
              <a:defRPr/>
            </a:pPr>
            <a:r>
              <a:rPr lang="en-US" sz="20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n-cs"/>
              </a:rPr>
              <a:t>2</a:t>
            </a:r>
            <a:endParaRPr lang="ru-RU" sz="2000" dirty="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n-cs"/>
            </a:endParaRPr>
          </a:p>
        </p:txBody>
      </p:sp>
      <p:sp>
        <p:nvSpPr>
          <p:cNvPr id="25" name="Прямоугольник 24"/>
          <p:cNvSpPr/>
          <p:nvPr/>
        </p:nvSpPr>
        <p:spPr bwMode="auto">
          <a:xfrm>
            <a:off x="1431925" y="4086225"/>
            <a:ext cx="401638" cy="365125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None/>
              <a:defRPr/>
            </a:pPr>
            <a:r>
              <a:rPr lang="en-US" sz="20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n-cs"/>
              </a:rPr>
              <a:t>4</a:t>
            </a:r>
            <a:endParaRPr lang="ru-RU" sz="2000" dirty="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n-cs"/>
            </a:endParaRPr>
          </a:p>
        </p:txBody>
      </p:sp>
      <p:sp>
        <p:nvSpPr>
          <p:cNvPr id="26" name="Прямоугольник 25"/>
          <p:cNvSpPr/>
          <p:nvPr/>
        </p:nvSpPr>
        <p:spPr bwMode="auto">
          <a:xfrm>
            <a:off x="263525" y="4086225"/>
            <a:ext cx="401638" cy="365125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None/>
              <a:defRPr/>
            </a:pPr>
            <a:r>
              <a:rPr lang="en-US" sz="20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n-cs"/>
              </a:rPr>
              <a:t>3</a:t>
            </a:r>
            <a:endParaRPr lang="ru-RU" sz="2000" dirty="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n-cs"/>
            </a:endParaRPr>
          </a:p>
        </p:txBody>
      </p:sp>
      <p:sp>
        <p:nvSpPr>
          <p:cNvPr id="27" name="Прямоугольник 26"/>
          <p:cNvSpPr/>
          <p:nvPr/>
        </p:nvSpPr>
        <p:spPr bwMode="auto">
          <a:xfrm>
            <a:off x="592138" y="3502025"/>
            <a:ext cx="401637" cy="365125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None/>
              <a:defRPr/>
            </a:pPr>
            <a:r>
              <a:rPr lang="en-US" sz="20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n-cs"/>
              </a:rPr>
              <a:t>4</a:t>
            </a:r>
            <a:endParaRPr lang="ru-RU" sz="2000" dirty="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n-cs"/>
            </a:endParaRPr>
          </a:p>
        </p:txBody>
      </p:sp>
      <p:sp>
        <p:nvSpPr>
          <p:cNvPr id="28" name="Прямоугольник 27"/>
          <p:cNvSpPr/>
          <p:nvPr/>
        </p:nvSpPr>
        <p:spPr bwMode="auto">
          <a:xfrm>
            <a:off x="1139825" y="2917825"/>
            <a:ext cx="401638" cy="365125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None/>
              <a:defRPr/>
            </a:pPr>
            <a:r>
              <a:rPr lang="en-US" sz="20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n-cs"/>
              </a:rPr>
              <a:t>7</a:t>
            </a:r>
            <a:endParaRPr lang="ru-RU" sz="2000" dirty="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n-cs"/>
            </a:endParaRPr>
          </a:p>
        </p:txBody>
      </p:sp>
      <p:cxnSp>
        <p:nvCxnSpPr>
          <p:cNvPr id="29" name="Прямая со стрелкой 28"/>
          <p:cNvCxnSpPr>
            <a:cxnSpLocks noChangeShapeType="1"/>
            <a:stCxn id="23" idx="2"/>
            <a:endCxn id="28" idx="0"/>
          </p:cNvCxnSpPr>
          <p:nvPr/>
        </p:nvCxnSpPr>
        <p:spPr bwMode="auto">
          <a:xfrm rot="5400000">
            <a:off x="1641475" y="2360613"/>
            <a:ext cx="255587" cy="858838"/>
          </a:xfrm>
          <a:prstGeom prst="straightConnector1">
            <a:avLst/>
          </a:prstGeom>
          <a:noFill/>
          <a:ln w="9525" algn="ctr">
            <a:solidFill>
              <a:srgbClr val="000000"/>
            </a:solidFill>
            <a:round/>
            <a:headEnd/>
            <a:tailEnd type="arrow" w="med" len="med"/>
          </a:ln>
        </p:spPr>
      </p:cxnSp>
      <p:cxnSp>
        <p:nvCxnSpPr>
          <p:cNvPr id="30" name="Прямая со стрелкой 29"/>
          <p:cNvCxnSpPr>
            <a:cxnSpLocks noChangeShapeType="1"/>
            <a:stCxn id="23" idx="2"/>
            <a:endCxn id="11" idx="0"/>
          </p:cNvCxnSpPr>
          <p:nvPr/>
        </p:nvCxnSpPr>
        <p:spPr bwMode="auto">
          <a:xfrm rot="16200000" flipH="1">
            <a:off x="2864644" y="1996282"/>
            <a:ext cx="292100" cy="1624012"/>
          </a:xfrm>
          <a:prstGeom prst="straightConnector1">
            <a:avLst/>
          </a:prstGeom>
          <a:noFill/>
          <a:ln w="9525" algn="ctr">
            <a:solidFill>
              <a:srgbClr val="000000"/>
            </a:solidFill>
            <a:round/>
            <a:headEnd/>
            <a:tailEnd type="arrow" w="med" len="med"/>
          </a:ln>
        </p:spPr>
      </p:cxnSp>
      <p:cxnSp>
        <p:nvCxnSpPr>
          <p:cNvPr id="31" name="Прямая со стрелкой 30"/>
          <p:cNvCxnSpPr>
            <a:cxnSpLocks noChangeShapeType="1"/>
            <a:stCxn id="28" idx="2"/>
            <a:endCxn id="27" idx="0"/>
          </p:cNvCxnSpPr>
          <p:nvPr/>
        </p:nvCxnSpPr>
        <p:spPr bwMode="auto">
          <a:xfrm rot="5400000">
            <a:off x="956469" y="3118644"/>
            <a:ext cx="219075" cy="547687"/>
          </a:xfrm>
          <a:prstGeom prst="straightConnector1">
            <a:avLst/>
          </a:prstGeom>
          <a:noFill/>
          <a:ln w="9525" algn="ctr">
            <a:solidFill>
              <a:srgbClr val="000000"/>
            </a:solidFill>
            <a:round/>
            <a:headEnd/>
            <a:tailEnd type="arrow" w="med" len="med"/>
          </a:ln>
        </p:spPr>
      </p:cxnSp>
      <p:cxnSp>
        <p:nvCxnSpPr>
          <p:cNvPr id="32" name="Прямая со стрелкой 31"/>
          <p:cNvCxnSpPr>
            <a:cxnSpLocks noChangeShapeType="1"/>
            <a:stCxn id="28" idx="2"/>
            <a:endCxn id="22" idx="0"/>
          </p:cNvCxnSpPr>
          <p:nvPr/>
        </p:nvCxnSpPr>
        <p:spPr bwMode="auto">
          <a:xfrm rot="16200000" flipH="1">
            <a:off x="1449387" y="3173413"/>
            <a:ext cx="219075" cy="438150"/>
          </a:xfrm>
          <a:prstGeom prst="straightConnector1">
            <a:avLst/>
          </a:prstGeom>
          <a:noFill/>
          <a:ln w="9525" algn="ctr">
            <a:solidFill>
              <a:srgbClr val="000000"/>
            </a:solidFill>
            <a:round/>
            <a:headEnd/>
            <a:tailEnd type="arrow" w="med" len="med"/>
          </a:ln>
        </p:spPr>
      </p:cxnSp>
      <p:cxnSp>
        <p:nvCxnSpPr>
          <p:cNvPr id="33" name="Прямая со стрелкой 32"/>
          <p:cNvCxnSpPr>
            <a:cxnSpLocks noChangeShapeType="1"/>
            <a:stCxn id="27" idx="2"/>
            <a:endCxn id="26" idx="0"/>
          </p:cNvCxnSpPr>
          <p:nvPr/>
        </p:nvCxnSpPr>
        <p:spPr bwMode="auto">
          <a:xfrm rot="5400000">
            <a:off x="518319" y="3812381"/>
            <a:ext cx="219075" cy="328613"/>
          </a:xfrm>
          <a:prstGeom prst="straightConnector1">
            <a:avLst/>
          </a:prstGeom>
          <a:noFill/>
          <a:ln w="9525" algn="ctr">
            <a:solidFill>
              <a:srgbClr val="000000"/>
            </a:solidFill>
            <a:round/>
            <a:headEnd/>
            <a:tailEnd type="arrow" w="med" len="med"/>
          </a:ln>
        </p:spPr>
      </p:cxnSp>
      <p:cxnSp>
        <p:nvCxnSpPr>
          <p:cNvPr id="34" name="Прямая со стрелкой 33"/>
          <p:cNvCxnSpPr>
            <a:cxnSpLocks noChangeShapeType="1"/>
            <a:stCxn id="27" idx="2"/>
            <a:endCxn id="24" idx="0"/>
          </p:cNvCxnSpPr>
          <p:nvPr/>
        </p:nvCxnSpPr>
        <p:spPr bwMode="auto">
          <a:xfrm rot="16200000" flipH="1">
            <a:off x="792163" y="3867150"/>
            <a:ext cx="219075" cy="219075"/>
          </a:xfrm>
          <a:prstGeom prst="straightConnector1">
            <a:avLst/>
          </a:prstGeom>
          <a:noFill/>
          <a:ln w="9525" algn="ctr">
            <a:solidFill>
              <a:srgbClr val="000000"/>
            </a:solidFill>
            <a:round/>
            <a:headEnd/>
            <a:tailEnd type="arrow" w="med" len="med"/>
          </a:ln>
        </p:spPr>
      </p:cxnSp>
      <p:cxnSp>
        <p:nvCxnSpPr>
          <p:cNvPr id="35" name="Прямая со стрелкой 34"/>
          <p:cNvCxnSpPr>
            <a:cxnSpLocks noChangeShapeType="1"/>
            <a:stCxn id="22" idx="2"/>
            <a:endCxn id="25" idx="0"/>
          </p:cNvCxnSpPr>
          <p:nvPr/>
        </p:nvCxnSpPr>
        <p:spPr bwMode="auto">
          <a:xfrm rot="5400000">
            <a:off x="1595437" y="3903663"/>
            <a:ext cx="219075" cy="146050"/>
          </a:xfrm>
          <a:prstGeom prst="straightConnector1">
            <a:avLst/>
          </a:prstGeom>
          <a:noFill/>
          <a:ln w="9525" algn="ctr">
            <a:solidFill>
              <a:srgbClr val="000000"/>
            </a:solidFill>
            <a:round/>
            <a:headEnd/>
            <a:tailEnd type="arrow" w="med" len="med"/>
          </a:ln>
        </p:spPr>
      </p:cxnSp>
      <p:sp>
        <p:nvSpPr>
          <p:cNvPr id="36" name="Прямоугольник 35"/>
          <p:cNvSpPr/>
          <p:nvPr/>
        </p:nvSpPr>
        <p:spPr bwMode="auto">
          <a:xfrm>
            <a:off x="2016125" y="4086225"/>
            <a:ext cx="401638" cy="365125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None/>
              <a:defRPr/>
            </a:pPr>
            <a:r>
              <a:rPr lang="en-US" sz="20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n-cs"/>
              </a:rPr>
              <a:t>1</a:t>
            </a:r>
            <a:endParaRPr lang="ru-RU" sz="2000" dirty="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n-cs"/>
            </a:endParaRPr>
          </a:p>
        </p:txBody>
      </p:sp>
      <p:cxnSp>
        <p:nvCxnSpPr>
          <p:cNvPr id="37" name="Прямая со стрелкой 36"/>
          <p:cNvCxnSpPr>
            <a:cxnSpLocks noChangeShapeType="1"/>
            <a:stCxn id="22" idx="2"/>
            <a:endCxn id="36" idx="0"/>
          </p:cNvCxnSpPr>
          <p:nvPr/>
        </p:nvCxnSpPr>
        <p:spPr bwMode="auto">
          <a:xfrm rot="16200000" flipH="1">
            <a:off x="1887537" y="3757613"/>
            <a:ext cx="219075" cy="438150"/>
          </a:xfrm>
          <a:prstGeom prst="straightConnector1">
            <a:avLst/>
          </a:prstGeom>
          <a:noFill/>
          <a:ln w="9525" algn="ctr">
            <a:solidFill>
              <a:srgbClr val="000000"/>
            </a:solidFill>
            <a:round/>
            <a:headEnd/>
            <a:tailEnd type="arrow" w="med" len="med"/>
          </a:ln>
        </p:spPr>
      </p:cxnSp>
      <p:sp>
        <p:nvSpPr>
          <p:cNvPr id="44" name="Прямоугольник 43"/>
          <p:cNvSpPr/>
          <p:nvPr/>
        </p:nvSpPr>
        <p:spPr bwMode="auto">
          <a:xfrm>
            <a:off x="4097338" y="2005013"/>
            <a:ext cx="949325" cy="365125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None/>
              <a:defRPr/>
            </a:pPr>
            <a:r>
              <a:rPr lang="en-US" sz="20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n-cs"/>
              </a:rPr>
              <a:t>Null</a:t>
            </a:r>
            <a:endParaRPr lang="ru-RU" sz="2000" dirty="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1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4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0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3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6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 animBg="1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/>
          <p:cNvSpPr txBox="1">
            <a:spLocks/>
          </p:cNvSpPr>
          <p:nvPr/>
        </p:nvSpPr>
        <p:spPr bwMode="auto">
          <a:xfrm>
            <a:off x="592138" y="215900"/>
            <a:ext cx="8229600" cy="985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 eaLnBrk="0" hangingPunct="0">
              <a:defRPr/>
            </a:pPr>
            <a:r>
              <a:rPr lang="ru-RU" sz="3600" kern="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Биномиальная очередь</a:t>
            </a:r>
          </a:p>
        </p:txBody>
      </p:sp>
      <p:sp>
        <p:nvSpPr>
          <p:cNvPr id="5" name="Прямоугольник 4"/>
          <p:cNvSpPr>
            <a:spLocks noChangeArrowheads="1"/>
          </p:cNvSpPr>
          <p:nvPr/>
        </p:nvSpPr>
        <p:spPr bwMode="auto">
          <a:xfrm>
            <a:off x="373063" y="1274763"/>
            <a:ext cx="8251825" cy="1816100"/>
          </a:xfrm>
          <a:prstGeom prst="rect">
            <a:avLst/>
          </a:prstGeom>
          <a:solidFill>
            <a:schemeClr val="tx1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None/>
            </a:pPr>
            <a:r>
              <a:rPr lang="ru-RU">
                <a:solidFill>
                  <a:srgbClr val="3333CC"/>
                </a:solidFill>
              </a:rPr>
              <a:t>Биномиальная очередь </a:t>
            </a:r>
            <a:r>
              <a:rPr lang="ru-RU">
                <a:solidFill>
                  <a:schemeClr val="bg2"/>
                </a:solidFill>
              </a:rPr>
              <a:t>представляет собой набор сортирующих деревьев степени 2 , ни одно из которых </a:t>
            </a:r>
            <a:r>
              <a:rPr lang="ru-RU">
                <a:solidFill>
                  <a:srgbClr val="3333CC"/>
                </a:solidFill>
              </a:rPr>
              <a:t>не совпадает</a:t>
            </a:r>
            <a:r>
              <a:rPr lang="ru-RU">
                <a:solidFill>
                  <a:schemeClr val="bg2"/>
                </a:solidFill>
              </a:rPr>
              <a:t> с другими по размеру. </a:t>
            </a:r>
          </a:p>
        </p:txBody>
      </p:sp>
      <p:sp>
        <p:nvSpPr>
          <p:cNvPr id="6" name="Прямоугольник 5"/>
          <p:cNvSpPr>
            <a:spLocks noChangeArrowheads="1"/>
          </p:cNvSpPr>
          <p:nvPr/>
        </p:nvSpPr>
        <p:spPr bwMode="auto">
          <a:xfrm>
            <a:off x="373063" y="3319463"/>
            <a:ext cx="8215312" cy="1816100"/>
          </a:xfrm>
          <a:prstGeom prst="rect">
            <a:avLst/>
          </a:prstGeom>
          <a:solidFill>
            <a:schemeClr val="tx1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None/>
            </a:pPr>
            <a:r>
              <a:rPr lang="ru-RU">
                <a:solidFill>
                  <a:schemeClr val="bg2"/>
                </a:solidFill>
              </a:rPr>
              <a:t>Структура биномиальной очереди совпадает с единичными разрядами двоичного представления числа узлов этой очереди.</a:t>
            </a:r>
            <a:endParaRPr lang="ru-RU"/>
          </a:p>
        </p:txBody>
      </p:sp>
      <p:sp>
        <p:nvSpPr>
          <p:cNvPr id="7" name="Прямоугольник 6"/>
          <p:cNvSpPr/>
          <p:nvPr/>
        </p:nvSpPr>
        <p:spPr bwMode="auto">
          <a:xfrm>
            <a:off x="409575" y="5510213"/>
            <a:ext cx="2847975" cy="620712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None/>
              <a:defRPr/>
            </a:pPr>
            <a:r>
              <a:rPr lang="ru-RU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n-cs"/>
              </a:rPr>
              <a:t>25</a:t>
            </a:r>
            <a:r>
              <a:rPr lang="ru-RU" baseline="-25000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n-cs"/>
              </a:rPr>
              <a:t>10</a:t>
            </a:r>
            <a:r>
              <a:rPr lang="ru-RU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n-cs"/>
              </a:rPr>
              <a:t> = 11001</a:t>
            </a:r>
            <a:r>
              <a:rPr lang="ru-RU" baseline="-25000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n-cs"/>
              </a:rPr>
              <a:t>2</a:t>
            </a:r>
            <a:endParaRPr lang="ru-RU" dirty="0">
              <a:solidFill>
                <a:schemeClr val="bg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n-cs"/>
            </a:endParaRPr>
          </a:p>
        </p:txBody>
      </p:sp>
      <p:sp>
        <p:nvSpPr>
          <p:cNvPr id="8" name="Прямоугольник 7"/>
          <p:cNvSpPr/>
          <p:nvPr/>
        </p:nvSpPr>
        <p:spPr bwMode="auto">
          <a:xfrm>
            <a:off x="3805238" y="5437188"/>
            <a:ext cx="182562" cy="146050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None/>
              <a:defRPr/>
            </a:pPr>
            <a:endParaRPr lang="ru-RU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n-cs"/>
            </a:endParaRPr>
          </a:p>
        </p:txBody>
      </p:sp>
      <p:sp>
        <p:nvSpPr>
          <p:cNvPr id="9" name="Прямоугольник 8"/>
          <p:cNvSpPr/>
          <p:nvPr/>
        </p:nvSpPr>
        <p:spPr bwMode="auto">
          <a:xfrm>
            <a:off x="5265738" y="5437188"/>
            <a:ext cx="182562" cy="146050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None/>
              <a:defRPr/>
            </a:pPr>
            <a:endParaRPr lang="ru-RU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n-cs"/>
            </a:endParaRPr>
          </a:p>
        </p:txBody>
      </p:sp>
      <p:sp>
        <p:nvSpPr>
          <p:cNvPr id="10" name="Прямоугольник 9"/>
          <p:cNvSpPr/>
          <p:nvPr/>
        </p:nvSpPr>
        <p:spPr bwMode="auto">
          <a:xfrm>
            <a:off x="5119688" y="5656263"/>
            <a:ext cx="182562" cy="146050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None/>
              <a:defRPr/>
            </a:pPr>
            <a:endParaRPr lang="ru-RU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n-cs"/>
            </a:endParaRPr>
          </a:p>
        </p:txBody>
      </p:sp>
      <p:sp>
        <p:nvSpPr>
          <p:cNvPr id="11" name="Прямоугольник 10"/>
          <p:cNvSpPr/>
          <p:nvPr/>
        </p:nvSpPr>
        <p:spPr bwMode="auto">
          <a:xfrm>
            <a:off x="4827588" y="5875338"/>
            <a:ext cx="182562" cy="146050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None/>
              <a:defRPr/>
            </a:pPr>
            <a:endParaRPr lang="ru-RU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n-cs"/>
            </a:endParaRPr>
          </a:p>
        </p:txBody>
      </p:sp>
      <p:sp>
        <p:nvSpPr>
          <p:cNvPr id="12" name="Прямоугольник 11"/>
          <p:cNvSpPr/>
          <p:nvPr/>
        </p:nvSpPr>
        <p:spPr bwMode="auto">
          <a:xfrm>
            <a:off x="5484813" y="5875338"/>
            <a:ext cx="182562" cy="146050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None/>
              <a:defRPr/>
            </a:pPr>
            <a:endParaRPr lang="ru-RU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n-cs"/>
            </a:endParaRPr>
          </a:p>
        </p:txBody>
      </p:sp>
      <p:sp>
        <p:nvSpPr>
          <p:cNvPr id="13" name="Прямоугольник 12"/>
          <p:cNvSpPr/>
          <p:nvPr/>
        </p:nvSpPr>
        <p:spPr bwMode="auto">
          <a:xfrm>
            <a:off x="4681538" y="6094413"/>
            <a:ext cx="182562" cy="146050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None/>
              <a:defRPr/>
            </a:pPr>
            <a:endParaRPr lang="ru-RU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n-cs"/>
            </a:endParaRPr>
          </a:p>
        </p:txBody>
      </p:sp>
      <p:sp>
        <p:nvSpPr>
          <p:cNvPr id="14" name="Прямоугольник 13"/>
          <p:cNvSpPr/>
          <p:nvPr/>
        </p:nvSpPr>
        <p:spPr bwMode="auto">
          <a:xfrm>
            <a:off x="4973638" y="6094413"/>
            <a:ext cx="182562" cy="146050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None/>
              <a:defRPr/>
            </a:pPr>
            <a:endParaRPr lang="ru-RU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n-cs"/>
            </a:endParaRPr>
          </a:p>
        </p:txBody>
      </p:sp>
      <p:sp>
        <p:nvSpPr>
          <p:cNvPr id="15" name="Прямоугольник 14"/>
          <p:cNvSpPr/>
          <p:nvPr/>
        </p:nvSpPr>
        <p:spPr bwMode="auto">
          <a:xfrm>
            <a:off x="5229225" y="6094413"/>
            <a:ext cx="182563" cy="146050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None/>
              <a:defRPr/>
            </a:pPr>
            <a:endParaRPr lang="ru-RU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n-cs"/>
            </a:endParaRPr>
          </a:p>
        </p:txBody>
      </p:sp>
      <p:sp>
        <p:nvSpPr>
          <p:cNvPr id="16" name="Прямоугольник 15"/>
          <p:cNvSpPr/>
          <p:nvPr/>
        </p:nvSpPr>
        <p:spPr bwMode="auto">
          <a:xfrm>
            <a:off x="5557838" y="6094413"/>
            <a:ext cx="182562" cy="146050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None/>
              <a:defRPr/>
            </a:pPr>
            <a:endParaRPr lang="ru-RU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n-cs"/>
            </a:endParaRPr>
          </a:p>
        </p:txBody>
      </p:sp>
      <p:cxnSp>
        <p:nvCxnSpPr>
          <p:cNvPr id="18" name="Прямая соединительная линия 17"/>
          <p:cNvCxnSpPr>
            <a:cxnSpLocks noChangeShapeType="1"/>
            <a:stCxn id="9" idx="2"/>
            <a:endCxn id="10" idx="0"/>
          </p:cNvCxnSpPr>
          <p:nvPr/>
        </p:nvCxnSpPr>
        <p:spPr bwMode="auto">
          <a:xfrm rot="5400000">
            <a:off x="5248275" y="5546726"/>
            <a:ext cx="73025" cy="146050"/>
          </a:xfrm>
          <a:prstGeom prst="line">
            <a:avLst/>
          </a:prstGeom>
          <a:noFill/>
          <a:ln w="9525" algn="ctr">
            <a:solidFill>
              <a:schemeClr val="bg2"/>
            </a:solidFill>
            <a:round/>
            <a:headEnd/>
            <a:tailEnd/>
          </a:ln>
        </p:spPr>
      </p:cxnSp>
      <p:cxnSp>
        <p:nvCxnSpPr>
          <p:cNvPr id="20" name="Прямая соединительная линия 19"/>
          <p:cNvCxnSpPr>
            <a:cxnSpLocks noChangeShapeType="1"/>
            <a:stCxn id="10" idx="2"/>
            <a:endCxn id="11" idx="0"/>
          </p:cNvCxnSpPr>
          <p:nvPr/>
        </p:nvCxnSpPr>
        <p:spPr bwMode="auto">
          <a:xfrm rot="5400000">
            <a:off x="5029200" y="5692776"/>
            <a:ext cx="73025" cy="292100"/>
          </a:xfrm>
          <a:prstGeom prst="line">
            <a:avLst/>
          </a:prstGeom>
          <a:noFill/>
          <a:ln w="9525" algn="ctr">
            <a:solidFill>
              <a:schemeClr val="bg2"/>
            </a:solidFill>
            <a:round/>
            <a:headEnd/>
            <a:tailEnd/>
          </a:ln>
        </p:spPr>
      </p:cxnSp>
      <p:cxnSp>
        <p:nvCxnSpPr>
          <p:cNvPr id="22" name="Прямая соединительная линия 21"/>
          <p:cNvCxnSpPr>
            <a:cxnSpLocks noChangeShapeType="1"/>
            <a:stCxn id="10" idx="2"/>
            <a:endCxn id="12" idx="0"/>
          </p:cNvCxnSpPr>
          <p:nvPr/>
        </p:nvCxnSpPr>
        <p:spPr bwMode="auto">
          <a:xfrm rot="16200000" flipH="1">
            <a:off x="5357813" y="5656263"/>
            <a:ext cx="73025" cy="365125"/>
          </a:xfrm>
          <a:prstGeom prst="line">
            <a:avLst/>
          </a:prstGeom>
          <a:noFill/>
          <a:ln w="9525" algn="ctr">
            <a:solidFill>
              <a:schemeClr val="bg2"/>
            </a:solidFill>
            <a:round/>
            <a:headEnd/>
            <a:tailEnd/>
          </a:ln>
        </p:spPr>
      </p:cxnSp>
      <p:cxnSp>
        <p:nvCxnSpPr>
          <p:cNvPr id="26642" name="Прямая соединительная линия 23"/>
          <p:cNvCxnSpPr>
            <a:cxnSpLocks noChangeShapeType="1"/>
            <a:stCxn id="13" idx="0"/>
          </p:cNvCxnSpPr>
          <p:nvPr/>
        </p:nvCxnSpPr>
        <p:spPr bwMode="auto">
          <a:xfrm rot="16200000" flipH="1">
            <a:off x="4855369" y="6012657"/>
            <a:ext cx="877887" cy="1041400"/>
          </a:xfrm>
          <a:prstGeom prst="line">
            <a:avLst/>
          </a:prstGeom>
          <a:noFill/>
          <a:ln w="9525" algn="ctr">
            <a:noFill/>
            <a:round/>
            <a:headEnd/>
            <a:tailEnd/>
          </a:ln>
        </p:spPr>
      </p:cxnSp>
      <p:cxnSp>
        <p:nvCxnSpPr>
          <p:cNvPr id="27" name="Прямая соединительная линия 26"/>
          <p:cNvCxnSpPr>
            <a:cxnSpLocks noChangeShapeType="1"/>
            <a:stCxn id="11" idx="2"/>
            <a:endCxn id="14" idx="0"/>
          </p:cNvCxnSpPr>
          <p:nvPr/>
        </p:nvCxnSpPr>
        <p:spPr bwMode="auto">
          <a:xfrm rot="16200000" flipH="1">
            <a:off x="4956175" y="5984876"/>
            <a:ext cx="73025" cy="146050"/>
          </a:xfrm>
          <a:prstGeom prst="line">
            <a:avLst/>
          </a:prstGeom>
          <a:noFill/>
          <a:ln w="9525" algn="ctr">
            <a:solidFill>
              <a:schemeClr val="bg2"/>
            </a:solidFill>
            <a:round/>
            <a:headEnd/>
            <a:tailEnd/>
          </a:ln>
        </p:spPr>
      </p:cxnSp>
      <p:cxnSp>
        <p:nvCxnSpPr>
          <p:cNvPr id="29" name="Прямая соединительная линия 28"/>
          <p:cNvCxnSpPr>
            <a:cxnSpLocks noChangeShapeType="1"/>
            <a:stCxn id="12" idx="2"/>
            <a:endCxn id="15" idx="0"/>
          </p:cNvCxnSpPr>
          <p:nvPr/>
        </p:nvCxnSpPr>
        <p:spPr bwMode="auto">
          <a:xfrm rot="5400000">
            <a:off x="5412581" y="5930107"/>
            <a:ext cx="73025" cy="255588"/>
          </a:xfrm>
          <a:prstGeom prst="line">
            <a:avLst/>
          </a:prstGeom>
          <a:noFill/>
          <a:ln w="9525" algn="ctr">
            <a:solidFill>
              <a:schemeClr val="bg2"/>
            </a:solidFill>
            <a:round/>
            <a:headEnd/>
            <a:tailEnd/>
          </a:ln>
        </p:spPr>
      </p:cxnSp>
      <p:cxnSp>
        <p:nvCxnSpPr>
          <p:cNvPr id="31" name="Прямая соединительная линия 30"/>
          <p:cNvCxnSpPr>
            <a:cxnSpLocks noChangeShapeType="1"/>
            <a:stCxn id="12" idx="2"/>
            <a:endCxn id="16" idx="0"/>
          </p:cNvCxnSpPr>
          <p:nvPr/>
        </p:nvCxnSpPr>
        <p:spPr bwMode="auto">
          <a:xfrm rot="16200000" flipH="1">
            <a:off x="5576888" y="6021388"/>
            <a:ext cx="73025" cy="73025"/>
          </a:xfrm>
          <a:prstGeom prst="line">
            <a:avLst/>
          </a:prstGeom>
          <a:noFill/>
          <a:ln w="9525" algn="ctr">
            <a:solidFill>
              <a:schemeClr val="bg2"/>
            </a:solidFill>
            <a:round/>
            <a:headEnd/>
            <a:tailEnd/>
          </a:ln>
        </p:spPr>
      </p:cxnSp>
      <p:cxnSp>
        <p:nvCxnSpPr>
          <p:cNvPr id="33" name="Прямая соединительная линия 32"/>
          <p:cNvCxnSpPr>
            <a:cxnSpLocks noChangeShapeType="1"/>
            <a:stCxn id="11" idx="2"/>
            <a:endCxn id="13" idx="0"/>
          </p:cNvCxnSpPr>
          <p:nvPr/>
        </p:nvCxnSpPr>
        <p:spPr bwMode="auto">
          <a:xfrm rot="5400000">
            <a:off x="4810125" y="5984876"/>
            <a:ext cx="73025" cy="146050"/>
          </a:xfrm>
          <a:prstGeom prst="line">
            <a:avLst/>
          </a:prstGeom>
          <a:noFill/>
          <a:ln w="9525" algn="ctr">
            <a:solidFill>
              <a:schemeClr val="bg2"/>
            </a:solidFill>
            <a:round/>
            <a:headEnd/>
            <a:tailEnd/>
          </a:ln>
        </p:spPr>
      </p:cxnSp>
      <p:sp>
        <p:nvSpPr>
          <p:cNvPr id="34" name="Прямоугольник 33"/>
          <p:cNvSpPr/>
          <p:nvPr/>
        </p:nvSpPr>
        <p:spPr bwMode="auto">
          <a:xfrm>
            <a:off x="7346950" y="5437188"/>
            <a:ext cx="182563" cy="146050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None/>
              <a:defRPr/>
            </a:pPr>
            <a:endParaRPr lang="ru-RU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n-cs"/>
            </a:endParaRPr>
          </a:p>
        </p:txBody>
      </p:sp>
      <p:sp>
        <p:nvSpPr>
          <p:cNvPr id="35" name="Прямоугольник 34"/>
          <p:cNvSpPr/>
          <p:nvPr/>
        </p:nvSpPr>
        <p:spPr bwMode="auto">
          <a:xfrm>
            <a:off x="7237413" y="5619750"/>
            <a:ext cx="182562" cy="146050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None/>
              <a:defRPr/>
            </a:pPr>
            <a:endParaRPr lang="ru-RU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n-cs"/>
            </a:endParaRPr>
          </a:p>
        </p:txBody>
      </p:sp>
      <p:sp>
        <p:nvSpPr>
          <p:cNvPr id="36" name="Прямоугольник 35"/>
          <p:cNvSpPr/>
          <p:nvPr/>
        </p:nvSpPr>
        <p:spPr bwMode="auto">
          <a:xfrm>
            <a:off x="7091363" y="5802313"/>
            <a:ext cx="182562" cy="146050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None/>
              <a:defRPr/>
            </a:pPr>
            <a:endParaRPr lang="ru-RU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n-cs"/>
            </a:endParaRPr>
          </a:p>
        </p:txBody>
      </p:sp>
      <p:sp>
        <p:nvSpPr>
          <p:cNvPr id="37" name="Прямоугольник 36"/>
          <p:cNvSpPr/>
          <p:nvPr/>
        </p:nvSpPr>
        <p:spPr bwMode="auto">
          <a:xfrm>
            <a:off x="7493000" y="5802313"/>
            <a:ext cx="182563" cy="146050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None/>
              <a:defRPr/>
            </a:pPr>
            <a:endParaRPr lang="ru-RU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n-cs"/>
            </a:endParaRPr>
          </a:p>
        </p:txBody>
      </p:sp>
      <p:sp>
        <p:nvSpPr>
          <p:cNvPr id="38" name="Прямоугольник 37"/>
          <p:cNvSpPr/>
          <p:nvPr/>
        </p:nvSpPr>
        <p:spPr bwMode="auto">
          <a:xfrm>
            <a:off x="6945313" y="5984875"/>
            <a:ext cx="182562" cy="146050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None/>
              <a:defRPr/>
            </a:pPr>
            <a:endParaRPr lang="ru-RU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n-cs"/>
            </a:endParaRPr>
          </a:p>
        </p:txBody>
      </p:sp>
      <p:sp>
        <p:nvSpPr>
          <p:cNvPr id="39" name="Прямоугольник 38"/>
          <p:cNvSpPr/>
          <p:nvPr/>
        </p:nvSpPr>
        <p:spPr bwMode="auto">
          <a:xfrm>
            <a:off x="7164388" y="5984875"/>
            <a:ext cx="182562" cy="146050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None/>
              <a:defRPr/>
            </a:pPr>
            <a:endParaRPr lang="ru-RU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n-cs"/>
            </a:endParaRPr>
          </a:p>
        </p:txBody>
      </p:sp>
      <p:sp>
        <p:nvSpPr>
          <p:cNvPr id="40" name="Прямоугольник 39"/>
          <p:cNvSpPr/>
          <p:nvPr/>
        </p:nvSpPr>
        <p:spPr bwMode="auto">
          <a:xfrm>
            <a:off x="7383463" y="5984875"/>
            <a:ext cx="182562" cy="146050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None/>
              <a:defRPr/>
            </a:pPr>
            <a:endParaRPr lang="ru-RU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n-cs"/>
            </a:endParaRPr>
          </a:p>
        </p:txBody>
      </p:sp>
      <p:sp>
        <p:nvSpPr>
          <p:cNvPr id="41" name="Прямоугольник 40"/>
          <p:cNvSpPr/>
          <p:nvPr/>
        </p:nvSpPr>
        <p:spPr bwMode="auto">
          <a:xfrm>
            <a:off x="7602538" y="5984875"/>
            <a:ext cx="182562" cy="146050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None/>
              <a:defRPr/>
            </a:pPr>
            <a:endParaRPr lang="ru-RU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n-cs"/>
            </a:endParaRPr>
          </a:p>
        </p:txBody>
      </p:sp>
      <p:cxnSp>
        <p:nvCxnSpPr>
          <p:cNvPr id="42" name="Прямая соединительная линия 41"/>
          <p:cNvCxnSpPr>
            <a:cxnSpLocks noChangeShapeType="1"/>
            <a:stCxn id="34" idx="2"/>
            <a:endCxn id="35" idx="0"/>
          </p:cNvCxnSpPr>
          <p:nvPr/>
        </p:nvCxnSpPr>
        <p:spPr bwMode="auto">
          <a:xfrm rot="5400000">
            <a:off x="7366001" y="5546725"/>
            <a:ext cx="36512" cy="109537"/>
          </a:xfrm>
          <a:prstGeom prst="line">
            <a:avLst/>
          </a:prstGeom>
          <a:noFill/>
          <a:ln w="9525" algn="ctr">
            <a:solidFill>
              <a:schemeClr val="bg2"/>
            </a:solidFill>
            <a:round/>
            <a:headEnd/>
            <a:tailEnd/>
          </a:ln>
        </p:spPr>
      </p:cxnSp>
      <p:cxnSp>
        <p:nvCxnSpPr>
          <p:cNvPr id="43" name="Прямая соединительная линия 42"/>
          <p:cNvCxnSpPr>
            <a:cxnSpLocks noChangeShapeType="1"/>
            <a:stCxn id="35" idx="2"/>
            <a:endCxn id="36" idx="0"/>
          </p:cNvCxnSpPr>
          <p:nvPr/>
        </p:nvCxnSpPr>
        <p:spPr bwMode="auto">
          <a:xfrm rot="5400000">
            <a:off x="7238206" y="5711032"/>
            <a:ext cx="36513" cy="146050"/>
          </a:xfrm>
          <a:prstGeom prst="line">
            <a:avLst/>
          </a:prstGeom>
          <a:noFill/>
          <a:ln w="9525" algn="ctr">
            <a:solidFill>
              <a:schemeClr val="bg2"/>
            </a:solidFill>
            <a:round/>
            <a:headEnd/>
            <a:tailEnd/>
          </a:ln>
        </p:spPr>
      </p:cxnSp>
      <p:cxnSp>
        <p:nvCxnSpPr>
          <p:cNvPr id="44" name="Прямая соединительная линия 43"/>
          <p:cNvCxnSpPr>
            <a:cxnSpLocks noChangeShapeType="1"/>
            <a:stCxn id="35" idx="2"/>
            <a:endCxn id="37" idx="0"/>
          </p:cNvCxnSpPr>
          <p:nvPr/>
        </p:nvCxnSpPr>
        <p:spPr bwMode="auto">
          <a:xfrm rot="16200000" flipH="1">
            <a:off x="7439025" y="5656263"/>
            <a:ext cx="36513" cy="255587"/>
          </a:xfrm>
          <a:prstGeom prst="line">
            <a:avLst/>
          </a:prstGeom>
          <a:noFill/>
          <a:ln w="9525" algn="ctr">
            <a:solidFill>
              <a:schemeClr val="bg2"/>
            </a:solidFill>
            <a:round/>
            <a:headEnd/>
            <a:tailEnd/>
          </a:ln>
        </p:spPr>
      </p:cxnSp>
      <p:cxnSp>
        <p:nvCxnSpPr>
          <p:cNvPr id="45" name="Прямая соединительная линия 44"/>
          <p:cNvCxnSpPr>
            <a:cxnSpLocks noChangeShapeType="1"/>
            <a:stCxn id="36" idx="2"/>
            <a:endCxn id="39" idx="0"/>
          </p:cNvCxnSpPr>
          <p:nvPr/>
        </p:nvCxnSpPr>
        <p:spPr bwMode="auto">
          <a:xfrm rot="16200000" flipH="1">
            <a:off x="7201695" y="5930106"/>
            <a:ext cx="36512" cy="73025"/>
          </a:xfrm>
          <a:prstGeom prst="line">
            <a:avLst/>
          </a:prstGeom>
          <a:noFill/>
          <a:ln w="9525" algn="ctr">
            <a:solidFill>
              <a:schemeClr val="bg2"/>
            </a:solidFill>
            <a:round/>
            <a:headEnd/>
            <a:tailEnd/>
          </a:ln>
        </p:spPr>
      </p:cxnSp>
      <p:cxnSp>
        <p:nvCxnSpPr>
          <p:cNvPr id="46" name="Прямая соединительная линия 45"/>
          <p:cNvCxnSpPr>
            <a:cxnSpLocks noChangeShapeType="1"/>
            <a:stCxn id="37" idx="2"/>
            <a:endCxn id="40" idx="0"/>
          </p:cNvCxnSpPr>
          <p:nvPr/>
        </p:nvCxnSpPr>
        <p:spPr bwMode="auto">
          <a:xfrm rot="5400000">
            <a:off x="7512051" y="5911850"/>
            <a:ext cx="36512" cy="109537"/>
          </a:xfrm>
          <a:prstGeom prst="line">
            <a:avLst/>
          </a:prstGeom>
          <a:noFill/>
          <a:ln w="9525" algn="ctr">
            <a:solidFill>
              <a:schemeClr val="bg2"/>
            </a:solidFill>
            <a:round/>
            <a:headEnd/>
            <a:tailEnd/>
          </a:ln>
        </p:spPr>
      </p:cxnSp>
      <p:cxnSp>
        <p:nvCxnSpPr>
          <p:cNvPr id="47" name="Прямая соединительная линия 46"/>
          <p:cNvCxnSpPr>
            <a:cxnSpLocks noChangeShapeType="1"/>
            <a:stCxn id="37" idx="2"/>
            <a:endCxn id="41" idx="0"/>
          </p:cNvCxnSpPr>
          <p:nvPr/>
        </p:nvCxnSpPr>
        <p:spPr bwMode="auto">
          <a:xfrm rot="16200000" flipH="1">
            <a:off x="7621588" y="5911850"/>
            <a:ext cx="36512" cy="109538"/>
          </a:xfrm>
          <a:prstGeom prst="line">
            <a:avLst/>
          </a:prstGeom>
          <a:noFill/>
          <a:ln w="9525" algn="ctr">
            <a:solidFill>
              <a:schemeClr val="bg2"/>
            </a:solidFill>
            <a:round/>
            <a:headEnd/>
            <a:tailEnd/>
          </a:ln>
        </p:spPr>
      </p:cxnSp>
      <p:cxnSp>
        <p:nvCxnSpPr>
          <p:cNvPr id="48" name="Прямая соединительная линия 47"/>
          <p:cNvCxnSpPr>
            <a:cxnSpLocks noChangeShapeType="1"/>
            <a:stCxn id="36" idx="2"/>
            <a:endCxn id="38" idx="0"/>
          </p:cNvCxnSpPr>
          <p:nvPr/>
        </p:nvCxnSpPr>
        <p:spPr bwMode="auto">
          <a:xfrm rot="5400000">
            <a:off x="7092157" y="5893594"/>
            <a:ext cx="36512" cy="146050"/>
          </a:xfrm>
          <a:prstGeom prst="line">
            <a:avLst/>
          </a:prstGeom>
          <a:noFill/>
          <a:ln w="9525" algn="ctr">
            <a:solidFill>
              <a:schemeClr val="bg2"/>
            </a:solidFill>
            <a:round/>
            <a:headEnd/>
            <a:tailEnd/>
          </a:ln>
        </p:spPr>
      </p:cxnSp>
      <p:sp>
        <p:nvSpPr>
          <p:cNvPr id="49" name="Прямоугольник 48"/>
          <p:cNvSpPr/>
          <p:nvPr/>
        </p:nvSpPr>
        <p:spPr bwMode="auto">
          <a:xfrm>
            <a:off x="6799263" y="6203950"/>
            <a:ext cx="73025" cy="109538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None/>
              <a:defRPr/>
            </a:pPr>
            <a:endParaRPr lang="ru-RU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n-cs"/>
            </a:endParaRPr>
          </a:p>
        </p:txBody>
      </p:sp>
      <p:sp>
        <p:nvSpPr>
          <p:cNvPr id="57" name="Прямоугольник 56"/>
          <p:cNvSpPr/>
          <p:nvPr/>
        </p:nvSpPr>
        <p:spPr bwMode="auto">
          <a:xfrm>
            <a:off x="7018338" y="6203950"/>
            <a:ext cx="73025" cy="109538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None/>
              <a:defRPr/>
            </a:pPr>
            <a:endParaRPr lang="ru-RU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n-cs"/>
            </a:endParaRPr>
          </a:p>
        </p:txBody>
      </p:sp>
      <p:sp>
        <p:nvSpPr>
          <p:cNvPr id="58" name="Прямоугольник 57"/>
          <p:cNvSpPr/>
          <p:nvPr/>
        </p:nvSpPr>
        <p:spPr bwMode="auto">
          <a:xfrm>
            <a:off x="7200900" y="6203950"/>
            <a:ext cx="73025" cy="109538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None/>
              <a:defRPr/>
            </a:pPr>
            <a:endParaRPr lang="ru-RU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n-cs"/>
            </a:endParaRPr>
          </a:p>
        </p:txBody>
      </p:sp>
      <p:sp>
        <p:nvSpPr>
          <p:cNvPr id="59" name="Прямоугольник 58"/>
          <p:cNvSpPr/>
          <p:nvPr/>
        </p:nvSpPr>
        <p:spPr bwMode="auto">
          <a:xfrm>
            <a:off x="7310438" y="6203950"/>
            <a:ext cx="73025" cy="109538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None/>
              <a:defRPr/>
            </a:pPr>
            <a:endParaRPr lang="ru-RU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n-cs"/>
            </a:endParaRPr>
          </a:p>
        </p:txBody>
      </p:sp>
      <p:sp>
        <p:nvSpPr>
          <p:cNvPr id="60" name="Прямоугольник 59"/>
          <p:cNvSpPr/>
          <p:nvPr/>
        </p:nvSpPr>
        <p:spPr bwMode="auto">
          <a:xfrm>
            <a:off x="7456488" y="6203950"/>
            <a:ext cx="73025" cy="109538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None/>
              <a:defRPr/>
            </a:pPr>
            <a:endParaRPr lang="ru-RU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n-cs"/>
            </a:endParaRPr>
          </a:p>
        </p:txBody>
      </p:sp>
      <p:sp>
        <p:nvSpPr>
          <p:cNvPr id="61" name="Прямоугольник 60"/>
          <p:cNvSpPr/>
          <p:nvPr/>
        </p:nvSpPr>
        <p:spPr bwMode="auto">
          <a:xfrm>
            <a:off x="7602538" y="6203950"/>
            <a:ext cx="73025" cy="109538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None/>
              <a:defRPr/>
            </a:pPr>
            <a:endParaRPr lang="ru-RU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n-cs"/>
            </a:endParaRPr>
          </a:p>
        </p:txBody>
      </p:sp>
      <p:sp>
        <p:nvSpPr>
          <p:cNvPr id="62" name="Прямоугольник 61"/>
          <p:cNvSpPr/>
          <p:nvPr/>
        </p:nvSpPr>
        <p:spPr bwMode="auto">
          <a:xfrm>
            <a:off x="7748588" y="6203950"/>
            <a:ext cx="73025" cy="109538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None/>
              <a:defRPr/>
            </a:pPr>
            <a:endParaRPr lang="ru-RU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n-cs"/>
            </a:endParaRPr>
          </a:p>
        </p:txBody>
      </p:sp>
      <p:sp>
        <p:nvSpPr>
          <p:cNvPr id="63" name="Прямоугольник 62"/>
          <p:cNvSpPr/>
          <p:nvPr/>
        </p:nvSpPr>
        <p:spPr bwMode="auto">
          <a:xfrm>
            <a:off x="7931150" y="6203950"/>
            <a:ext cx="73025" cy="109538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None/>
              <a:defRPr/>
            </a:pPr>
            <a:endParaRPr lang="ru-RU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n-cs"/>
            </a:endParaRPr>
          </a:p>
        </p:txBody>
      </p:sp>
      <p:cxnSp>
        <p:nvCxnSpPr>
          <p:cNvPr id="80" name="Прямая соединительная линия 79"/>
          <p:cNvCxnSpPr>
            <a:cxnSpLocks noChangeShapeType="1"/>
            <a:stCxn id="38" idx="2"/>
            <a:endCxn id="49" idx="0"/>
          </p:cNvCxnSpPr>
          <p:nvPr/>
        </p:nvCxnSpPr>
        <p:spPr bwMode="auto">
          <a:xfrm rot="5400000">
            <a:off x="6900069" y="6066631"/>
            <a:ext cx="73025" cy="201613"/>
          </a:xfrm>
          <a:prstGeom prst="line">
            <a:avLst/>
          </a:prstGeom>
          <a:noFill/>
          <a:ln w="9525" algn="ctr">
            <a:solidFill>
              <a:schemeClr val="bg2"/>
            </a:solidFill>
            <a:round/>
            <a:headEnd/>
            <a:tailEnd/>
          </a:ln>
        </p:spPr>
      </p:cxnSp>
      <p:cxnSp>
        <p:nvCxnSpPr>
          <p:cNvPr id="82" name="Прямая соединительная линия 81"/>
          <p:cNvCxnSpPr>
            <a:cxnSpLocks noChangeShapeType="1"/>
            <a:stCxn id="38" idx="2"/>
            <a:endCxn id="57" idx="0"/>
          </p:cNvCxnSpPr>
          <p:nvPr/>
        </p:nvCxnSpPr>
        <p:spPr bwMode="auto">
          <a:xfrm rot="16200000" flipH="1">
            <a:off x="7009606" y="6158707"/>
            <a:ext cx="73025" cy="17462"/>
          </a:xfrm>
          <a:prstGeom prst="line">
            <a:avLst/>
          </a:prstGeom>
          <a:noFill/>
          <a:ln w="9525" algn="ctr">
            <a:solidFill>
              <a:schemeClr val="bg2"/>
            </a:solidFill>
            <a:round/>
            <a:headEnd/>
            <a:tailEnd/>
          </a:ln>
        </p:spPr>
      </p:cxnSp>
      <p:cxnSp>
        <p:nvCxnSpPr>
          <p:cNvPr id="84" name="Прямая соединительная линия 83"/>
          <p:cNvCxnSpPr>
            <a:cxnSpLocks noChangeShapeType="1"/>
            <a:stCxn id="39" idx="2"/>
            <a:endCxn id="58" idx="0"/>
          </p:cNvCxnSpPr>
          <p:nvPr/>
        </p:nvCxnSpPr>
        <p:spPr bwMode="auto">
          <a:xfrm rot="5400000">
            <a:off x="7210425" y="6157913"/>
            <a:ext cx="73025" cy="19050"/>
          </a:xfrm>
          <a:prstGeom prst="line">
            <a:avLst/>
          </a:prstGeom>
          <a:noFill/>
          <a:ln w="9525" algn="ctr">
            <a:solidFill>
              <a:schemeClr val="bg2"/>
            </a:solidFill>
            <a:round/>
            <a:headEnd/>
            <a:tailEnd/>
          </a:ln>
        </p:spPr>
      </p:cxnSp>
      <p:cxnSp>
        <p:nvCxnSpPr>
          <p:cNvPr id="86" name="Прямая соединительная линия 85"/>
          <p:cNvCxnSpPr>
            <a:cxnSpLocks noChangeShapeType="1"/>
            <a:stCxn id="39" idx="2"/>
            <a:endCxn id="59" idx="0"/>
          </p:cNvCxnSpPr>
          <p:nvPr/>
        </p:nvCxnSpPr>
        <p:spPr bwMode="auto">
          <a:xfrm rot="16200000" flipH="1">
            <a:off x="7265194" y="6122194"/>
            <a:ext cx="73025" cy="90487"/>
          </a:xfrm>
          <a:prstGeom prst="line">
            <a:avLst/>
          </a:prstGeom>
          <a:noFill/>
          <a:ln w="9525" algn="ctr">
            <a:solidFill>
              <a:schemeClr val="bg2"/>
            </a:solidFill>
            <a:round/>
            <a:headEnd/>
            <a:tailEnd/>
          </a:ln>
        </p:spPr>
      </p:cxnSp>
      <p:cxnSp>
        <p:nvCxnSpPr>
          <p:cNvPr id="88" name="Прямая соединительная линия 87"/>
          <p:cNvCxnSpPr>
            <a:cxnSpLocks noChangeShapeType="1"/>
            <a:stCxn id="40" idx="2"/>
            <a:endCxn id="60" idx="0"/>
          </p:cNvCxnSpPr>
          <p:nvPr/>
        </p:nvCxnSpPr>
        <p:spPr bwMode="auto">
          <a:xfrm rot="16200000" flipH="1">
            <a:off x="7447756" y="6158707"/>
            <a:ext cx="73025" cy="17462"/>
          </a:xfrm>
          <a:prstGeom prst="line">
            <a:avLst/>
          </a:prstGeom>
          <a:noFill/>
          <a:ln w="9525" algn="ctr">
            <a:solidFill>
              <a:schemeClr val="bg2"/>
            </a:solidFill>
            <a:round/>
            <a:headEnd/>
            <a:tailEnd/>
          </a:ln>
        </p:spPr>
      </p:cxnSp>
      <p:cxnSp>
        <p:nvCxnSpPr>
          <p:cNvPr id="90" name="Прямая соединительная линия 89"/>
          <p:cNvCxnSpPr>
            <a:cxnSpLocks noChangeShapeType="1"/>
            <a:stCxn id="40" idx="2"/>
            <a:endCxn id="61" idx="0"/>
          </p:cNvCxnSpPr>
          <p:nvPr/>
        </p:nvCxnSpPr>
        <p:spPr bwMode="auto">
          <a:xfrm rot="16200000" flipH="1">
            <a:off x="7520781" y="6085682"/>
            <a:ext cx="73025" cy="163512"/>
          </a:xfrm>
          <a:prstGeom prst="line">
            <a:avLst/>
          </a:prstGeom>
          <a:noFill/>
          <a:ln w="9525" algn="ctr">
            <a:solidFill>
              <a:schemeClr val="bg2"/>
            </a:solidFill>
            <a:round/>
            <a:headEnd/>
            <a:tailEnd/>
          </a:ln>
        </p:spPr>
      </p:cxnSp>
      <p:cxnSp>
        <p:nvCxnSpPr>
          <p:cNvPr id="92" name="Прямая соединительная линия 91"/>
          <p:cNvCxnSpPr>
            <a:cxnSpLocks noChangeShapeType="1"/>
            <a:stCxn id="41" idx="2"/>
            <a:endCxn id="62" idx="0"/>
          </p:cNvCxnSpPr>
          <p:nvPr/>
        </p:nvCxnSpPr>
        <p:spPr bwMode="auto">
          <a:xfrm rot="16200000" flipH="1">
            <a:off x="7703344" y="6122194"/>
            <a:ext cx="73025" cy="90487"/>
          </a:xfrm>
          <a:prstGeom prst="line">
            <a:avLst/>
          </a:prstGeom>
          <a:noFill/>
          <a:ln w="9525" algn="ctr">
            <a:solidFill>
              <a:schemeClr val="bg2"/>
            </a:solidFill>
            <a:round/>
            <a:headEnd/>
            <a:tailEnd/>
          </a:ln>
        </p:spPr>
      </p:cxnSp>
      <p:cxnSp>
        <p:nvCxnSpPr>
          <p:cNvPr id="94" name="Прямая соединительная линия 93"/>
          <p:cNvCxnSpPr>
            <a:cxnSpLocks noChangeShapeType="1"/>
            <a:stCxn id="41" idx="2"/>
            <a:endCxn id="63" idx="0"/>
          </p:cNvCxnSpPr>
          <p:nvPr/>
        </p:nvCxnSpPr>
        <p:spPr bwMode="auto">
          <a:xfrm rot="16200000" flipH="1">
            <a:off x="7794625" y="6030913"/>
            <a:ext cx="73025" cy="273050"/>
          </a:xfrm>
          <a:prstGeom prst="line">
            <a:avLst/>
          </a:prstGeom>
          <a:noFill/>
          <a:ln w="9525" algn="ctr">
            <a:solidFill>
              <a:schemeClr val="bg2"/>
            </a:solidFill>
            <a:round/>
            <a:headEnd/>
            <a:tailEnd/>
          </a:ln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000"/>
                            </p:stCondLst>
                            <p:childTnLst>
                              <p:par>
                                <p:cTn id="24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"/>
                            </p:stCondLst>
                            <p:childTnLst>
                              <p:par>
                                <p:cTn id="3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1000"/>
                            </p:stCondLst>
                            <p:childTnLst>
                              <p:par>
                                <p:cTn id="8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3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6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9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8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1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4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0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3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6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9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2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5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6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8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9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1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2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4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7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0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3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4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6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7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9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0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2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3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5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6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8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9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1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2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4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7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0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1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3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9" grpId="0" animBg="1"/>
      <p:bldP spid="57" grpId="0" animBg="1"/>
      <p:bldP spid="58" grpId="0" animBg="1"/>
      <p:bldP spid="59" grpId="0" animBg="1"/>
      <p:bldP spid="60" grpId="0" animBg="1"/>
      <p:bldP spid="61" grpId="0" animBg="1"/>
      <p:bldP spid="62" grpId="0" animBg="1"/>
      <p:bldP spid="63" grpId="0" animBg="1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/>
          <p:cNvSpPr txBox="1">
            <a:spLocks/>
          </p:cNvSpPr>
          <p:nvPr/>
        </p:nvSpPr>
        <p:spPr bwMode="auto">
          <a:xfrm>
            <a:off x="555625" y="179388"/>
            <a:ext cx="8229600" cy="985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 eaLnBrk="0" hangingPunct="0">
              <a:defRPr/>
            </a:pPr>
            <a:r>
              <a:rPr lang="ru-RU" sz="3600" kern="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Биномиальная очередь</a:t>
            </a:r>
          </a:p>
        </p:txBody>
      </p:sp>
      <p:sp>
        <p:nvSpPr>
          <p:cNvPr id="5" name="Прямоугольник 4"/>
          <p:cNvSpPr>
            <a:spLocks noChangeArrowheads="1"/>
          </p:cNvSpPr>
          <p:nvPr/>
        </p:nvSpPr>
        <p:spPr bwMode="auto">
          <a:xfrm>
            <a:off x="2855913" y="2041525"/>
            <a:ext cx="401637" cy="365125"/>
          </a:xfrm>
          <a:prstGeom prst="rect">
            <a:avLst/>
          </a:prstGeom>
          <a:solidFill>
            <a:schemeClr val="tx1"/>
          </a:solidFill>
          <a:ln w="9525" algn="ctr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pPr algn="ctr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None/>
            </a:pPr>
            <a:r>
              <a:rPr lang="ru-RU" sz="2000">
                <a:solidFill>
                  <a:srgbClr val="000000"/>
                </a:solidFill>
              </a:rPr>
              <a:t>3</a:t>
            </a:r>
          </a:p>
        </p:txBody>
      </p:sp>
      <p:sp>
        <p:nvSpPr>
          <p:cNvPr id="6" name="Прямоугольник 5"/>
          <p:cNvSpPr/>
          <p:nvPr/>
        </p:nvSpPr>
        <p:spPr bwMode="auto">
          <a:xfrm>
            <a:off x="1631950" y="2625725"/>
            <a:ext cx="401638" cy="365125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None/>
              <a:defRPr/>
            </a:pPr>
            <a:r>
              <a:rPr lang="ru-RU" sz="20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n-cs"/>
              </a:rPr>
              <a:t>5</a:t>
            </a:r>
          </a:p>
        </p:txBody>
      </p:sp>
      <p:sp>
        <p:nvSpPr>
          <p:cNvPr id="7" name="Прямоугольник 6"/>
          <p:cNvSpPr/>
          <p:nvPr/>
        </p:nvSpPr>
        <p:spPr bwMode="auto">
          <a:xfrm>
            <a:off x="2143125" y="1420813"/>
            <a:ext cx="401638" cy="365125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None/>
              <a:defRPr/>
            </a:pPr>
            <a:r>
              <a:rPr lang="en-US" sz="20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n-cs"/>
              </a:rPr>
              <a:t>9</a:t>
            </a:r>
            <a:endParaRPr lang="ru-RU" sz="2000" dirty="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n-cs"/>
            </a:endParaRPr>
          </a:p>
        </p:txBody>
      </p:sp>
      <p:sp>
        <p:nvSpPr>
          <p:cNvPr id="8" name="Прямоугольник 7"/>
          <p:cNvSpPr/>
          <p:nvPr/>
        </p:nvSpPr>
        <p:spPr bwMode="auto">
          <a:xfrm>
            <a:off x="865188" y="3209925"/>
            <a:ext cx="401637" cy="365125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None/>
              <a:defRPr/>
            </a:pPr>
            <a:r>
              <a:rPr lang="ru-RU" sz="20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n-cs"/>
              </a:rPr>
              <a:t>2</a:t>
            </a:r>
          </a:p>
        </p:txBody>
      </p:sp>
      <p:sp>
        <p:nvSpPr>
          <p:cNvPr id="9" name="Прямоугольник 8"/>
          <p:cNvSpPr/>
          <p:nvPr/>
        </p:nvSpPr>
        <p:spPr bwMode="auto">
          <a:xfrm>
            <a:off x="1485900" y="3209925"/>
            <a:ext cx="401638" cy="365125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None/>
              <a:defRPr/>
            </a:pPr>
            <a:r>
              <a:rPr lang="ru-RU" sz="20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n-cs"/>
              </a:rPr>
              <a:t>2</a:t>
            </a:r>
          </a:p>
        </p:txBody>
      </p:sp>
      <p:sp>
        <p:nvSpPr>
          <p:cNvPr id="10" name="Прямоугольник 9"/>
          <p:cNvSpPr/>
          <p:nvPr/>
        </p:nvSpPr>
        <p:spPr bwMode="auto">
          <a:xfrm>
            <a:off x="2125663" y="3209925"/>
            <a:ext cx="401637" cy="365125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None/>
              <a:defRPr/>
            </a:pPr>
            <a:r>
              <a:rPr lang="en-US" sz="20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n-cs"/>
              </a:rPr>
              <a:t>1</a:t>
            </a:r>
            <a:endParaRPr lang="ru-RU" sz="2000" dirty="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n-cs"/>
            </a:endParaRPr>
          </a:p>
        </p:txBody>
      </p:sp>
      <p:sp>
        <p:nvSpPr>
          <p:cNvPr id="11" name="Прямоугольник 10"/>
          <p:cNvSpPr/>
          <p:nvPr/>
        </p:nvSpPr>
        <p:spPr bwMode="auto">
          <a:xfrm>
            <a:off x="3367088" y="1420813"/>
            <a:ext cx="401637" cy="365125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None/>
              <a:defRPr/>
            </a:pPr>
            <a:r>
              <a:rPr lang="ru-RU" sz="20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n-cs"/>
              </a:rPr>
              <a:t>4</a:t>
            </a:r>
          </a:p>
        </p:txBody>
      </p:sp>
      <p:sp>
        <p:nvSpPr>
          <p:cNvPr id="12" name="Прямоугольник 11"/>
          <p:cNvSpPr/>
          <p:nvPr/>
        </p:nvSpPr>
        <p:spPr bwMode="auto">
          <a:xfrm>
            <a:off x="317500" y="3209925"/>
            <a:ext cx="401638" cy="365125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None/>
              <a:defRPr/>
            </a:pPr>
            <a:r>
              <a:rPr lang="ru-RU" sz="20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n-cs"/>
              </a:rPr>
              <a:t>4</a:t>
            </a:r>
          </a:p>
        </p:txBody>
      </p:sp>
      <p:sp>
        <p:nvSpPr>
          <p:cNvPr id="13" name="Прямоугольник 12"/>
          <p:cNvSpPr/>
          <p:nvPr/>
        </p:nvSpPr>
        <p:spPr bwMode="auto">
          <a:xfrm>
            <a:off x="646113" y="2625725"/>
            <a:ext cx="401637" cy="365125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None/>
              <a:defRPr/>
            </a:pPr>
            <a:r>
              <a:rPr lang="ru-RU" sz="20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n-cs"/>
              </a:rPr>
              <a:t>7</a:t>
            </a:r>
          </a:p>
        </p:txBody>
      </p:sp>
      <p:sp>
        <p:nvSpPr>
          <p:cNvPr id="14" name="Прямоугольник 13"/>
          <p:cNvSpPr/>
          <p:nvPr/>
        </p:nvSpPr>
        <p:spPr bwMode="auto">
          <a:xfrm>
            <a:off x="1193800" y="2041525"/>
            <a:ext cx="401638" cy="365125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None/>
              <a:defRPr/>
            </a:pPr>
            <a:r>
              <a:rPr lang="ru-RU" sz="20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n-cs"/>
              </a:rPr>
              <a:t>8</a:t>
            </a:r>
          </a:p>
        </p:txBody>
      </p:sp>
      <p:cxnSp>
        <p:nvCxnSpPr>
          <p:cNvPr id="15" name="Прямая со стрелкой 14"/>
          <p:cNvCxnSpPr>
            <a:cxnSpLocks noChangeShapeType="1"/>
            <a:stCxn id="7" idx="2"/>
            <a:endCxn id="14" idx="0"/>
          </p:cNvCxnSpPr>
          <p:nvPr/>
        </p:nvCxnSpPr>
        <p:spPr bwMode="auto">
          <a:xfrm rot="5400000">
            <a:off x="1742282" y="1439069"/>
            <a:ext cx="255587" cy="949325"/>
          </a:xfrm>
          <a:prstGeom prst="straightConnector1">
            <a:avLst/>
          </a:prstGeom>
          <a:noFill/>
          <a:ln w="9525" algn="ctr">
            <a:solidFill>
              <a:srgbClr val="000000"/>
            </a:solidFill>
            <a:round/>
            <a:headEnd/>
            <a:tailEnd type="arrow" w="med" len="med"/>
          </a:ln>
        </p:spPr>
      </p:cxnSp>
      <p:cxnSp>
        <p:nvCxnSpPr>
          <p:cNvPr id="17" name="Прямая со стрелкой 16"/>
          <p:cNvCxnSpPr>
            <a:cxnSpLocks noChangeShapeType="1"/>
            <a:stCxn id="14" idx="2"/>
            <a:endCxn id="13" idx="0"/>
          </p:cNvCxnSpPr>
          <p:nvPr/>
        </p:nvCxnSpPr>
        <p:spPr bwMode="auto">
          <a:xfrm rot="5400000">
            <a:off x="1012031" y="2242344"/>
            <a:ext cx="219075" cy="547688"/>
          </a:xfrm>
          <a:prstGeom prst="straightConnector1">
            <a:avLst/>
          </a:prstGeom>
          <a:noFill/>
          <a:ln w="9525" algn="ctr">
            <a:solidFill>
              <a:srgbClr val="000000"/>
            </a:solidFill>
            <a:round/>
            <a:headEnd/>
            <a:tailEnd type="arrow" w="med" len="med"/>
          </a:ln>
        </p:spPr>
      </p:cxnSp>
      <p:cxnSp>
        <p:nvCxnSpPr>
          <p:cNvPr id="18" name="Прямая со стрелкой 17"/>
          <p:cNvCxnSpPr>
            <a:cxnSpLocks noChangeShapeType="1"/>
            <a:stCxn id="14" idx="2"/>
            <a:endCxn id="6" idx="0"/>
          </p:cNvCxnSpPr>
          <p:nvPr/>
        </p:nvCxnSpPr>
        <p:spPr bwMode="auto">
          <a:xfrm rot="16200000" flipH="1">
            <a:off x="1504950" y="2297113"/>
            <a:ext cx="219075" cy="438150"/>
          </a:xfrm>
          <a:prstGeom prst="straightConnector1">
            <a:avLst/>
          </a:prstGeom>
          <a:noFill/>
          <a:ln w="9525" algn="ctr">
            <a:solidFill>
              <a:srgbClr val="000000"/>
            </a:solidFill>
            <a:round/>
            <a:headEnd/>
            <a:tailEnd type="arrow" w="med" len="med"/>
          </a:ln>
        </p:spPr>
      </p:cxnSp>
      <p:cxnSp>
        <p:nvCxnSpPr>
          <p:cNvPr id="19" name="Прямая со стрелкой 18"/>
          <p:cNvCxnSpPr>
            <a:cxnSpLocks noChangeShapeType="1"/>
            <a:stCxn id="6" idx="2"/>
            <a:endCxn id="10" idx="0"/>
          </p:cNvCxnSpPr>
          <p:nvPr/>
        </p:nvCxnSpPr>
        <p:spPr bwMode="auto">
          <a:xfrm rot="16200000" flipH="1">
            <a:off x="1970088" y="2854325"/>
            <a:ext cx="219075" cy="492125"/>
          </a:xfrm>
          <a:prstGeom prst="straightConnector1">
            <a:avLst/>
          </a:prstGeom>
          <a:noFill/>
          <a:ln w="9525" algn="ctr">
            <a:solidFill>
              <a:srgbClr val="000000"/>
            </a:solidFill>
            <a:round/>
            <a:headEnd/>
            <a:tailEnd type="arrow" w="med" len="med"/>
          </a:ln>
        </p:spPr>
      </p:cxnSp>
      <p:cxnSp>
        <p:nvCxnSpPr>
          <p:cNvPr id="20" name="Прямая со стрелкой 19"/>
          <p:cNvCxnSpPr>
            <a:cxnSpLocks noChangeShapeType="1"/>
            <a:stCxn id="11" idx="2"/>
            <a:endCxn id="5" idx="0"/>
          </p:cNvCxnSpPr>
          <p:nvPr/>
        </p:nvCxnSpPr>
        <p:spPr bwMode="auto">
          <a:xfrm rot="5400000">
            <a:off x="3183732" y="1658144"/>
            <a:ext cx="255587" cy="511175"/>
          </a:xfrm>
          <a:prstGeom prst="straightConnector1">
            <a:avLst/>
          </a:prstGeom>
          <a:noFill/>
          <a:ln w="9525" algn="ctr">
            <a:solidFill>
              <a:srgbClr val="000000"/>
            </a:solidFill>
            <a:round/>
            <a:headEnd/>
            <a:tailEnd type="arrow" w="med" len="med"/>
          </a:ln>
        </p:spPr>
      </p:cxnSp>
      <p:cxnSp>
        <p:nvCxnSpPr>
          <p:cNvPr id="21" name="Прямая со стрелкой 20"/>
          <p:cNvCxnSpPr>
            <a:cxnSpLocks noChangeShapeType="1"/>
            <a:stCxn id="13" idx="2"/>
            <a:endCxn id="12" idx="0"/>
          </p:cNvCxnSpPr>
          <p:nvPr/>
        </p:nvCxnSpPr>
        <p:spPr bwMode="auto">
          <a:xfrm rot="5400000">
            <a:off x="573881" y="2936082"/>
            <a:ext cx="219075" cy="328612"/>
          </a:xfrm>
          <a:prstGeom prst="straightConnector1">
            <a:avLst/>
          </a:prstGeom>
          <a:noFill/>
          <a:ln w="9525" algn="ctr">
            <a:solidFill>
              <a:srgbClr val="000000"/>
            </a:solidFill>
            <a:round/>
            <a:headEnd/>
            <a:tailEnd type="arrow" w="med" len="med"/>
          </a:ln>
        </p:spPr>
      </p:cxnSp>
      <p:cxnSp>
        <p:nvCxnSpPr>
          <p:cNvPr id="22" name="Прямая со стрелкой 21"/>
          <p:cNvCxnSpPr>
            <a:cxnSpLocks noChangeShapeType="1"/>
            <a:stCxn id="13" idx="2"/>
            <a:endCxn id="8" idx="0"/>
          </p:cNvCxnSpPr>
          <p:nvPr/>
        </p:nvCxnSpPr>
        <p:spPr bwMode="auto">
          <a:xfrm rot="16200000" flipH="1">
            <a:off x="847725" y="2990850"/>
            <a:ext cx="219075" cy="219075"/>
          </a:xfrm>
          <a:prstGeom prst="straightConnector1">
            <a:avLst/>
          </a:prstGeom>
          <a:noFill/>
          <a:ln w="9525" algn="ctr">
            <a:solidFill>
              <a:srgbClr val="000000"/>
            </a:solidFill>
            <a:round/>
            <a:headEnd/>
            <a:tailEnd type="arrow" w="med" len="med"/>
          </a:ln>
        </p:spPr>
      </p:cxnSp>
      <p:cxnSp>
        <p:nvCxnSpPr>
          <p:cNvPr id="23" name="Прямая со стрелкой 22"/>
          <p:cNvCxnSpPr>
            <a:cxnSpLocks noChangeShapeType="1"/>
            <a:stCxn id="6" idx="2"/>
            <a:endCxn id="9" idx="0"/>
          </p:cNvCxnSpPr>
          <p:nvPr/>
        </p:nvCxnSpPr>
        <p:spPr bwMode="auto">
          <a:xfrm rot="5400000">
            <a:off x="1651000" y="3027363"/>
            <a:ext cx="219075" cy="146050"/>
          </a:xfrm>
          <a:prstGeom prst="straightConnector1">
            <a:avLst/>
          </a:prstGeom>
          <a:noFill/>
          <a:ln w="9525" algn="ctr">
            <a:solidFill>
              <a:srgbClr val="000000"/>
            </a:solidFill>
            <a:round/>
            <a:headEnd/>
            <a:tailEnd type="arrow" w="med" len="med"/>
          </a:ln>
        </p:spPr>
      </p:cxnSp>
      <p:sp>
        <p:nvSpPr>
          <p:cNvPr id="27" name="Заголовок 1"/>
          <p:cNvSpPr txBox="1">
            <a:spLocks/>
          </p:cNvSpPr>
          <p:nvPr/>
        </p:nvSpPr>
        <p:spPr bwMode="auto">
          <a:xfrm>
            <a:off x="336550" y="6094413"/>
            <a:ext cx="8229600" cy="5476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 eaLnBrk="0" hangingPunct="0">
              <a:defRPr/>
            </a:pPr>
            <a:r>
              <a:rPr lang="ru-RU" kern="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Добавление нового элемента</a:t>
            </a:r>
          </a:p>
        </p:txBody>
      </p:sp>
      <p:sp>
        <p:nvSpPr>
          <p:cNvPr id="28" name="Прямоугольник 27"/>
          <p:cNvSpPr>
            <a:spLocks noChangeArrowheads="1"/>
          </p:cNvSpPr>
          <p:nvPr/>
        </p:nvSpPr>
        <p:spPr bwMode="auto">
          <a:xfrm>
            <a:off x="300038" y="3867150"/>
            <a:ext cx="7485062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None/>
            </a:pPr>
            <a:r>
              <a:rPr lang="ru-RU" b="0">
                <a:solidFill>
                  <a:schemeClr val="bg2"/>
                </a:solidFill>
              </a:rPr>
              <a:t>аналог операции +1  1010</a:t>
            </a:r>
            <a:r>
              <a:rPr lang="ru-RU" b="0" baseline="-25000">
                <a:solidFill>
                  <a:schemeClr val="bg2"/>
                </a:solidFill>
              </a:rPr>
              <a:t>2</a:t>
            </a:r>
            <a:r>
              <a:rPr lang="ru-RU" b="0">
                <a:solidFill>
                  <a:schemeClr val="bg2"/>
                </a:solidFill>
              </a:rPr>
              <a:t> + 1</a:t>
            </a:r>
            <a:r>
              <a:rPr lang="ru-RU" b="0" baseline="-25000">
                <a:solidFill>
                  <a:schemeClr val="bg2"/>
                </a:solidFill>
              </a:rPr>
              <a:t>2</a:t>
            </a:r>
            <a:r>
              <a:rPr lang="ru-RU" b="0">
                <a:solidFill>
                  <a:schemeClr val="bg2"/>
                </a:solidFill>
              </a:rPr>
              <a:t> = 1011</a:t>
            </a:r>
            <a:r>
              <a:rPr lang="ru-RU" b="0" baseline="-25000">
                <a:solidFill>
                  <a:schemeClr val="bg2"/>
                </a:solidFill>
              </a:rPr>
              <a:t>2</a:t>
            </a:r>
            <a:r>
              <a:rPr lang="ru-RU" b="0">
                <a:solidFill>
                  <a:schemeClr val="bg2"/>
                </a:solidFill>
              </a:rPr>
              <a:t>    </a:t>
            </a:r>
          </a:p>
        </p:txBody>
      </p:sp>
      <p:sp>
        <p:nvSpPr>
          <p:cNvPr id="29" name="Прямоугольник 28"/>
          <p:cNvSpPr/>
          <p:nvPr/>
        </p:nvSpPr>
        <p:spPr bwMode="auto">
          <a:xfrm>
            <a:off x="4316413" y="1384300"/>
            <a:ext cx="401637" cy="365125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None/>
              <a:defRPr/>
            </a:pPr>
            <a:r>
              <a:rPr lang="ru-RU" sz="20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n-cs"/>
              </a:rPr>
              <a:t>7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8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27" grpId="0"/>
      <p:bldP spid="28" grpId="0"/>
      <p:bldP spid="29" grpId="0" animBg="1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/>
          <p:cNvSpPr txBox="1">
            <a:spLocks/>
          </p:cNvSpPr>
          <p:nvPr/>
        </p:nvSpPr>
        <p:spPr bwMode="auto">
          <a:xfrm>
            <a:off x="592138" y="215900"/>
            <a:ext cx="8229600" cy="985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 eaLnBrk="0" hangingPunct="0">
              <a:defRPr/>
            </a:pPr>
            <a:r>
              <a:rPr lang="ru-RU" sz="3600" kern="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Биномиальная очередь</a:t>
            </a:r>
          </a:p>
        </p:txBody>
      </p:sp>
      <p:sp>
        <p:nvSpPr>
          <p:cNvPr id="28675" name="Прямоугольник 4"/>
          <p:cNvSpPr>
            <a:spLocks noChangeArrowheads="1"/>
          </p:cNvSpPr>
          <p:nvPr/>
        </p:nvSpPr>
        <p:spPr bwMode="auto">
          <a:xfrm>
            <a:off x="373063" y="1128713"/>
            <a:ext cx="8215312" cy="5349875"/>
          </a:xfrm>
          <a:prstGeom prst="rect">
            <a:avLst/>
          </a:prstGeom>
          <a:solidFill>
            <a:schemeClr val="tx1"/>
          </a:solidFill>
          <a:ln w="9525">
            <a:solidFill>
              <a:schemeClr val="bg2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None/>
            </a:pPr>
            <a:r>
              <a:rPr lang="ru-RU">
                <a:solidFill>
                  <a:schemeClr val="bg2"/>
                </a:solidFill>
              </a:rPr>
              <a:t>Алгоритм добавления нового элемента</a:t>
            </a:r>
          </a:p>
          <a:p>
            <a:pPr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None/>
            </a:pPr>
            <a:r>
              <a:rPr lang="ru-RU" b="0">
                <a:solidFill>
                  <a:schemeClr val="bg2"/>
                </a:solidFill>
              </a:rPr>
              <a:t>проинициализировать новый элемент как 1-дерево переноса</a:t>
            </a:r>
          </a:p>
          <a:p>
            <a:pPr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None/>
            </a:pPr>
            <a:r>
              <a:rPr lang="ru-RU" b="0">
                <a:solidFill>
                  <a:schemeClr val="bg2"/>
                </a:solidFill>
              </a:rPr>
              <a:t>i=0 </a:t>
            </a:r>
          </a:p>
          <a:p>
            <a:pPr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None/>
            </a:pPr>
            <a:r>
              <a:rPr lang="ru-RU" b="0" u="sng">
                <a:solidFill>
                  <a:schemeClr val="bg2"/>
                </a:solidFill>
              </a:rPr>
              <a:t>пока</a:t>
            </a:r>
            <a:r>
              <a:rPr lang="ru-RU" b="0">
                <a:solidFill>
                  <a:schemeClr val="bg2"/>
                </a:solidFill>
              </a:rPr>
              <a:t> не обнаружится пустая позиция для сортирующего дерева </a:t>
            </a:r>
            <a:r>
              <a:rPr lang="ru-RU" b="0" u="sng">
                <a:solidFill>
                  <a:schemeClr val="bg2"/>
                </a:solidFill>
              </a:rPr>
              <a:t>нц</a:t>
            </a:r>
          </a:p>
          <a:p>
            <a:pPr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None/>
            </a:pPr>
            <a:r>
              <a:rPr lang="ru-RU" b="0" u="sng">
                <a:solidFill>
                  <a:schemeClr val="bg2"/>
                </a:solidFill>
              </a:rPr>
              <a:t>если</a:t>
            </a:r>
            <a:r>
              <a:rPr lang="ru-RU" b="0">
                <a:solidFill>
                  <a:schemeClr val="bg2"/>
                </a:solidFill>
              </a:rPr>
              <a:t> в очереди есть 2</a:t>
            </a:r>
            <a:r>
              <a:rPr lang="ru-RU" b="0" baseline="30000">
                <a:solidFill>
                  <a:schemeClr val="bg2"/>
                </a:solidFill>
              </a:rPr>
              <a:t>i</a:t>
            </a:r>
            <a:r>
              <a:rPr lang="ru-RU" b="0">
                <a:solidFill>
                  <a:schemeClr val="bg2"/>
                </a:solidFill>
              </a:rPr>
              <a:t>  дерево, </a:t>
            </a:r>
            <a:r>
              <a:rPr lang="ru-RU" b="0" u="sng">
                <a:solidFill>
                  <a:schemeClr val="bg2"/>
                </a:solidFill>
              </a:rPr>
              <a:t>то</a:t>
            </a:r>
            <a:r>
              <a:rPr lang="ru-RU" b="0">
                <a:solidFill>
                  <a:schemeClr val="bg2"/>
                </a:solidFill>
              </a:rPr>
              <a:t> объединить его с i - деревом переноса </a:t>
            </a:r>
          </a:p>
          <a:p>
            <a:pPr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None/>
            </a:pPr>
            <a:r>
              <a:rPr lang="ru-RU" b="0">
                <a:solidFill>
                  <a:schemeClr val="bg2"/>
                </a:solidFill>
              </a:rPr>
              <a:t>записать полученное дерево в дерево 2</a:t>
            </a:r>
            <a:r>
              <a:rPr lang="ru-RU" b="0" baseline="30000">
                <a:solidFill>
                  <a:schemeClr val="bg2"/>
                </a:solidFill>
              </a:rPr>
              <a:t>i+1</a:t>
            </a:r>
            <a:r>
              <a:rPr lang="ru-RU" b="0">
                <a:solidFill>
                  <a:schemeClr val="bg2"/>
                </a:solidFill>
              </a:rPr>
              <a:t> переноса.</a:t>
            </a:r>
          </a:p>
          <a:p>
            <a:pPr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None/>
            </a:pPr>
            <a:r>
              <a:rPr lang="ru-RU" b="0">
                <a:solidFill>
                  <a:schemeClr val="bg2"/>
                </a:solidFill>
              </a:rPr>
              <a:t>i=i+1 </a:t>
            </a:r>
            <a:r>
              <a:rPr lang="ru-RU" b="0" u="sng">
                <a:solidFill>
                  <a:schemeClr val="bg2"/>
                </a:solidFill>
              </a:rPr>
              <a:t>кц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/>
          <p:cNvSpPr txBox="1">
            <a:spLocks/>
          </p:cNvSpPr>
          <p:nvPr/>
        </p:nvSpPr>
        <p:spPr bwMode="auto">
          <a:xfrm>
            <a:off x="592138" y="215900"/>
            <a:ext cx="8229600" cy="985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 eaLnBrk="0" hangingPunct="0">
              <a:defRPr/>
            </a:pPr>
            <a:r>
              <a:rPr lang="ru-RU" sz="3600" kern="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Биномиальная очередь</a:t>
            </a:r>
          </a:p>
        </p:txBody>
      </p:sp>
      <p:sp>
        <p:nvSpPr>
          <p:cNvPr id="5" name="Прямоугольник 4"/>
          <p:cNvSpPr>
            <a:spLocks noChangeArrowheads="1"/>
          </p:cNvSpPr>
          <p:nvPr/>
        </p:nvSpPr>
        <p:spPr bwMode="auto">
          <a:xfrm>
            <a:off x="2855913" y="2041525"/>
            <a:ext cx="401637" cy="365125"/>
          </a:xfrm>
          <a:prstGeom prst="rect">
            <a:avLst/>
          </a:prstGeom>
          <a:solidFill>
            <a:schemeClr val="tx1"/>
          </a:solidFill>
          <a:ln w="9525" algn="ctr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pPr algn="ctr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None/>
            </a:pPr>
            <a:r>
              <a:rPr lang="ru-RU" sz="2000">
                <a:solidFill>
                  <a:srgbClr val="000000"/>
                </a:solidFill>
              </a:rPr>
              <a:t>3</a:t>
            </a:r>
          </a:p>
        </p:txBody>
      </p:sp>
      <p:sp>
        <p:nvSpPr>
          <p:cNvPr id="6" name="Прямоугольник 5"/>
          <p:cNvSpPr/>
          <p:nvPr/>
        </p:nvSpPr>
        <p:spPr bwMode="auto">
          <a:xfrm>
            <a:off x="1631950" y="2625725"/>
            <a:ext cx="401638" cy="365125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None/>
              <a:defRPr/>
            </a:pPr>
            <a:r>
              <a:rPr lang="ru-RU" sz="20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n-cs"/>
              </a:rPr>
              <a:t>5</a:t>
            </a:r>
          </a:p>
        </p:txBody>
      </p:sp>
      <p:sp>
        <p:nvSpPr>
          <p:cNvPr id="7" name="Прямоугольник 6"/>
          <p:cNvSpPr/>
          <p:nvPr/>
        </p:nvSpPr>
        <p:spPr bwMode="auto">
          <a:xfrm>
            <a:off x="2143125" y="1420813"/>
            <a:ext cx="401638" cy="365125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None/>
              <a:defRPr/>
            </a:pPr>
            <a:r>
              <a:rPr lang="en-US" sz="20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n-cs"/>
              </a:rPr>
              <a:t>9</a:t>
            </a:r>
            <a:endParaRPr lang="ru-RU" sz="2000" dirty="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n-cs"/>
            </a:endParaRPr>
          </a:p>
        </p:txBody>
      </p:sp>
      <p:sp>
        <p:nvSpPr>
          <p:cNvPr id="8" name="Прямоугольник 7"/>
          <p:cNvSpPr/>
          <p:nvPr/>
        </p:nvSpPr>
        <p:spPr bwMode="auto">
          <a:xfrm>
            <a:off x="865188" y="3209925"/>
            <a:ext cx="401637" cy="365125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None/>
              <a:defRPr/>
            </a:pPr>
            <a:r>
              <a:rPr lang="ru-RU" sz="20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n-cs"/>
              </a:rPr>
              <a:t>2</a:t>
            </a:r>
          </a:p>
        </p:txBody>
      </p:sp>
      <p:sp>
        <p:nvSpPr>
          <p:cNvPr id="9" name="Прямоугольник 8"/>
          <p:cNvSpPr/>
          <p:nvPr/>
        </p:nvSpPr>
        <p:spPr bwMode="auto">
          <a:xfrm>
            <a:off x="1485900" y="3209925"/>
            <a:ext cx="401638" cy="365125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None/>
              <a:defRPr/>
            </a:pPr>
            <a:r>
              <a:rPr lang="ru-RU" sz="20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n-cs"/>
              </a:rPr>
              <a:t>2</a:t>
            </a:r>
          </a:p>
        </p:txBody>
      </p:sp>
      <p:sp>
        <p:nvSpPr>
          <p:cNvPr id="10" name="Прямоугольник 9"/>
          <p:cNvSpPr/>
          <p:nvPr/>
        </p:nvSpPr>
        <p:spPr bwMode="auto">
          <a:xfrm>
            <a:off x="2125663" y="3209925"/>
            <a:ext cx="401637" cy="365125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None/>
              <a:defRPr/>
            </a:pPr>
            <a:r>
              <a:rPr lang="en-US" sz="20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n-cs"/>
              </a:rPr>
              <a:t>1</a:t>
            </a:r>
            <a:endParaRPr lang="ru-RU" sz="2000" dirty="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n-cs"/>
            </a:endParaRPr>
          </a:p>
        </p:txBody>
      </p:sp>
      <p:sp>
        <p:nvSpPr>
          <p:cNvPr id="11" name="Прямоугольник 10"/>
          <p:cNvSpPr/>
          <p:nvPr/>
        </p:nvSpPr>
        <p:spPr bwMode="auto">
          <a:xfrm>
            <a:off x="3367088" y="1420813"/>
            <a:ext cx="401637" cy="365125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None/>
              <a:defRPr/>
            </a:pPr>
            <a:r>
              <a:rPr lang="ru-RU" sz="20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n-cs"/>
              </a:rPr>
              <a:t>4</a:t>
            </a:r>
          </a:p>
        </p:txBody>
      </p:sp>
      <p:sp>
        <p:nvSpPr>
          <p:cNvPr id="12" name="Прямоугольник 11"/>
          <p:cNvSpPr/>
          <p:nvPr/>
        </p:nvSpPr>
        <p:spPr bwMode="auto">
          <a:xfrm>
            <a:off x="317500" y="3209925"/>
            <a:ext cx="401638" cy="365125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None/>
              <a:defRPr/>
            </a:pPr>
            <a:r>
              <a:rPr lang="ru-RU" sz="20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n-cs"/>
              </a:rPr>
              <a:t>4</a:t>
            </a:r>
          </a:p>
        </p:txBody>
      </p:sp>
      <p:sp>
        <p:nvSpPr>
          <p:cNvPr id="13" name="Прямоугольник 12"/>
          <p:cNvSpPr/>
          <p:nvPr/>
        </p:nvSpPr>
        <p:spPr bwMode="auto">
          <a:xfrm>
            <a:off x="646113" y="2625725"/>
            <a:ext cx="401637" cy="365125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None/>
              <a:defRPr/>
            </a:pPr>
            <a:r>
              <a:rPr lang="ru-RU" sz="20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n-cs"/>
              </a:rPr>
              <a:t>7</a:t>
            </a:r>
          </a:p>
        </p:txBody>
      </p:sp>
      <p:sp>
        <p:nvSpPr>
          <p:cNvPr id="14" name="Прямоугольник 13"/>
          <p:cNvSpPr/>
          <p:nvPr/>
        </p:nvSpPr>
        <p:spPr bwMode="auto">
          <a:xfrm>
            <a:off x="1193800" y="2041525"/>
            <a:ext cx="401638" cy="365125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None/>
              <a:defRPr/>
            </a:pPr>
            <a:r>
              <a:rPr lang="ru-RU" sz="20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n-cs"/>
              </a:rPr>
              <a:t>8</a:t>
            </a:r>
          </a:p>
        </p:txBody>
      </p:sp>
      <p:cxnSp>
        <p:nvCxnSpPr>
          <p:cNvPr id="15" name="Прямая со стрелкой 14"/>
          <p:cNvCxnSpPr>
            <a:cxnSpLocks noChangeShapeType="1"/>
            <a:stCxn id="7" idx="2"/>
            <a:endCxn id="14" idx="0"/>
          </p:cNvCxnSpPr>
          <p:nvPr/>
        </p:nvCxnSpPr>
        <p:spPr bwMode="auto">
          <a:xfrm rot="5400000">
            <a:off x="1742282" y="1439069"/>
            <a:ext cx="255587" cy="949325"/>
          </a:xfrm>
          <a:prstGeom prst="straightConnector1">
            <a:avLst/>
          </a:prstGeom>
          <a:noFill/>
          <a:ln w="9525" algn="ctr">
            <a:solidFill>
              <a:srgbClr val="000000"/>
            </a:solidFill>
            <a:round/>
            <a:headEnd/>
            <a:tailEnd type="arrow" w="med" len="med"/>
          </a:ln>
        </p:spPr>
      </p:cxnSp>
      <p:cxnSp>
        <p:nvCxnSpPr>
          <p:cNvPr id="16" name="Прямая со стрелкой 15"/>
          <p:cNvCxnSpPr>
            <a:cxnSpLocks noChangeShapeType="1"/>
            <a:stCxn id="14" idx="2"/>
            <a:endCxn id="13" idx="0"/>
          </p:cNvCxnSpPr>
          <p:nvPr/>
        </p:nvCxnSpPr>
        <p:spPr bwMode="auto">
          <a:xfrm rot="5400000">
            <a:off x="1012031" y="2242344"/>
            <a:ext cx="219075" cy="547688"/>
          </a:xfrm>
          <a:prstGeom prst="straightConnector1">
            <a:avLst/>
          </a:prstGeom>
          <a:noFill/>
          <a:ln w="9525" algn="ctr">
            <a:solidFill>
              <a:srgbClr val="000000"/>
            </a:solidFill>
            <a:round/>
            <a:headEnd/>
            <a:tailEnd type="arrow" w="med" len="med"/>
          </a:ln>
        </p:spPr>
      </p:cxnSp>
      <p:cxnSp>
        <p:nvCxnSpPr>
          <p:cNvPr id="17" name="Прямая со стрелкой 16"/>
          <p:cNvCxnSpPr>
            <a:cxnSpLocks noChangeShapeType="1"/>
            <a:stCxn id="14" idx="2"/>
            <a:endCxn id="6" idx="0"/>
          </p:cNvCxnSpPr>
          <p:nvPr/>
        </p:nvCxnSpPr>
        <p:spPr bwMode="auto">
          <a:xfrm rot="16200000" flipH="1">
            <a:off x="1504950" y="2297113"/>
            <a:ext cx="219075" cy="438150"/>
          </a:xfrm>
          <a:prstGeom prst="straightConnector1">
            <a:avLst/>
          </a:prstGeom>
          <a:noFill/>
          <a:ln w="9525" algn="ctr">
            <a:solidFill>
              <a:srgbClr val="000000"/>
            </a:solidFill>
            <a:round/>
            <a:headEnd/>
            <a:tailEnd type="arrow" w="med" len="med"/>
          </a:ln>
        </p:spPr>
      </p:cxnSp>
      <p:cxnSp>
        <p:nvCxnSpPr>
          <p:cNvPr id="18" name="Прямая со стрелкой 17"/>
          <p:cNvCxnSpPr>
            <a:cxnSpLocks noChangeShapeType="1"/>
            <a:stCxn id="6" idx="2"/>
            <a:endCxn id="10" idx="0"/>
          </p:cNvCxnSpPr>
          <p:nvPr/>
        </p:nvCxnSpPr>
        <p:spPr bwMode="auto">
          <a:xfrm rot="16200000" flipH="1">
            <a:off x="1970088" y="2854325"/>
            <a:ext cx="219075" cy="492125"/>
          </a:xfrm>
          <a:prstGeom prst="straightConnector1">
            <a:avLst/>
          </a:prstGeom>
          <a:noFill/>
          <a:ln w="9525" algn="ctr">
            <a:solidFill>
              <a:srgbClr val="000000"/>
            </a:solidFill>
            <a:round/>
            <a:headEnd/>
            <a:tailEnd type="arrow" w="med" len="med"/>
          </a:ln>
        </p:spPr>
      </p:cxnSp>
      <p:cxnSp>
        <p:nvCxnSpPr>
          <p:cNvPr id="19" name="Прямая со стрелкой 18"/>
          <p:cNvCxnSpPr>
            <a:cxnSpLocks noChangeShapeType="1"/>
            <a:stCxn id="11" idx="2"/>
            <a:endCxn id="5" idx="0"/>
          </p:cNvCxnSpPr>
          <p:nvPr/>
        </p:nvCxnSpPr>
        <p:spPr bwMode="auto">
          <a:xfrm rot="5400000">
            <a:off x="3183732" y="1658144"/>
            <a:ext cx="255587" cy="511175"/>
          </a:xfrm>
          <a:prstGeom prst="straightConnector1">
            <a:avLst/>
          </a:prstGeom>
          <a:noFill/>
          <a:ln w="9525" algn="ctr">
            <a:solidFill>
              <a:srgbClr val="000000"/>
            </a:solidFill>
            <a:round/>
            <a:headEnd/>
            <a:tailEnd type="arrow" w="med" len="med"/>
          </a:ln>
        </p:spPr>
      </p:cxnSp>
      <p:cxnSp>
        <p:nvCxnSpPr>
          <p:cNvPr id="20" name="Прямая со стрелкой 19"/>
          <p:cNvCxnSpPr>
            <a:cxnSpLocks noChangeShapeType="1"/>
            <a:stCxn id="13" idx="2"/>
            <a:endCxn id="12" idx="0"/>
          </p:cNvCxnSpPr>
          <p:nvPr/>
        </p:nvCxnSpPr>
        <p:spPr bwMode="auto">
          <a:xfrm rot="5400000">
            <a:off x="573881" y="2936082"/>
            <a:ext cx="219075" cy="328612"/>
          </a:xfrm>
          <a:prstGeom prst="straightConnector1">
            <a:avLst/>
          </a:prstGeom>
          <a:noFill/>
          <a:ln w="9525" algn="ctr">
            <a:solidFill>
              <a:srgbClr val="000000"/>
            </a:solidFill>
            <a:round/>
            <a:headEnd/>
            <a:tailEnd type="arrow" w="med" len="med"/>
          </a:ln>
        </p:spPr>
      </p:cxnSp>
      <p:cxnSp>
        <p:nvCxnSpPr>
          <p:cNvPr id="21" name="Прямая со стрелкой 20"/>
          <p:cNvCxnSpPr>
            <a:cxnSpLocks noChangeShapeType="1"/>
            <a:stCxn id="13" idx="2"/>
            <a:endCxn id="8" idx="0"/>
          </p:cNvCxnSpPr>
          <p:nvPr/>
        </p:nvCxnSpPr>
        <p:spPr bwMode="auto">
          <a:xfrm rot="16200000" flipH="1">
            <a:off x="847725" y="2990850"/>
            <a:ext cx="219075" cy="219075"/>
          </a:xfrm>
          <a:prstGeom prst="straightConnector1">
            <a:avLst/>
          </a:prstGeom>
          <a:noFill/>
          <a:ln w="9525" algn="ctr">
            <a:solidFill>
              <a:srgbClr val="000000"/>
            </a:solidFill>
            <a:round/>
            <a:headEnd/>
            <a:tailEnd type="arrow" w="med" len="med"/>
          </a:ln>
        </p:spPr>
      </p:cxnSp>
      <p:cxnSp>
        <p:nvCxnSpPr>
          <p:cNvPr id="22" name="Прямая со стрелкой 21"/>
          <p:cNvCxnSpPr>
            <a:cxnSpLocks noChangeShapeType="1"/>
            <a:stCxn id="6" idx="2"/>
            <a:endCxn id="9" idx="0"/>
          </p:cNvCxnSpPr>
          <p:nvPr/>
        </p:nvCxnSpPr>
        <p:spPr bwMode="auto">
          <a:xfrm rot="5400000">
            <a:off x="1651000" y="3027363"/>
            <a:ext cx="219075" cy="146050"/>
          </a:xfrm>
          <a:prstGeom prst="straightConnector1">
            <a:avLst/>
          </a:prstGeom>
          <a:noFill/>
          <a:ln w="9525" algn="ctr">
            <a:solidFill>
              <a:srgbClr val="000000"/>
            </a:solidFill>
            <a:round/>
            <a:headEnd/>
            <a:tailEnd type="arrow" w="med" len="med"/>
          </a:ln>
        </p:spPr>
      </p:cxnSp>
      <p:sp>
        <p:nvSpPr>
          <p:cNvPr id="23" name="Прямоугольник 22"/>
          <p:cNvSpPr/>
          <p:nvPr/>
        </p:nvSpPr>
        <p:spPr bwMode="auto">
          <a:xfrm>
            <a:off x="4316413" y="1384300"/>
            <a:ext cx="401637" cy="365125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None/>
              <a:defRPr/>
            </a:pPr>
            <a:r>
              <a:rPr lang="ru-RU" sz="20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n-cs"/>
              </a:rPr>
              <a:t>7</a:t>
            </a:r>
          </a:p>
        </p:txBody>
      </p:sp>
      <p:sp>
        <p:nvSpPr>
          <p:cNvPr id="24" name="Прямоугольник 23"/>
          <p:cNvSpPr/>
          <p:nvPr/>
        </p:nvSpPr>
        <p:spPr bwMode="auto">
          <a:xfrm>
            <a:off x="5119688" y="1384300"/>
            <a:ext cx="401637" cy="365125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None/>
              <a:defRPr/>
            </a:pPr>
            <a:r>
              <a:rPr lang="ru-RU" sz="20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n-cs"/>
              </a:rPr>
              <a:t>8</a:t>
            </a:r>
          </a:p>
        </p:txBody>
      </p:sp>
      <p:cxnSp>
        <p:nvCxnSpPr>
          <p:cNvPr id="33" name="Прямая со стрелкой 32"/>
          <p:cNvCxnSpPr>
            <a:cxnSpLocks noChangeShapeType="1"/>
            <a:stCxn id="24" idx="2"/>
          </p:cNvCxnSpPr>
          <p:nvPr/>
        </p:nvCxnSpPr>
        <p:spPr bwMode="auto">
          <a:xfrm rot="5400000">
            <a:off x="4745831" y="1502569"/>
            <a:ext cx="328613" cy="822325"/>
          </a:xfrm>
          <a:prstGeom prst="straightConnector1">
            <a:avLst/>
          </a:prstGeom>
          <a:noFill/>
          <a:ln w="9525" algn="ctr">
            <a:solidFill>
              <a:schemeClr val="bg2"/>
            </a:solidFill>
            <a:round/>
            <a:headEnd/>
            <a:tailEnd type="arrow" w="med" len="med"/>
          </a:ln>
        </p:spPr>
      </p:cxnSp>
      <p:sp>
        <p:nvSpPr>
          <p:cNvPr id="36" name="Прямоугольник 35"/>
          <p:cNvSpPr/>
          <p:nvPr/>
        </p:nvSpPr>
        <p:spPr bwMode="auto">
          <a:xfrm>
            <a:off x="1704975" y="5327650"/>
            <a:ext cx="401638" cy="365125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None/>
              <a:defRPr/>
            </a:pPr>
            <a:r>
              <a:rPr lang="ru-RU" sz="20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n-cs"/>
              </a:rPr>
              <a:t>5</a:t>
            </a:r>
          </a:p>
        </p:txBody>
      </p:sp>
      <p:sp>
        <p:nvSpPr>
          <p:cNvPr id="37" name="Прямоугольник 36"/>
          <p:cNvSpPr/>
          <p:nvPr/>
        </p:nvSpPr>
        <p:spPr bwMode="auto">
          <a:xfrm>
            <a:off x="2216150" y="4122738"/>
            <a:ext cx="401638" cy="365125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None/>
              <a:defRPr/>
            </a:pPr>
            <a:r>
              <a:rPr lang="en-US" sz="20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n-cs"/>
              </a:rPr>
              <a:t>9</a:t>
            </a:r>
            <a:endParaRPr lang="ru-RU" sz="2000" dirty="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n-cs"/>
            </a:endParaRPr>
          </a:p>
        </p:txBody>
      </p:sp>
      <p:sp>
        <p:nvSpPr>
          <p:cNvPr id="38" name="Прямоугольник 37"/>
          <p:cNvSpPr/>
          <p:nvPr/>
        </p:nvSpPr>
        <p:spPr bwMode="auto">
          <a:xfrm>
            <a:off x="938213" y="5911850"/>
            <a:ext cx="401637" cy="365125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None/>
              <a:defRPr/>
            </a:pPr>
            <a:r>
              <a:rPr lang="ru-RU" sz="20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n-cs"/>
              </a:rPr>
              <a:t>2</a:t>
            </a:r>
          </a:p>
        </p:txBody>
      </p:sp>
      <p:sp>
        <p:nvSpPr>
          <p:cNvPr id="39" name="Прямоугольник 38"/>
          <p:cNvSpPr/>
          <p:nvPr/>
        </p:nvSpPr>
        <p:spPr bwMode="auto">
          <a:xfrm>
            <a:off x="1558925" y="5911850"/>
            <a:ext cx="401638" cy="365125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None/>
              <a:defRPr/>
            </a:pPr>
            <a:r>
              <a:rPr lang="ru-RU" sz="20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n-cs"/>
              </a:rPr>
              <a:t>2</a:t>
            </a:r>
          </a:p>
        </p:txBody>
      </p:sp>
      <p:sp>
        <p:nvSpPr>
          <p:cNvPr id="40" name="Прямоугольник 39"/>
          <p:cNvSpPr/>
          <p:nvPr/>
        </p:nvSpPr>
        <p:spPr bwMode="auto">
          <a:xfrm>
            <a:off x="2198688" y="5911850"/>
            <a:ext cx="401637" cy="365125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None/>
              <a:defRPr/>
            </a:pPr>
            <a:r>
              <a:rPr lang="en-US" sz="20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n-cs"/>
              </a:rPr>
              <a:t>1</a:t>
            </a:r>
            <a:endParaRPr lang="ru-RU" sz="2000" dirty="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n-cs"/>
            </a:endParaRPr>
          </a:p>
        </p:txBody>
      </p:sp>
      <p:sp>
        <p:nvSpPr>
          <p:cNvPr id="41" name="Прямоугольник 40"/>
          <p:cNvSpPr/>
          <p:nvPr/>
        </p:nvSpPr>
        <p:spPr bwMode="auto">
          <a:xfrm>
            <a:off x="390525" y="5911850"/>
            <a:ext cx="401638" cy="365125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None/>
              <a:defRPr/>
            </a:pPr>
            <a:r>
              <a:rPr lang="ru-RU" sz="20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n-cs"/>
              </a:rPr>
              <a:t>4</a:t>
            </a:r>
          </a:p>
        </p:txBody>
      </p:sp>
      <p:sp>
        <p:nvSpPr>
          <p:cNvPr id="42" name="Прямоугольник 41"/>
          <p:cNvSpPr/>
          <p:nvPr/>
        </p:nvSpPr>
        <p:spPr bwMode="auto">
          <a:xfrm>
            <a:off x="719138" y="5327650"/>
            <a:ext cx="401637" cy="365125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None/>
              <a:defRPr/>
            </a:pPr>
            <a:r>
              <a:rPr lang="ru-RU" sz="20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n-cs"/>
              </a:rPr>
              <a:t>7</a:t>
            </a:r>
          </a:p>
        </p:txBody>
      </p:sp>
      <p:sp>
        <p:nvSpPr>
          <p:cNvPr id="43" name="Прямоугольник 42"/>
          <p:cNvSpPr/>
          <p:nvPr/>
        </p:nvSpPr>
        <p:spPr bwMode="auto">
          <a:xfrm>
            <a:off x="1266825" y="4743450"/>
            <a:ext cx="401638" cy="365125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None/>
              <a:defRPr/>
            </a:pPr>
            <a:r>
              <a:rPr lang="ru-RU" sz="20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n-cs"/>
              </a:rPr>
              <a:t>8</a:t>
            </a:r>
          </a:p>
        </p:txBody>
      </p:sp>
      <p:cxnSp>
        <p:nvCxnSpPr>
          <p:cNvPr id="44" name="Прямая со стрелкой 43"/>
          <p:cNvCxnSpPr>
            <a:cxnSpLocks noChangeShapeType="1"/>
            <a:stCxn id="37" idx="2"/>
            <a:endCxn id="43" idx="0"/>
          </p:cNvCxnSpPr>
          <p:nvPr/>
        </p:nvCxnSpPr>
        <p:spPr bwMode="auto">
          <a:xfrm rot="5400000">
            <a:off x="1815307" y="4140994"/>
            <a:ext cx="255587" cy="949325"/>
          </a:xfrm>
          <a:prstGeom prst="straightConnector1">
            <a:avLst/>
          </a:prstGeom>
          <a:noFill/>
          <a:ln w="9525" algn="ctr">
            <a:solidFill>
              <a:srgbClr val="000000"/>
            </a:solidFill>
            <a:round/>
            <a:headEnd/>
            <a:tailEnd type="arrow" w="med" len="med"/>
          </a:ln>
        </p:spPr>
      </p:cxnSp>
      <p:cxnSp>
        <p:nvCxnSpPr>
          <p:cNvPr id="45" name="Прямая со стрелкой 44"/>
          <p:cNvCxnSpPr>
            <a:cxnSpLocks noChangeShapeType="1"/>
            <a:stCxn id="43" idx="2"/>
            <a:endCxn id="42" idx="0"/>
          </p:cNvCxnSpPr>
          <p:nvPr/>
        </p:nvCxnSpPr>
        <p:spPr bwMode="auto">
          <a:xfrm rot="5400000">
            <a:off x="1085056" y="4944269"/>
            <a:ext cx="219075" cy="547688"/>
          </a:xfrm>
          <a:prstGeom prst="straightConnector1">
            <a:avLst/>
          </a:prstGeom>
          <a:noFill/>
          <a:ln w="9525" algn="ctr">
            <a:solidFill>
              <a:srgbClr val="000000"/>
            </a:solidFill>
            <a:round/>
            <a:headEnd/>
            <a:tailEnd type="arrow" w="med" len="med"/>
          </a:ln>
        </p:spPr>
      </p:cxnSp>
      <p:cxnSp>
        <p:nvCxnSpPr>
          <p:cNvPr id="46" name="Прямая со стрелкой 45"/>
          <p:cNvCxnSpPr>
            <a:cxnSpLocks noChangeShapeType="1"/>
            <a:stCxn id="43" idx="2"/>
            <a:endCxn id="36" idx="0"/>
          </p:cNvCxnSpPr>
          <p:nvPr/>
        </p:nvCxnSpPr>
        <p:spPr bwMode="auto">
          <a:xfrm rot="16200000" flipH="1">
            <a:off x="1577975" y="4999038"/>
            <a:ext cx="219075" cy="438150"/>
          </a:xfrm>
          <a:prstGeom prst="straightConnector1">
            <a:avLst/>
          </a:prstGeom>
          <a:noFill/>
          <a:ln w="9525" algn="ctr">
            <a:solidFill>
              <a:srgbClr val="000000"/>
            </a:solidFill>
            <a:round/>
            <a:headEnd/>
            <a:tailEnd type="arrow" w="med" len="med"/>
          </a:ln>
        </p:spPr>
      </p:cxnSp>
      <p:cxnSp>
        <p:nvCxnSpPr>
          <p:cNvPr id="47" name="Прямая со стрелкой 46"/>
          <p:cNvCxnSpPr>
            <a:cxnSpLocks noChangeShapeType="1"/>
            <a:stCxn id="36" idx="2"/>
            <a:endCxn id="40" idx="0"/>
          </p:cNvCxnSpPr>
          <p:nvPr/>
        </p:nvCxnSpPr>
        <p:spPr bwMode="auto">
          <a:xfrm rot="16200000" flipH="1">
            <a:off x="2043113" y="5556250"/>
            <a:ext cx="219075" cy="492125"/>
          </a:xfrm>
          <a:prstGeom prst="straightConnector1">
            <a:avLst/>
          </a:prstGeom>
          <a:noFill/>
          <a:ln w="9525" algn="ctr">
            <a:solidFill>
              <a:srgbClr val="000000"/>
            </a:solidFill>
            <a:round/>
            <a:headEnd/>
            <a:tailEnd type="arrow" w="med" len="med"/>
          </a:ln>
        </p:spPr>
      </p:cxnSp>
      <p:cxnSp>
        <p:nvCxnSpPr>
          <p:cNvPr id="48" name="Прямая со стрелкой 47"/>
          <p:cNvCxnSpPr>
            <a:cxnSpLocks noChangeShapeType="1"/>
            <a:stCxn id="42" idx="2"/>
            <a:endCxn id="41" idx="0"/>
          </p:cNvCxnSpPr>
          <p:nvPr/>
        </p:nvCxnSpPr>
        <p:spPr bwMode="auto">
          <a:xfrm rot="5400000">
            <a:off x="646906" y="5638007"/>
            <a:ext cx="219075" cy="328612"/>
          </a:xfrm>
          <a:prstGeom prst="straightConnector1">
            <a:avLst/>
          </a:prstGeom>
          <a:noFill/>
          <a:ln w="9525" algn="ctr">
            <a:solidFill>
              <a:srgbClr val="000000"/>
            </a:solidFill>
            <a:round/>
            <a:headEnd/>
            <a:tailEnd type="arrow" w="med" len="med"/>
          </a:ln>
        </p:spPr>
      </p:cxnSp>
      <p:cxnSp>
        <p:nvCxnSpPr>
          <p:cNvPr id="49" name="Прямая со стрелкой 48"/>
          <p:cNvCxnSpPr>
            <a:cxnSpLocks noChangeShapeType="1"/>
            <a:stCxn id="42" idx="2"/>
            <a:endCxn id="38" idx="0"/>
          </p:cNvCxnSpPr>
          <p:nvPr/>
        </p:nvCxnSpPr>
        <p:spPr bwMode="auto">
          <a:xfrm rot="16200000" flipH="1">
            <a:off x="920750" y="5692775"/>
            <a:ext cx="219075" cy="219075"/>
          </a:xfrm>
          <a:prstGeom prst="straightConnector1">
            <a:avLst/>
          </a:prstGeom>
          <a:noFill/>
          <a:ln w="9525" algn="ctr">
            <a:solidFill>
              <a:srgbClr val="000000"/>
            </a:solidFill>
            <a:round/>
            <a:headEnd/>
            <a:tailEnd type="arrow" w="med" len="med"/>
          </a:ln>
        </p:spPr>
      </p:cxnSp>
      <p:cxnSp>
        <p:nvCxnSpPr>
          <p:cNvPr id="50" name="Прямая со стрелкой 49"/>
          <p:cNvCxnSpPr>
            <a:cxnSpLocks noChangeShapeType="1"/>
            <a:stCxn id="36" idx="2"/>
            <a:endCxn id="39" idx="0"/>
          </p:cNvCxnSpPr>
          <p:nvPr/>
        </p:nvCxnSpPr>
        <p:spPr bwMode="auto">
          <a:xfrm rot="5400000">
            <a:off x="1724025" y="5729288"/>
            <a:ext cx="219075" cy="146050"/>
          </a:xfrm>
          <a:prstGeom prst="straightConnector1">
            <a:avLst/>
          </a:prstGeom>
          <a:noFill/>
          <a:ln w="9525" algn="ctr">
            <a:solidFill>
              <a:srgbClr val="000000"/>
            </a:solidFill>
            <a:round/>
            <a:headEnd/>
            <a:tailEnd type="arrow" w="med" len="med"/>
          </a:ln>
        </p:spPr>
      </p:cxnSp>
      <p:sp>
        <p:nvSpPr>
          <p:cNvPr id="51" name="Прямоугольник 50"/>
          <p:cNvSpPr/>
          <p:nvPr/>
        </p:nvSpPr>
        <p:spPr bwMode="auto">
          <a:xfrm>
            <a:off x="3878263" y="4086225"/>
            <a:ext cx="401637" cy="365125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None/>
              <a:defRPr/>
            </a:pPr>
            <a:r>
              <a:rPr lang="ru-RU" sz="20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n-cs"/>
              </a:rPr>
              <a:t>8</a:t>
            </a:r>
          </a:p>
        </p:txBody>
      </p:sp>
      <p:sp>
        <p:nvSpPr>
          <p:cNvPr id="52" name="Прямоугольник 51"/>
          <p:cNvSpPr/>
          <p:nvPr/>
        </p:nvSpPr>
        <p:spPr bwMode="auto">
          <a:xfrm>
            <a:off x="3330575" y="4779963"/>
            <a:ext cx="401638" cy="365125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None/>
              <a:defRPr/>
            </a:pPr>
            <a:r>
              <a:rPr lang="ru-RU" sz="20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4</a:t>
            </a:r>
            <a:endParaRPr lang="ru-RU" sz="2000" dirty="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n-cs"/>
            </a:endParaRPr>
          </a:p>
        </p:txBody>
      </p:sp>
      <p:sp>
        <p:nvSpPr>
          <p:cNvPr id="53" name="Прямоугольник 52"/>
          <p:cNvSpPr/>
          <p:nvPr/>
        </p:nvSpPr>
        <p:spPr bwMode="auto">
          <a:xfrm>
            <a:off x="3768725" y="5364163"/>
            <a:ext cx="401638" cy="365125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None/>
              <a:defRPr/>
            </a:pPr>
            <a:r>
              <a:rPr lang="ru-RU" sz="20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n-cs"/>
              </a:rPr>
              <a:t>7</a:t>
            </a:r>
          </a:p>
        </p:txBody>
      </p:sp>
      <p:sp>
        <p:nvSpPr>
          <p:cNvPr id="54" name="Прямоугольник 53"/>
          <p:cNvSpPr>
            <a:spLocks noChangeArrowheads="1"/>
          </p:cNvSpPr>
          <p:nvPr/>
        </p:nvSpPr>
        <p:spPr bwMode="auto">
          <a:xfrm>
            <a:off x="2819400" y="5364163"/>
            <a:ext cx="401638" cy="365125"/>
          </a:xfrm>
          <a:prstGeom prst="rect">
            <a:avLst/>
          </a:prstGeom>
          <a:solidFill>
            <a:schemeClr val="tx1"/>
          </a:solidFill>
          <a:ln w="9525" algn="ctr">
            <a:solidFill>
              <a:schemeClr val="bg2"/>
            </a:solidFill>
            <a:round/>
            <a:headEnd/>
            <a:tailEnd/>
          </a:ln>
        </p:spPr>
        <p:txBody>
          <a:bodyPr/>
          <a:lstStyle/>
          <a:p>
            <a:pPr algn="ctr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None/>
            </a:pPr>
            <a:r>
              <a:rPr lang="ru-RU" sz="2000">
                <a:solidFill>
                  <a:srgbClr val="000000"/>
                </a:solidFill>
              </a:rPr>
              <a:t>3</a:t>
            </a:r>
          </a:p>
        </p:txBody>
      </p:sp>
      <p:cxnSp>
        <p:nvCxnSpPr>
          <p:cNvPr id="56" name="Прямая со стрелкой 55"/>
          <p:cNvCxnSpPr>
            <a:cxnSpLocks noChangeShapeType="1"/>
            <a:stCxn id="51" idx="2"/>
            <a:endCxn id="52" idx="0"/>
          </p:cNvCxnSpPr>
          <p:nvPr/>
        </p:nvCxnSpPr>
        <p:spPr bwMode="auto">
          <a:xfrm rot="5400000">
            <a:off x="3640137" y="4341813"/>
            <a:ext cx="328613" cy="547688"/>
          </a:xfrm>
          <a:prstGeom prst="straightConnector1">
            <a:avLst/>
          </a:prstGeom>
          <a:noFill/>
          <a:ln w="9525" algn="ctr">
            <a:solidFill>
              <a:schemeClr val="bg2"/>
            </a:solidFill>
            <a:round/>
            <a:headEnd/>
            <a:tailEnd type="arrow" w="med" len="med"/>
          </a:ln>
        </p:spPr>
      </p:cxnSp>
      <p:cxnSp>
        <p:nvCxnSpPr>
          <p:cNvPr id="58" name="Прямая со стрелкой 57"/>
          <p:cNvCxnSpPr>
            <a:cxnSpLocks noChangeShapeType="1"/>
            <a:stCxn id="52" idx="2"/>
            <a:endCxn id="54" idx="0"/>
          </p:cNvCxnSpPr>
          <p:nvPr/>
        </p:nvCxnSpPr>
        <p:spPr bwMode="auto">
          <a:xfrm rot="5400000">
            <a:off x="3165475" y="4999038"/>
            <a:ext cx="219075" cy="511175"/>
          </a:xfrm>
          <a:prstGeom prst="straightConnector1">
            <a:avLst/>
          </a:prstGeom>
          <a:noFill/>
          <a:ln w="9525" algn="ctr">
            <a:solidFill>
              <a:schemeClr val="bg2"/>
            </a:solidFill>
            <a:round/>
            <a:headEnd/>
            <a:tailEnd type="arrow" w="med" len="med"/>
          </a:ln>
        </p:spPr>
      </p:cxnSp>
      <p:cxnSp>
        <p:nvCxnSpPr>
          <p:cNvPr id="60" name="Прямая со стрелкой 59"/>
          <p:cNvCxnSpPr>
            <a:cxnSpLocks noChangeShapeType="1"/>
            <a:stCxn id="52" idx="2"/>
            <a:endCxn id="53" idx="0"/>
          </p:cNvCxnSpPr>
          <p:nvPr/>
        </p:nvCxnSpPr>
        <p:spPr bwMode="auto">
          <a:xfrm rot="16200000" flipH="1">
            <a:off x="3640137" y="5035551"/>
            <a:ext cx="219075" cy="438150"/>
          </a:xfrm>
          <a:prstGeom prst="straightConnector1">
            <a:avLst/>
          </a:prstGeom>
          <a:noFill/>
          <a:ln w="9525" algn="ctr">
            <a:solidFill>
              <a:schemeClr val="bg2"/>
            </a:solidFill>
            <a:round/>
            <a:headEnd/>
            <a:tailEnd type="arrow" w="med" len="med"/>
          </a:ln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0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0799 0.0997 " pathEditMode="relative" ptsTypes="AA">
                                      <p:cBhvr>
                                        <p:cTn id="74" dur="2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2000"/>
                            </p:stCondLst>
                            <p:childTnLst>
                              <p:par>
                                <p:cTn id="7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8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2500"/>
                            </p:stCondLst>
                            <p:childTnLst>
                              <p:par>
                                <p:cTn id="80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5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8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1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4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0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3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6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9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2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5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8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1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4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7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0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3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6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9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2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5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23" grpId="0" animBg="1"/>
      <p:bldP spid="23" grpId="1" animBg="1"/>
      <p:bldP spid="24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51" grpId="0" animBg="1"/>
      <p:bldP spid="52" grpId="0" animBg="1"/>
      <p:bldP spid="53" grpId="0" animBg="1"/>
      <p:bldP spid="54" grpId="0" animBg="1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/>
          <p:cNvSpPr txBox="1">
            <a:spLocks/>
          </p:cNvSpPr>
          <p:nvPr/>
        </p:nvSpPr>
        <p:spPr bwMode="auto">
          <a:xfrm>
            <a:off x="592138" y="215900"/>
            <a:ext cx="8229600" cy="985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 eaLnBrk="0" hangingPunct="0">
              <a:defRPr/>
            </a:pPr>
            <a:r>
              <a:rPr lang="ru-RU" sz="3600" kern="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Биномиальная очередь</a:t>
            </a:r>
          </a:p>
        </p:txBody>
      </p:sp>
      <p:sp>
        <p:nvSpPr>
          <p:cNvPr id="5" name="Прямоугольник 4"/>
          <p:cNvSpPr>
            <a:spLocks noChangeArrowheads="1"/>
          </p:cNvSpPr>
          <p:nvPr/>
        </p:nvSpPr>
        <p:spPr bwMode="auto">
          <a:xfrm>
            <a:off x="555625" y="1238250"/>
            <a:ext cx="7485063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None/>
            </a:pPr>
            <a:r>
              <a:rPr lang="ru-RU" b="0">
                <a:solidFill>
                  <a:schemeClr val="bg2"/>
                </a:solidFill>
              </a:rPr>
              <a:t>аналог операции -1  1010</a:t>
            </a:r>
            <a:r>
              <a:rPr lang="ru-RU" b="0" baseline="-25000">
                <a:solidFill>
                  <a:schemeClr val="bg2"/>
                </a:solidFill>
              </a:rPr>
              <a:t>2</a:t>
            </a:r>
            <a:r>
              <a:rPr lang="ru-RU" b="0">
                <a:solidFill>
                  <a:schemeClr val="bg2"/>
                </a:solidFill>
              </a:rPr>
              <a:t> - 1</a:t>
            </a:r>
            <a:r>
              <a:rPr lang="ru-RU" b="0" baseline="-25000">
                <a:solidFill>
                  <a:schemeClr val="bg2"/>
                </a:solidFill>
              </a:rPr>
              <a:t>2</a:t>
            </a:r>
            <a:r>
              <a:rPr lang="ru-RU" b="0">
                <a:solidFill>
                  <a:schemeClr val="bg2"/>
                </a:solidFill>
              </a:rPr>
              <a:t> = 1001</a:t>
            </a:r>
            <a:r>
              <a:rPr lang="ru-RU" b="0" baseline="-25000">
                <a:solidFill>
                  <a:schemeClr val="bg2"/>
                </a:solidFill>
              </a:rPr>
              <a:t>2</a:t>
            </a:r>
            <a:r>
              <a:rPr lang="ru-RU" b="0">
                <a:solidFill>
                  <a:schemeClr val="bg2"/>
                </a:solidFill>
              </a:rPr>
              <a:t>    </a:t>
            </a:r>
          </a:p>
        </p:txBody>
      </p:sp>
      <p:sp>
        <p:nvSpPr>
          <p:cNvPr id="6" name="Прямоугольник 5"/>
          <p:cNvSpPr>
            <a:spLocks noChangeArrowheads="1"/>
          </p:cNvSpPr>
          <p:nvPr/>
        </p:nvSpPr>
        <p:spPr bwMode="auto">
          <a:xfrm>
            <a:off x="3148013" y="2808288"/>
            <a:ext cx="401637" cy="365125"/>
          </a:xfrm>
          <a:prstGeom prst="rect">
            <a:avLst/>
          </a:prstGeom>
          <a:solidFill>
            <a:schemeClr val="tx1"/>
          </a:solidFill>
          <a:ln w="9525" algn="ctr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pPr algn="ctr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None/>
            </a:pPr>
            <a:r>
              <a:rPr lang="ru-RU" sz="2000">
                <a:solidFill>
                  <a:srgbClr val="000000"/>
                </a:solidFill>
              </a:rPr>
              <a:t>3</a:t>
            </a:r>
          </a:p>
        </p:txBody>
      </p:sp>
      <p:sp>
        <p:nvSpPr>
          <p:cNvPr id="7" name="Прямоугольник 6"/>
          <p:cNvSpPr/>
          <p:nvPr/>
        </p:nvSpPr>
        <p:spPr bwMode="auto">
          <a:xfrm>
            <a:off x="1924050" y="3392488"/>
            <a:ext cx="401638" cy="365125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None/>
              <a:defRPr/>
            </a:pPr>
            <a:r>
              <a:rPr lang="ru-RU" sz="20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n-cs"/>
              </a:rPr>
              <a:t>5</a:t>
            </a:r>
          </a:p>
        </p:txBody>
      </p:sp>
      <p:sp>
        <p:nvSpPr>
          <p:cNvPr id="8" name="Прямоугольник 7"/>
          <p:cNvSpPr/>
          <p:nvPr/>
        </p:nvSpPr>
        <p:spPr bwMode="auto">
          <a:xfrm>
            <a:off x="2435225" y="2187575"/>
            <a:ext cx="401638" cy="365125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None/>
              <a:defRPr/>
            </a:pPr>
            <a:r>
              <a:rPr lang="en-US" sz="20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n-cs"/>
              </a:rPr>
              <a:t>9</a:t>
            </a:r>
            <a:endParaRPr lang="ru-RU" sz="2000" dirty="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n-cs"/>
            </a:endParaRPr>
          </a:p>
        </p:txBody>
      </p:sp>
      <p:sp>
        <p:nvSpPr>
          <p:cNvPr id="9" name="Прямоугольник 8"/>
          <p:cNvSpPr/>
          <p:nvPr/>
        </p:nvSpPr>
        <p:spPr bwMode="auto">
          <a:xfrm>
            <a:off x="1157288" y="3976688"/>
            <a:ext cx="401637" cy="365125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None/>
              <a:defRPr/>
            </a:pPr>
            <a:r>
              <a:rPr lang="ru-RU" sz="20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n-cs"/>
              </a:rPr>
              <a:t>2</a:t>
            </a:r>
          </a:p>
        </p:txBody>
      </p:sp>
      <p:sp>
        <p:nvSpPr>
          <p:cNvPr id="10" name="Прямоугольник 9"/>
          <p:cNvSpPr/>
          <p:nvPr/>
        </p:nvSpPr>
        <p:spPr bwMode="auto">
          <a:xfrm>
            <a:off x="1778000" y="3976688"/>
            <a:ext cx="401638" cy="365125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None/>
              <a:defRPr/>
            </a:pPr>
            <a:r>
              <a:rPr lang="ru-RU" sz="20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n-cs"/>
              </a:rPr>
              <a:t>2</a:t>
            </a:r>
          </a:p>
        </p:txBody>
      </p:sp>
      <p:sp>
        <p:nvSpPr>
          <p:cNvPr id="11" name="Прямоугольник 10"/>
          <p:cNvSpPr/>
          <p:nvPr/>
        </p:nvSpPr>
        <p:spPr bwMode="auto">
          <a:xfrm>
            <a:off x="2417763" y="3976688"/>
            <a:ext cx="401637" cy="365125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None/>
              <a:defRPr/>
            </a:pPr>
            <a:r>
              <a:rPr lang="en-US" sz="20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n-cs"/>
              </a:rPr>
              <a:t>1</a:t>
            </a:r>
            <a:endParaRPr lang="ru-RU" sz="2000" dirty="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n-cs"/>
            </a:endParaRPr>
          </a:p>
        </p:txBody>
      </p:sp>
      <p:sp>
        <p:nvSpPr>
          <p:cNvPr id="12" name="Прямоугольник 11"/>
          <p:cNvSpPr/>
          <p:nvPr/>
        </p:nvSpPr>
        <p:spPr bwMode="auto">
          <a:xfrm>
            <a:off x="3659188" y="2187575"/>
            <a:ext cx="401637" cy="365125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None/>
              <a:defRPr/>
            </a:pPr>
            <a:r>
              <a:rPr lang="ru-RU" sz="20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n-cs"/>
              </a:rPr>
              <a:t>4</a:t>
            </a:r>
          </a:p>
        </p:txBody>
      </p:sp>
      <p:sp>
        <p:nvSpPr>
          <p:cNvPr id="13" name="Прямоугольник 12"/>
          <p:cNvSpPr/>
          <p:nvPr/>
        </p:nvSpPr>
        <p:spPr bwMode="auto">
          <a:xfrm>
            <a:off x="609600" y="3976688"/>
            <a:ext cx="401638" cy="365125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None/>
              <a:defRPr/>
            </a:pPr>
            <a:r>
              <a:rPr lang="ru-RU" sz="20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n-cs"/>
              </a:rPr>
              <a:t>4</a:t>
            </a:r>
          </a:p>
        </p:txBody>
      </p:sp>
      <p:sp>
        <p:nvSpPr>
          <p:cNvPr id="14" name="Прямоугольник 13"/>
          <p:cNvSpPr/>
          <p:nvPr/>
        </p:nvSpPr>
        <p:spPr bwMode="auto">
          <a:xfrm>
            <a:off x="938213" y="3392488"/>
            <a:ext cx="401637" cy="365125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None/>
              <a:defRPr/>
            </a:pPr>
            <a:r>
              <a:rPr lang="ru-RU" sz="20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n-cs"/>
              </a:rPr>
              <a:t>7</a:t>
            </a:r>
          </a:p>
        </p:txBody>
      </p:sp>
      <p:sp>
        <p:nvSpPr>
          <p:cNvPr id="15" name="Прямоугольник 14"/>
          <p:cNvSpPr/>
          <p:nvPr/>
        </p:nvSpPr>
        <p:spPr bwMode="auto">
          <a:xfrm>
            <a:off x="1485900" y="2808288"/>
            <a:ext cx="401638" cy="365125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None/>
              <a:defRPr/>
            </a:pPr>
            <a:r>
              <a:rPr lang="ru-RU" sz="20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n-cs"/>
              </a:rPr>
              <a:t>8</a:t>
            </a:r>
          </a:p>
        </p:txBody>
      </p:sp>
      <p:cxnSp>
        <p:nvCxnSpPr>
          <p:cNvPr id="16" name="Прямая со стрелкой 15"/>
          <p:cNvCxnSpPr>
            <a:cxnSpLocks noChangeShapeType="1"/>
            <a:stCxn id="8" idx="2"/>
            <a:endCxn id="15" idx="0"/>
          </p:cNvCxnSpPr>
          <p:nvPr/>
        </p:nvCxnSpPr>
        <p:spPr bwMode="auto">
          <a:xfrm rot="5400000">
            <a:off x="2034382" y="2205831"/>
            <a:ext cx="255588" cy="949325"/>
          </a:xfrm>
          <a:prstGeom prst="straightConnector1">
            <a:avLst/>
          </a:prstGeom>
          <a:noFill/>
          <a:ln w="9525" algn="ctr">
            <a:solidFill>
              <a:srgbClr val="000000"/>
            </a:solidFill>
            <a:round/>
            <a:headEnd/>
            <a:tailEnd type="arrow" w="med" len="med"/>
          </a:ln>
        </p:spPr>
      </p:cxnSp>
      <p:cxnSp>
        <p:nvCxnSpPr>
          <p:cNvPr id="17" name="Прямая со стрелкой 16"/>
          <p:cNvCxnSpPr>
            <a:cxnSpLocks noChangeShapeType="1"/>
            <a:stCxn id="15" idx="2"/>
            <a:endCxn id="14" idx="0"/>
          </p:cNvCxnSpPr>
          <p:nvPr/>
        </p:nvCxnSpPr>
        <p:spPr bwMode="auto">
          <a:xfrm rot="5400000">
            <a:off x="1304131" y="3009107"/>
            <a:ext cx="219075" cy="547688"/>
          </a:xfrm>
          <a:prstGeom prst="straightConnector1">
            <a:avLst/>
          </a:prstGeom>
          <a:noFill/>
          <a:ln w="9525" algn="ctr">
            <a:solidFill>
              <a:srgbClr val="000000"/>
            </a:solidFill>
            <a:round/>
            <a:headEnd/>
            <a:tailEnd type="arrow" w="med" len="med"/>
          </a:ln>
        </p:spPr>
      </p:cxnSp>
      <p:cxnSp>
        <p:nvCxnSpPr>
          <p:cNvPr id="18" name="Прямая со стрелкой 17"/>
          <p:cNvCxnSpPr>
            <a:cxnSpLocks noChangeShapeType="1"/>
            <a:stCxn id="15" idx="2"/>
            <a:endCxn id="7" idx="0"/>
          </p:cNvCxnSpPr>
          <p:nvPr/>
        </p:nvCxnSpPr>
        <p:spPr bwMode="auto">
          <a:xfrm rot="16200000" flipH="1">
            <a:off x="1797050" y="3063876"/>
            <a:ext cx="219075" cy="438150"/>
          </a:xfrm>
          <a:prstGeom prst="straightConnector1">
            <a:avLst/>
          </a:prstGeom>
          <a:noFill/>
          <a:ln w="9525" algn="ctr">
            <a:solidFill>
              <a:srgbClr val="000000"/>
            </a:solidFill>
            <a:round/>
            <a:headEnd/>
            <a:tailEnd type="arrow" w="med" len="med"/>
          </a:ln>
        </p:spPr>
      </p:cxnSp>
      <p:cxnSp>
        <p:nvCxnSpPr>
          <p:cNvPr id="19" name="Прямая со стрелкой 18"/>
          <p:cNvCxnSpPr>
            <a:cxnSpLocks noChangeShapeType="1"/>
            <a:stCxn id="7" idx="2"/>
            <a:endCxn id="11" idx="0"/>
          </p:cNvCxnSpPr>
          <p:nvPr/>
        </p:nvCxnSpPr>
        <p:spPr bwMode="auto">
          <a:xfrm rot="16200000" flipH="1">
            <a:off x="2262188" y="3621088"/>
            <a:ext cx="219075" cy="492125"/>
          </a:xfrm>
          <a:prstGeom prst="straightConnector1">
            <a:avLst/>
          </a:prstGeom>
          <a:noFill/>
          <a:ln w="9525" algn="ctr">
            <a:solidFill>
              <a:srgbClr val="000000"/>
            </a:solidFill>
            <a:round/>
            <a:headEnd/>
            <a:tailEnd type="arrow" w="med" len="med"/>
          </a:ln>
        </p:spPr>
      </p:cxnSp>
      <p:cxnSp>
        <p:nvCxnSpPr>
          <p:cNvPr id="20" name="Прямая со стрелкой 19"/>
          <p:cNvCxnSpPr>
            <a:cxnSpLocks noChangeShapeType="1"/>
            <a:stCxn id="12" idx="2"/>
            <a:endCxn id="6" idx="0"/>
          </p:cNvCxnSpPr>
          <p:nvPr/>
        </p:nvCxnSpPr>
        <p:spPr bwMode="auto">
          <a:xfrm rot="5400000">
            <a:off x="3475832" y="2424906"/>
            <a:ext cx="255588" cy="511175"/>
          </a:xfrm>
          <a:prstGeom prst="straightConnector1">
            <a:avLst/>
          </a:prstGeom>
          <a:noFill/>
          <a:ln w="9525" algn="ctr">
            <a:solidFill>
              <a:srgbClr val="000000"/>
            </a:solidFill>
            <a:round/>
            <a:headEnd/>
            <a:tailEnd type="arrow" w="med" len="med"/>
          </a:ln>
        </p:spPr>
      </p:cxnSp>
      <p:cxnSp>
        <p:nvCxnSpPr>
          <p:cNvPr id="21" name="Прямая со стрелкой 20"/>
          <p:cNvCxnSpPr>
            <a:cxnSpLocks noChangeShapeType="1"/>
            <a:stCxn id="14" idx="2"/>
            <a:endCxn id="13" idx="0"/>
          </p:cNvCxnSpPr>
          <p:nvPr/>
        </p:nvCxnSpPr>
        <p:spPr bwMode="auto">
          <a:xfrm rot="5400000">
            <a:off x="865981" y="3702845"/>
            <a:ext cx="219075" cy="328612"/>
          </a:xfrm>
          <a:prstGeom prst="straightConnector1">
            <a:avLst/>
          </a:prstGeom>
          <a:noFill/>
          <a:ln w="9525" algn="ctr">
            <a:solidFill>
              <a:srgbClr val="000000"/>
            </a:solidFill>
            <a:round/>
            <a:headEnd/>
            <a:tailEnd type="arrow" w="med" len="med"/>
          </a:ln>
        </p:spPr>
      </p:cxnSp>
      <p:cxnSp>
        <p:nvCxnSpPr>
          <p:cNvPr id="22" name="Прямая со стрелкой 21"/>
          <p:cNvCxnSpPr>
            <a:cxnSpLocks noChangeShapeType="1"/>
            <a:stCxn id="14" idx="2"/>
            <a:endCxn id="9" idx="0"/>
          </p:cNvCxnSpPr>
          <p:nvPr/>
        </p:nvCxnSpPr>
        <p:spPr bwMode="auto">
          <a:xfrm rot="16200000" flipH="1">
            <a:off x="1139825" y="3757613"/>
            <a:ext cx="219075" cy="219075"/>
          </a:xfrm>
          <a:prstGeom prst="straightConnector1">
            <a:avLst/>
          </a:prstGeom>
          <a:noFill/>
          <a:ln w="9525" algn="ctr">
            <a:solidFill>
              <a:srgbClr val="000000"/>
            </a:solidFill>
            <a:round/>
            <a:headEnd/>
            <a:tailEnd type="arrow" w="med" len="med"/>
          </a:ln>
        </p:spPr>
      </p:cxnSp>
      <p:cxnSp>
        <p:nvCxnSpPr>
          <p:cNvPr id="23" name="Прямая со стрелкой 22"/>
          <p:cNvCxnSpPr>
            <a:cxnSpLocks noChangeShapeType="1"/>
            <a:stCxn id="7" idx="2"/>
            <a:endCxn id="10" idx="0"/>
          </p:cNvCxnSpPr>
          <p:nvPr/>
        </p:nvCxnSpPr>
        <p:spPr bwMode="auto">
          <a:xfrm rot="5400000">
            <a:off x="1943100" y="3794126"/>
            <a:ext cx="219075" cy="146050"/>
          </a:xfrm>
          <a:prstGeom prst="straightConnector1">
            <a:avLst/>
          </a:prstGeom>
          <a:noFill/>
          <a:ln w="9525" algn="ctr">
            <a:solidFill>
              <a:srgbClr val="000000"/>
            </a:solidFill>
            <a:round/>
            <a:headEnd/>
            <a:tailEnd type="arrow" w="med" len="med"/>
          </a:ln>
        </p:spPr>
      </p:cxnSp>
      <p:sp>
        <p:nvSpPr>
          <p:cNvPr id="24" name="Прямоугольник 23"/>
          <p:cNvSpPr/>
          <p:nvPr/>
        </p:nvSpPr>
        <p:spPr bwMode="auto">
          <a:xfrm>
            <a:off x="5849938" y="2844800"/>
            <a:ext cx="401637" cy="365125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None/>
              <a:defRPr/>
            </a:pPr>
            <a:r>
              <a:rPr lang="ru-RU" sz="20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n-cs"/>
              </a:rPr>
              <a:t>5</a:t>
            </a:r>
          </a:p>
        </p:txBody>
      </p:sp>
      <p:sp>
        <p:nvSpPr>
          <p:cNvPr id="25" name="Прямоугольник 24"/>
          <p:cNvSpPr/>
          <p:nvPr/>
        </p:nvSpPr>
        <p:spPr bwMode="auto">
          <a:xfrm>
            <a:off x="5083175" y="3429000"/>
            <a:ext cx="401638" cy="365125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None/>
              <a:defRPr/>
            </a:pPr>
            <a:r>
              <a:rPr lang="ru-RU" sz="20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n-cs"/>
              </a:rPr>
              <a:t>2</a:t>
            </a:r>
          </a:p>
        </p:txBody>
      </p:sp>
      <p:sp>
        <p:nvSpPr>
          <p:cNvPr id="26" name="Прямоугольник 25"/>
          <p:cNvSpPr/>
          <p:nvPr/>
        </p:nvSpPr>
        <p:spPr bwMode="auto">
          <a:xfrm>
            <a:off x="5703888" y="3429000"/>
            <a:ext cx="401637" cy="365125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None/>
              <a:defRPr/>
            </a:pPr>
            <a:r>
              <a:rPr lang="ru-RU" sz="20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n-cs"/>
              </a:rPr>
              <a:t>2</a:t>
            </a:r>
          </a:p>
        </p:txBody>
      </p:sp>
      <p:sp>
        <p:nvSpPr>
          <p:cNvPr id="27" name="Прямоугольник 26"/>
          <p:cNvSpPr/>
          <p:nvPr/>
        </p:nvSpPr>
        <p:spPr bwMode="auto">
          <a:xfrm>
            <a:off x="6343650" y="3429000"/>
            <a:ext cx="401638" cy="365125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None/>
              <a:defRPr/>
            </a:pPr>
            <a:r>
              <a:rPr lang="en-US" sz="20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n-cs"/>
              </a:rPr>
              <a:t>1</a:t>
            </a:r>
            <a:endParaRPr lang="ru-RU" sz="2000" dirty="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n-cs"/>
            </a:endParaRPr>
          </a:p>
        </p:txBody>
      </p:sp>
      <p:sp>
        <p:nvSpPr>
          <p:cNvPr id="28" name="Прямоугольник 27"/>
          <p:cNvSpPr/>
          <p:nvPr/>
        </p:nvSpPr>
        <p:spPr bwMode="auto">
          <a:xfrm>
            <a:off x="4535488" y="3429000"/>
            <a:ext cx="401637" cy="365125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None/>
              <a:defRPr/>
            </a:pPr>
            <a:r>
              <a:rPr lang="ru-RU" sz="20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n-cs"/>
              </a:rPr>
              <a:t>4</a:t>
            </a:r>
          </a:p>
        </p:txBody>
      </p:sp>
      <p:sp>
        <p:nvSpPr>
          <p:cNvPr id="29" name="Прямоугольник 28"/>
          <p:cNvSpPr/>
          <p:nvPr/>
        </p:nvSpPr>
        <p:spPr bwMode="auto">
          <a:xfrm>
            <a:off x="4864100" y="2844800"/>
            <a:ext cx="401638" cy="365125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None/>
              <a:defRPr/>
            </a:pPr>
            <a:r>
              <a:rPr lang="ru-RU" sz="20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n-cs"/>
              </a:rPr>
              <a:t>7</a:t>
            </a:r>
          </a:p>
        </p:txBody>
      </p:sp>
      <p:sp>
        <p:nvSpPr>
          <p:cNvPr id="30" name="Прямоугольник 29"/>
          <p:cNvSpPr/>
          <p:nvPr/>
        </p:nvSpPr>
        <p:spPr bwMode="auto">
          <a:xfrm>
            <a:off x="5411788" y="2260600"/>
            <a:ext cx="401637" cy="365125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None/>
              <a:defRPr/>
            </a:pPr>
            <a:r>
              <a:rPr lang="ru-RU" sz="20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n-cs"/>
              </a:rPr>
              <a:t>8</a:t>
            </a:r>
          </a:p>
        </p:txBody>
      </p:sp>
      <p:cxnSp>
        <p:nvCxnSpPr>
          <p:cNvPr id="31" name="Прямая со стрелкой 30"/>
          <p:cNvCxnSpPr>
            <a:cxnSpLocks noChangeShapeType="1"/>
            <a:stCxn id="30" idx="2"/>
            <a:endCxn id="29" idx="0"/>
          </p:cNvCxnSpPr>
          <p:nvPr/>
        </p:nvCxnSpPr>
        <p:spPr bwMode="auto">
          <a:xfrm rot="5400000">
            <a:off x="5230019" y="2461419"/>
            <a:ext cx="219075" cy="547687"/>
          </a:xfrm>
          <a:prstGeom prst="straightConnector1">
            <a:avLst/>
          </a:prstGeom>
          <a:noFill/>
          <a:ln w="9525" algn="ctr">
            <a:solidFill>
              <a:srgbClr val="000000"/>
            </a:solidFill>
            <a:round/>
            <a:headEnd/>
            <a:tailEnd type="arrow" w="med" len="med"/>
          </a:ln>
        </p:spPr>
      </p:cxnSp>
      <p:cxnSp>
        <p:nvCxnSpPr>
          <p:cNvPr id="32" name="Прямая со стрелкой 31"/>
          <p:cNvCxnSpPr>
            <a:cxnSpLocks noChangeShapeType="1"/>
            <a:stCxn id="30" idx="2"/>
            <a:endCxn id="24" idx="0"/>
          </p:cNvCxnSpPr>
          <p:nvPr/>
        </p:nvCxnSpPr>
        <p:spPr bwMode="auto">
          <a:xfrm rot="16200000" flipH="1">
            <a:off x="5722937" y="2516188"/>
            <a:ext cx="219075" cy="438150"/>
          </a:xfrm>
          <a:prstGeom prst="straightConnector1">
            <a:avLst/>
          </a:prstGeom>
          <a:noFill/>
          <a:ln w="9525" algn="ctr">
            <a:solidFill>
              <a:srgbClr val="000000"/>
            </a:solidFill>
            <a:round/>
            <a:headEnd/>
            <a:tailEnd type="arrow" w="med" len="med"/>
          </a:ln>
        </p:spPr>
      </p:cxnSp>
      <p:cxnSp>
        <p:nvCxnSpPr>
          <p:cNvPr id="33" name="Прямая со стрелкой 32"/>
          <p:cNvCxnSpPr>
            <a:cxnSpLocks noChangeShapeType="1"/>
            <a:stCxn id="24" idx="2"/>
            <a:endCxn id="27" idx="0"/>
          </p:cNvCxnSpPr>
          <p:nvPr/>
        </p:nvCxnSpPr>
        <p:spPr bwMode="auto">
          <a:xfrm rot="16200000" flipH="1">
            <a:off x="6188075" y="3073400"/>
            <a:ext cx="219075" cy="492125"/>
          </a:xfrm>
          <a:prstGeom prst="straightConnector1">
            <a:avLst/>
          </a:prstGeom>
          <a:noFill/>
          <a:ln w="9525" algn="ctr">
            <a:solidFill>
              <a:srgbClr val="000000"/>
            </a:solidFill>
            <a:round/>
            <a:headEnd/>
            <a:tailEnd type="arrow" w="med" len="med"/>
          </a:ln>
        </p:spPr>
      </p:cxnSp>
      <p:cxnSp>
        <p:nvCxnSpPr>
          <p:cNvPr id="34" name="Прямая со стрелкой 33"/>
          <p:cNvCxnSpPr>
            <a:cxnSpLocks noChangeShapeType="1"/>
            <a:stCxn id="29" idx="2"/>
            <a:endCxn id="28" idx="0"/>
          </p:cNvCxnSpPr>
          <p:nvPr/>
        </p:nvCxnSpPr>
        <p:spPr bwMode="auto">
          <a:xfrm rot="5400000">
            <a:off x="4791869" y="3155156"/>
            <a:ext cx="219075" cy="328613"/>
          </a:xfrm>
          <a:prstGeom prst="straightConnector1">
            <a:avLst/>
          </a:prstGeom>
          <a:noFill/>
          <a:ln w="9525" algn="ctr">
            <a:solidFill>
              <a:srgbClr val="000000"/>
            </a:solidFill>
            <a:round/>
            <a:headEnd/>
            <a:tailEnd type="arrow" w="med" len="med"/>
          </a:ln>
        </p:spPr>
      </p:cxnSp>
      <p:cxnSp>
        <p:nvCxnSpPr>
          <p:cNvPr id="35" name="Прямая со стрелкой 34"/>
          <p:cNvCxnSpPr>
            <a:cxnSpLocks noChangeShapeType="1"/>
            <a:stCxn id="29" idx="2"/>
            <a:endCxn id="25" idx="0"/>
          </p:cNvCxnSpPr>
          <p:nvPr/>
        </p:nvCxnSpPr>
        <p:spPr bwMode="auto">
          <a:xfrm rot="16200000" flipH="1">
            <a:off x="5065713" y="3209925"/>
            <a:ext cx="219075" cy="219075"/>
          </a:xfrm>
          <a:prstGeom prst="straightConnector1">
            <a:avLst/>
          </a:prstGeom>
          <a:noFill/>
          <a:ln w="9525" algn="ctr">
            <a:solidFill>
              <a:srgbClr val="000000"/>
            </a:solidFill>
            <a:round/>
            <a:headEnd/>
            <a:tailEnd type="arrow" w="med" len="med"/>
          </a:ln>
        </p:spPr>
      </p:cxnSp>
      <p:cxnSp>
        <p:nvCxnSpPr>
          <p:cNvPr id="36" name="Прямая со стрелкой 35"/>
          <p:cNvCxnSpPr>
            <a:cxnSpLocks noChangeShapeType="1"/>
            <a:stCxn id="24" idx="2"/>
            <a:endCxn id="26" idx="0"/>
          </p:cNvCxnSpPr>
          <p:nvPr/>
        </p:nvCxnSpPr>
        <p:spPr bwMode="auto">
          <a:xfrm rot="5400000">
            <a:off x="5868987" y="3246438"/>
            <a:ext cx="219075" cy="146050"/>
          </a:xfrm>
          <a:prstGeom prst="straightConnector1">
            <a:avLst/>
          </a:prstGeom>
          <a:noFill/>
          <a:ln w="9525" algn="ctr">
            <a:solidFill>
              <a:srgbClr val="000000"/>
            </a:solidFill>
            <a:round/>
            <a:headEnd/>
            <a:tailEnd type="arrow" w="med" len="med"/>
          </a:ln>
        </p:spPr>
      </p:cxnSp>
      <p:sp>
        <p:nvSpPr>
          <p:cNvPr id="37" name="Прямоугольник 36"/>
          <p:cNvSpPr>
            <a:spLocks noChangeArrowheads="1"/>
          </p:cNvSpPr>
          <p:nvPr/>
        </p:nvSpPr>
        <p:spPr bwMode="auto">
          <a:xfrm>
            <a:off x="7054850" y="2844800"/>
            <a:ext cx="401638" cy="365125"/>
          </a:xfrm>
          <a:prstGeom prst="rect">
            <a:avLst/>
          </a:prstGeom>
          <a:solidFill>
            <a:schemeClr val="tx1"/>
          </a:solidFill>
          <a:ln w="9525" algn="ctr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pPr algn="ctr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None/>
            </a:pPr>
            <a:r>
              <a:rPr lang="ru-RU" sz="2000">
                <a:solidFill>
                  <a:srgbClr val="000000"/>
                </a:solidFill>
              </a:rPr>
              <a:t>3</a:t>
            </a:r>
          </a:p>
        </p:txBody>
      </p:sp>
      <p:sp>
        <p:nvSpPr>
          <p:cNvPr id="38" name="Прямоугольник 37"/>
          <p:cNvSpPr/>
          <p:nvPr/>
        </p:nvSpPr>
        <p:spPr bwMode="auto">
          <a:xfrm>
            <a:off x="7566025" y="2224088"/>
            <a:ext cx="401638" cy="365125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None/>
              <a:defRPr/>
            </a:pPr>
            <a:r>
              <a:rPr lang="ru-RU" sz="20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n-cs"/>
              </a:rPr>
              <a:t>4</a:t>
            </a:r>
          </a:p>
        </p:txBody>
      </p:sp>
      <p:cxnSp>
        <p:nvCxnSpPr>
          <p:cNvPr id="39" name="Прямая со стрелкой 38"/>
          <p:cNvCxnSpPr>
            <a:cxnSpLocks noChangeShapeType="1"/>
            <a:stCxn id="38" idx="2"/>
            <a:endCxn id="37" idx="0"/>
          </p:cNvCxnSpPr>
          <p:nvPr/>
        </p:nvCxnSpPr>
        <p:spPr bwMode="auto">
          <a:xfrm rot="5400000">
            <a:off x="7384257" y="2461419"/>
            <a:ext cx="255587" cy="511175"/>
          </a:xfrm>
          <a:prstGeom prst="straightConnector1">
            <a:avLst/>
          </a:prstGeom>
          <a:noFill/>
          <a:ln w="9525" algn="ctr">
            <a:solidFill>
              <a:srgbClr val="000000"/>
            </a:solidFill>
            <a:round/>
            <a:headEnd/>
            <a:tailEnd type="arrow" w="med" len="med"/>
          </a:ln>
        </p:spPr>
      </p:cxnSp>
      <p:sp>
        <p:nvSpPr>
          <p:cNvPr id="40" name="Заголовок 1"/>
          <p:cNvSpPr txBox="1">
            <a:spLocks/>
          </p:cNvSpPr>
          <p:nvPr/>
        </p:nvSpPr>
        <p:spPr bwMode="auto">
          <a:xfrm>
            <a:off x="336550" y="6094413"/>
            <a:ext cx="8229600" cy="5476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 eaLnBrk="0" hangingPunct="0">
              <a:defRPr/>
            </a:pPr>
            <a:r>
              <a:rPr lang="ru-RU" kern="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Удаление максимального элемента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55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81" dur="10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ppt_w*0.7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10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83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55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86" dur="10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ppt_w*0.7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10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88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0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5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6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8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9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2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4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>
                      <p:stCondLst>
                        <p:cond delay="indefinite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55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41" dur="10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ppt_w*0.7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2" dur="10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43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5" fill="hold">
                      <p:stCondLst>
                        <p:cond delay="indefinite"/>
                      </p:stCondLst>
                      <p:childTnLst>
                        <p:par>
                          <p:cTn id="146" fill="hold">
                            <p:stCondLst>
                              <p:cond delay="0"/>
                            </p:stCondLst>
                            <p:childTnLst>
                              <p:par>
                                <p:cTn id="147" presetID="0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3142 0.10502 " pathEditMode="relative" ptsTypes="AA">
                                      <p:cBhvr>
                                        <p:cTn id="148" dur="2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9" presetID="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3142 0.10502 " pathEditMode="relative" ptsTypes="AA">
                                      <p:cBhvr>
                                        <p:cTn id="150" dur="2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1" presetID="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3142 0.10502 " pathEditMode="relative" ptsTypes="AA">
                                      <p:cBhvr>
                                        <p:cTn id="152" dur="2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3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3142 0.10502 " pathEditMode="relative" ptsTypes="AA">
                                      <p:cBhvr>
                                        <p:cTn id="154" dur="2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5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3142 0.10502 " pathEditMode="relative" ptsTypes="AA">
                                      <p:cBhvr>
                                        <p:cTn id="156" dur="2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 animBg="1"/>
      <p:bldP spid="7" grpId="0" animBg="1"/>
      <p:bldP spid="8" grpId="0" animBg="1"/>
      <p:bldP spid="8" grpId="1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24" grpId="0" animBg="1"/>
      <p:bldP spid="24" grpId="1" animBg="1"/>
      <p:bldP spid="25" grpId="0" animBg="1"/>
      <p:bldP spid="26" grpId="0" animBg="1"/>
      <p:bldP spid="26" grpId="1" animBg="1"/>
      <p:bldP spid="27" grpId="0" animBg="1"/>
      <p:bldP spid="27" grpId="1" animBg="1"/>
      <p:bldP spid="28" grpId="0" animBg="1"/>
      <p:bldP spid="29" grpId="0" animBg="1"/>
      <p:bldP spid="30" grpId="0" animBg="1"/>
      <p:bldP spid="37" grpId="0" animBg="1"/>
      <p:bldP spid="38" grpId="0" animBg="1"/>
      <p:bldP spid="40" grpId="0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/>
          <p:cNvSpPr txBox="1">
            <a:spLocks/>
          </p:cNvSpPr>
          <p:nvPr/>
        </p:nvSpPr>
        <p:spPr bwMode="auto">
          <a:xfrm>
            <a:off x="482600" y="179388"/>
            <a:ext cx="8229600" cy="985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 eaLnBrk="0" hangingPunct="0">
              <a:defRPr/>
            </a:pPr>
            <a:r>
              <a:rPr lang="ru-RU" sz="3600" kern="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Биномиальная очередь</a:t>
            </a:r>
          </a:p>
        </p:txBody>
      </p:sp>
      <p:sp>
        <p:nvSpPr>
          <p:cNvPr id="5" name="Прямоугольник 4"/>
          <p:cNvSpPr/>
          <p:nvPr/>
        </p:nvSpPr>
        <p:spPr bwMode="auto">
          <a:xfrm>
            <a:off x="2271713" y="1347788"/>
            <a:ext cx="401637" cy="365125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None/>
              <a:defRPr/>
            </a:pPr>
            <a:r>
              <a:rPr lang="ru-RU" sz="20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n-cs"/>
              </a:rPr>
              <a:t>5</a:t>
            </a:r>
          </a:p>
        </p:txBody>
      </p:sp>
      <p:sp>
        <p:nvSpPr>
          <p:cNvPr id="6" name="Прямоугольник 5"/>
          <p:cNvSpPr/>
          <p:nvPr/>
        </p:nvSpPr>
        <p:spPr bwMode="auto">
          <a:xfrm>
            <a:off x="957263" y="2516188"/>
            <a:ext cx="401637" cy="365125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None/>
              <a:defRPr/>
            </a:pPr>
            <a:r>
              <a:rPr lang="ru-RU" sz="20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n-cs"/>
              </a:rPr>
              <a:t>2</a:t>
            </a:r>
          </a:p>
        </p:txBody>
      </p:sp>
      <p:sp>
        <p:nvSpPr>
          <p:cNvPr id="7" name="Прямоугольник 6"/>
          <p:cNvSpPr/>
          <p:nvPr/>
        </p:nvSpPr>
        <p:spPr bwMode="auto">
          <a:xfrm>
            <a:off x="2125663" y="1931988"/>
            <a:ext cx="401637" cy="365125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None/>
              <a:defRPr/>
            </a:pPr>
            <a:r>
              <a:rPr lang="ru-RU" sz="20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n-cs"/>
              </a:rPr>
              <a:t>2</a:t>
            </a:r>
          </a:p>
        </p:txBody>
      </p:sp>
      <p:sp>
        <p:nvSpPr>
          <p:cNvPr id="8" name="Прямоугольник 7"/>
          <p:cNvSpPr/>
          <p:nvPr/>
        </p:nvSpPr>
        <p:spPr bwMode="auto">
          <a:xfrm>
            <a:off x="2763838" y="1931988"/>
            <a:ext cx="401637" cy="365125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None/>
              <a:defRPr/>
            </a:pPr>
            <a:r>
              <a:rPr lang="en-US" sz="20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n-cs"/>
              </a:rPr>
              <a:t>1</a:t>
            </a:r>
            <a:endParaRPr lang="ru-RU" sz="2000" dirty="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n-cs"/>
            </a:endParaRPr>
          </a:p>
        </p:txBody>
      </p:sp>
      <p:sp>
        <p:nvSpPr>
          <p:cNvPr id="9" name="Прямоугольник 8"/>
          <p:cNvSpPr/>
          <p:nvPr/>
        </p:nvSpPr>
        <p:spPr bwMode="auto">
          <a:xfrm>
            <a:off x="409575" y="2516188"/>
            <a:ext cx="401638" cy="365125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None/>
              <a:defRPr/>
            </a:pPr>
            <a:r>
              <a:rPr lang="ru-RU" sz="20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n-cs"/>
              </a:rPr>
              <a:t>4</a:t>
            </a:r>
          </a:p>
        </p:txBody>
      </p:sp>
      <p:sp>
        <p:nvSpPr>
          <p:cNvPr id="10" name="Прямоугольник 9"/>
          <p:cNvSpPr/>
          <p:nvPr/>
        </p:nvSpPr>
        <p:spPr bwMode="auto">
          <a:xfrm>
            <a:off x="738188" y="1931988"/>
            <a:ext cx="401637" cy="365125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None/>
              <a:defRPr/>
            </a:pPr>
            <a:r>
              <a:rPr lang="ru-RU" sz="20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n-cs"/>
              </a:rPr>
              <a:t>7</a:t>
            </a:r>
          </a:p>
        </p:txBody>
      </p:sp>
      <p:sp>
        <p:nvSpPr>
          <p:cNvPr id="11" name="Прямоугольник 10"/>
          <p:cNvSpPr/>
          <p:nvPr/>
        </p:nvSpPr>
        <p:spPr bwMode="auto">
          <a:xfrm>
            <a:off x="1285875" y="1347788"/>
            <a:ext cx="401638" cy="365125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None/>
              <a:defRPr/>
            </a:pPr>
            <a:r>
              <a:rPr lang="ru-RU" sz="20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n-cs"/>
              </a:rPr>
              <a:t>8</a:t>
            </a:r>
          </a:p>
        </p:txBody>
      </p:sp>
      <p:cxnSp>
        <p:nvCxnSpPr>
          <p:cNvPr id="12" name="Прямая со стрелкой 11"/>
          <p:cNvCxnSpPr>
            <a:cxnSpLocks noChangeShapeType="1"/>
            <a:stCxn id="11" idx="2"/>
            <a:endCxn id="10" idx="0"/>
          </p:cNvCxnSpPr>
          <p:nvPr/>
        </p:nvCxnSpPr>
        <p:spPr bwMode="auto">
          <a:xfrm rot="5400000">
            <a:off x="1102519" y="1548607"/>
            <a:ext cx="219075" cy="547687"/>
          </a:xfrm>
          <a:prstGeom prst="straightConnector1">
            <a:avLst/>
          </a:prstGeom>
          <a:noFill/>
          <a:ln w="9525" algn="ctr">
            <a:solidFill>
              <a:srgbClr val="000000"/>
            </a:solidFill>
            <a:round/>
            <a:headEnd/>
            <a:tailEnd type="arrow" w="med" len="med"/>
          </a:ln>
        </p:spPr>
      </p:cxnSp>
      <p:cxnSp>
        <p:nvCxnSpPr>
          <p:cNvPr id="14" name="Прямая со стрелкой 13"/>
          <p:cNvCxnSpPr>
            <a:cxnSpLocks noChangeShapeType="1"/>
            <a:stCxn id="5" idx="2"/>
            <a:endCxn id="8" idx="0"/>
          </p:cNvCxnSpPr>
          <p:nvPr/>
        </p:nvCxnSpPr>
        <p:spPr bwMode="auto">
          <a:xfrm rot="16200000" flipH="1">
            <a:off x="2609056" y="1575595"/>
            <a:ext cx="219075" cy="493712"/>
          </a:xfrm>
          <a:prstGeom prst="straightConnector1">
            <a:avLst/>
          </a:prstGeom>
          <a:noFill/>
          <a:ln w="9525" algn="ctr">
            <a:solidFill>
              <a:srgbClr val="000000"/>
            </a:solidFill>
            <a:round/>
            <a:headEnd/>
            <a:tailEnd type="arrow" w="med" len="med"/>
          </a:ln>
        </p:spPr>
      </p:cxnSp>
      <p:cxnSp>
        <p:nvCxnSpPr>
          <p:cNvPr id="15" name="Прямая со стрелкой 14"/>
          <p:cNvCxnSpPr>
            <a:cxnSpLocks noChangeShapeType="1"/>
            <a:stCxn id="10" idx="2"/>
            <a:endCxn id="9" idx="0"/>
          </p:cNvCxnSpPr>
          <p:nvPr/>
        </p:nvCxnSpPr>
        <p:spPr bwMode="auto">
          <a:xfrm rot="5400000">
            <a:off x="664369" y="2242344"/>
            <a:ext cx="219075" cy="328613"/>
          </a:xfrm>
          <a:prstGeom prst="straightConnector1">
            <a:avLst/>
          </a:prstGeom>
          <a:noFill/>
          <a:ln w="9525" algn="ctr">
            <a:solidFill>
              <a:srgbClr val="000000"/>
            </a:solidFill>
            <a:round/>
            <a:headEnd/>
            <a:tailEnd type="arrow" w="med" len="med"/>
          </a:ln>
        </p:spPr>
      </p:cxnSp>
      <p:cxnSp>
        <p:nvCxnSpPr>
          <p:cNvPr id="16" name="Прямая со стрелкой 15"/>
          <p:cNvCxnSpPr>
            <a:cxnSpLocks noChangeShapeType="1"/>
            <a:stCxn id="10" idx="2"/>
            <a:endCxn id="6" idx="0"/>
          </p:cNvCxnSpPr>
          <p:nvPr/>
        </p:nvCxnSpPr>
        <p:spPr bwMode="auto">
          <a:xfrm rot="16200000" flipH="1">
            <a:off x="938213" y="2297113"/>
            <a:ext cx="219075" cy="219075"/>
          </a:xfrm>
          <a:prstGeom prst="straightConnector1">
            <a:avLst/>
          </a:prstGeom>
          <a:noFill/>
          <a:ln w="9525" algn="ctr">
            <a:solidFill>
              <a:srgbClr val="000000"/>
            </a:solidFill>
            <a:round/>
            <a:headEnd/>
            <a:tailEnd type="arrow" w="med" len="med"/>
          </a:ln>
        </p:spPr>
      </p:cxnSp>
      <p:cxnSp>
        <p:nvCxnSpPr>
          <p:cNvPr id="17" name="Прямая со стрелкой 16"/>
          <p:cNvCxnSpPr>
            <a:cxnSpLocks noChangeShapeType="1"/>
            <a:stCxn id="5" idx="2"/>
            <a:endCxn id="7" idx="0"/>
          </p:cNvCxnSpPr>
          <p:nvPr/>
        </p:nvCxnSpPr>
        <p:spPr bwMode="auto">
          <a:xfrm rot="5400000">
            <a:off x="2289175" y="1749426"/>
            <a:ext cx="219075" cy="146050"/>
          </a:xfrm>
          <a:prstGeom prst="straightConnector1">
            <a:avLst/>
          </a:prstGeom>
          <a:noFill/>
          <a:ln w="9525" algn="ctr">
            <a:solidFill>
              <a:srgbClr val="000000"/>
            </a:solidFill>
            <a:round/>
            <a:headEnd/>
            <a:tailEnd type="arrow" w="med" len="med"/>
          </a:ln>
        </p:spPr>
      </p:cxnSp>
      <p:sp>
        <p:nvSpPr>
          <p:cNvPr id="18" name="Прямоугольник 17"/>
          <p:cNvSpPr>
            <a:spLocks noChangeArrowheads="1"/>
          </p:cNvSpPr>
          <p:nvPr/>
        </p:nvSpPr>
        <p:spPr bwMode="auto">
          <a:xfrm>
            <a:off x="3622675" y="1931988"/>
            <a:ext cx="401638" cy="365125"/>
          </a:xfrm>
          <a:prstGeom prst="rect">
            <a:avLst/>
          </a:prstGeom>
          <a:solidFill>
            <a:schemeClr val="tx1"/>
          </a:solidFill>
          <a:ln w="9525" algn="ctr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pPr algn="ctr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None/>
            </a:pPr>
            <a:r>
              <a:rPr lang="ru-RU" sz="2000">
                <a:solidFill>
                  <a:srgbClr val="000000"/>
                </a:solidFill>
              </a:rPr>
              <a:t>3</a:t>
            </a:r>
          </a:p>
        </p:txBody>
      </p:sp>
      <p:sp>
        <p:nvSpPr>
          <p:cNvPr id="19" name="Прямоугольник 18"/>
          <p:cNvSpPr/>
          <p:nvPr/>
        </p:nvSpPr>
        <p:spPr bwMode="auto">
          <a:xfrm>
            <a:off x="4133850" y="1311275"/>
            <a:ext cx="401638" cy="365125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None/>
              <a:defRPr/>
            </a:pPr>
            <a:r>
              <a:rPr lang="ru-RU" sz="20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n-cs"/>
              </a:rPr>
              <a:t>4</a:t>
            </a:r>
          </a:p>
        </p:txBody>
      </p:sp>
      <p:cxnSp>
        <p:nvCxnSpPr>
          <p:cNvPr id="20" name="Прямая со стрелкой 19"/>
          <p:cNvCxnSpPr>
            <a:cxnSpLocks noChangeShapeType="1"/>
            <a:stCxn id="19" idx="2"/>
            <a:endCxn id="18" idx="0"/>
          </p:cNvCxnSpPr>
          <p:nvPr/>
        </p:nvCxnSpPr>
        <p:spPr bwMode="auto">
          <a:xfrm rot="5400000">
            <a:off x="3950494" y="1548606"/>
            <a:ext cx="255588" cy="511175"/>
          </a:xfrm>
          <a:prstGeom prst="straightConnector1">
            <a:avLst/>
          </a:prstGeom>
          <a:noFill/>
          <a:ln w="9525" algn="ctr">
            <a:solidFill>
              <a:srgbClr val="000000"/>
            </a:solidFill>
            <a:round/>
            <a:headEnd/>
            <a:tailEnd type="arrow" w="med" len="med"/>
          </a:ln>
        </p:spPr>
      </p:cxnSp>
      <p:sp>
        <p:nvSpPr>
          <p:cNvPr id="21" name="Прямоугольник 20"/>
          <p:cNvSpPr/>
          <p:nvPr/>
        </p:nvSpPr>
        <p:spPr bwMode="auto">
          <a:xfrm>
            <a:off x="920750" y="4487863"/>
            <a:ext cx="401638" cy="365125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None/>
              <a:defRPr/>
            </a:pPr>
            <a:r>
              <a:rPr lang="ru-RU" sz="20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n-cs"/>
              </a:rPr>
              <a:t>2</a:t>
            </a:r>
          </a:p>
        </p:txBody>
      </p:sp>
      <p:sp>
        <p:nvSpPr>
          <p:cNvPr id="22" name="Прямоугольник 21"/>
          <p:cNvSpPr/>
          <p:nvPr/>
        </p:nvSpPr>
        <p:spPr bwMode="auto">
          <a:xfrm>
            <a:off x="373063" y="4487863"/>
            <a:ext cx="401637" cy="365125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None/>
              <a:defRPr/>
            </a:pPr>
            <a:r>
              <a:rPr lang="ru-RU" sz="20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n-cs"/>
              </a:rPr>
              <a:t>4</a:t>
            </a:r>
          </a:p>
        </p:txBody>
      </p:sp>
      <p:sp>
        <p:nvSpPr>
          <p:cNvPr id="23" name="Прямоугольник 22"/>
          <p:cNvSpPr/>
          <p:nvPr/>
        </p:nvSpPr>
        <p:spPr bwMode="auto">
          <a:xfrm>
            <a:off x="701675" y="3903663"/>
            <a:ext cx="401638" cy="365125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None/>
              <a:defRPr/>
            </a:pPr>
            <a:r>
              <a:rPr lang="ru-RU" sz="20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n-cs"/>
              </a:rPr>
              <a:t>7</a:t>
            </a:r>
          </a:p>
        </p:txBody>
      </p:sp>
      <p:sp>
        <p:nvSpPr>
          <p:cNvPr id="24" name="Прямоугольник 23"/>
          <p:cNvSpPr/>
          <p:nvPr/>
        </p:nvSpPr>
        <p:spPr bwMode="auto">
          <a:xfrm>
            <a:off x="1249363" y="3319463"/>
            <a:ext cx="401637" cy="365125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None/>
              <a:defRPr/>
            </a:pPr>
            <a:r>
              <a:rPr lang="ru-RU" sz="20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n-cs"/>
              </a:rPr>
              <a:t>8</a:t>
            </a:r>
          </a:p>
        </p:txBody>
      </p:sp>
      <p:cxnSp>
        <p:nvCxnSpPr>
          <p:cNvPr id="25" name="Прямая со стрелкой 24"/>
          <p:cNvCxnSpPr>
            <a:cxnSpLocks noChangeShapeType="1"/>
            <a:stCxn id="24" idx="2"/>
            <a:endCxn id="23" idx="0"/>
          </p:cNvCxnSpPr>
          <p:nvPr/>
        </p:nvCxnSpPr>
        <p:spPr bwMode="auto">
          <a:xfrm rot="5400000">
            <a:off x="1066006" y="3520282"/>
            <a:ext cx="219075" cy="547688"/>
          </a:xfrm>
          <a:prstGeom prst="straightConnector1">
            <a:avLst/>
          </a:prstGeom>
          <a:noFill/>
          <a:ln w="9525" algn="ctr">
            <a:solidFill>
              <a:srgbClr val="000000"/>
            </a:solidFill>
            <a:round/>
            <a:headEnd/>
            <a:tailEnd type="arrow" w="med" len="med"/>
          </a:ln>
        </p:spPr>
      </p:cxnSp>
      <p:cxnSp>
        <p:nvCxnSpPr>
          <p:cNvPr id="26" name="Прямая со стрелкой 25"/>
          <p:cNvCxnSpPr>
            <a:cxnSpLocks noChangeShapeType="1"/>
            <a:stCxn id="23" idx="2"/>
            <a:endCxn id="22" idx="0"/>
          </p:cNvCxnSpPr>
          <p:nvPr/>
        </p:nvCxnSpPr>
        <p:spPr bwMode="auto">
          <a:xfrm rot="5400000">
            <a:off x="627856" y="4214020"/>
            <a:ext cx="219075" cy="328612"/>
          </a:xfrm>
          <a:prstGeom prst="straightConnector1">
            <a:avLst/>
          </a:prstGeom>
          <a:noFill/>
          <a:ln w="9525" algn="ctr">
            <a:solidFill>
              <a:srgbClr val="000000"/>
            </a:solidFill>
            <a:round/>
            <a:headEnd/>
            <a:tailEnd type="arrow" w="med" len="med"/>
          </a:ln>
        </p:spPr>
      </p:cxnSp>
      <p:cxnSp>
        <p:nvCxnSpPr>
          <p:cNvPr id="27" name="Прямая со стрелкой 26"/>
          <p:cNvCxnSpPr>
            <a:cxnSpLocks noChangeShapeType="1"/>
            <a:stCxn id="23" idx="2"/>
            <a:endCxn id="21" idx="0"/>
          </p:cNvCxnSpPr>
          <p:nvPr/>
        </p:nvCxnSpPr>
        <p:spPr bwMode="auto">
          <a:xfrm rot="16200000" flipH="1">
            <a:off x="901700" y="4268788"/>
            <a:ext cx="219075" cy="219075"/>
          </a:xfrm>
          <a:prstGeom prst="straightConnector1">
            <a:avLst/>
          </a:prstGeom>
          <a:noFill/>
          <a:ln w="9525" algn="ctr">
            <a:solidFill>
              <a:srgbClr val="000000"/>
            </a:solidFill>
            <a:round/>
            <a:headEnd/>
            <a:tailEnd type="arrow" w="med" len="med"/>
          </a:ln>
        </p:spPr>
      </p:cxnSp>
      <p:sp>
        <p:nvSpPr>
          <p:cNvPr id="28" name="Прямоугольник 27"/>
          <p:cNvSpPr/>
          <p:nvPr/>
        </p:nvSpPr>
        <p:spPr bwMode="auto">
          <a:xfrm>
            <a:off x="2308225" y="3319463"/>
            <a:ext cx="401638" cy="365125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None/>
              <a:defRPr/>
            </a:pPr>
            <a:r>
              <a:rPr lang="ru-RU" sz="20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n-cs"/>
              </a:rPr>
              <a:t>5</a:t>
            </a:r>
          </a:p>
        </p:txBody>
      </p:sp>
      <p:sp>
        <p:nvSpPr>
          <p:cNvPr id="29" name="Прямоугольник 28"/>
          <p:cNvSpPr/>
          <p:nvPr/>
        </p:nvSpPr>
        <p:spPr bwMode="auto">
          <a:xfrm>
            <a:off x="2162175" y="3903663"/>
            <a:ext cx="401638" cy="365125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None/>
              <a:defRPr/>
            </a:pPr>
            <a:r>
              <a:rPr lang="ru-RU" sz="20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n-cs"/>
              </a:rPr>
              <a:t>2</a:t>
            </a:r>
          </a:p>
        </p:txBody>
      </p:sp>
      <p:cxnSp>
        <p:nvCxnSpPr>
          <p:cNvPr id="30" name="Прямая со стрелкой 29"/>
          <p:cNvCxnSpPr>
            <a:cxnSpLocks noChangeShapeType="1"/>
            <a:stCxn id="28" idx="2"/>
            <a:endCxn id="29" idx="0"/>
          </p:cNvCxnSpPr>
          <p:nvPr/>
        </p:nvCxnSpPr>
        <p:spPr bwMode="auto">
          <a:xfrm rot="5400000">
            <a:off x="2325687" y="3721101"/>
            <a:ext cx="219075" cy="146050"/>
          </a:xfrm>
          <a:prstGeom prst="straightConnector1">
            <a:avLst/>
          </a:prstGeom>
          <a:noFill/>
          <a:ln w="9525" algn="ctr">
            <a:solidFill>
              <a:srgbClr val="000000"/>
            </a:solidFill>
            <a:round/>
            <a:headEnd/>
            <a:tailEnd type="arrow" w="med" len="med"/>
          </a:ln>
        </p:spPr>
      </p:cxnSp>
      <p:sp>
        <p:nvSpPr>
          <p:cNvPr id="34" name="Прямоугольник 33"/>
          <p:cNvSpPr/>
          <p:nvPr/>
        </p:nvSpPr>
        <p:spPr bwMode="auto">
          <a:xfrm>
            <a:off x="3148013" y="3282950"/>
            <a:ext cx="401637" cy="365125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None/>
              <a:defRPr/>
            </a:pPr>
            <a:r>
              <a:rPr lang="en-US" sz="20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n-cs"/>
              </a:rPr>
              <a:t>1</a:t>
            </a:r>
            <a:endParaRPr lang="ru-RU" sz="2000" dirty="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n-cs"/>
            </a:endParaRPr>
          </a:p>
        </p:txBody>
      </p:sp>
      <p:sp>
        <p:nvSpPr>
          <p:cNvPr id="35" name="Прямоугольник 34"/>
          <p:cNvSpPr>
            <a:spLocks noChangeArrowheads="1"/>
          </p:cNvSpPr>
          <p:nvPr/>
        </p:nvSpPr>
        <p:spPr bwMode="auto">
          <a:xfrm>
            <a:off x="3732213" y="3903663"/>
            <a:ext cx="401637" cy="365125"/>
          </a:xfrm>
          <a:prstGeom prst="rect">
            <a:avLst/>
          </a:prstGeom>
          <a:solidFill>
            <a:schemeClr val="tx1"/>
          </a:solidFill>
          <a:ln w="9525" algn="ctr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pPr algn="ctr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None/>
            </a:pPr>
            <a:r>
              <a:rPr lang="ru-RU" sz="2000">
                <a:solidFill>
                  <a:srgbClr val="000000"/>
                </a:solidFill>
              </a:rPr>
              <a:t>3</a:t>
            </a:r>
          </a:p>
        </p:txBody>
      </p:sp>
      <p:sp>
        <p:nvSpPr>
          <p:cNvPr id="36" name="Прямоугольник 35"/>
          <p:cNvSpPr/>
          <p:nvPr/>
        </p:nvSpPr>
        <p:spPr bwMode="auto">
          <a:xfrm>
            <a:off x="4243388" y="3282950"/>
            <a:ext cx="401637" cy="365125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None/>
              <a:defRPr/>
            </a:pPr>
            <a:r>
              <a:rPr lang="ru-RU" sz="20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n-cs"/>
              </a:rPr>
              <a:t>4</a:t>
            </a:r>
          </a:p>
        </p:txBody>
      </p:sp>
      <p:cxnSp>
        <p:nvCxnSpPr>
          <p:cNvPr id="37" name="Прямая со стрелкой 36"/>
          <p:cNvCxnSpPr>
            <a:cxnSpLocks noChangeShapeType="1"/>
            <a:stCxn id="36" idx="2"/>
            <a:endCxn id="35" idx="0"/>
          </p:cNvCxnSpPr>
          <p:nvPr/>
        </p:nvCxnSpPr>
        <p:spPr bwMode="auto">
          <a:xfrm rot="5400000">
            <a:off x="4060032" y="3520281"/>
            <a:ext cx="255588" cy="511175"/>
          </a:xfrm>
          <a:prstGeom prst="straightConnector1">
            <a:avLst/>
          </a:prstGeom>
          <a:noFill/>
          <a:ln w="9525" algn="ctr">
            <a:solidFill>
              <a:srgbClr val="000000"/>
            </a:solidFill>
            <a:round/>
            <a:headEnd/>
            <a:tailEnd type="arrow" w="med" len="med"/>
          </a:ln>
        </p:spPr>
      </p:cxnSp>
      <p:sp>
        <p:nvSpPr>
          <p:cNvPr id="38" name="Прямоугольник 37"/>
          <p:cNvSpPr/>
          <p:nvPr/>
        </p:nvSpPr>
        <p:spPr bwMode="auto">
          <a:xfrm>
            <a:off x="884238" y="6203950"/>
            <a:ext cx="401637" cy="365125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None/>
              <a:defRPr/>
            </a:pPr>
            <a:r>
              <a:rPr lang="ru-RU" sz="20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n-cs"/>
              </a:rPr>
              <a:t>2</a:t>
            </a:r>
          </a:p>
        </p:txBody>
      </p:sp>
      <p:sp>
        <p:nvSpPr>
          <p:cNvPr id="39" name="Прямоугольник 38"/>
          <p:cNvSpPr/>
          <p:nvPr/>
        </p:nvSpPr>
        <p:spPr bwMode="auto">
          <a:xfrm>
            <a:off x="336550" y="6203950"/>
            <a:ext cx="401638" cy="365125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None/>
              <a:defRPr/>
            </a:pPr>
            <a:r>
              <a:rPr lang="ru-RU" sz="20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n-cs"/>
              </a:rPr>
              <a:t>4</a:t>
            </a:r>
          </a:p>
        </p:txBody>
      </p:sp>
      <p:sp>
        <p:nvSpPr>
          <p:cNvPr id="40" name="Прямоугольник 39"/>
          <p:cNvSpPr/>
          <p:nvPr/>
        </p:nvSpPr>
        <p:spPr bwMode="auto">
          <a:xfrm>
            <a:off x="665163" y="5619750"/>
            <a:ext cx="401637" cy="365125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None/>
              <a:defRPr/>
            </a:pPr>
            <a:r>
              <a:rPr lang="ru-RU" sz="20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n-cs"/>
              </a:rPr>
              <a:t>7</a:t>
            </a:r>
          </a:p>
        </p:txBody>
      </p:sp>
      <p:sp>
        <p:nvSpPr>
          <p:cNvPr id="41" name="Прямоугольник 40"/>
          <p:cNvSpPr/>
          <p:nvPr/>
        </p:nvSpPr>
        <p:spPr bwMode="auto">
          <a:xfrm>
            <a:off x="1212850" y="5035550"/>
            <a:ext cx="401638" cy="365125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None/>
              <a:defRPr/>
            </a:pPr>
            <a:r>
              <a:rPr lang="ru-RU" sz="20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n-cs"/>
              </a:rPr>
              <a:t>8</a:t>
            </a:r>
          </a:p>
        </p:txBody>
      </p:sp>
      <p:cxnSp>
        <p:nvCxnSpPr>
          <p:cNvPr id="42" name="Прямая со стрелкой 41"/>
          <p:cNvCxnSpPr>
            <a:cxnSpLocks noChangeShapeType="1"/>
            <a:stCxn id="41" idx="2"/>
            <a:endCxn id="40" idx="0"/>
          </p:cNvCxnSpPr>
          <p:nvPr/>
        </p:nvCxnSpPr>
        <p:spPr bwMode="auto">
          <a:xfrm rot="5400000">
            <a:off x="1029494" y="5236369"/>
            <a:ext cx="219075" cy="547687"/>
          </a:xfrm>
          <a:prstGeom prst="straightConnector1">
            <a:avLst/>
          </a:prstGeom>
          <a:noFill/>
          <a:ln w="9525" algn="ctr">
            <a:solidFill>
              <a:srgbClr val="000000"/>
            </a:solidFill>
            <a:round/>
            <a:headEnd/>
            <a:tailEnd type="arrow" w="med" len="med"/>
          </a:ln>
        </p:spPr>
      </p:cxnSp>
      <p:cxnSp>
        <p:nvCxnSpPr>
          <p:cNvPr id="43" name="Прямая со стрелкой 42"/>
          <p:cNvCxnSpPr>
            <a:cxnSpLocks noChangeShapeType="1"/>
            <a:stCxn id="40" idx="2"/>
            <a:endCxn id="39" idx="0"/>
          </p:cNvCxnSpPr>
          <p:nvPr/>
        </p:nvCxnSpPr>
        <p:spPr bwMode="auto">
          <a:xfrm rot="5400000">
            <a:off x="591344" y="5930106"/>
            <a:ext cx="219075" cy="328613"/>
          </a:xfrm>
          <a:prstGeom prst="straightConnector1">
            <a:avLst/>
          </a:prstGeom>
          <a:noFill/>
          <a:ln w="9525" algn="ctr">
            <a:solidFill>
              <a:srgbClr val="000000"/>
            </a:solidFill>
            <a:round/>
            <a:headEnd/>
            <a:tailEnd type="arrow" w="med" len="med"/>
          </a:ln>
        </p:spPr>
      </p:cxnSp>
      <p:cxnSp>
        <p:nvCxnSpPr>
          <p:cNvPr id="44" name="Прямая со стрелкой 43"/>
          <p:cNvCxnSpPr>
            <a:cxnSpLocks noChangeShapeType="1"/>
            <a:stCxn id="40" idx="2"/>
            <a:endCxn id="38" idx="0"/>
          </p:cNvCxnSpPr>
          <p:nvPr/>
        </p:nvCxnSpPr>
        <p:spPr bwMode="auto">
          <a:xfrm rot="16200000" flipH="1">
            <a:off x="865188" y="5984875"/>
            <a:ext cx="219075" cy="219075"/>
          </a:xfrm>
          <a:prstGeom prst="straightConnector1">
            <a:avLst/>
          </a:prstGeom>
          <a:noFill/>
          <a:ln w="9525" algn="ctr">
            <a:solidFill>
              <a:srgbClr val="000000"/>
            </a:solidFill>
            <a:round/>
            <a:headEnd/>
            <a:tailEnd type="arrow" w="med" len="med"/>
          </a:ln>
        </p:spPr>
      </p:cxnSp>
      <p:sp>
        <p:nvSpPr>
          <p:cNvPr id="46" name="Прямоугольник 45"/>
          <p:cNvSpPr/>
          <p:nvPr/>
        </p:nvSpPr>
        <p:spPr bwMode="auto">
          <a:xfrm>
            <a:off x="2673350" y="4999038"/>
            <a:ext cx="401638" cy="365125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None/>
              <a:defRPr/>
            </a:pPr>
            <a:r>
              <a:rPr lang="ru-RU" sz="20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n-cs"/>
              </a:rPr>
              <a:t>5</a:t>
            </a:r>
          </a:p>
        </p:txBody>
      </p:sp>
      <p:sp>
        <p:nvSpPr>
          <p:cNvPr id="47" name="Прямоугольник 46"/>
          <p:cNvSpPr/>
          <p:nvPr/>
        </p:nvSpPr>
        <p:spPr bwMode="auto">
          <a:xfrm>
            <a:off x="1614488" y="6203950"/>
            <a:ext cx="401637" cy="365125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None/>
              <a:defRPr/>
            </a:pPr>
            <a:r>
              <a:rPr lang="ru-RU" sz="20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n-cs"/>
              </a:rPr>
              <a:t>3</a:t>
            </a:r>
          </a:p>
        </p:txBody>
      </p:sp>
      <p:cxnSp>
        <p:nvCxnSpPr>
          <p:cNvPr id="48" name="Прямая со стрелкой 47"/>
          <p:cNvCxnSpPr>
            <a:cxnSpLocks noChangeShapeType="1"/>
            <a:stCxn id="51" idx="2"/>
            <a:endCxn id="47" idx="0"/>
          </p:cNvCxnSpPr>
          <p:nvPr/>
        </p:nvCxnSpPr>
        <p:spPr bwMode="auto">
          <a:xfrm rot="5400000">
            <a:off x="1924051" y="5802312"/>
            <a:ext cx="292100" cy="511175"/>
          </a:xfrm>
          <a:prstGeom prst="straightConnector1">
            <a:avLst/>
          </a:prstGeom>
          <a:noFill/>
          <a:ln w="9525" algn="ctr">
            <a:solidFill>
              <a:srgbClr val="000000"/>
            </a:solidFill>
            <a:round/>
            <a:headEnd/>
            <a:tailEnd type="arrow" w="med" len="med"/>
          </a:ln>
        </p:spPr>
      </p:cxnSp>
      <p:sp>
        <p:nvSpPr>
          <p:cNvPr id="49" name="Прямоугольник 48"/>
          <p:cNvSpPr/>
          <p:nvPr/>
        </p:nvSpPr>
        <p:spPr bwMode="auto">
          <a:xfrm>
            <a:off x="3622675" y="4999038"/>
            <a:ext cx="401638" cy="365125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None/>
              <a:defRPr/>
            </a:pPr>
            <a:r>
              <a:rPr lang="en-US" sz="20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n-cs"/>
              </a:rPr>
              <a:t>1</a:t>
            </a:r>
            <a:endParaRPr lang="ru-RU" sz="2000" dirty="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n-cs"/>
            </a:endParaRPr>
          </a:p>
        </p:txBody>
      </p:sp>
      <p:sp>
        <p:nvSpPr>
          <p:cNvPr id="50" name="Прямоугольник 49"/>
          <p:cNvSpPr>
            <a:spLocks noChangeArrowheads="1"/>
          </p:cNvSpPr>
          <p:nvPr/>
        </p:nvSpPr>
        <p:spPr bwMode="auto">
          <a:xfrm>
            <a:off x="2490788" y="6203950"/>
            <a:ext cx="401637" cy="365125"/>
          </a:xfrm>
          <a:prstGeom prst="rect">
            <a:avLst/>
          </a:prstGeom>
          <a:solidFill>
            <a:schemeClr val="tx1"/>
          </a:solidFill>
          <a:ln w="9525" algn="ctr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pPr algn="ctr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None/>
            </a:pPr>
            <a:r>
              <a:rPr lang="ru-RU" sz="2000" dirty="0">
                <a:solidFill>
                  <a:srgbClr val="000000"/>
                </a:solidFill>
              </a:rPr>
              <a:t>2</a:t>
            </a:r>
          </a:p>
        </p:txBody>
      </p:sp>
      <p:sp>
        <p:nvSpPr>
          <p:cNvPr id="51" name="Прямоугольник 50"/>
          <p:cNvSpPr/>
          <p:nvPr/>
        </p:nvSpPr>
        <p:spPr bwMode="auto">
          <a:xfrm>
            <a:off x="2125663" y="5546725"/>
            <a:ext cx="401637" cy="365125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None/>
              <a:defRPr/>
            </a:pPr>
            <a:r>
              <a:rPr lang="ru-RU" sz="20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n-cs"/>
              </a:rPr>
              <a:t>4</a:t>
            </a:r>
          </a:p>
        </p:txBody>
      </p:sp>
      <p:cxnSp>
        <p:nvCxnSpPr>
          <p:cNvPr id="52" name="Прямая со стрелкой 51"/>
          <p:cNvCxnSpPr>
            <a:cxnSpLocks noChangeShapeType="1"/>
            <a:stCxn id="51" idx="2"/>
            <a:endCxn id="50" idx="0"/>
          </p:cNvCxnSpPr>
          <p:nvPr/>
        </p:nvCxnSpPr>
        <p:spPr bwMode="auto">
          <a:xfrm rot="16200000" flipH="1">
            <a:off x="2362201" y="5875337"/>
            <a:ext cx="292100" cy="365125"/>
          </a:xfrm>
          <a:prstGeom prst="straightConnector1">
            <a:avLst/>
          </a:prstGeom>
          <a:noFill/>
          <a:ln w="9525" algn="ctr">
            <a:solidFill>
              <a:srgbClr val="000000"/>
            </a:solidFill>
            <a:round/>
            <a:headEnd/>
            <a:tailEnd type="arrow" w="med" len="med"/>
          </a:ln>
        </p:spPr>
      </p:cxnSp>
      <p:cxnSp>
        <p:nvCxnSpPr>
          <p:cNvPr id="58" name="Прямая со стрелкой 57"/>
          <p:cNvCxnSpPr>
            <a:cxnSpLocks noChangeShapeType="1"/>
            <a:stCxn id="46" idx="2"/>
            <a:endCxn id="51" idx="0"/>
          </p:cNvCxnSpPr>
          <p:nvPr/>
        </p:nvCxnSpPr>
        <p:spPr bwMode="auto">
          <a:xfrm rot="5400000">
            <a:off x="2508251" y="5181600"/>
            <a:ext cx="182562" cy="547687"/>
          </a:xfrm>
          <a:prstGeom prst="straightConnector1">
            <a:avLst/>
          </a:prstGeom>
          <a:noFill/>
          <a:ln w="9525" algn="ctr">
            <a:solidFill>
              <a:schemeClr val="bg2"/>
            </a:solidFill>
            <a:round/>
            <a:headEnd/>
            <a:tailEnd type="arrow" w="med" len="med"/>
          </a:ln>
        </p:spPr>
      </p:cxnSp>
      <p:sp>
        <p:nvSpPr>
          <p:cNvPr id="59" name="Прямоугольник 58"/>
          <p:cNvSpPr/>
          <p:nvPr/>
        </p:nvSpPr>
        <p:spPr bwMode="auto">
          <a:xfrm>
            <a:off x="6215063" y="3903663"/>
            <a:ext cx="401637" cy="365125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None/>
              <a:defRPr/>
            </a:pPr>
            <a:r>
              <a:rPr lang="ru-RU" sz="20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n-cs"/>
              </a:rPr>
              <a:t>4</a:t>
            </a:r>
          </a:p>
        </p:txBody>
      </p:sp>
      <p:sp>
        <p:nvSpPr>
          <p:cNvPr id="60" name="Прямоугольник 59"/>
          <p:cNvSpPr/>
          <p:nvPr/>
        </p:nvSpPr>
        <p:spPr bwMode="auto">
          <a:xfrm>
            <a:off x="6434138" y="2881313"/>
            <a:ext cx="401637" cy="365125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None/>
              <a:defRPr/>
            </a:pPr>
            <a:r>
              <a:rPr lang="ru-RU" sz="20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n-cs"/>
              </a:rPr>
              <a:t>7</a:t>
            </a:r>
          </a:p>
        </p:txBody>
      </p:sp>
      <p:sp>
        <p:nvSpPr>
          <p:cNvPr id="61" name="Прямоугольник 60"/>
          <p:cNvSpPr/>
          <p:nvPr/>
        </p:nvSpPr>
        <p:spPr bwMode="auto">
          <a:xfrm>
            <a:off x="6032500" y="2005013"/>
            <a:ext cx="401638" cy="365125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None/>
              <a:defRPr/>
            </a:pPr>
            <a:r>
              <a:rPr lang="ru-RU" sz="20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n-cs"/>
              </a:rPr>
              <a:t>5</a:t>
            </a:r>
          </a:p>
        </p:txBody>
      </p:sp>
      <p:sp>
        <p:nvSpPr>
          <p:cNvPr id="62" name="Прямоугольник 61"/>
          <p:cNvSpPr/>
          <p:nvPr/>
        </p:nvSpPr>
        <p:spPr bwMode="auto">
          <a:xfrm>
            <a:off x="6689725" y="1347788"/>
            <a:ext cx="401638" cy="365125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None/>
              <a:defRPr/>
            </a:pPr>
            <a:r>
              <a:rPr lang="ru-RU" sz="20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n-cs"/>
              </a:rPr>
              <a:t>8</a:t>
            </a:r>
          </a:p>
        </p:txBody>
      </p:sp>
      <p:cxnSp>
        <p:nvCxnSpPr>
          <p:cNvPr id="63" name="Прямая со стрелкой 62"/>
          <p:cNvCxnSpPr>
            <a:cxnSpLocks noChangeShapeType="1"/>
            <a:stCxn id="62" idx="2"/>
            <a:endCxn id="61" idx="0"/>
          </p:cNvCxnSpPr>
          <p:nvPr/>
        </p:nvCxnSpPr>
        <p:spPr bwMode="auto">
          <a:xfrm rot="5400000">
            <a:off x="6416676" y="1530350"/>
            <a:ext cx="292100" cy="657225"/>
          </a:xfrm>
          <a:prstGeom prst="straightConnector1">
            <a:avLst/>
          </a:prstGeom>
          <a:noFill/>
          <a:ln w="9525" algn="ctr">
            <a:solidFill>
              <a:srgbClr val="000000"/>
            </a:solidFill>
            <a:round/>
            <a:headEnd/>
            <a:tailEnd type="arrow" w="med" len="med"/>
          </a:ln>
        </p:spPr>
      </p:cxnSp>
      <p:cxnSp>
        <p:nvCxnSpPr>
          <p:cNvPr id="64" name="Прямая со стрелкой 63"/>
          <p:cNvCxnSpPr>
            <a:cxnSpLocks noChangeShapeType="1"/>
            <a:stCxn id="61" idx="2"/>
            <a:endCxn id="66" idx="0"/>
          </p:cNvCxnSpPr>
          <p:nvPr/>
        </p:nvCxnSpPr>
        <p:spPr bwMode="auto">
          <a:xfrm rot="5400000">
            <a:off x="5850732" y="2461419"/>
            <a:ext cx="474662" cy="292100"/>
          </a:xfrm>
          <a:prstGeom prst="straightConnector1">
            <a:avLst/>
          </a:prstGeom>
          <a:noFill/>
          <a:ln w="9525" algn="ctr">
            <a:solidFill>
              <a:srgbClr val="000000"/>
            </a:solidFill>
            <a:round/>
            <a:headEnd/>
            <a:tailEnd type="arrow" w="med" len="med"/>
          </a:ln>
        </p:spPr>
      </p:cxnSp>
      <p:cxnSp>
        <p:nvCxnSpPr>
          <p:cNvPr id="65" name="Прямая со стрелкой 64"/>
          <p:cNvCxnSpPr>
            <a:cxnSpLocks noChangeShapeType="1"/>
            <a:stCxn id="61" idx="2"/>
            <a:endCxn id="60" idx="0"/>
          </p:cNvCxnSpPr>
          <p:nvPr/>
        </p:nvCxnSpPr>
        <p:spPr bwMode="auto">
          <a:xfrm rot="16200000" flipH="1">
            <a:off x="6179344" y="2424907"/>
            <a:ext cx="511175" cy="401637"/>
          </a:xfrm>
          <a:prstGeom prst="straightConnector1">
            <a:avLst/>
          </a:prstGeom>
          <a:noFill/>
          <a:ln w="9525" algn="ctr">
            <a:solidFill>
              <a:srgbClr val="000000"/>
            </a:solidFill>
            <a:round/>
            <a:headEnd/>
            <a:tailEnd type="arrow" w="med" len="med"/>
          </a:ln>
        </p:spPr>
      </p:cxnSp>
      <p:sp>
        <p:nvSpPr>
          <p:cNvPr id="66" name="Прямоугольник 65"/>
          <p:cNvSpPr/>
          <p:nvPr/>
        </p:nvSpPr>
        <p:spPr bwMode="auto">
          <a:xfrm>
            <a:off x="5740400" y="2844800"/>
            <a:ext cx="401638" cy="365125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None/>
              <a:defRPr/>
            </a:pPr>
            <a:r>
              <a:rPr lang="ru-RU" sz="20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n-cs"/>
              </a:rPr>
              <a:t>4</a:t>
            </a:r>
          </a:p>
        </p:txBody>
      </p:sp>
      <p:sp>
        <p:nvSpPr>
          <p:cNvPr id="67" name="Прямоугольник 66"/>
          <p:cNvSpPr/>
          <p:nvPr/>
        </p:nvSpPr>
        <p:spPr bwMode="auto">
          <a:xfrm>
            <a:off x="5813425" y="3392488"/>
            <a:ext cx="401638" cy="365125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None/>
              <a:defRPr/>
            </a:pPr>
            <a:r>
              <a:rPr lang="ru-RU" sz="20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</a:t>
            </a:r>
            <a:endParaRPr lang="ru-RU" sz="2000" dirty="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n-cs"/>
            </a:endParaRPr>
          </a:p>
        </p:txBody>
      </p:sp>
      <p:cxnSp>
        <p:nvCxnSpPr>
          <p:cNvPr id="68" name="Прямая со стрелкой 67"/>
          <p:cNvCxnSpPr>
            <a:cxnSpLocks noChangeShapeType="1"/>
            <a:stCxn id="66" idx="2"/>
            <a:endCxn id="67" idx="0"/>
          </p:cNvCxnSpPr>
          <p:nvPr/>
        </p:nvCxnSpPr>
        <p:spPr bwMode="auto">
          <a:xfrm rot="16200000" flipH="1">
            <a:off x="5887244" y="3264694"/>
            <a:ext cx="182563" cy="73025"/>
          </a:xfrm>
          <a:prstGeom prst="straightConnector1">
            <a:avLst/>
          </a:prstGeom>
          <a:noFill/>
          <a:ln w="9525" algn="ctr">
            <a:solidFill>
              <a:srgbClr val="000000"/>
            </a:solidFill>
            <a:round/>
            <a:headEnd/>
            <a:tailEnd type="arrow" w="med" len="med"/>
          </a:ln>
        </p:spPr>
      </p:cxnSp>
      <p:sp>
        <p:nvSpPr>
          <p:cNvPr id="69" name="Прямоугольник 68"/>
          <p:cNvSpPr/>
          <p:nvPr/>
        </p:nvSpPr>
        <p:spPr bwMode="auto">
          <a:xfrm>
            <a:off x="7748588" y="1347788"/>
            <a:ext cx="401637" cy="365125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None/>
              <a:defRPr/>
            </a:pPr>
            <a:r>
              <a:rPr lang="en-US" sz="20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n-cs"/>
              </a:rPr>
              <a:t>1</a:t>
            </a:r>
            <a:endParaRPr lang="ru-RU" sz="2000" dirty="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n-cs"/>
            </a:endParaRPr>
          </a:p>
        </p:txBody>
      </p:sp>
      <p:sp>
        <p:nvSpPr>
          <p:cNvPr id="70" name="Прямоугольник 69"/>
          <p:cNvSpPr>
            <a:spLocks noChangeArrowheads="1"/>
          </p:cNvSpPr>
          <p:nvPr/>
        </p:nvSpPr>
        <p:spPr bwMode="auto">
          <a:xfrm>
            <a:off x="6835775" y="3903663"/>
            <a:ext cx="401638" cy="365125"/>
          </a:xfrm>
          <a:prstGeom prst="rect">
            <a:avLst/>
          </a:prstGeom>
          <a:solidFill>
            <a:schemeClr val="tx1"/>
          </a:solidFill>
          <a:ln w="9525" algn="ctr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pPr algn="ctr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None/>
            </a:pPr>
            <a:r>
              <a:rPr lang="ru-RU" sz="2000" dirty="0">
                <a:solidFill>
                  <a:srgbClr val="000000"/>
                </a:solidFill>
              </a:rPr>
              <a:t>2</a:t>
            </a:r>
          </a:p>
        </p:txBody>
      </p:sp>
      <p:sp>
        <p:nvSpPr>
          <p:cNvPr id="71" name="Прямоугольник 70"/>
          <p:cNvSpPr/>
          <p:nvPr/>
        </p:nvSpPr>
        <p:spPr bwMode="auto">
          <a:xfrm>
            <a:off x="5192713" y="3392488"/>
            <a:ext cx="401637" cy="365125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None/>
              <a:defRPr/>
            </a:pPr>
            <a:r>
              <a:rPr lang="ru-RU" sz="20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n-cs"/>
              </a:rPr>
              <a:t>3</a:t>
            </a:r>
          </a:p>
        </p:txBody>
      </p:sp>
      <p:cxnSp>
        <p:nvCxnSpPr>
          <p:cNvPr id="72" name="Прямая со стрелкой 71"/>
          <p:cNvCxnSpPr>
            <a:cxnSpLocks noChangeShapeType="1"/>
            <a:stCxn id="60" idx="2"/>
            <a:endCxn id="70" idx="0"/>
          </p:cNvCxnSpPr>
          <p:nvPr/>
        </p:nvCxnSpPr>
        <p:spPr bwMode="auto">
          <a:xfrm rot="16200000" flipH="1">
            <a:off x="6507956" y="3374232"/>
            <a:ext cx="657225" cy="401638"/>
          </a:xfrm>
          <a:prstGeom prst="straightConnector1">
            <a:avLst/>
          </a:prstGeom>
          <a:noFill/>
          <a:ln w="9525" algn="ctr">
            <a:solidFill>
              <a:srgbClr val="000000"/>
            </a:solidFill>
            <a:round/>
            <a:headEnd/>
            <a:tailEnd type="arrow" w="med" len="med"/>
          </a:ln>
        </p:spPr>
      </p:cxnSp>
      <p:cxnSp>
        <p:nvCxnSpPr>
          <p:cNvPr id="73" name="Прямая со стрелкой 72"/>
          <p:cNvCxnSpPr>
            <a:cxnSpLocks noChangeShapeType="1"/>
            <a:stCxn id="66" idx="2"/>
            <a:endCxn id="71" idx="0"/>
          </p:cNvCxnSpPr>
          <p:nvPr/>
        </p:nvCxnSpPr>
        <p:spPr bwMode="auto">
          <a:xfrm rot="5400000">
            <a:off x="5576887" y="3027363"/>
            <a:ext cx="182563" cy="547688"/>
          </a:xfrm>
          <a:prstGeom prst="straightConnector1">
            <a:avLst/>
          </a:prstGeom>
          <a:noFill/>
          <a:ln w="9525" algn="ctr">
            <a:solidFill>
              <a:schemeClr val="bg2"/>
            </a:solidFill>
            <a:round/>
            <a:headEnd/>
            <a:tailEnd type="arrow" w="med" len="med"/>
          </a:ln>
        </p:spPr>
      </p:cxnSp>
      <p:cxnSp>
        <p:nvCxnSpPr>
          <p:cNvPr id="95" name="Прямая со стрелкой 94"/>
          <p:cNvCxnSpPr>
            <a:cxnSpLocks noChangeShapeType="1"/>
            <a:stCxn id="60" idx="2"/>
            <a:endCxn id="59" idx="0"/>
          </p:cNvCxnSpPr>
          <p:nvPr/>
        </p:nvCxnSpPr>
        <p:spPr bwMode="auto">
          <a:xfrm rot="5400000">
            <a:off x="6197600" y="3465513"/>
            <a:ext cx="657225" cy="219075"/>
          </a:xfrm>
          <a:prstGeom prst="straightConnector1">
            <a:avLst/>
          </a:prstGeom>
          <a:noFill/>
          <a:ln w="9525" algn="ctr">
            <a:solidFill>
              <a:schemeClr val="bg2"/>
            </a:solidFill>
            <a:round/>
            <a:headEnd/>
            <a:tailEnd type="arrow" w="med" len="med"/>
          </a:ln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55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58" dur="10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ppt_w*0.7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60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0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2761 0.08397 " pathEditMode="relative" ptsTypes="AA">
                                      <p:cBhvr>
                                        <p:cTn id="65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2000"/>
                            </p:stCondLst>
                            <p:childTnLst>
                              <p:par>
                                <p:cTn id="6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9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5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8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3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6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9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5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6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8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9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1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2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4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0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3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4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6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7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9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0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2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3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5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6" fill="hold">
                      <p:stCondLst>
                        <p:cond delay="indefinite"/>
                      </p:stCondLst>
                      <p:childTnLst>
                        <p:par>
                          <p:cTn id="157" fill="hold">
                            <p:stCondLst>
                              <p:cond delay="0"/>
                            </p:stCondLst>
                            <p:childTnLst>
                              <p:par>
                                <p:cTn id="15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0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3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4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6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7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9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0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2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3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5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6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8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9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1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2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4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7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0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3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4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6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7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9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0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2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3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5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 animBg="1"/>
      <p:bldP spid="6" grpId="0" animBg="1"/>
      <p:bldP spid="7" grpId="0" animBg="1"/>
      <p:bldP spid="8" grpId="0" animBg="1"/>
      <p:bldP spid="8" grpId="1" animBg="1"/>
      <p:bldP spid="9" grpId="0" animBg="1"/>
      <p:bldP spid="10" grpId="0" animBg="1"/>
      <p:bldP spid="11" grpId="0" animBg="1"/>
      <p:bldP spid="18" grpId="0" animBg="1"/>
      <p:bldP spid="19" grpId="0" animBg="1"/>
      <p:bldP spid="21" grpId="0" animBg="1"/>
      <p:bldP spid="22" grpId="0" animBg="1"/>
      <p:bldP spid="23" grpId="0" animBg="1"/>
      <p:bldP spid="24" grpId="0" animBg="1"/>
      <p:bldP spid="28" grpId="0" animBg="1"/>
      <p:bldP spid="29" grpId="0" animBg="1"/>
      <p:bldP spid="34" grpId="0" animBg="1"/>
      <p:bldP spid="35" grpId="0" animBg="1"/>
      <p:bldP spid="36" grpId="0" animBg="1"/>
      <p:bldP spid="38" grpId="0" animBg="1"/>
      <p:bldP spid="39" grpId="0" animBg="1"/>
      <p:bldP spid="40" grpId="0" animBg="1"/>
      <p:bldP spid="41" grpId="0" animBg="1"/>
      <p:bldP spid="46" grpId="0" animBg="1"/>
      <p:bldP spid="47" grpId="0" animBg="1"/>
      <p:bldP spid="49" grpId="0" animBg="1"/>
      <p:bldP spid="50" grpId="0" animBg="1"/>
      <p:bldP spid="51" grpId="0" animBg="1"/>
      <p:bldP spid="59" grpId="0" animBg="1"/>
      <p:bldP spid="60" grpId="0" animBg="1"/>
      <p:bldP spid="61" grpId="0" animBg="1"/>
      <p:bldP spid="62" grpId="0" animBg="1"/>
      <p:bldP spid="66" grpId="0" animBg="1"/>
      <p:bldP spid="67" grpId="0" animBg="1"/>
      <p:bldP spid="69" grpId="0" animBg="1"/>
      <p:bldP spid="70" grpId="0" animBg="1"/>
      <p:bldP spid="71" grpId="0" animBg="1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/>
          <p:cNvSpPr txBox="1">
            <a:spLocks/>
          </p:cNvSpPr>
          <p:nvPr/>
        </p:nvSpPr>
        <p:spPr bwMode="auto">
          <a:xfrm>
            <a:off x="482600" y="179388"/>
            <a:ext cx="8229600" cy="985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 eaLnBrk="0" hangingPunct="0">
              <a:defRPr/>
            </a:pPr>
            <a:r>
              <a:rPr lang="ru-RU" sz="3600" kern="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Биномиальная очередь</a:t>
            </a:r>
          </a:p>
        </p:txBody>
      </p:sp>
      <p:sp>
        <p:nvSpPr>
          <p:cNvPr id="5" name="Прямоугольник 4"/>
          <p:cNvSpPr>
            <a:spLocks noChangeArrowheads="1"/>
          </p:cNvSpPr>
          <p:nvPr/>
        </p:nvSpPr>
        <p:spPr bwMode="auto">
          <a:xfrm>
            <a:off x="373063" y="1128713"/>
            <a:ext cx="8215312" cy="5349875"/>
          </a:xfrm>
          <a:prstGeom prst="rect">
            <a:avLst/>
          </a:prstGeom>
          <a:solidFill>
            <a:schemeClr val="tx1"/>
          </a:solidFill>
          <a:ln w="9525">
            <a:solidFill>
              <a:schemeClr val="bg2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None/>
            </a:pPr>
            <a:r>
              <a:rPr lang="ru-RU">
                <a:solidFill>
                  <a:schemeClr val="bg2"/>
                </a:solidFill>
              </a:rPr>
              <a:t>Алгоритм удаления элемента</a:t>
            </a:r>
          </a:p>
          <a:p>
            <a:pPr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None/>
            </a:pPr>
            <a:r>
              <a:rPr lang="ru-RU" b="0">
                <a:solidFill>
                  <a:schemeClr val="bg2"/>
                </a:solidFill>
              </a:rPr>
              <a:t>найти дерево 2</a:t>
            </a:r>
            <a:r>
              <a:rPr lang="ru-RU" b="0" baseline="30000">
                <a:solidFill>
                  <a:schemeClr val="bg2"/>
                </a:solidFill>
              </a:rPr>
              <a:t>i </a:t>
            </a:r>
            <a:r>
              <a:rPr lang="ru-RU" b="0">
                <a:solidFill>
                  <a:schemeClr val="bg2"/>
                </a:solidFill>
              </a:rPr>
              <a:t> в корне которого расположен максимальный элемент.</a:t>
            </a:r>
          </a:p>
          <a:p>
            <a:pPr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None/>
            </a:pPr>
            <a:r>
              <a:rPr lang="ru-RU" b="0">
                <a:solidFill>
                  <a:schemeClr val="bg2"/>
                </a:solidFill>
              </a:rPr>
              <a:t>удалить максимальный элемент</a:t>
            </a:r>
          </a:p>
          <a:p>
            <a:pPr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None/>
            </a:pPr>
            <a:r>
              <a:rPr lang="ru-RU" b="0">
                <a:solidFill>
                  <a:schemeClr val="bg2"/>
                </a:solidFill>
              </a:rPr>
              <a:t>2</a:t>
            </a:r>
            <a:r>
              <a:rPr lang="ru-RU" b="0" baseline="30000">
                <a:solidFill>
                  <a:schemeClr val="bg2"/>
                </a:solidFill>
              </a:rPr>
              <a:t>i </a:t>
            </a:r>
            <a:r>
              <a:rPr lang="ru-RU" b="0">
                <a:solidFill>
                  <a:schemeClr val="bg2"/>
                </a:solidFill>
              </a:rPr>
              <a:t> дерево разбить на </a:t>
            </a:r>
            <a:r>
              <a:rPr lang="en-US" b="0">
                <a:solidFill>
                  <a:schemeClr val="bg2"/>
                </a:solidFill>
              </a:rPr>
              <a:t>i-1, i-2, … 0 </a:t>
            </a:r>
            <a:r>
              <a:rPr lang="ru-RU" b="0">
                <a:solidFill>
                  <a:schemeClr val="bg2"/>
                </a:solidFill>
              </a:rPr>
              <a:t>деревья переноса</a:t>
            </a:r>
            <a:r>
              <a:rPr lang="en-US" b="0">
                <a:solidFill>
                  <a:schemeClr val="bg2"/>
                </a:solidFill>
              </a:rPr>
              <a:t>.</a:t>
            </a:r>
            <a:r>
              <a:rPr lang="ru-RU" b="0">
                <a:solidFill>
                  <a:schemeClr val="bg2"/>
                </a:solidFill>
              </a:rPr>
              <a:t> </a:t>
            </a:r>
          </a:p>
          <a:p>
            <a:pPr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None/>
            </a:pPr>
            <a:r>
              <a:rPr lang="en-US" b="0">
                <a:solidFill>
                  <a:schemeClr val="bg2"/>
                </a:solidFill>
              </a:rPr>
              <a:t>i=0</a:t>
            </a:r>
            <a:endParaRPr lang="ru-RU" b="0">
              <a:solidFill>
                <a:schemeClr val="bg2"/>
              </a:solidFill>
            </a:endParaRPr>
          </a:p>
          <a:p>
            <a:pPr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None/>
            </a:pPr>
            <a:r>
              <a:rPr lang="ru-RU" b="0" u="sng">
                <a:solidFill>
                  <a:schemeClr val="bg2"/>
                </a:solidFill>
              </a:rPr>
              <a:t>пока</a:t>
            </a:r>
            <a:r>
              <a:rPr lang="ru-RU" b="0">
                <a:solidFill>
                  <a:schemeClr val="bg2"/>
                </a:solidFill>
              </a:rPr>
              <a:t> не обнаружится пустая позиция для сортирующего дерева </a:t>
            </a:r>
            <a:r>
              <a:rPr lang="ru-RU" b="0" u="sng">
                <a:solidFill>
                  <a:schemeClr val="bg2"/>
                </a:solidFill>
              </a:rPr>
              <a:t>нц</a:t>
            </a:r>
          </a:p>
          <a:p>
            <a:pPr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None/>
            </a:pPr>
            <a:r>
              <a:rPr lang="ru-RU" b="0" u="sng">
                <a:solidFill>
                  <a:schemeClr val="bg2"/>
                </a:solidFill>
              </a:rPr>
              <a:t>если</a:t>
            </a:r>
            <a:r>
              <a:rPr lang="ru-RU" b="0">
                <a:solidFill>
                  <a:schemeClr val="bg2"/>
                </a:solidFill>
              </a:rPr>
              <a:t> в очереди есть 2</a:t>
            </a:r>
            <a:r>
              <a:rPr lang="ru-RU" b="0" baseline="30000">
                <a:solidFill>
                  <a:schemeClr val="bg2"/>
                </a:solidFill>
              </a:rPr>
              <a:t>i</a:t>
            </a:r>
            <a:r>
              <a:rPr lang="ru-RU" b="0">
                <a:solidFill>
                  <a:schemeClr val="bg2"/>
                </a:solidFill>
              </a:rPr>
              <a:t>  дерево, </a:t>
            </a:r>
            <a:r>
              <a:rPr lang="ru-RU" b="0" u="sng">
                <a:solidFill>
                  <a:schemeClr val="bg2"/>
                </a:solidFill>
              </a:rPr>
              <a:t>то</a:t>
            </a:r>
            <a:r>
              <a:rPr lang="ru-RU" b="0">
                <a:solidFill>
                  <a:schemeClr val="bg2"/>
                </a:solidFill>
              </a:rPr>
              <a:t> объединить его с i - деревом переноса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 animBg="1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>
            <a:spLocks noChangeArrowheads="1"/>
          </p:cNvSpPr>
          <p:nvPr/>
        </p:nvSpPr>
        <p:spPr bwMode="auto">
          <a:xfrm>
            <a:off x="482600" y="1165225"/>
            <a:ext cx="8215313" cy="1471613"/>
          </a:xfrm>
          <a:prstGeom prst="rect">
            <a:avLst/>
          </a:prstGeom>
          <a:solidFill>
            <a:schemeClr val="tx1"/>
          </a:solidFill>
          <a:ln w="9525">
            <a:solidFill>
              <a:schemeClr val="bg2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None/>
            </a:pPr>
            <a:r>
              <a:rPr lang="ru-RU" b="0">
                <a:solidFill>
                  <a:schemeClr val="bg2"/>
                </a:solidFill>
              </a:rPr>
              <a:t>записать полученное дерево в дерево 2</a:t>
            </a:r>
            <a:r>
              <a:rPr lang="ru-RU" b="0" baseline="30000">
                <a:solidFill>
                  <a:schemeClr val="bg2"/>
                </a:solidFill>
              </a:rPr>
              <a:t>i+1</a:t>
            </a:r>
            <a:r>
              <a:rPr lang="ru-RU" b="0">
                <a:solidFill>
                  <a:schemeClr val="bg2"/>
                </a:solidFill>
              </a:rPr>
              <a:t> переноса.</a:t>
            </a:r>
          </a:p>
          <a:p>
            <a:pPr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None/>
            </a:pPr>
            <a:r>
              <a:rPr lang="ru-RU" b="0">
                <a:solidFill>
                  <a:schemeClr val="bg2"/>
                </a:solidFill>
              </a:rPr>
              <a:t>i=i+1 </a:t>
            </a:r>
            <a:r>
              <a:rPr lang="ru-RU" b="0" u="sng">
                <a:solidFill>
                  <a:schemeClr val="bg2"/>
                </a:solidFill>
              </a:rPr>
              <a:t>кц</a:t>
            </a:r>
            <a:endParaRPr lang="ru-RU"/>
          </a:p>
        </p:txBody>
      </p:sp>
      <p:sp>
        <p:nvSpPr>
          <p:cNvPr id="5" name="Заголовок 1"/>
          <p:cNvSpPr txBox="1">
            <a:spLocks/>
          </p:cNvSpPr>
          <p:nvPr/>
        </p:nvSpPr>
        <p:spPr bwMode="auto">
          <a:xfrm>
            <a:off x="482600" y="179388"/>
            <a:ext cx="8229600" cy="985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 eaLnBrk="0" hangingPunct="0">
              <a:defRPr/>
            </a:pPr>
            <a:r>
              <a:rPr lang="ru-RU" sz="3600" kern="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Биномиальная очередь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/>
          <p:cNvSpPr txBox="1">
            <a:spLocks/>
          </p:cNvSpPr>
          <p:nvPr/>
        </p:nvSpPr>
        <p:spPr bwMode="auto">
          <a:xfrm>
            <a:off x="482600" y="179388"/>
            <a:ext cx="8229600" cy="985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 eaLnBrk="0" hangingPunct="0">
              <a:defRPr/>
            </a:pPr>
            <a:r>
              <a:rPr lang="ru-RU" sz="3600" kern="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Биномиальная очередь</a:t>
            </a:r>
          </a:p>
        </p:txBody>
      </p:sp>
      <p:sp>
        <p:nvSpPr>
          <p:cNvPr id="5" name="Заголовок 1"/>
          <p:cNvSpPr txBox="1">
            <a:spLocks/>
          </p:cNvSpPr>
          <p:nvPr/>
        </p:nvSpPr>
        <p:spPr bwMode="auto">
          <a:xfrm>
            <a:off x="336550" y="6094413"/>
            <a:ext cx="8229600" cy="5476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 eaLnBrk="0" hangingPunct="0">
              <a:defRPr/>
            </a:pPr>
            <a:r>
              <a:rPr lang="ru-RU" kern="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Объединение двух очередей</a:t>
            </a:r>
          </a:p>
        </p:txBody>
      </p:sp>
      <p:sp>
        <p:nvSpPr>
          <p:cNvPr id="6" name="Прямоугольник 5"/>
          <p:cNvSpPr>
            <a:spLocks noChangeArrowheads="1"/>
          </p:cNvSpPr>
          <p:nvPr/>
        </p:nvSpPr>
        <p:spPr bwMode="auto">
          <a:xfrm>
            <a:off x="555625" y="1238250"/>
            <a:ext cx="7485063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None/>
            </a:pPr>
            <a:r>
              <a:rPr lang="ru-RU" b="0">
                <a:solidFill>
                  <a:schemeClr val="bg2"/>
                </a:solidFill>
              </a:rPr>
              <a:t>аналог операции + 1010</a:t>
            </a:r>
            <a:r>
              <a:rPr lang="ru-RU" b="0" baseline="-25000">
                <a:solidFill>
                  <a:schemeClr val="bg2"/>
                </a:solidFill>
              </a:rPr>
              <a:t>2</a:t>
            </a:r>
            <a:r>
              <a:rPr lang="ru-RU" b="0">
                <a:solidFill>
                  <a:schemeClr val="bg2"/>
                </a:solidFill>
              </a:rPr>
              <a:t> + 11</a:t>
            </a:r>
            <a:r>
              <a:rPr lang="ru-RU" b="0" baseline="-25000">
                <a:solidFill>
                  <a:schemeClr val="bg2"/>
                </a:solidFill>
              </a:rPr>
              <a:t>2</a:t>
            </a:r>
            <a:r>
              <a:rPr lang="ru-RU" b="0">
                <a:solidFill>
                  <a:schemeClr val="bg2"/>
                </a:solidFill>
              </a:rPr>
              <a:t> = 1101</a:t>
            </a:r>
            <a:r>
              <a:rPr lang="ru-RU" b="0" baseline="-25000">
                <a:solidFill>
                  <a:schemeClr val="bg2"/>
                </a:solidFill>
              </a:rPr>
              <a:t>2</a:t>
            </a:r>
            <a:r>
              <a:rPr lang="ru-RU" b="0">
                <a:solidFill>
                  <a:schemeClr val="bg2"/>
                </a:solidFill>
              </a:rPr>
              <a:t>    </a:t>
            </a:r>
          </a:p>
        </p:txBody>
      </p:sp>
      <p:sp>
        <p:nvSpPr>
          <p:cNvPr id="7" name="Прямоугольник 6"/>
          <p:cNvSpPr>
            <a:spLocks noChangeArrowheads="1"/>
          </p:cNvSpPr>
          <p:nvPr/>
        </p:nvSpPr>
        <p:spPr bwMode="auto">
          <a:xfrm>
            <a:off x="3567113" y="3209925"/>
            <a:ext cx="401637" cy="365125"/>
          </a:xfrm>
          <a:prstGeom prst="rect">
            <a:avLst/>
          </a:prstGeom>
          <a:solidFill>
            <a:schemeClr val="tx1"/>
          </a:solidFill>
          <a:ln w="9525" algn="ctr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pPr algn="ctr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None/>
            </a:pPr>
            <a:r>
              <a:rPr lang="ru-RU" sz="2000">
                <a:solidFill>
                  <a:srgbClr val="000000"/>
                </a:solidFill>
              </a:rPr>
              <a:t>3</a:t>
            </a:r>
          </a:p>
        </p:txBody>
      </p:sp>
      <p:sp>
        <p:nvSpPr>
          <p:cNvPr id="8" name="Прямоугольник 7"/>
          <p:cNvSpPr/>
          <p:nvPr/>
        </p:nvSpPr>
        <p:spPr bwMode="auto">
          <a:xfrm>
            <a:off x="2325688" y="3794125"/>
            <a:ext cx="401637" cy="365125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None/>
              <a:defRPr/>
            </a:pPr>
            <a:r>
              <a:rPr lang="ru-RU" sz="20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n-cs"/>
              </a:rPr>
              <a:t>5</a:t>
            </a:r>
          </a:p>
        </p:txBody>
      </p:sp>
      <p:sp>
        <p:nvSpPr>
          <p:cNvPr id="9" name="Прямоугольник 8"/>
          <p:cNvSpPr/>
          <p:nvPr/>
        </p:nvSpPr>
        <p:spPr bwMode="auto">
          <a:xfrm>
            <a:off x="2855913" y="2589213"/>
            <a:ext cx="401637" cy="365125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None/>
              <a:defRPr/>
            </a:pPr>
            <a:r>
              <a:rPr lang="en-US" sz="20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n-cs"/>
              </a:rPr>
              <a:t>9</a:t>
            </a:r>
            <a:endParaRPr lang="ru-RU" sz="2000" dirty="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n-cs"/>
            </a:endParaRPr>
          </a:p>
        </p:txBody>
      </p:sp>
      <p:sp>
        <p:nvSpPr>
          <p:cNvPr id="10" name="Прямоугольник 9"/>
          <p:cNvSpPr/>
          <p:nvPr/>
        </p:nvSpPr>
        <p:spPr bwMode="auto">
          <a:xfrm>
            <a:off x="1577975" y="4378325"/>
            <a:ext cx="401638" cy="365125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None/>
              <a:defRPr/>
            </a:pPr>
            <a:r>
              <a:rPr lang="ru-RU" sz="20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n-cs"/>
              </a:rPr>
              <a:t>2</a:t>
            </a:r>
          </a:p>
        </p:txBody>
      </p:sp>
      <p:sp>
        <p:nvSpPr>
          <p:cNvPr id="11" name="Прямоугольник 10"/>
          <p:cNvSpPr/>
          <p:nvPr/>
        </p:nvSpPr>
        <p:spPr bwMode="auto">
          <a:xfrm>
            <a:off x="2179638" y="4378325"/>
            <a:ext cx="401637" cy="365125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None/>
              <a:defRPr/>
            </a:pPr>
            <a:r>
              <a:rPr lang="ru-RU" sz="20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n-cs"/>
              </a:rPr>
              <a:t>2</a:t>
            </a:r>
          </a:p>
        </p:txBody>
      </p:sp>
      <p:sp>
        <p:nvSpPr>
          <p:cNvPr id="12" name="Прямоугольник 11"/>
          <p:cNvSpPr/>
          <p:nvPr/>
        </p:nvSpPr>
        <p:spPr bwMode="auto">
          <a:xfrm>
            <a:off x="2819400" y="4378325"/>
            <a:ext cx="401638" cy="365125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None/>
              <a:defRPr/>
            </a:pPr>
            <a:r>
              <a:rPr lang="en-US" sz="20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n-cs"/>
              </a:rPr>
              <a:t>1</a:t>
            </a:r>
            <a:endParaRPr lang="ru-RU" sz="2000" dirty="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n-cs"/>
            </a:endParaRPr>
          </a:p>
        </p:txBody>
      </p:sp>
      <p:sp>
        <p:nvSpPr>
          <p:cNvPr id="13" name="Прямоугольник 12"/>
          <p:cNvSpPr/>
          <p:nvPr/>
        </p:nvSpPr>
        <p:spPr bwMode="auto">
          <a:xfrm>
            <a:off x="4078288" y="2589213"/>
            <a:ext cx="401637" cy="365125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None/>
              <a:defRPr/>
            </a:pPr>
            <a:r>
              <a:rPr lang="ru-RU" sz="20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n-cs"/>
              </a:rPr>
              <a:t>4</a:t>
            </a:r>
          </a:p>
        </p:txBody>
      </p:sp>
      <p:sp>
        <p:nvSpPr>
          <p:cNvPr id="14" name="Прямоугольник 13"/>
          <p:cNvSpPr/>
          <p:nvPr/>
        </p:nvSpPr>
        <p:spPr bwMode="auto">
          <a:xfrm>
            <a:off x="1030288" y="4378325"/>
            <a:ext cx="401637" cy="365125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None/>
              <a:defRPr/>
            </a:pPr>
            <a:r>
              <a:rPr lang="ru-RU" sz="20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n-cs"/>
              </a:rPr>
              <a:t>4</a:t>
            </a:r>
          </a:p>
        </p:txBody>
      </p:sp>
      <p:sp>
        <p:nvSpPr>
          <p:cNvPr id="15" name="Прямоугольник 14"/>
          <p:cNvSpPr/>
          <p:nvPr/>
        </p:nvSpPr>
        <p:spPr bwMode="auto">
          <a:xfrm>
            <a:off x="1358900" y="3794125"/>
            <a:ext cx="401638" cy="365125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None/>
              <a:defRPr/>
            </a:pPr>
            <a:r>
              <a:rPr lang="ru-RU" sz="20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n-cs"/>
              </a:rPr>
              <a:t>7</a:t>
            </a:r>
          </a:p>
        </p:txBody>
      </p:sp>
      <p:sp>
        <p:nvSpPr>
          <p:cNvPr id="16" name="Прямоугольник 15"/>
          <p:cNvSpPr/>
          <p:nvPr/>
        </p:nvSpPr>
        <p:spPr bwMode="auto">
          <a:xfrm>
            <a:off x="1906588" y="3209925"/>
            <a:ext cx="401637" cy="365125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None/>
              <a:defRPr/>
            </a:pPr>
            <a:r>
              <a:rPr lang="ru-RU" sz="20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n-cs"/>
              </a:rPr>
              <a:t>8</a:t>
            </a:r>
          </a:p>
        </p:txBody>
      </p:sp>
      <p:cxnSp>
        <p:nvCxnSpPr>
          <p:cNvPr id="17" name="Прямая со стрелкой 16"/>
          <p:cNvCxnSpPr>
            <a:cxnSpLocks noChangeShapeType="1"/>
            <a:stCxn id="9" idx="2"/>
            <a:endCxn id="16" idx="0"/>
          </p:cNvCxnSpPr>
          <p:nvPr/>
        </p:nvCxnSpPr>
        <p:spPr bwMode="auto">
          <a:xfrm rot="5400000">
            <a:off x="2453482" y="2607469"/>
            <a:ext cx="255587" cy="949325"/>
          </a:xfrm>
          <a:prstGeom prst="straightConnector1">
            <a:avLst/>
          </a:prstGeom>
          <a:noFill/>
          <a:ln w="9525" algn="ctr">
            <a:solidFill>
              <a:srgbClr val="000000"/>
            </a:solidFill>
            <a:round/>
            <a:headEnd/>
            <a:tailEnd type="arrow" w="med" len="med"/>
          </a:ln>
        </p:spPr>
      </p:cxnSp>
      <p:cxnSp>
        <p:nvCxnSpPr>
          <p:cNvPr id="18" name="Прямая со стрелкой 17"/>
          <p:cNvCxnSpPr>
            <a:cxnSpLocks noChangeShapeType="1"/>
            <a:stCxn id="16" idx="2"/>
            <a:endCxn id="15" idx="0"/>
          </p:cNvCxnSpPr>
          <p:nvPr/>
        </p:nvCxnSpPr>
        <p:spPr bwMode="auto">
          <a:xfrm rot="5400000">
            <a:off x="1723231" y="3410744"/>
            <a:ext cx="219075" cy="547688"/>
          </a:xfrm>
          <a:prstGeom prst="straightConnector1">
            <a:avLst/>
          </a:prstGeom>
          <a:noFill/>
          <a:ln w="9525" algn="ctr">
            <a:solidFill>
              <a:srgbClr val="000000"/>
            </a:solidFill>
            <a:round/>
            <a:headEnd/>
            <a:tailEnd type="arrow" w="med" len="med"/>
          </a:ln>
        </p:spPr>
      </p:cxnSp>
      <p:cxnSp>
        <p:nvCxnSpPr>
          <p:cNvPr id="19" name="Прямая со стрелкой 18"/>
          <p:cNvCxnSpPr>
            <a:cxnSpLocks noChangeShapeType="1"/>
            <a:stCxn id="16" idx="2"/>
            <a:endCxn id="8" idx="0"/>
          </p:cNvCxnSpPr>
          <p:nvPr/>
        </p:nvCxnSpPr>
        <p:spPr bwMode="auto">
          <a:xfrm rot="16200000" flipH="1">
            <a:off x="2207419" y="3474244"/>
            <a:ext cx="219075" cy="420687"/>
          </a:xfrm>
          <a:prstGeom prst="straightConnector1">
            <a:avLst/>
          </a:prstGeom>
          <a:noFill/>
          <a:ln w="9525" algn="ctr">
            <a:solidFill>
              <a:srgbClr val="000000"/>
            </a:solidFill>
            <a:round/>
            <a:headEnd/>
            <a:tailEnd type="arrow" w="med" len="med"/>
          </a:ln>
        </p:spPr>
      </p:cxnSp>
      <p:cxnSp>
        <p:nvCxnSpPr>
          <p:cNvPr id="20" name="Прямая со стрелкой 19"/>
          <p:cNvCxnSpPr>
            <a:cxnSpLocks noChangeShapeType="1"/>
            <a:stCxn id="8" idx="2"/>
            <a:endCxn id="12" idx="0"/>
          </p:cNvCxnSpPr>
          <p:nvPr/>
        </p:nvCxnSpPr>
        <p:spPr bwMode="auto">
          <a:xfrm rot="16200000" flipH="1">
            <a:off x="2663825" y="4022725"/>
            <a:ext cx="219075" cy="492125"/>
          </a:xfrm>
          <a:prstGeom prst="straightConnector1">
            <a:avLst/>
          </a:prstGeom>
          <a:noFill/>
          <a:ln w="9525" algn="ctr">
            <a:solidFill>
              <a:srgbClr val="000000"/>
            </a:solidFill>
            <a:round/>
            <a:headEnd/>
            <a:tailEnd type="arrow" w="med" len="med"/>
          </a:ln>
        </p:spPr>
      </p:cxnSp>
      <p:cxnSp>
        <p:nvCxnSpPr>
          <p:cNvPr id="21" name="Прямая со стрелкой 20"/>
          <p:cNvCxnSpPr>
            <a:cxnSpLocks noChangeShapeType="1"/>
            <a:stCxn id="13" idx="2"/>
            <a:endCxn id="7" idx="0"/>
          </p:cNvCxnSpPr>
          <p:nvPr/>
        </p:nvCxnSpPr>
        <p:spPr bwMode="auto">
          <a:xfrm rot="5400000">
            <a:off x="3896519" y="2826544"/>
            <a:ext cx="255587" cy="511175"/>
          </a:xfrm>
          <a:prstGeom prst="straightConnector1">
            <a:avLst/>
          </a:prstGeom>
          <a:noFill/>
          <a:ln w="9525" algn="ctr">
            <a:solidFill>
              <a:srgbClr val="000000"/>
            </a:solidFill>
            <a:round/>
            <a:headEnd/>
            <a:tailEnd type="arrow" w="med" len="med"/>
          </a:ln>
        </p:spPr>
      </p:cxnSp>
      <p:cxnSp>
        <p:nvCxnSpPr>
          <p:cNvPr id="22" name="Прямая со стрелкой 21"/>
          <p:cNvCxnSpPr>
            <a:cxnSpLocks noChangeShapeType="1"/>
            <a:stCxn id="15" idx="2"/>
            <a:endCxn id="14" idx="0"/>
          </p:cNvCxnSpPr>
          <p:nvPr/>
        </p:nvCxnSpPr>
        <p:spPr bwMode="auto">
          <a:xfrm rot="5400000">
            <a:off x="1285081" y="4104482"/>
            <a:ext cx="219075" cy="328612"/>
          </a:xfrm>
          <a:prstGeom prst="straightConnector1">
            <a:avLst/>
          </a:prstGeom>
          <a:noFill/>
          <a:ln w="9525" algn="ctr">
            <a:solidFill>
              <a:srgbClr val="000000"/>
            </a:solidFill>
            <a:round/>
            <a:headEnd/>
            <a:tailEnd type="arrow" w="med" len="med"/>
          </a:ln>
        </p:spPr>
      </p:cxnSp>
      <p:cxnSp>
        <p:nvCxnSpPr>
          <p:cNvPr id="23" name="Прямая со стрелкой 22"/>
          <p:cNvCxnSpPr>
            <a:cxnSpLocks noChangeShapeType="1"/>
            <a:stCxn id="15" idx="2"/>
            <a:endCxn id="10" idx="0"/>
          </p:cNvCxnSpPr>
          <p:nvPr/>
        </p:nvCxnSpPr>
        <p:spPr bwMode="auto">
          <a:xfrm rot="16200000" flipH="1">
            <a:off x="1558925" y="4159250"/>
            <a:ext cx="219075" cy="219075"/>
          </a:xfrm>
          <a:prstGeom prst="straightConnector1">
            <a:avLst/>
          </a:prstGeom>
          <a:noFill/>
          <a:ln w="9525" algn="ctr">
            <a:solidFill>
              <a:srgbClr val="000000"/>
            </a:solidFill>
            <a:round/>
            <a:headEnd/>
            <a:tailEnd type="arrow" w="med" len="med"/>
          </a:ln>
        </p:spPr>
      </p:cxnSp>
      <p:cxnSp>
        <p:nvCxnSpPr>
          <p:cNvPr id="24" name="Прямая со стрелкой 23"/>
          <p:cNvCxnSpPr>
            <a:cxnSpLocks noChangeShapeType="1"/>
            <a:stCxn id="8" idx="2"/>
            <a:endCxn id="11" idx="0"/>
          </p:cNvCxnSpPr>
          <p:nvPr/>
        </p:nvCxnSpPr>
        <p:spPr bwMode="auto">
          <a:xfrm rot="5400000">
            <a:off x="2344737" y="4195763"/>
            <a:ext cx="219075" cy="146050"/>
          </a:xfrm>
          <a:prstGeom prst="straightConnector1">
            <a:avLst/>
          </a:prstGeom>
          <a:noFill/>
          <a:ln w="9525" algn="ctr">
            <a:solidFill>
              <a:srgbClr val="000000"/>
            </a:solidFill>
            <a:round/>
            <a:headEnd/>
            <a:tailEnd type="arrow" w="med" len="med"/>
          </a:ln>
        </p:spPr>
      </p:cxnSp>
      <p:sp>
        <p:nvSpPr>
          <p:cNvPr id="26" name="Прямоугольник 25"/>
          <p:cNvSpPr/>
          <p:nvPr/>
        </p:nvSpPr>
        <p:spPr bwMode="auto">
          <a:xfrm>
            <a:off x="5613400" y="2625725"/>
            <a:ext cx="401638" cy="365125"/>
          </a:xfrm>
          <a:prstGeom prst="rect">
            <a:avLst/>
          </a:prstGeom>
          <a:solidFill>
            <a:schemeClr val="tx2">
              <a:lumMod val="90000"/>
            </a:schemeClr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None/>
              <a:defRPr/>
            </a:pPr>
            <a:r>
              <a:rPr lang="ru-RU" sz="20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n-cs"/>
              </a:rPr>
              <a:t>6</a:t>
            </a:r>
          </a:p>
        </p:txBody>
      </p:sp>
      <p:sp>
        <p:nvSpPr>
          <p:cNvPr id="27" name="Прямоугольник 26"/>
          <p:cNvSpPr/>
          <p:nvPr/>
        </p:nvSpPr>
        <p:spPr bwMode="auto">
          <a:xfrm>
            <a:off x="5467350" y="3209925"/>
            <a:ext cx="401638" cy="365125"/>
          </a:xfrm>
          <a:prstGeom prst="rect">
            <a:avLst/>
          </a:prstGeom>
          <a:solidFill>
            <a:schemeClr val="tx2">
              <a:lumMod val="90000"/>
            </a:schemeClr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None/>
              <a:defRPr/>
            </a:pPr>
            <a:r>
              <a:rPr lang="ru-RU" sz="20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n-cs"/>
              </a:rPr>
              <a:t>3</a:t>
            </a:r>
          </a:p>
        </p:txBody>
      </p:sp>
      <p:sp>
        <p:nvSpPr>
          <p:cNvPr id="28" name="Прямоугольник 27"/>
          <p:cNvSpPr/>
          <p:nvPr/>
        </p:nvSpPr>
        <p:spPr bwMode="auto">
          <a:xfrm>
            <a:off x="6799263" y="2625725"/>
            <a:ext cx="401637" cy="365125"/>
          </a:xfrm>
          <a:prstGeom prst="rect">
            <a:avLst/>
          </a:prstGeom>
          <a:solidFill>
            <a:schemeClr val="tx2">
              <a:lumMod val="90000"/>
            </a:schemeClr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None/>
              <a:defRPr/>
            </a:pPr>
            <a:r>
              <a:rPr lang="ru-RU" sz="20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n-cs"/>
              </a:rPr>
              <a:t>7</a:t>
            </a:r>
          </a:p>
        </p:txBody>
      </p:sp>
      <p:cxnSp>
        <p:nvCxnSpPr>
          <p:cNvPr id="30" name="Прямая со стрелкой 29"/>
          <p:cNvCxnSpPr>
            <a:cxnSpLocks noChangeShapeType="1"/>
            <a:stCxn id="26" idx="2"/>
            <a:endCxn id="27" idx="0"/>
          </p:cNvCxnSpPr>
          <p:nvPr/>
        </p:nvCxnSpPr>
        <p:spPr bwMode="auto">
          <a:xfrm rot="5400000">
            <a:off x="5630862" y="3027363"/>
            <a:ext cx="219075" cy="146050"/>
          </a:xfrm>
          <a:prstGeom prst="straightConnector1">
            <a:avLst/>
          </a:prstGeom>
          <a:noFill/>
          <a:ln w="9525" algn="ctr">
            <a:solidFill>
              <a:srgbClr val="000000"/>
            </a:solidFill>
            <a:round/>
            <a:headEnd/>
            <a:tailEnd type="arrow" w="med" len="med"/>
          </a:ln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6" grpId="0" animBg="1"/>
      <p:bldP spid="27" grpId="0" animBg="1"/>
      <p:bldP spid="28" grpId="0" animBg="1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/>
          <p:cNvSpPr txBox="1">
            <a:spLocks/>
          </p:cNvSpPr>
          <p:nvPr/>
        </p:nvSpPr>
        <p:spPr bwMode="auto">
          <a:xfrm>
            <a:off x="482600" y="179388"/>
            <a:ext cx="8229600" cy="985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 eaLnBrk="0" hangingPunct="0">
              <a:defRPr/>
            </a:pPr>
            <a:r>
              <a:rPr lang="ru-RU" sz="3600" kern="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Биномиальная очередь</a:t>
            </a:r>
          </a:p>
        </p:txBody>
      </p:sp>
      <p:sp>
        <p:nvSpPr>
          <p:cNvPr id="5" name="Заголовок 1"/>
          <p:cNvSpPr txBox="1">
            <a:spLocks/>
          </p:cNvSpPr>
          <p:nvPr/>
        </p:nvSpPr>
        <p:spPr bwMode="auto">
          <a:xfrm>
            <a:off x="336550" y="6094413"/>
            <a:ext cx="8229600" cy="5476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 eaLnBrk="0" hangingPunct="0">
              <a:defRPr/>
            </a:pPr>
            <a:r>
              <a:rPr lang="ru-RU" kern="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Объединение двух очередей</a:t>
            </a:r>
          </a:p>
        </p:txBody>
      </p:sp>
      <p:sp>
        <p:nvSpPr>
          <p:cNvPr id="6" name="Прямоугольник 5"/>
          <p:cNvSpPr/>
          <p:nvPr/>
        </p:nvSpPr>
        <p:spPr bwMode="auto">
          <a:xfrm>
            <a:off x="2965450" y="3502025"/>
            <a:ext cx="401638" cy="365125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None/>
              <a:defRPr/>
            </a:pPr>
            <a:r>
              <a:rPr lang="ru-RU" sz="20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n-cs"/>
              </a:rPr>
              <a:t>5</a:t>
            </a:r>
          </a:p>
        </p:txBody>
      </p:sp>
      <p:sp>
        <p:nvSpPr>
          <p:cNvPr id="7" name="Прямоугольник 6"/>
          <p:cNvSpPr/>
          <p:nvPr/>
        </p:nvSpPr>
        <p:spPr bwMode="auto">
          <a:xfrm>
            <a:off x="3494088" y="2297113"/>
            <a:ext cx="401637" cy="365125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None/>
              <a:defRPr/>
            </a:pPr>
            <a:r>
              <a:rPr lang="en-US" sz="20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n-cs"/>
              </a:rPr>
              <a:t>9</a:t>
            </a:r>
            <a:endParaRPr lang="ru-RU" sz="2000" dirty="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n-cs"/>
            </a:endParaRPr>
          </a:p>
        </p:txBody>
      </p:sp>
      <p:sp>
        <p:nvSpPr>
          <p:cNvPr id="8" name="Прямоугольник 7"/>
          <p:cNvSpPr/>
          <p:nvPr/>
        </p:nvSpPr>
        <p:spPr bwMode="auto">
          <a:xfrm>
            <a:off x="2216150" y="4086225"/>
            <a:ext cx="401638" cy="365125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None/>
              <a:defRPr/>
            </a:pPr>
            <a:r>
              <a:rPr lang="ru-RU" sz="20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n-cs"/>
              </a:rPr>
              <a:t>2</a:t>
            </a:r>
          </a:p>
        </p:txBody>
      </p:sp>
      <p:sp>
        <p:nvSpPr>
          <p:cNvPr id="9" name="Прямоугольник 8"/>
          <p:cNvSpPr/>
          <p:nvPr/>
        </p:nvSpPr>
        <p:spPr bwMode="auto">
          <a:xfrm>
            <a:off x="2819400" y="4086225"/>
            <a:ext cx="401638" cy="365125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None/>
              <a:defRPr/>
            </a:pPr>
            <a:r>
              <a:rPr lang="ru-RU" sz="20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n-cs"/>
              </a:rPr>
              <a:t>2</a:t>
            </a:r>
          </a:p>
        </p:txBody>
      </p:sp>
      <p:sp>
        <p:nvSpPr>
          <p:cNvPr id="10" name="Прямоугольник 9"/>
          <p:cNvSpPr/>
          <p:nvPr/>
        </p:nvSpPr>
        <p:spPr bwMode="auto">
          <a:xfrm>
            <a:off x="3457575" y="4086225"/>
            <a:ext cx="401638" cy="365125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None/>
              <a:defRPr/>
            </a:pPr>
            <a:r>
              <a:rPr lang="en-US" sz="20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n-cs"/>
              </a:rPr>
              <a:t>1</a:t>
            </a:r>
            <a:endParaRPr lang="ru-RU" sz="2000" dirty="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n-cs"/>
            </a:endParaRPr>
          </a:p>
        </p:txBody>
      </p:sp>
      <p:sp>
        <p:nvSpPr>
          <p:cNvPr id="11" name="Прямоугольник 10"/>
          <p:cNvSpPr/>
          <p:nvPr/>
        </p:nvSpPr>
        <p:spPr bwMode="auto">
          <a:xfrm>
            <a:off x="1668463" y="4086225"/>
            <a:ext cx="401637" cy="365125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None/>
              <a:defRPr/>
            </a:pPr>
            <a:r>
              <a:rPr lang="ru-RU" sz="20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n-cs"/>
              </a:rPr>
              <a:t>4</a:t>
            </a:r>
          </a:p>
        </p:txBody>
      </p:sp>
      <p:sp>
        <p:nvSpPr>
          <p:cNvPr id="12" name="Прямоугольник 11"/>
          <p:cNvSpPr/>
          <p:nvPr/>
        </p:nvSpPr>
        <p:spPr bwMode="auto">
          <a:xfrm>
            <a:off x="1997075" y="3502025"/>
            <a:ext cx="401638" cy="365125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None/>
              <a:defRPr/>
            </a:pPr>
            <a:r>
              <a:rPr lang="ru-RU" sz="20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n-cs"/>
              </a:rPr>
              <a:t>7</a:t>
            </a:r>
          </a:p>
        </p:txBody>
      </p:sp>
      <p:sp>
        <p:nvSpPr>
          <p:cNvPr id="13" name="Прямоугольник 12"/>
          <p:cNvSpPr/>
          <p:nvPr/>
        </p:nvSpPr>
        <p:spPr bwMode="auto">
          <a:xfrm>
            <a:off x="2544763" y="2917825"/>
            <a:ext cx="401637" cy="365125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None/>
              <a:defRPr/>
            </a:pPr>
            <a:r>
              <a:rPr lang="ru-RU" sz="20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n-cs"/>
              </a:rPr>
              <a:t>8</a:t>
            </a:r>
          </a:p>
        </p:txBody>
      </p:sp>
      <p:cxnSp>
        <p:nvCxnSpPr>
          <p:cNvPr id="14" name="Прямая со стрелкой 13"/>
          <p:cNvCxnSpPr>
            <a:cxnSpLocks noChangeShapeType="1"/>
            <a:stCxn id="7" idx="2"/>
            <a:endCxn id="13" idx="0"/>
          </p:cNvCxnSpPr>
          <p:nvPr/>
        </p:nvCxnSpPr>
        <p:spPr bwMode="auto">
          <a:xfrm rot="5400000">
            <a:off x="3093244" y="2315369"/>
            <a:ext cx="255587" cy="949325"/>
          </a:xfrm>
          <a:prstGeom prst="straightConnector1">
            <a:avLst/>
          </a:prstGeom>
          <a:noFill/>
          <a:ln w="9525" algn="ctr">
            <a:solidFill>
              <a:srgbClr val="000000"/>
            </a:solidFill>
            <a:round/>
            <a:headEnd/>
            <a:tailEnd type="arrow" w="med" len="med"/>
          </a:ln>
        </p:spPr>
      </p:cxnSp>
      <p:cxnSp>
        <p:nvCxnSpPr>
          <p:cNvPr id="15" name="Прямая со стрелкой 14"/>
          <p:cNvCxnSpPr>
            <a:cxnSpLocks noChangeShapeType="1"/>
            <a:stCxn id="13" idx="2"/>
            <a:endCxn id="12" idx="0"/>
          </p:cNvCxnSpPr>
          <p:nvPr/>
        </p:nvCxnSpPr>
        <p:spPr bwMode="auto">
          <a:xfrm rot="5400000">
            <a:off x="2362994" y="3118644"/>
            <a:ext cx="219075" cy="547687"/>
          </a:xfrm>
          <a:prstGeom prst="straightConnector1">
            <a:avLst/>
          </a:prstGeom>
          <a:noFill/>
          <a:ln w="9525" algn="ctr">
            <a:solidFill>
              <a:srgbClr val="000000"/>
            </a:solidFill>
            <a:round/>
            <a:headEnd/>
            <a:tailEnd type="arrow" w="med" len="med"/>
          </a:ln>
        </p:spPr>
      </p:cxnSp>
      <p:cxnSp>
        <p:nvCxnSpPr>
          <p:cNvPr id="16" name="Прямая со стрелкой 15"/>
          <p:cNvCxnSpPr>
            <a:cxnSpLocks noChangeShapeType="1"/>
            <a:stCxn id="13" idx="2"/>
            <a:endCxn id="6" idx="0"/>
          </p:cNvCxnSpPr>
          <p:nvPr/>
        </p:nvCxnSpPr>
        <p:spPr bwMode="auto">
          <a:xfrm rot="16200000" flipH="1">
            <a:off x="2846387" y="3182938"/>
            <a:ext cx="219075" cy="419100"/>
          </a:xfrm>
          <a:prstGeom prst="straightConnector1">
            <a:avLst/>
          </a:prstGeom>
          <a:noFill/>
          <a:ln w="9525" algn="ctr">
            <a:solidFill>
              <a:srgbClr val="000000"/>
            </a:solidFill>
            <a:round/>
            <a:headEnd/>
            <a:tailEnd type="arrow" w="med" len="med"/>
          </a:ln>
        </p:spPr>
      </p:cxnSp>
      <p:cxnSp>
        <p:nvCxnSpPr>
          <p:cNvPr id="17" name="Прямая со стрелкой 16"/>
          <p:cNvCxnSpPr>
            <a:cxnSpLocks noChangeShapeType="1"/>
            <a:stCxn id="6" idx="2"/>
            <a:endCxn id="10" idx="0"/>
          </p:cNvCxnSpPr>
          <p:nvPr/>
        </p:nvCxnSpPr>
        <p:spPr bwMode="auto">
          <a:xfrm rot="16200000" flipH="1">
            <a:off x="3302794" y="3729831"/>
            <a:ext cx="219075" cy="493713"/>
          </a:xfrm>
          <a:prstGeom prst="straightConnector1">
            <a:avLst/>
          </a:prstGeom>
          <a:noFill/>
          <a:ln w="9525" algn="ctr">
            <a:solidFill>
              <a:srgbClr val="000000"/>
            </a:solidFill>
            <a:round/>
            <a:headEnd/>
            <a:tailEnd type="arrow" w="med" len="med"/>
          </a:ln>
        </p:spPr>
      </p:cxnSp>
      <p:cxnSp>
        <p:nvCxnSpPr>
          <p:cNvPr id="18" name="Прямая со стрелкой 17"/>
          <p:cNvCxnSpPr>
            <a:cxnSpLocks noChangeShapeType="1"/>
            <a:stCxn id="12" idx="2"/>
            <a:endCxn id="11" idx="0"/>
          </p:cNvCxnSpPr>
          <p:nvPr/>
        </p:nvCxnSpPr>
        <p:spPr bwMode="auto">
          <a:xfrm rot="5400000">
            <a:off x="1924844" y="3812381"/>
            <a:ext cx="219075" cy="328613"/>
          </a:xfrm>
          <a:prstGeom prst="straightConnector1">
            <a:avLst/>
          </a:prstGeom>
          <a:noFill/>
          <a:ln w="9525" algn="ctr">
            <a:solidFill>
              <a:srgbClr val="000000"/>
            </a:solidFill>
            <a:round/>
            <a:headEnd/>
            <a:tailEnd type="arrow" w="med" len="med"/>
          </a:ln>
        </p:spPr>
      </p:cxnSp>
      <p:cxnSp>
        <p:nvCxnSpPr>
          <p:cNvPr id="19" name="Прямая со стрелкой 18"/>
          <p:cNvCxnSpPr>
            <a:cxnSpLocks noChangeShapeType="1"/>
            <a:stCxn id="12" idx="2"/>
            <a:endCxn id="8" idx="0"/>
          </p:cNvCxnSpPr>
          <p:nvPr/>
        </p:nvCxnSpPr>
        <p:spPr bwMode="auto">
          <a:xfrm rot="16200000" flipH="1">
            <a:off x="2198688" y="3867150"/>
            <a:ext cx="219075" cy="219075"/>
          </a:xfrm>
          <a:prstGeom prst="straightConnector1">
            <a:avLst/>
          </a:prstGeom>
          <a:noFill/>
          <a:ln w="9525" algn="ctr">
            <a:solidFill>
              <a:srgbClr val="000000"/>
            </a:solidFill>
            <a:round/>
            <a:headEnd/>
            <a:tailEnd type="arrow" w="med" len="med"/>
          </a:ln>
        </p:spPr>
      </p:cxnSp>
      <p:cxnSp>
        <p:nvCxnSpPr>
          <p:cNvPr id="20" name="Прямая со стрелкой 19"/>
          <p:cNvCxnSpPr>
            <a:cxnSpLocks noChangeShapeType="1"/>
            <a:stCxn id="6" idx="2"/>
            <a:endCxn id="9" idx="0"/>
          </p:cNvCxnSpPr>
          <p:nvPr/>
        </p:nvCxnSpPr>
        <p:spPr bwMode="auto">
          <a:xfrm rot="5400000">
            <a:off x="2982912" y="3903663"/>
            <a:ext cx="219075" cy="146050"/>
          </a:xfrm>
          <a:prstGeom prst="straightConnector1">
            <a:avLst/>
          </a:prstGeom>
          <a:noFill/>
          <a:ln w="9525" algn="ctr">
            <a:solidFill>
              <a:srgbClr val="000000"/>
            </a:solidFill>
            <a:round/>
            <a:headEnd/>
            <a:tailEnd type="arrow" w="med" len="med"/>
          </a:ln>
        </p:spPr>
      </p:cxnSp>
      <p:sp>
        <p:nvSpPr>
          <p:cNvPr id="21" name="Прямоугольник 20"/>
          <p:cNvSpPr>
            <a:spLocks noChangeArrowheads="1"/>
          </p:cNvSpPr>
          <p:nvPr/>
        </p:nvSpPr>
        <p:spPr bwMode="auto">
          <a:xfrm>
            <a:off x="4170363" y="3611563"/>
            <a:ext cx="401637" cy="365125"/>
          </a:xfrm>
          <a:prstGeom prst="rect">
            <a:avLst/>
          </a:prstGeom>
          <a:solidFill>
            <a:schemeClr val="tx1"/>
          </a:solidFill>
          <a:ln w="9525" algn="ctr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pPr algn="ctr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None/>
            </a:pPr>
            <a:r>
              <a:rPr lang="ru-RU" sz="2000">
                <a:solidFill>
                  <a:srgbClr val="000000"/>
                </a:solidFill>
              </a:rPr>
              <a:t>3</a:t>
            </a:r>
          </a:p>
        </p:txBody>
      </p:sp>
      <p:sp>
        <p:nvSpPr>
          <p:cNvPr id="22" name="Прямоугольник 21"/>
          <p:cNvSpPr/>
          <p:nvPr/>
        </p:nvSpPr>
        <p:spPr bwMode="auto">
          <a:xfrm>
            <a:off x="4535488" y="3027363"/>
            <a:ext cx="401637" cy="365125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None/>
              <a:defRPr/>
            </a:pPr>
            <a:r>
              <a:rPr lang="ru-RU" sz="20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n-cs"/>
              </a:rPr>
              <a:t>4</a:t>
            </a:r>
          </a:p>
        </p:txBody>
      </p:sp>
      <p:cxnSp>
        <p:nvCxnSpPr>
          <p:cNvPr id="23" name="Прямая со стрелкой 22"/>
          <p:cNvCxnSpPr>
            <a:cxnSpLocks noChangeShapeType="1"/>
            <a:stCxn id="22" idx="2"/>
            <a:endCxn id="21" idx="0"/>
          </p:cNvCxnSpPr>
          <p:nvPr/>
        </p:nvCxnSpPr>
        <p:spPr bwMode="auto">
          <a:xfrm rot="5400000">
            <a:off x="4444206" y="3318670"/>
            <a:ext cx="219075" cy="366712"/>
          </a:xfrm>
          <a:prstGeom prst="straightConnector1">
            <a:avLst/>
          </a:prstGeom>
          <a:noFill/>
          <a:ln w="9525" algn="ctr">
            <a:solidFill>
              <a:srgbClr val="000000"/>
            </a:solidFill>
            <a:round/>
            <a:headEnd/>
            <a:tailEnd type="arrow" w="med" len="med"/>
          </a:ln>
        </p:spPr>
      </p:cxnSp>
      <p:sp>
        <p:nvSpPr>
          <p:cNvPr id="24" name="Прямоугольник 23"/>
          <p:cNvSpPr/>
          <p:nvPr/>
        </p:nvSpPr>
        <p:spPr bwMode="auto">
          <a:xfrm>
            <a:off x="4956175" y="2333625"/>
            <a:ext cx="401638" cy="365125"/>
          </a:xfrm>
          <a:prstGeom prst="rect">
            <a:avLst/>
          </a:prstGeom>
          <a:solidFill>
            <a:schemeClr val="tx2">
              <a:lumMod val="90000"/>
            </a:schemeClr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None/>
              <a:defRPr/>
            </a:pPr>
            <a:r>
              <a:rPr lang="ru-RU" sz="20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n-cs"/>
              </a:rPr>
              <a:t>6</a:t>
            </a:r>
          </a:p>
        </p:txBody>
      </p:sp>
      <p:sp>
        <p:nvSpPr>
          <p:cNvPr id="25" name="Прямоугольник 24"/>
          <p:cNvSpPr/>
          <p:nvPr/>
        </p:nvSpPr>
        <p:spPr bwMode="auto">
          <a:xfrm>
            <a:off x="4900613" y="3611563"/>
            <a:ext cx="401637" cy="365125"/>
          </a:xfrm>
          <a:prstGeom prst="rect">
            <a:avLst/>
          </a:prstGeom>
          <a:solidFill>
            <a:schemeClr val="tx2">
              <a:lumMod val="90000"/>
            </a:schemeClr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None/>
              <a:defRPr/>
            </a:pPr>
            <a:r>
              <a:rPr lang="ru-RU" sz="20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n-cs"/>
              </a:rPr>
              <a:t>3</a:t>
            </a:r>
          </a:p>
        </p:txBody>
      </p:sp>
      <p:cxnSp>
        <p:nvCxnSpPr>
          <p:cNvPr id="26" name="Прямая со стрелкой 25"/>
          <p:cNvCxnSpPr>
            <a:cxnSpLocks noChangeShapeType="1"/>
            <a:stCxn id="24" idx="2"/>
            <a:endCxn id="22" idx="0"/>
          </p:cNvCxnSpPr>
          <p:nvPr/>
        </p:nvCxnSpPr>
        <p:spPr bwMode="auto">
          <a:xfrm rot="5400000">
            <a:off x="4782343" y="2653507"/>
            <a:ext cx="328613" cy="419100"/>
          </a:xfrm>
          <a:prstGeom prst="straightConnector1">
            <a:avLst/>
          </a:prstGeom>
          <a:noFill/>
          <a:ln w="9525" algn="ctr">
            <a:solidFill>
              <a:srgbClr val="000000"/>
            </a:solidFill>
            <a:round/>
            <a:headEnd/>
            <a:tailEnd type="arrow" w="med" len="med"/>
          </a:ln>
        </p:spPr>
      </p:cxnSp>
      <p:cxnSp>
        <p:nvCxnSpPr>
          <p:cNvPr id="35" name="Прямая со стрелкой 34"/>
          <p:cNvCxnSpPr>
            <a:cxnSpLocks noChangeShapeType="1"/>
            <a:stCxn id="22" idx="2"/>
            <a:endCxn id="25" idx="0"/>
          </p:cNvCxnSpPr>
          <p:nvPr/>
        </p:nvCxnSpPr>
        <p:spPr bwMode="auto">
          <a:xfrm rot="16200000" flipH="1">
            <a:off x="4810125" y="3319463"/>
            <a:ext cx="219075" cy="365125"/>
          </a:xfrm>
          <a:prstGeom prst="straightConnector1">
            <a:avLst/>
          </a:prstGeom>
          <a:noFill/>
          <a:ln w="9525" algn="ctr">
            <a:solidFill>
              <a:schemeClr val="bg2"/>
            </a:solidFill>
            <a:round/>
            <a:headEnd/>
            <a:tailEnd type="arrow" w="med" len="med"/>
          </a:ln>
        </p:spPr>
      </p:cxnSp>
      <p:sp>
        <p:nvSpPr>
          <p:cNvPr id="42" name="Прямоугольник 41"/>
          <p:cNvSpPr/>
          <p:nvPr/>
        </p:nvSpPr>
        <p:spPr bwMode="auto">
          <a:xfrm>
            <a:off x="6142038" y="2333625"/>
            <a:ext cx="401637" cy="365125"/>
          </a:xfrm>
          <a:prstGeom prst="rect">
            <a:avLst/>
          </a:prstGeom>
          <a:solidFill>
            <a:schemeClr val="tx2">
              <a:lumMod val="90000"/>
            </a:schemeClr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None/>
              <a:defRPr/>
            </a:pPr>
            <a:r>
              <a:rPr lang="ru-RU" sz="20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n-cs"/>
              </a:rPr>
              <a:t>7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3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21" grpId="0" animBg="1"/>
      <p:bldP spid="22" grpId="0" animBg="1"/>
      <p:bldP spid="24" grpId="0" animBg="1"/>
      <p:bldP spid="25" grpId="0" animBg="1"/>
      <p:bldP spid="42" grpId="0" animBg="1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/>
          <p:cNvSpPr txBox="1">
            <a:spLocks/>
          </p:cNvSpPr>
          <p:nvPr/>
        </p:nvSpPr>
        <p:spPr bwMode="auto">
          <a:xfrm>
            <a:off x="519113" y="179343"/>
            <a:ext cx="8229600" cy="949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 eaLnBrk="0" hangingPunct="0">
              <a:defRPr/>
            </a:pPr>
            <a:r>
              <a:rPr lang="ru-RU" sz="3600" kern="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АЛГОРИТМЫ ПОИСКА ПОДСТРОКИ В СТРОКЕ</a:t>
            </a:r>
          </a:p>
        </p:txBody>
      </p:sp>
      <p:sp>
        <p:nvSpPr>
          <p:cNvPr id="8" name="Содержимое 7"/>
          <p:cNvSpPr>
            <a:spLocks noGrp="1"/>
          </p:cNvSpPr>
          <p:nvPr>
            <p:ph idx="1"/>
          </p:nvPr>
        </p:nvSpPr>
        <p:spPr>
          <a:xfrm>
            <a:off x="446031" y="2041506"/>
            <a:ext cx="8229600" cy="3176631"/>
          </a:xfrm>
          <a:solidFill>
            <a:schemeClr val="tx1"/>
          </a:solidFill>
          <a:ln>
            <a:solidFill>
              <a:srgbClr val="000000"/>
            </a:solidFill>
          </a:ln>
        </p:spPr>
        <p:txBody>
          <a:bodyPr/>
          <a:lstStyle/>
          <a:p>
            <a:pPr marL="0" indent="0">
              <a:buClrTx/>
              <a:buSzPct val="70000"/>
              <a:buFont typeface="Arial" pitchFamily="34" charset="0"/>
              <a:buChar char="•"/>
              <a:defRPr/>
            </a:pPr>
            <a:r>
              <a:rPr lang="ru-RU" dirty="0">
                <a:solidFill>
                  <a:schemeClr val="bg2"/>
                </a:solidFill>
              </a:rPr>
              <a:t> </a:t>
            </a:r>
            <a:r>
              <a:rPr lang="ru-RU" b="1" dirty="0">
                <a:solidFill>
                  <a:schemeClr val="bg2"/>
                </a:solidFill>
              </a:rPr>
              <a:t>СТРОКА</a:t>
            </a:r>
            <a:r>
              <a:rPr lang="ru-RU" dirty="0">
                <a:solidFill>
                  <a:schemeClr val="bg2"/>
                </a:solidFill>
              </a:rPr>
              <a:t> в которой осуществляется поиск называется </a:t>
            </a:r>
            <a:r>
              <a:rPr lang="ru-RU" b="1" dirty="0">
                <a:solidFill>
                  <a:schemeClr val="bg2"/>
                </a:solidFill>
              </a:rPr>
              <a:t>ТЕКСТОМ</a:t>
            </a:r>
          </a:p>
          <a:p>
            <a:pPr marL="0" indent="0">
              <a:buClrTx/>
              <a:buSzPct val="70000"/>
              <a:buFont typeface="Arial" pitchFamily="34" charset="0"/>
              <a:buChar char="•"/>
              <a:defRPr/>
            </a:pPr>
            <a:r>
              <a:rPr lang="ru-RU" dirty="0">
                <a:solidFill>
                  <a:schemeClr val="bg2"/>
                </a:solidFill>
              </a:rPr>
              <a:t> </a:t>
            </a:r>
            <a:r>
              <a:rPr lang="ru-RU" b="1" dirty="0">
                <a:solidFill>
                  <a:schemeClr val="bg2"/>
                </a:solidFill>
              </a:rPr>
              <a:t>СТРОКА</a:t>
            </a:r>
            <a:r>
              <a:rPr lang="ru-RU" dirty="0">
                <a:solidFill>
                  <a:schemeClr val="bg2"/>
                </a:solidFill>
              </a:rPr>
              <a:t>, которую необходимо найти называется </a:t>
            </a:r>
            <a:r>
              <a:rPr lang="ru-RU" b="1" dirty="0">
                <a:solidFill>
                  <a:schemeClr val="bg2"/>
                </a:solidFill>
              </a:rPr>
              <a:t>ПОДСТРОКОЙ ПОИСКА </a:t>
            </a:r>
            <a:r>
              <a:rPr lang="ru-RU" dirty="0">
                <a:solidFill>
                  <a:schemeClr val="bg2"/>
                </a:solidFill>
              </a:rPr>
              <a:t>(</a:t>
            </a:r>
            <a:r>
              <a:rPr lang="ru-RU" b="1" dirty="0">
                <a:solidFill>
                  <a:schemeClr val="bg2"/>
                </a:solidFill>
              </a:rPr>
              <a:t>ОБРАЗОМ</a:t>
            </a:r>
            <a:r>
              <a:rPr lang="ru-RU" dirty="0">
                <a:solidFill>
                  <a:schemeClr val="bg2"/>
                </a:solidFill>
              </a:rPr>
              <a:t>)</a:t>
            </a:r>
          </a:p>
          <a:p>
            <a:pPr>
              <a:buFont typeface="Wingdings" pitchFamily="2" charset="2"/>
              <a:buNone/>
              <a:defRPr/>
            </a:pPr>
            <a:endParaRPr lang="ru-RU" dirty="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146654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8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8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8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8" grpId="0" build="p" animBg="1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381000"/>
            <a:ext cx="8229600" cy="930246"/>
          </a:xfrm>
        </p:spPr>
        <p:txBody>
          <a:bodyPr/>
          <a:lstStyle/>
          <a:p>
            <a:r>
              <a:rPr lang="ru-RU" dirty="0">
                <a:solidFill>
                  <a:schemeClr val="bg2"/>
                </a:solidFill>
              </a:rPr>
              <a:t>ПРЯМОЙ ПОИСК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1457297"/>
            <a:ext cx="8229600" cy="4929255"/>
          </a:xfrm>
          <a:solidFill>
            <a:schemeClr val="tx1"/>
          </a:solidFill>
          <a:ln>
            <a:solidFill>
              <a:srgbClr val="000000"/>
            </a:solidFill>
          </a:ln>
        </p:spPr>
        <p:txBody>
          <a:bodyPr/>
          <a:lstStyle/>
          <a:p>
            <a:pPr>
              <a:buClrTx/>
              <a:buSzPct val="70000"/>
              <a:buFont typeface="Arial" pitchFamily="34" charset="0"/>
              <a:buChar char="•"/>
            </a:pPr>
            <a:r>
              <a:rPr lang="ru-RU" dirty="0">
                <a:solidFill>
                  <a:srgbClr val="000000"/>
                </a:solidFill>
                <a:effectLst/>
              </a:rPr>
              <a:t>самый простой и не эффективный поиск.</a:t>
            </a:r>
          </a:p>
          <a:p>
            <a:pPr>
              <a:buClrTx/>
              <a:buSzPct val="70000"/>
              <a:buFont typeface="Arial" pitchFamily="34" charset="0"/>
              <a:buChar char="•"/>
            </a:pPr>
            <a:r>
              <a:rPr lang="ru-RU" dirty="0">
                <a:solidFill>
                  <a:srgbClr val="000000"/>
                </a:solidFill>
                <a:effectLst/>
              </a:rPr>
              <a:t>не проводит анализа подстроки</a:t>
            </a:r>
          </a:p>
          <a:p>
            <a:pPr>
              <a:buClrTx/>
              <a:buSzPct val="70000"/>
              <a:buFont typeface="Arial" pitchFamily="34" charset="0"/>
              <a:buChar char="•"/>
            </a:pPr>
            <a:r>
              <a:rPr lang="ru-RU" dirty="0">
                <a:solidFill>
                  <a:srgbClr val="000000"/>
                </a:solidFill>
                <a:effectLst/>
              </a:rPr>
              <a:t>наиболее эффективно работает при небольшом количестве совпадений при очередном сравнивании символов образа с символами текста</a:t>
            </a:r>
            <a:r>
              <a:rPr lang="ru-RU" dirty="0"/>
              <a:t> </a:t>
            </a:r>
          </a:p>
          <a:p>
            <a:pPr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290248250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/>
          <p:cNvSpPr>
            <a:spLocks noGrp="1"/>
          </p:cNvSpPr>
          <p:nvPr>
            <p:ph type="title"/>
          </p:nvPr>
        </p:nvSpPr>
        <p:spPr>
          <a:xfrm>
            <a:off x="457200" y="381000"/>
            <a:ext cx="8229600" cy="930246"/>
          </a:xfrm>
        </p:spPr>
        <p:txBody>
          <a:bodyPr/>
          <a:lstStyle/>
          <a:p>
            <a:r>
              <a:rPr lang="ru-RU" dirty="0">
                <a:solidFill>
                  <a:schemeClr val="bg2"/>
                </a:solidFill>
              </a:rPr>
              <a:t>ПРЯМОЙ ПОИСК</a:t>
            </a:r>
          </a:p>
        </p:txBody>
      </p:sp>
      <p:graphicFrame>
        <p:nvGraphicFramePr>
          <p:cNvPr id="5" name="Таблица 4"/>
          <p:cNvGraphicFramePr>
            <a:graphicFrameLocks noGrp="1"/>
          </p:cNvGraphicFramePr>
          <p:nvPr/>
        </p:nvGraphicFramePr>
        <p:xfrm>
          <a:off x="299978" y="1895454"/>
          <a:ext cx="8617068" cy="1136349"/>
        </p:xfrm>
        <a:graphic>
          <a:graphicData uri="http://schemas.openxmlformats.org/drawingml/2006/table">
            <a:tbl>
              <a:tblPr/>
              <a:tblGrid>
                <a:gridCol w="35865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94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865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5943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5865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5943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5865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5943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58651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59438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358651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359438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358651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359438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358651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359438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358651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  <a:gridCol w="359438">
                  <a:extLst>
                    <a:ext uri="{9D8B030D-6E8A-4147-A177-3AD203B41FA5}">
                      <a16:colId xmlns:a16="http://schemas.microsoft.com/office/drawing/2014/main" val="20017"/>
                    </a:ext>
                  </a:extLst>
                </a:gridCol>
                <a:gridCol w="358651">
                  <a:extLst>
                    <a:ext uri="{9D8B030D-6E8A-4147-A177-3AD203B41FA5}">
                      <a16:colId xmlns:a16="http://schemas.microsoft.com/office/drawing/2014/main" val="20018"/>
                    </a:ext>
                  </a:extLst>
                </a:gridCol>
                <a:gridCol w="359438">
                  <a:extLst>
                    <a:ext uri="{9D8B030D-6E8A-4147-A177-3AD203B41FA5}">
                      <a16:colId xmlns:a16="http://schemas.microsoft.com/office/drawing/2014/main" val="20019"/>
                    </a:ext>
                  </a:extLst>
                </a:gridCol>
                <a:gridCol w="358651">
                  <a:extLst>
                    <a:ext uri="{9D8B030D-6E8A-4147-A177-3AD203B41FA5}">
                      <a16:colId xmlns:a16="http://schemas.microsoft.com/office/drawing/2014/main" val="20020"/>
                    </a:ext>
                  </a:extLst>
                </a:gridCol>
                <a:gridCol w="359438">
                  <a:extLst>
                    <a:ext uri="{9D8B030D-6E8A-4147-A177-3AD203B41FA5}">
                      <a16:colId xmlns:a16="http://schemas.microsoft.com/office/drawing/2014/main" val="20021"/>
                    </a:ext>
                  </a:extLst>
                </a:gridCol>
                <a:gridCol w="358651">
                  <a:extLst>
                    <a:ext uri="{9D8B030D-6E8A-4147-A177-3AD203B41FA5}">
                      <a16:colId xmlns:a16="http://schemas.microsoft.com/office/drawing/2014/main" val="20022"/>
                    </a:ext>
                  </a:extLst>
                </a:gridCol>
                <a:gridCol w="359438">
                  <a:extLst>
                    <a:ext uri="{9D8B030D-6E8A-4147-A177-3AD203B41FA5}">
                      <a16:colId xmlns:a16="http://schemas.microsoft.com/office/drawing/2014/main" val="20023"/>
                    </a:ext>
                  </a:extLst>
                </a:gridCol>
              </a:tblGrid>
              <a:tr h="620721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2800" b="1" dirty="0" err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п</a:t>
                      </a:r>
                      <a:endParaRPr lang="ru-RU" sz="28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2800" b="1" dirty="0" err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р</a:t>
                      </a:r>
                      <a:endParaRPr lang="ru-RU" sz="28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28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и</a:t>
                      </a: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28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м</a:t>
                      </a: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28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е</a:t>
                      </a: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2800" b="1" dirty="0" err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р</a:t>
                      </a:r>
                      <a:endParaRPr lang="ru-RU" sz="28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ru-RU" sz="28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28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т</a:t>
                      </a: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28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е</a:t>
                      </a: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28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к</a:t>
                      </a: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28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с</a:t>
                      </a: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28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т</a:t>
                      </a: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28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а</a:t>
                      </a: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ru-RU" sz="28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2800" b="1" dirty="0" err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д</a:t>
                      </a:r>
                      <a:endParaRPr lang="ru-RU" sz="28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28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л</a:t>
                      </a: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28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я</a:t>
                      </a: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ru-RU" sz="28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2800" b="1" dirty="0" err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п</a:t>
                      </a:r>
                      <a:endParaRPr lang="ru-RU" sz="28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28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о</a:t>
                      </a: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28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и</a:t>
                      </a: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28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с</a:t>
                      </a: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28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к</a:t>
                      </a: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28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а</a:t>
                      </a: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5628">
                <a:tc>
                  <a:txBody>
                    <a:bodyPr/>
                    <a:lstStyle/>
                    <a:p>
                      <a:r>
                        <a:rPr lang="ru-RU" sz="2800" b="1" dirty="0">
                          <a:solidFill>
                            <a:srgbClr val="000000"/>
                          </a:solidFill>
                          <a:latin typeface="Arial Black" pitchFamily="34" charset="0"/>
                        </a:rPr>
                        <a:t>т</a:t>
                      </a: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2800" b="1" dirty="0">
                          <a:solidFill>
                            <a:srgbClr val="000000"/>
                          </a:solidFill>
                          <a:latin typeface="Arial Black" pitchFamily="34" charset="0"/>
                          <a:ea typeface="Times New Roman"/>
                          <a:cs typeface="Times New Roman"/>
                        </a:rPr>
                        <a:t>е</a:t>
                      </a: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2800" b="1" dirty="0">
                          <a:solidFill>
                            <a:srgbClr val="000000"/>
                          </a:solidFill>
                          <a:latin typeface="Arial Black" pitchFamily="34" charset="0"/>
                          <a:ea typeface="Times New Roman"/>
                          <a:cs typeface="Times New Roman"/>
                        </a:rPr>
                        <a:t>к</a:t>
                      </a: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2800" b="1" dirty="0">
                          <a:solidFill>
                            <a:srgbClr val="000000"/>
                          </a:solidFill>
                          <a:latin typeface="Arial Black" pitchFamily="34" charset="0"/>
                          <a:ea typeface="Times New Roman"/>
                          <a:cs typeface="Times New Roman"/>
                        </a:rPr>
                        <a:t>с</a:t>
                      </a: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2800" b="1" dirty="0">
                          <a:solidFill>
                            <a:srgbClr val="000000"/>
                          </a:solidFill>
                          <a:latin typeface="Arial Black" pitchFamily="34" charset="0"/>
                          <a:ea typeface="Times New Roman"/>
                          <a:cs typeface="Times New Roman"/>
                        </a:rPr>
                        <a:t>т</a:t>
                      </a: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ru-RU" sz="28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ru-RU" sz="28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ru-RU" sz="28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ru-RU" sz="28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ru-RU" sz="28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ru-RU" sz="28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ru-RU" sz="28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ru-RU" sz="28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ru-RU" sz="28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ru-RU" sz="28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ru-RU" sz="28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ru-RU" sz="28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ru-RU" sz="28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ru-RU" sz="28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ru-RU" sz="28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ru-RU" sz="28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ru-RU" sz="28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ru-RU" sz="28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ru-RU" sz="28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6" name="Таблица 5"/>
          <p:cNvGraphicFramePr>
            <a:graphicFrameLocks noGrp="1"/>
          </p:cNvGraphicFramePr>
          <p:nvPr/>
        </p:nvGraphicFramePr>
        <p:xfrm>
          <a:off x="299979" y="3429000"/>
          <a:ext cx="8617068" cy="1136349"/>
        </p:xfrm>
        <a:graphic>
          <a:graphicData uri="http://schemas.openxmlformats.org/drawingml/2006/table">
            <a:tbl>
              <a:tblPr/>
              <a:tblGrid>
                <a:gridCol w="35865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94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865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5943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5865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5943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5865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5943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58651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59438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358651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359438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358651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359438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358651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359438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358651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  <a:gridCol w="359438">
                  <a:extLst>
                    <a:ext uri="{9D8B030D-6E8A-4147-A177-3AD203B41FA5}">
                      <a16:colId xmlns:a16="http://schemas.microsoft.com/office/drawing/2014/main" val="20017"/>
                    </a:ext>
                  </a:extLst>
                </a:gridCol>
                <a:gridCol w="358651">
                  <a:extLst>
                    <a:ext uri="{9D8B030D-6E8A-4147-A177-3AD203B41FA5}">
                      <a16:colId xmlns:a16="http://schemas.microsoft.com/office/drawing/2014/main" val="20018"/>
                    </a:ext>
                  </a:extLst>
                </a:gridCol>
                <a:gridCol w="359438">
                  <a:extLst>
                    <a:ext uri="{9D8B030D-6E8A-4147-A177-3AD203B41FA5}">
                      <a16:colId xmlns:a16="http://schemas.microsoft.com/office/drawing/2014/main" val="20019"/>
                    </a:ext>
                  </a:extLst>
                </a:gridCol>
                <a:gridCol w="358651">
                  <a:extLst>
                    <a:ext uri="{9D8B030D-6E8A-4147-A177-3AD203B41FA5}">
                      <a16:colId xmlns:a16="http://schemas.microsoft.com/office/drawing/2014/main" val="20020"/>
                    </a:ext>
                  </a:extLst>
                </a:gridCol>
                <a:gridCol w="359438">
                  <a:extLst>
                    <a:ext uri="{9D8B030D-6E8A-4147-A177-3AD203B41FA5}">
                      <a16:colId xmlns:a16="http://schemas.microsoft.com/office/drawing/2014/main" val="20021"/>
                    </a:ext>
                  </a:extLst>
                </a:gridCol>
                <a:gridCol w="358651">
                  <a:extLst>
                    <a:ext uri="{9D8B030D-6E8A-4147-A177-3AD203B41FA5}">
                      <a16:colId xmlns:a16="http://schemas.microsoft.com/office/drawing/2014/main" val="20022"/>
                    </a:ext>
                  </a:extLst>
                </a:gridCol>
                <a:gridCol w="359438">
                  <a:extLst>
                    <a:ext uri="{9D8B030D-6E8A-4147-A177-3AD203B41FA5}">
                      <a16:colId xmlns:a16="http://schemas.microsoft.com/office/drawing/2014/main" val="20023"/>
                    </a:ext>
                  </a:extLst>
                </a:gridCol>
              </a:tblGrid>
              <a:tr h="620721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2800" b="1" dirty="0" err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п</a:t>
                      </a:r>
                      <a:endParaRPr lang="ru-RU" sz="28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2800" b="1" dirty="0" err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р</a:t>
                      </a:r>
                      <a:endParaRPr lang="ru-RU" sz="28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28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и</a:t>
                      </a: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28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м</a:t>
                      </a: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28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е</a:t>
                      </a: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2800" b="1" dirty="0" err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р</a:t>
                      </a:r>
                      <a:endParaRPr lang="ru-RU" sz="28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ru-RU" sz="28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28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т</a:t>
                      </a: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28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е</a:t>
                      </a: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28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к</a:t>
                      </a: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28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с</a:t>
                      </a: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28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т</a:t>
                      </a: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28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а</a:t>
                      </a: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ru-RU" sz="28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2800" b="1" dirty="0" err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д</a:t>
                      </a:r>
                      <a:endParaRPr lang="ru-RU" sz="28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28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л</a:t>
                      </a: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28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я</a:t>
                      </a: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ru-RU" sz="28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2800" b="1" dirty="0" err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п</a:t>
                      </a:r>
                      <a:endParaRPr lang="ru-RU" sz="28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28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о</a:t>
                      </a: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28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и</a:t>
                      </a: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28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с</a:t>
                      </a: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28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к</a:t>
                      </a: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28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а</a:t>
                      </a: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5628">
                <a:tc>
                  <a:txBody>
                    <a:bodyPr/>
                    <a:lstStyle/>
                    <a:p>
                      <a:endParaRPr lang="ru-RU"/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2800" b="1" dirty="0">
                          <a:solidFill>
                            <a:srgbClr val="000000"/>
                          </a:solidFill>
                          <a:latin typeface="Arial Black" pitchFamily="34" charset="0"/>
                        </a:rPr>
                        <a:t>т</a:t>
                      </a: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2800" b="1" dirty="0">
                          <a:solidFill>
                            <a:srgbClr val="000000"/>
                          </a:solidFill>
                          <a:latin typeface="Arial Black" pitchFamily="34" charset="0"/>
                          <a:ea typeface="Times New Roman"/>
                          <a:cs typeface="Times New Roman"/>
                        </a:rPr>
                        <a:t>е</a:t>
                      </a: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2800" b="1" dirty="0">
                          <a:solidFill>
                            <a:srgbClr val="000000"/>
                          </a:solidFill>
                          <a:latin typeface="Arial Black" pitchFamily="34" charset="0"/>
                          <a:ea typeface="Times New Roman"/>
                          <a:cs typeface="Times New Roman"/>
                        </a:rPr>
                        <a:t>к</a:t>
                      </a: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2800" b="1" dirty="0">
                          <a:solidFill>
                            <a:srgbClr val="000000"/>
                          </a:solidFill>
                          <a:latin typeface="Arial Black" pitchFamily="34" charset="0"/>
                          <a:ea typeface="Times New Roman"/>
                          <a:cs typeface="Times New Roman"/>
                        </a:rPr>
                        <a:t>с</a:t>
                      </a: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2800" b="1" dirty="0">
                          <a:solidFill>
                            <a:srgbClr val="000000"/>
                          </a:solidFill>
                          <a:latin typeface="Arial Black" pitchFamily="34" charset="0"/>
                          <a:ea typeface="Times New Roman"/>
                          <a:cs typeface="Times New Roman"/>
                        </a:rPr>
                        <a:t>т</a:t>
                      </a: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ru-RU" sz="28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ru-RU" sz="28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ru-RU" sz="28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ru-RU" sz="28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ru-RU" sz="28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ru-RU" sz="28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ru-RU" sz="28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ru-RU" sz="28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ru-RU" sz="28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ru-RU" sz="28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ru-RU" sz="28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ru-RU" sz="28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ru-RU" sz="28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ru-RU" sz="28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ru-RU" sz="28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ru-RU" sz="28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ru-RU" sz="28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ru-RU" sz="28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7" name="Таблица 6"/>
          <p:cNvGraphicFramePr>
            <a:graphicFrameLocks noGrp="1"/>
          </p:cNvGraphicFramePr>
          <p:nvPr/>
        </p:nvGraphicFramePr>
        <p:xfrm>
          <a:off x="226953" y="4999059"/>
          <a:ext cx="8617068" cy="1136349"/>
        </p:xfrm>
        <a:graphic>
          <a:graphicData uri="http://schemas.openxmlformats.org/drawingml/2006/table">
            <a:tbl>
              <a:tblPr/>
              <a:tblGrid>
                <a:gridCol w="35865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94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865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5943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5865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5943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5865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5943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58651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59438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358651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359438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358651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359438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358651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359438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358651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  <a:gridCol w="359438">
                  <a:extLst>
                    <a:ext uri="{9D8B030D-6E8A-4147-A177-3AD203B41FA5}">
                      <a16:colId xmlns:a16="http://schemas.microsoft.com/office/drawing/2014/main" val="20017"/>
                    </a:ext>
                  </a:extLst>
                </a:gridCol>
                <a:gridCol w="358651">
                  <a:extLst>
                    <a:ext uri="{9D8B030D-6E8A-4147-A177-3AD203B41FA5}">
                      <a16:colId xmlns:a16="http://schemas.microsoft.com/office/drawing/2014/main" val="20018"/>
                    </a:ext>
                  </a:extLst>
                </a:gridCol>
                <a:gridCol w="359438">
                  <a:extLst>
                    <a:ext uri="{9D8B030D-6E8A-4147-A177-3AD203B41FA5}">
                      <a16:colId xmlns:a16="http://schemas.microsoft.com/office/drawing/2014/main" val="20019"/>
                    </a:ext>
                  </a:extLst>
                </a:gridCol>
                <a:gridCol w="358651">
                  <a:extLst>
                    <a:ext uri="{9D8B030D-6E8A-4147-A177-3AD203B41FA5}">
                      <a16:colId xmlns:a16="http://schemas.microsoft.com/office/drawing/2014/main" val="20020"/>
                    </a:ext>
                  </a:extLst>
                </a:gridCol>
                <a:gridCol w="359438">
                  <a:extLst>
                    <a:ext uri="{9D8B030D-6E8A-4147-A177-3AD203B41FA5}">
                      <a16:colId xmlns:a16="http://schemas.microsoft.com/office/drawing/2014/main" val="20021"/>
                    </a:ext>
                  </a:extLst>
                </a:gridCol>
                <a:gridCol w="358651">
                  <a:extLst>
                    <a:ext uri="{9D8B030D-6E8A-4147-A177-3AD203B41FA5}">
                      <a16:colId xmlns:a16="http://schemas.microsoft.com/office/drawing/2014/main" val="20022"/>
                    </a:ext>
                  </a:extLst>
                </a:gridCol>
                <a:gridCol w="359438">
                  <a:extLst>
                    <a:ext uri="{9D8B030D-6E8A-4147-A177-3AD203B41FA5}">
                      <a16:colId xmlns:a16="http://schemas.microsoft.com/office/drawing/2014/main" val="20023"/>
                    </a:ext>
                  </a:extLst>
                </a:gridCol>
              </a:tblGrid>
              <a:tr h="620721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2800" b="1" dirty="0" err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п</a:t>
                      </a:r>
                      <a:endParaRPr lang="ru-RU" sz="28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2800" b="1" dirty="0" err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р</a:t>
                      </a:r>
                      <a:endParaRPr lang="ru-RU" sz="28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28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и</a:t>
                      </a: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28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м</a:t>
                      </a: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28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е</a:t>
                      </a: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2800" b="1" dirty="0" err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р</a:t>
                      </a:r>
                      <a:endParaRPr lang="ru-RU" sz="28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ru-RU" sz="28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28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т</a:t>
                      </a: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28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е</a:t>
                      </a: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28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к</a:t>
                      </a: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28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с</a:t>
                      </a: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28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т</a:t>
                      </a: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28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а</a:t>
                      </a: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ru-RU" sz="28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2800" b="1" dirty="0" err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д</a:t>
                      </a:r>
                      <a:endParaRPr lang="ru-RU" sz="28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28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л</a:t>
                      </a: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28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я</a:t>
                      </a: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ru-RU" sz="28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2800" b="1" dirty="0" err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п</a:t>
                      </a:r>
                      <a:endParaRPr lang="ru-RU" sz="28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28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о</a:t>
                      </a: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28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и</a:t>
                      </a: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28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с</a:t>
                      </a: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28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к</a:t>
                      </a: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28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а</a:t>
                      </a: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5628">
                <a:tc>
                  <a:txBody>
                    <a:bodyPr/>
                    <a:lstStyle/>
                    <a:p>
                      <a:endParaRPr lang="ru-RU"/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2800" b="1" dirty="0">
                          <a:solidFill>
                            <a:srgbClr val="000000"/>
                          </a:solidFill>
                          <a:latin typeface="Arial Black" pitchFamily="34" charset="0"/>
                        </a:rPr>
                        <a:t>т</a:t>
                      </a: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2800" b="1" dirty="0">
                          <a:solidFill>
                            <a:srgbClr val="000000"/>
                          </a:solidFill>
                          <a:latin typeface="Arial Black" pitchFamily="34" charset="0"/>
                          <a:ea typeface="Times New Roman"/>
                          <a:cs typeface="Times New Roman"/>
                        </a:rPr>
                        <a:t>е</a:t>
                      </a: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2800" b="1" dirty="0">
                          <a:solidFill>
                            <a:srgbClr val="000000"/>
                          </a:solidFill>
                          <a:latin typeface="Arial Black" pitchFamily="34" charset="0"/>
                          <a:ea typeface="Times New Roman"/>
                          <a:cs typeface="Times New Roman"/>
                        </a:rPr>
                        <a:t>к</a:t>
                      </a: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2800" b="1" dirty="0">
                          <a:solidFill>
                            <a:srgbClr val="000000"/>
                          </a:solidFill>
                          <a:latin typeface="Arial Black" pitchFamily="34" charset="0"/>
                          <a:ea typeface="Times New Roman"/>
                          <a:cs typeface="Times New Roman"/>
                        </a:rPr>
                        <a:t>с</a:t>
                      </a: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2800" b="1" dirty="0">
                          <a:solidFill>
                            <a:srgbClr val="000000"/>
                          </a:solidFill>
                          <a:latin typeface="Arial Black" pitchFamily="34" charset="0"/>
                          <a:ea typeface="Times New Roman"/>
                          <a:cs typeface="Times New Roman"/>
                        </a:rPr>
                        <a:t>т</a:t>
                      </a: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ru-RU" sz="28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ru-RU" sz="28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ru-RU" sz="28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ru-RU" sz="28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ru-RU" sz="28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ru-RU" sz="28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ru-RU" sz="28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ru-RU" sz="28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ru-RU" sz="28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ru-RU" sz="28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ru-RU" sz="28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ru-RU" sz="28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ru-RU" sz="28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ru-RU" sz="28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ru-RU" sz="28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ru-RU" sz="28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ru-RU" sz="28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846004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/>
          <p:cNvSpPr>
            <a:spLocks noGrp="1"/>
          </p:cNvSpPr>
          <p:nvPr>
            <p:ph type="title"/>
          </p:nvPr>
        </p:nvSpPr>
        <p:spPr>
          <a:xfrm>
            <a:off x="409518" y="252369"/>
            <a:ext cx="8229600" cy="930246"/>
          </a:xfrm>
        </p:spPr>
        <p:txBody>
          <a:bodyPr/>
          <a:lstStyle/>
          <a:p>
            <a:r>
              <a:rPr lang="ru-RU" dirty="0">
                <a:solidFill>
                  <a:schemeClr val="bg2"/>
                </a:solidFill>
              </a:rPr>
              <a:t>ПРЯМОЙ ПОИСК</a:t>
            </a:r>
          </a:p>
        </p:txBody>
      </p:sp>
      <p:graphicFrame>
        <p:nvGraphicFramePr>
          <p:cNvPr id="5" name="Таблица 4"/>
          <p:cNvGraphicFramePr>
            <a:graphicFrameLocks noGrp="1"/>
          </p:cNvGraphicFramePr>
          <p:nvPr/>
        </p:nvGraphicFramePr>
        <p:xfrm>
          <a:off x="263466" y="1274733"/>
          <a:ext cx="8617068" cy="1136349"/>
        </p:xfrm>
        <a:graphic>
          <a:graphicData uri="http://schemas.openxmlformats.org/drawingml/2006/table">
            <a:tbl>
              <a:tblPr/>
              <a:tblGrid>
                <a:gridCol w="35865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94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865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5943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5865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5943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5865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5943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58651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59438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358651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359438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358651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359438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358651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359438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358651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  <a:gridCol w="359438">
                  <a:extLst>
                    <a:ext uri="{9D8B030D-6E8A-4147-A177-3AD203B41FA5}">
                      <a16:colId xmlns:a16="http://schemas.microsoft.com/office/drawing/2014/main" val="20017"/>
                    </a:ext>
                  </a:extLst>
                </a:gridCol>
                <a:gridCol w="358651">
                  <a:extLst>
                    <a:ext uri="{9D8B030D-6E8A-4147-A177-3AD203B41FA5}">
                      <a16:colId xmlns:a16="http://schemas.microsoft.com/office/drawing/2014/main" val="20018"/>
                    </a:ext>
                  </a:extLst>
                </a:gridCol>
                <a:gridCol w="359438">
                  <a:extLst>
                    <a:ext uri="{9D8B030D-6E8A-4147-A177-3AD203B41FA5}">
                      <a16:colId xmlns:a16="http://schemas.microsoft.com/office/drawing/2014/main" val="20019"/>
                    </a:ext>
                  </a:extLst>
                </a:gridCol>
                <a:gridCol w="358651">
                  <a:extLst>
                    <a:ext uri="{9D8B030D-6E8A-4147-A177-3AD203B41FA5}">
                      <a16:colId xmlns:a16="http://schemas.microsoft.com/office/drawing/2014/main" val="20020"/>
                    </a:ext>
                  </a:extLst>
                </a:gridCol>
                <a:gridCol w="359438">
                  <a:extLst>
                    <a:ext uri="{9D8B030D-6E8A-4147-A177-3AD203B41FA5}">
                      <a16:colId xmlns:a16="http://schemas.microsoft.com/office/drawing/2014/main" val="20021"/>
                    </a:ext>
                  </a:extLst>
                </a:gridCol>
                <a:gridCol w="358651">
                  <a:extLst>
                    <a:ext uri="{9D8B030D-6E8A-4147-A177-3AD203B41FA5}">
                      <a16:colId xmlns:a16="http://schemas.microsoft.com/office/drawing/2014/main" val="20022"/>
                    </a:ext>
                  </a:extLst>
                </a:gridCol>
                <a:gridCol w="359438">
                  <a:extLst>
                    <a:ext uri="{9D8B030D-6E8A-4147-A177-3AD203B41FA5}">
                      <a16:colId xmlns:a16="http://schemas.microsoft.com/office/drawing/2014/main" val="20023"/>
                    </a:ext>
                  </a:extLst>
                </a:gridCol>
              </a:tblGrid>
              <a:tr h="620721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2800" b="1" dirty="0" err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п</a:t>
                      </a:r>
                      <a:endParaRPr lang="ru-RU" sz="28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2800" b="1" dirty="0" err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р</a:t>
                      </a:r>
                      <a:endParaRPr lang="ru-RU" sz="28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28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и</a:t>
                      </a: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28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м</a:t>
                      </a: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28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е</a:t>
                      </a: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2800" b="1" dirty="0" err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р</a:t>
                      </a:r>
                      <a:endParaRPr lang="ru-RU" sz="28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ru-RU" sz="28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28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т</a:t>
                      </a: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28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е</a:t>
                      </a: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28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к</a:t>
                      </a: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28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с</a:t>
                      </a: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28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т</a:t>
                      </a: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28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а</a:t>
                      </a: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ru-RU" sz="28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2800" b="1" dirty="0" err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д</a:t>
                      </a:r>
                      <a:endParaRPr lang="ru-RU" sz="28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28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л</a:t>
                      </a: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28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я</a:t>
                      </a: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ru-RU" sz="28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2800" b="1" dirty="0" err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п</a:t>
                      </a:r>
                      <a:endParaRPr lang="ru-RU" sz="28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28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о</a:t>
                      </a: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28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и</a:t>
                      </a: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28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с</a:t>
                      </a: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28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к</a:t>
                      </a: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28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а</a:t>
                      </a: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5628">
                <a:tc>
                  <a:txBody>
                    <a:bodyPr/>
                    <a:lstStyle/>
                    <a:p>
                      <a:endParaRPr lang="ru-RU"/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2800" b="1" dirty="0">
                          <a:solidFill>
                            <a:srgbClr val="000000"/>
                          </a:solidFill>
                          <a:latin typeface="Arial Black" pitchFamily="34" charset="0"/>
                        </a:rPr>
                        <a:t>т</a:t>
                      </a: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2800" b="1" dirty="0">
                          <a:solidFill>
                            <a:srgbClr val="000000"/>
                          </a:solidFill>
                          <a:latin typeface="Arial Black" pitchFamily="34" charset="0"/>
                          <a:ea typeface="Times New Roman"/>
                          <a:cs typeface="Times New Roman"/>
                        </a:rPr>
                        <a:t>е</a:t>
                      </a: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2800" b="1" dirty="0">
                          <a:solidFill>
                            <a:srgbClr val="000000"/>
                          </a:solidFill>
                          <a:latin typeface="Arial Black" pitchFamily="34" charset="0"/>
                          <a:ea typeface="Times New Roman"/>
                          <a:cs typeface="Times New Roman"/>
                        </a:rPr>
                        <a:t>к</a:t>
                      </a: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2800" b="1" dirty="0">
                          <a:solidFill>
                            <a:srgbClr val="000000"/>
                          </a:solidFill>
                          <a:latin typeface="Arial Black" pitchFamily="34" charset="0"/>
                          <a:ea typeface="Times New Roman"/>
                          <a:cs typeface="Times New Roman"/>
                        </a:rPr>
                        <a:t>с</a:t>
                      </a: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2800" b="1" dirty="0">
                          <a:solidFill>
                            <a:srgbClr val="000000"/>
                          </a:solidFill>
                          <a:latin typeface="Arial Black" pitchFamily="34" charset="0"/>
                          <a:ea typeface="Times New Roman"/>
                          <a:cs typeface="Times New Roman"/>
                        </a:rPr>
                        <a:t>т</a:t>
                      </a: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ru-RU" sz="28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ru-RU" sz="28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ru-RU" sz="28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ru-RU" sz="28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ru-RU" sz="28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ru-RU" sz="28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ru-RU" sz="28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ru-RU" sz="28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ru-RU" sz="28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ru-RU" sz="28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ru-RU" sz="28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ru-RU" sz="28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ru-RU" sz="28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ru-RU" sz="28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ru-RU" sz="28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ru-RU" sz="28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6" name="Таблица 5"/>
          <p:cNvGraphicFramePr>
            <a:graphicFrameLocks noGrp="1"/>
          </p:cNvGraphicFramePr>
          <p:nvPr/>
        </p:nvGraphicFramePr>
        <p:xfrm>
          <a:off x="263466" y="2406636"/>
          <a:ext cx="8617068" cy="515628"/>
        </p:xfrm>
        <a:graphic>
          <a:graphicData uri="http://schemas.openxmlformats.org/drawingml/2006/table">
            <a:tbl>
              <a:tblPr/>
              <a:tblGrid>
                <a:gridCol w="35865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94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865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5943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5865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5943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5865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5943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58651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59438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358651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359438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358651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359438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358651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359438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358651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  <a:gridCol w="359438">
                  <a:extLst>
                    <a:ext uri="{9D8B030D-6E8A-4147-A177-3AD203B41FA5}">
                      <a16:colId xmlns:a16="http://schemas.microsoft.com/office/drawing/2014/main" val="20017"/>
                    </a:ext>
                  </a:extLst>
                </a:gridCol>
                <a:gridCol w="358651">
                  <a:extLst>
                    <a:ext uri="{9D8B030D-6E8A-4147-A177-3AD203B41FA5}">
                      <a16:colId xmlns:a16="http://schemas.microsoft.com/office/drawing/2014/main" val="20018"/>
                    </a:ext>
                  </a:extLst>
                </a:gridCol>
                <a:gridCol w="359438">
                  <a:extLst>
                    <a:ext uri="{9D8B030D-6E8A-4147-A177-3AD203B41FA5}">
                      <a16:colId xmlns:a16="http://schemas.microsoft.com/office/drawing/2014/main" val="20019"/>
                    </a:ext>
                  </a:extLst>
                </a:gridCol>
                <a:gridCol w="358651">
                  <a:extLst>
                    <a:ext uri="{9D8B030D-6E8A-4147-A177-3AD203B41FA5}">
                      <a16:colId xmlns:a16="http://schemas.microsoft.com/office/drawing/2014/main" val="20020"/>
                    </a:ext>
                  </a:extLst>
                </a:gridCol>
                <a:gridCol w="359438">
                  <a:extLst>
                    <a:ext uri="{9D8B030D-6E8A-4147-A177-3AD203B41FA5}">
                      <a16:colId xmlns:a16="http://schemas.microsoft.com/office/drawing/2014/main" val="20021"/>
                    </a:ext>
                  </a:extLst>
                </a:gridCol>
                <a:gridCol w="358651">
                  <a:extLst>
                    <a:ext uri="{9D8B030D-6E8A-4147-A177-3AD203B41FA5}">
                      <a16:colId xmlns:a16="http://schemas.microsoft.com/office/drawing/2014/main" val="20022"/>
                    </a:ext>
                  </a:extLst>
                </a:gridCol>
                <a:gridCol w="359438">
                  <a:extLst>
                    <a:ext uri="{9D8B030D-6E8A-4147-A177-3AD203B41FA5}">
                      <a16:colId xmlns:a16="http://schemas.microsoft.com/office/drawing/2014/main" val="20023"/>
                    </a:ext>
                  </a:extLst>
                </a:gridCol>
              </a:tblGrid>
              <a:tr h="515628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2800" b="1" dirty="0">
                          <a:solidFill>
                            <a:srgbClr val="000000"/>
                          </a:solidFill>
                          <a:latin typeface="Arial Black" pitchFamily="34" charset="0"/>
                        </a:rPr>
                        <a:t>т</a:t>
                      </a: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2800" b="1" dirty="0">
                          <a:solidFill>
                            <a:srgbClr val="000000"/>
                          </a:solidFill>
                          <a:latin typeface="Arial Black" pitchFamily="34" charset="0"/>
                          <a:ea typeface="Times New Roman"/>
                          <a:cs typeface="Times New Roman"/>
                        </a:rPr>
                        <a:t>е</a:t>
                      </a: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2800" b="1" dirty="0">
                          <a:solidFill>
                            <a:srgbClr val="000000"/>
                          </a:solidFill>
                          <a:latin typeface="Arial Black" pitchFamily="34" charset="0"/>
                          <a:ea typeface="Times New Roman"/>
                          <a:cs typeface="Times New Roman"/>
                        </a:rPr>
                        <a:t>к</a:t>
                      </a: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2800" b="1" dirty="0">
                          <a:solidFill>
                            <a:srgbClr val="000000"/>
                          </a:solidFill>
                          <a:latin typeface="Arial Black" pitchFamily="34" charset="0"/>
                          <a:ea typeface="Times New Roman"/>
                          <a:cs typeface="Times New Roman"/>
                        </a:rPr>
                        <a:t>с</a:t>
                      </a: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2800" b="1" dirty="0">
                          <a:solidFill>
                            <a:srgbClr val="000000"/>
                          </a:solidFill>
                          <a:latin typeface="Arial Black" pitchFamily="34" charset="0"/>
                          <a:ea typeface="Times New Roman"/>
                          <a:cs typeface="Times New Roman"/>
                        </a:rPr>
                        <a:t>т</a:t>
                      </a: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ru-RU" sz="28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ru-RU" sz="28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ru-RU" sz="28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ru-RU" sz="28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ru-RU" sz="28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ru-RU" sz="28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ru-RU" sz="28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ru-RU" sz="28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ru-RU" sz="28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ru-RU" sz="28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ru-RU" sz="28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ru-RU" sz="28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ru-RU" sz="28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ru-RU" sz="28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ru-RU" sz="28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" name="Таблица 6"/>
          <p:cNvGraphicFramePr>
            <a:graphicFrameLocks noGrp="1"/>
          </p:cNvGraphicFramePr>
          <p:nvPr/>
        </p:nvGraphicFramePr>
        <p:xfrm>
          <a:off x="263466" y="2917818"/>
          <a:ext cx="8617068" cy="515628"/>
        </p:xfrm>
        <a:graphic>
          <a:graphicData uri="http://schemas.openxmlformats.org/drawingml/2006/table">
            <a:tbl>
              <a:tblPr/>
              <a:tblGrid>
                <a:gridCol w="35865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94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865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5943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5865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5943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5865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5943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58651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59438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358651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359438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358651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359438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358651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359438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358651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  <a:gridCol w="359438">
                  <a:extLst>
                    <a:ext uri="{9D8B030D-6E8A-4147-A177-3AD203B41FA5}">
                      <a16:colId xmlns:a16="http://schemas.microsoft.com/office/drawing/2014/main" val="20017"/>
                    </a:ext>
                  </a:extLst>
                </a:gridCol>
                <a:gridCol w="358651">
                  <a:extLst>
                    <a:ext uri="{9D8B030D-6E8A-4147-A177-3AD203B41FA5}">
                      <a16:colId xmlns:a16="http://schemas.microsoft.com/office/drawing/2014/main" val="20018"/>
                    </a:ext>
                  </a:extLst>
                </a:gridCol>
                <a:gridCol w="359438">
                  <a:extLst>
                    <a:ext uri="{9D8B030D-6E8A-4147-A177-3AD203B41FA5}">
                      <a16:colId xmlns:a16="http://schemas.microsoft.com/office/drawing/2014/main" val="20019"/>
                    </a:ext>
                  </a:extLst>
                </a:gridCol>
                <a:gridCol w="358651">
                  <a:extLst>
                    <a:ext uri="{9D8B030D-6E8A-4147-A177-3AD203B41FA5}">
                      <a16:colId xmlns:a16="http://schemas.microsoft.com/office/drawing/2014/main" val="20020"/>
                    </a:ext>
                  </a:extLst>
                </a:gridCol>
                <a:gridCol w="359438">
                  <a:extLst>
                    <a:ext uri="{9D8B030D-6E8A-4147-A177-3AD203B41FA5}">
                      <a16:colId xmlns:a16="http://schemas.microsoft.com/office/drawing/2014/main" val="20021"/>
                    </a:ext>
                  </a:extLst>
                </a:gridCol>
                <a:gridCol w="358651">
                  <a:extLst>
                    <a:ext uri="{9D8B030D-6E8A-4147-A177-3AD203B41FA5}">
                      <a16:colId xmlns:a16="http://schemas.microsoft.com/office/drawing/2014/main" val="20022"/>
                    </a:ext>
                  </a:extLst>
                </a:gridCol>
                <a:gridCol w="359438">
                  <a:extLst>
                    <a:ext uri="{9D8B030D-6E8A-4147-A177-3AD203B41FA5}">
                      <a16:colId xmlns:a16="http://schemas.microsoft.com/office/drawing/2014/main" val="20023"/>
                    </a:ext>
                  </a:extLst>
                </a:gridCol>
              </a:tblGrid>
              <a:tr h="515628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2800" b="1" dirty="0">
                          <a:solidFill>
                            <a:srgbClr val="000000"/>
                          </a:solidFill>
                          <a:latin typeface="Arial Black" pitchFamily="34" charset="0"/>
                        </a:rPr>
                        <a:t>т</a:t>
                      </a: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2800" b="1" dirty="0">
                          <a:solidFill>
                            <a:srgbClr val="000000"/>
                          </a:solidFill>
                          <a:latin typeface="Arial Black" pitchFamily="34" charset="0"/>
                          <a:ea typeface="Times New Roman"/>
                          <a:cs typeface="Times New Roman"/>
                        </a:rPr>
                        <a:t>е</a:t>
                      </a: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2800" b="1" dirty="0">
                          <a:solidFill>
                            <a:srgbClr val="000000"/>
                          </a:solidFill>
                          <a:latin typeface="Arial Black" pitchFamily="34" charset="0"/>
                          <a:ea typeface="Times New Roman"/>
                          <a:cs typeface="Times New Roman"/>
                        </a:rPr>
                        <a:t>к</a:t>
                      </a: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2800" b="1" dirty="0">
                          <a:solidFill>
                            <a:srgbClr val="000000"/>
                          </a:solidFill>
                          <a:latin typeface="Arial Black" pitchFamily="34" charset="0"/>
                          <a:ea typeface="Times New Roman"/>
                          <a:cs typeface="Times New Roman"/>
                        </a:rPr>
                        <a:t>с</a:t>
                      </a: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2800" b="1" dirty="0">
                          <a:solidFill>
                            <a:srgbClr val="000000"/>
                          </a:solidFill>
                          <a:latin typeface="Arial Black" pitchFamily="34" charset="0"/>
                          <a:ea typeface="Times New Roman"/>
                          <a:cs typeface="Times New Roman"/>
                        </a:rPr>
                        <a:t>т</a:t>
                      </a: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ru-RU" sz="28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ru-RU" sz="28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ru-RU" sz="28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ru-RU" sz="28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ru-RU" sz="28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ru-RU" sz="28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ru-RU" sz="28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ru-RU" sz="28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ru-RU" sz="28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ru-RU" sz="28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ru-RU" sz="28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ru-RU" sz="28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ru-RU" sz="28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ru-RU" sz="28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8" name="Таблица 7"/>
          <p:cNvGraphicFramePr>
            <a:graphicFrameLocks noGrp="1"/>
          </p:cNvGraphicFramePr>
          <p:nvPr/>
        </p:nvGraphicFramePr>
        <p:xfrm>
          <a:off x="263466" y="3429000"/>
          <a:ext cx="8617068" cy="511182"/>
        </p:xfrm>
        <a:graphic>
          <a:graphicData uri="http://schemas.openxmlformats.org/drawingml/2006/table">
            <a:tbl>
              <a:tblPr/>
              <a:tblGrid>
                <a:gridCol w="35865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94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865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5943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5865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5943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6513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5295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58651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59438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358651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359438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358651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359438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358651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359438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358651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  <a:gridCol w="359438">
                  <a:extLst>
                    <a:ext uri="{9D8B030D-6E8A-4147-A177-3AD203B41FA5}">
                      <a16:colId xmlns:a16="http://schemas.microsoft.com/office/drawing/2014/main" val="20017"/>
                    </a:ext>
                  </a:extLst>
                </a:gridCol>
                <a:gridCol w="358651">
                  <a:extLst>
                    <a:ext uri="{9D8B030D-6E8A-4147-A177-3AD203B41FA5}">
                      <a16:colId xmlns:a16="http://schemas.microsoft.com/office/drawing/2014/main" val="20018"/>
                    </a:ext>
                  </a:extLst>
                </a:gridCol>
                <a:gridCol w="359438">
                  <a:extLst>
                    <a:ext uri="{9D8B030D-6E8A-4147-A177-3AD203B41FA5}">
                      <a16:colId xmlns:a16="http://schemas.microsoft.com/office/drawing/2014/main" val="20019"/>
                    </a:ext>
                  </a:extLst>
                </a:gridCol>
                <a:gridCol w="358651">
                  <a:extLst>
                    <a:ext uri="{9D8B030D-6E8A-4147-A177-3AD203B41FA5}">
                      <a16:colId xmlns:a16="http://schemas.microsoft.com/office/drawing/2014/main" val="20020"/>
                    </a:ext>
                  </a:extLst>
                </a:gridCol>
                <a:gridCol w="359438">
                  <a:extLst>
                    <a:ext uri="{9D8B030D-6E8A-4147-A177-3AD203B41FA5}">
                      <a16:colId xmlns:a16="http://schemas.microsoft.com/office/drawing/2014/main" val="20021"/>
                    </a:ext>
                  </a:extLst>
                </a:gridCol>
                <a:gridCol w="358651">
                  <a:extLst>
                    <a:ext uri="{9D8B030D-6E8A-4147-A177-3AD203B41FA5}">
                      <a16:colId xmlns:a16="http://schemas.microsoft.com/office/drawing/2014/main" val="20022"/>
                    </a:ext>
                  </a:extLst>
                </a:gridCol>
                <a:gridCol w="359438">
                  <a:extLst>
                    <a:ext uri="{9D8B030D-6E8A-4147-A177-3AD203B41FA5}">
                      <a16:colId xmlns:a16="http://schemas.microsoft.com/office/drawing/2014/main" val="20023"/>
                    </a:ext>
                  </a:extLst>
                </a:gridCol>
              </a:tblGrid>
              <a:tr h="511182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ru-RU" sz="2800" b="1" dirty="0">
                        <a:solidFill>
                          <a:srgbClr val="000000"/>
                        </a:solidFill>
                        <a:latin typeface="Arial Black" pitchFamily="34" charset="0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2800" b="1" dirty="0">
                          <a:solidFill>
                            <a:srgbClr val="000000"/>
                          </a:solidFill>
                          <a:latin typeface="Arial Black" pitchFamily="34" charset="0"/>
                          <a:ea typeface="Times New Roman"/>
                          <a:cs typeface="Times New Roman"/>
                        </a:rPr>
                        <a:t>т</a:t>
                      </a: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2800" b="1" dirty="0">
                          <a:solidFill>
                            <a:srgbClr val="000000"/>
                          </a:solidFill>
                          <a:latin typeface="Arial Black" pitchFamily="34" charset="0"/>
                          <a:ea typeface="Times New Roman"/>
                          <a:cs typeface="Times New Roman"/>
                        </a:rPr>
                        <a:t>е</a:t>
                      </a: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2800" b="1" dirty="0">
                          <a:solidFill>
                            <a:srgbClr val="000000"/>
                          </a:solidFill>
                          <a:latin typeface="Arial Black" pitchFamily="34" charset="0"/>
                          <a:ea typeface="Times New Roman"/>
                          <a:cs typeface="Times New Roman"/>
                        </a:rPr>
                        <a:t>к</a:t>
                      </a: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2800" b="1" dirty="0">
                          <a:solidFill>
                            <a:srgbClr val="000000"/>
                          </a:solidFill>
                          <a:latin typeface="Arial Black" pitchFamily="34" charset="0"/>
                          <a:ea typeface="Times New Roman"/>
                          <a:cs typeface="Times New Roman"/>
                        </a:rPr>
                        <a:t>с</a:t>
                      </a: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800" b="1" dirty="0">
                          <a:solidFill>
                            <a:srgbClr val="000000"/>
                          </a:solidFill>
                          <a:latin typeface="Arial Black" pitchFamily="34" charset="0"/>
                          <a:ea typeface="Times New Roman"/>
                          <a:cs typeface="Times New Roman"/>
                        </a:rPr>
                        <a:t>т</a:t>
                      </a: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ru-RU" sz="28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ru-RU" sz="28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ru-RU" sz="28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ru-RU" sz="28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ru-RU" sz="28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ru-RU" sz="28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ru-RU" sz="28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ru-RU" sz="28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ru-RU" sz="28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ru-RU" sz="28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ru-RU" sz="28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ru-RU" sz="28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ru-RU" sz="28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9" name="Таблица 8"/>
          <p:cNvGraphicFramePr>
            <a:graphicFrameLocks noGrp="1"/>
          </p:cNvGraphicFramePr>
          <p:nvPr/>
        </p:nvGraphicFramePr>
        <p:xfrm>
          <a:off x="263466" y="3940182"/>
          <a:ext cx="8617078" cy="511182"/>
        </p:xfrm>
        <a:graphic>
          <a:graphicData uri="http://schemas.openxmlformats.org/drawingml/2006/table">
            <a:tbl>
              <a:tblPr/>
              <a:tblGrid>
                <a:gridCol w="35871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95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871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5950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5871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5950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5950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5871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59504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58717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359504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358717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359504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358717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359504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358717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358717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  <a:gridCol w="359504">
                  <a:extLst>
                    <a:ext uri="{9D8B030D-6E8A-4147-A177-3AD203B41FA5}">
                      <a16:colId xmlns:a16="http://schemas.microsoft.com/office/drawing/2014/main" val="20017"/>
                    </a:ext>
                  </a:extLst>
                </a:gridCol>
                <a:gridCol w="358717">
                  <a:extLst>
                    <a:ext uri="{9D8B030D-6E8A-4147-A177-3AD203B41FA5}">
                      <a16:colId xmlns:a16="http://schemas.microsoft.com/office/drawing/2014/main" val="20018"/>
                    </a:ext>
                  </a:extLst>
                </a:gridCol>
                <a:gridCol w="358717">
                  <a:extLst>
                    <a:ext uri="{9D8B030D-6E8A-4147-A177-3AD203B41FA5}">
                      <a16:colId xmlns:a16="http://schemas.microsoft.com/office/drawing/2014/main" val="20019"/>
                    </a:ext>
                  </a:extLst>
                </a:gridCol>
                <a:gridCol w="358717">
                  <a:extLst>
                    <a:ext uri="{9D8B030D-6E8A-4147-A177-3AD203B41FA5}">
                      <a16:colId xmlns:a16="http://schemas.microsoft.com/office/drawing/2014/main" val="20020"/>
                    </a:ext>
                  </a:extLst>
                </a:gridCol>
                <a:gridCol w="358717">
                  <a:extLst>
                    <a:ext uri="{9D8B030D-6E8A-4147-A177-3AD203B41FA5}">
                      <a16:colId xmlns:a16="http://schemas.microsoft.com/office/drawing/2014/main" val="20021"/>
                    </a:ext>
                  </a:extLst>
                </a:gridCol>
                <a:gridCol w="358717">
                  <a:extLst>
                    <a:ext uri="{9D8B030D-6E8A-4147-A177-3AD203B41FA5}">
                      <a16:colId xmlns:a16="http://schemas.microsoft.com/office/drawing/2014/main" val="20022"/>
                    </a:ext>
                  </a:extLst>
                </a:gridCol>
                <a:gridCol w="359504">
                  <a:extLst>
                    <a:ext uri="{9D8B030D-6E8A-4147-A177-3AD203B41FA5}">
                      <a16:colId xmlns:a16="http://schemas.microsoft.com/office/drawing/2014/main" val="20023"/>
                    </a:ext>
                  </a:extLst>
                </a:gridCol>
              </a:tblGrid>
              <a:tr h="511182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ru-RU" sz="2800" b="1" dirty="0">
                        <a:solidFill>
                          <a:srgbClr val="000000"/>
                        </a:solidFill>
                        <a:latin typeface="Arial Black" pitchFamily="34" charset="0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ru-RU" sz="28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2800" b="1" dirty="0">
                          <a:solidFill>
                            <a:srgbClr val="FF0000"/>
                          </a:solidFill>
                          <a:latin typeface="Arial Black" pitchFamily="34" charset="0"/>
                          <a:ea typeface="Times New Roman"/>
                          <a:cs typeface="Times New Roman"/>
                        </a:rPr>
                        <a:t>т</a:t>
                      </a: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2800" b="1" dirty="0">
                          <a:solidFill>
                            <a:srgbClr val="FF0000"/>
                          </a:solidFill>
                          <a:latin typeface="Arial Black" pitchFamily="34" charset="0"/>
                          <a:ea typeface="Times New Roman"/>
                          <a:cs typeface="Times New Roman"/>
                        </a:rPr>
                        <a:t>е</a:t>
                      </a: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2800" b="1" dirty="0">
                          <a:solidFill>
                            <a:srgbClr val="FF0000"/>
                          </a:solidFill>
                          <a:latin typeface="Arial Black" pitchFamily="34" charset="0"/>
                          <a:ea typeface="Times New Roman"/>
                          <a:cs typeface="Times New Roman"/>
                        </a:rPr>
                        <a:t>к</a:t>
                      </a: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2800" b="1" dirty="0">
                          <a:solidFill>
                            <a:srgbClr val="FF0000"/>
                          </a:solidFill>
                          <a:latin typeface="Arial Black" pitchFamily="34" charset="0"/>
                          <a:ea typeface="Times New Roman"/>
                          <a:cs typeface="Times New Roman"/>
                        </a:rPr>
                        <a:t>с</a:t>
                      </a: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800" b="1" dirty="0">
                          <a:solidFill>
                            <a:srgbClr val="FF0000"/>
                          </a:solidFill>
                          <a:latin typeface="Arial Black" pitchFamily="34" charset="0"/>
                          <a:ea typeface="Times New Roman"/>
                          <a:cs typeface="Times New Roman"/>
                        </a:rPr>
                        <a:t>т</a:t>
                      </a: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ru-RU" sz="28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ru-RU" sz="28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ru-RU" sz="28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ru-RU" sz="28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ru-RU" sz="28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ru-RU" sz="28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ru-RU" sz="28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ru-RU" sz="28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ru-RU" sz="28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ru-RU" sz="28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ru-RU" sz="28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ru-RU" sz="28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5133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1201707"/>
            <a:ext cx="8229600" cy="5148333"/>
          </a:xfrm>
          <a:solidFill>
            <a:schemeClr val="tx1"/>
          </a:solidFill>
          <a:ln>
            <a:solidFill>
              <a:srgbClr val="000000"/>
            </a:solidFill>
          </a:ln>
        </p:spPr>
        <p:txBody>
          <a:bodyPr/>
          <a:lstStyle/>
          <a:p>
            <a:pPr>
              <a:buNone/>
            </a:pPr>
            <a:r>
              <a:rPr lang="en-US" dirty="0">
                <a:solidFill>
                  <a:srgbClr val="000000"/>
                </a:solidFill>
                <a:effectLst/>
              </a:rPr>
              <a:t>S – </a:t>
            </a:r>
            <a:r>
              <a:rPr lang="ru-RU" dirty="0">
                <a:solidFill>
                  <a:srgbClr val="000000"/>
                </a:solidFill>
                <a:effectLst/>
              </a:rPr>
              <a:t>текст, </a:t>
            </a:r>
            <a:r>
              <a:rPr lang="en-US" dirty="0">
                <a:solidFill>
                  <a:srgbClr val="000000"/>
                </a:solidFill>
                <a:effectLst/>
              </a:rPr>
              <a:t>n – </a:t>
            </a:r>
            <a:r>
              <a:rPr lang="ru-RU" dirty="0">
                <a:solidFill>
                  <a:srgbClr val="000000"/>
                </a:solidFill>
                <a:effectLst/>
              </a:rPr>
              <a:t>количество символов текста</a:t>
            </a:r>
          </a:p>
          <a:p>
            <a:pPr marL="714375" indent="-714375">
              <a:buNone/>
            </a:pPr>
            <a:r>
              <a:rPr lang="en-US" dirty="0">
                <a:solidFill>
                  <a:srgbClr val="000000"/>
                </a:solidFill>
                <a:effectLst/>
              </a:rPr>
              <a:t>O – </a:t>
            </a:r>
            <a:r>
              <a:rPr lang="ru-RU" dirty="0">
                <a:solidFill>
                  <a:srgbClr val="000000"/>
                </a:solidFill>
                <a:effectLst/>
              </a:rPr>
              <a:t>образ, </a:t>
            </a:r>
            <a:r>
              <a:rPr lang="en-US" dirty="0">
                <a:solidFill>
                  <a:srgbClr val="000000"/>
                </a:solidFill>
                <a:effectLst/>
              </a:rPr>
              <a:t>m – </a:t>
            </a:r>
            <a:r>
              <a:rPr lang="ru-RU" dirty="0">
                <a:solidFill>
                  <a:srgbClr val="000000"/>
                </a:solidFill>
                <a:effectLst/>
              </a:rPr>
              <a:t>количество символов образа</a:t>
            </a:r>
          </a:p>
          <a:p>
            <a:pPr marL="714375" indent="-714375">
              <a:buNone/>
            </a:pPr>
            <a:r>
              <a:rPr lang="en-US" dirty="0" err="1">
                <a:solidFill>
                  <a:srgbClr val="000000"/>
                </a:solidFill>
                <a:effectLst/>
              </a:rPr>
              <a:t>i</a:t>
            </a:r>
            <a:r>
              <a:rPr lang="en-US" dirty="0">
                <a:solidFill>
                  <a:srgbClr val="000000"/>
                </a:solidFill>
                <a:effectLst/>
              </a:rPr>
              <a:t> =0; j=0;</a:t>
            </a:r>
          </a:p>
          <a:p>
            <a:pPr marL="714375" indent="-714375">
              <a:buNone/>
            </a:pPr>
            <a:r>
              <a:rPr lang="ru-RU" u="sng" dirty="0">
                <a:solidFill>
                  <a:srgbClr val="000000"/>
                </a:solidFill>
                <a:effectLst/>
              </a:rPr>
              <a:t>пока</a:t>
            </a:r>
            <a:r>
              <a:rPr lang="ru-RU" dirty="0">
                <a:solidFill>
                  <a:srgbClr val="000000"/>
                </a:solidFill>
                <a:effectLst/>
              </a:rPr>
              <a:t> (</a:t>
            </a:r>
            <a:r>
              <a:rPr lang="en-US" dirty="0" err="1">
                <a:solidFill>
                  <a:srgbClr val="000000"/>
                </a:solidFill>
                <a:effectLst/>
              </a:rPr>
              <a:t>i</a:t>
            </a:r>
            <a:r>
              <a:rPr lang="en-US" dirty="0">
                <a:solidFill>
                  <a:srgbClr val="000000"/>
                </a:solidFill>
                <a:effectLst/>
              </a:rPr>
              <a:t>&lt;n</a:t>
            </a:r>
            <a:r>
              <a:rPr lang="ru-RU" dirty="0">
                <a:solidFill>
                  <a:srgbClr val="000000"/>
                </a:solidFill>
                <a:effectLst/>
              </a:rPr>
              <a:t>)</a:t>
            </a:r>
            <a:r>
              <a:rPr lang="en-US" dirty="0">
                <a:solidFill>
                  <a:srgbClr val="000000"/>
                </a:solidFill>
                <a:effectLst/>
              </a:rPr>
              <a:t> </a:t>
            </a:r>
            <a:r>
              <a:rPr lang="ru-RU" u="sng" dirty="0" err="1">
                <a:solidFill>
                  <a:srgbClr val="000000"/>
                </a:solidFill>
                <a:effectLst/>
              </a:rPr>
              <a:t>нц</a:t>
            </a:r>
            <a:endParaRPr lang="ru-RU" u="sng" dirty="0">
              <a:solidFill>
                <a:srgbClr val="000000"/>
              </a:solidFill>
              <a:effectLst/>
            </a:endParaRPr>
          </a:p>
          <a:p>
            <a:pPr marL="714375" indent="-714375">
              <a:buNone/>
            </a:pPr>
            <a:r>
              <a:rPr lang="ru-RU" dirty="0">
                <a:solidFill>
                  <a:srgbClr val="000000"/>
                </a:solidFill>
                <a:effectLst/>
              </a:rPr>
              <a:t>	</a:t>
            </a:r>
            <a:r>
              <a:rPr lang="en-US" dirty="0">
                <a:solidFill>
                  <a:srgbClr val="000000"/>
                </a:solidFill>
                <a:effectLst/>
              </a:rPr>
              <a:t>j=0; f=0;k=</a:t>
            </a:r>
            <a:r>
              <a:rPr lang="en-US" dirty="0" err="1">
                <a:solidFill>
                  <a:srgbClr val="000000"/>
                </a:solidFill>
                <a:effectLst/>
              </a:rPr>
              <a:t>i</a:t>
            </a:r>
            <a:r>
              <a:rPr lang="en-US" dirty="0">
                <a:solidFill>
                  <a:srgbClr val="000000"/>
                </a:solidFill>
                <a:effectLst/>
              </a:rPr>
              <a:t>;</a:t>
            </a:r>
          </a:p>
          <a:p>
            <a:pPr marL="714375" indent="-714375">
              <a:buNone/>
            </a:pPr>
            <a:r>
              <a:rPr lang="en-US" dirty="0">
                <a:solidFill>
                  <a:srgbClr val="000000"/>
                </a:solidFill>
                <a:effectLst/>
              </a:rPr>
              <a:t>	</a:t>
            </a:r>
            <a:r>
              <a:rPr lang="ru-RU" u="sng" dirty="0">
                <a:solidFill>
                  <a:srgbClr val="000000"/>
                </a:solidFill>
                <a:effectLst/>
              </a:rPr>
              <a:t>пока</a:t>
            </a:r>
            <a:r>
              <a:rPr lang="ru-RU" dirty="0">
                <a:solidFill>
                  <a:srgbClr val="000000"/>
                </a:solidFill>
                <a:effectLst/>
              </a:rPr>
              <a:t> (</a:t>
            </a:r>
            <a:r>
              <a:rPr lang="en-US" dirty="0">
                <a:solidFill>
                  <a:srgbClr val="000000"/>
                </a:solidFill>
                <a:effectLst/>
              </a:rPr>
              <a:t>j&lt;m </a:t>
            </a:r>
            <a:r>
              <a:rPr lang="ru-RU" dirty="0">
                <a:solidFill>
                  <a:srgbClr val="000000"/>
                </a:solidFill>
                <a:effectLst/>
              </a:rPr>
              <a:t>и </a:t>
            </a:r>
            <a:r>
              <a:rPr lang="en-US" dirty="0">
                <a:solidFill>
                  <a:srgbClr val="000000"/>
                </a:solidFill>
                <a:effectLst/>
              </a:rPr>
              <a:t>k&lt;n </a:t>
            </a:r>
            <a:r>
              <a:rPr lang="ru-RU" dirty="0">
                <a:solidFill>
                  <a:srgbClr val="000000"/>
                </a:solidFill>
                <a:effectLst/>
              </a:rPr>
              <a:t>и </a:t>
            </a:r>
            <a:r>
              <a:rPr lang="en-US" dirty="0">
                <a:solidFill>
                  <a:srgbClr val="000000"/>
                </a:solidFill>
                <a:effectLst/>
              </a:rPr>
              <a:t>S[k]==O[j]</a:t>
            </a:r>
            <a:r>
              <a:rPr lang="ru-RU" dirty="0">
                <a:solidFill>
                  <a:srgbClr val="000000"/>
                </a:solidFill>
                <a:effectLst/>
              </a:rPr>
              <a:t>)</a:t>
            </a:r>
            <a:r>
              <a:rPr lang="en-US" dirty="0">
                <a:solidFill>
                  <a:srgbClr val="000000"/>
                </a:solidFill>
                <a:effectLst/>
              </a:rPr>
              <a:t> </a:t>
            </a:r>
            <a:r>
              <a:rPr lang="ru-RU" u="sng" dirty="0" err="1">
                <a:solidFill>
                  <a:srgbClr val="000000"/>
                </a:solidFill>
                <a:effectLst/>
              </a:rPr>
              <a:t>нц</a:t>
            </a:r>
            <a:endParaRPr lang="ru-RU" u="sng" dirty="0">
              <a:solidFill>
                <a:srgbClr val="000000"/>
              </a:solidFill>
              <a:effectLst/>
            </a:endParaRPr>
          </a:p>
          <a:p>
            <a:pPr marL="714375" indent="-714375">
              <a:buNone/>
            </a:pPr>
            <a:r>
              <a:rPr lang="ru-RU" dirty="0">
                <a:solidFill>
                  <a:srgbClr val="000000"/>
                </a:solidFill>
                <a:effectLst/>
              </a:rPr>
              <a:t>			</a:t>
            </a:r>
            <a:r>
              <a:rPr lang="en-US" dirty="0">
                <a:solidFill>
                  <a:srgbClr val="000000"/>
                </a:solidFill>
                <a:effectLst/>
              </a:rPr>
              <a:t>k++; j++;f++;</a:t>
            </a:r>
          </a:p>
          <a:p>
            <a:pPr marL="714375" indent="-714375">
              <a:buNone/>
            </a:pPr>
            <a:r>
              <a:rPr lang="en-US" dirty="0">
                <a:solidFill>
                  <a:srgbClr val="000000"/>
                </a:solidFill>
                <a:effectLst/>
              </a:rPr>
              <a:t>      </a:t>
            </a:r>
            <a:r>
              <a:rPr lang="ru-RU" u="sng" dirty="0" err="1">
                <a:solidFill>
                  <a:srgbClr val="000000"/>
                </a:solidFill>
                <a:effectLst/>
              </a:rPr>
              <a:t>кц</a:t>
            </a:r>
            <a:endParaRPr lang="ru-RU" u="sng" dirty="0">
              <a:solidFill>
                <a:srgbClr val="000000"/>
              </a:solidFill>
              <a:effectLst/>
            </a:endParaRPr>
          </a:p>
        </p:txBody>
      </p:sp>
      <p:sp>
        <p:nvSpPr>
          <p:cNvPr id="4" name="Заголовок 1"/>
          <p:cNvSpPr>
            <a:spLocks noGrp="1"/>
          </p:cNvSpPr>
          <p:nvPr>
            <p:ph type="title"/>
          </p:nvPr>
        </p:nvSpPr>
        <p:spPr>
          <a:xfrm>
            <a:off x="409518" y="252369"/>
            <a:ext cx="8229600" cy="930246"/>
          </a:xfrm>
        </p:spPr>
        <p:txBody>
          <a:bodyPr/>
          <a:lstStyle/>
          <a:p>
            <a:r>
              <a:rPr lang="ru-RU" dirty="0">
                <a:solidFill>
                  <a:schemeClr val="bg2"/>
                </a:solidFill>
              </a:rPr>
              <a:t>ПРЯМОЙ ПОИСК</a:t>
            </a:r>
          </a:p>
        </p:txBody>
      </p:sp>
    </p:spTree>
    <p:extLst>
      <p:ext uri="{BB962C8B-B14F-4D97-AF65-F5344CB8AC3E}">
        <p14:creationId xmlns:p14="http://schemas.microsoft.com/office/powerpoint/2010/main" val="23605432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1347759"/>
            <a:ext cx="8229600" cy="4748241"/>
          </a:xfrm>
          <a:solidFill>
            <a:schemeClr val="tx1"/>
          </a:solidFill>
          <a:ln>
            <a:solidFill>
              <a:srgbClr val="000000"/>
            </a:solidFill>
          </a:ln>
        </p:spPr>
        <p:txBody>
          <a:bodyPr/>
          <a:lstStyle/>
          <a:p>
            <a:pPr>
              <a:buNone/>
            </a:pPr>
            <a:r>
              <a:rPr lang="ru-RU" dirty="0"/>
              <a:t>	</a:t>
            </a:r>
            <a:r>
              <a:rPr lang="ru-RU" u="sng" dirty="0">
                <a:solidFill>
                  <a:srgbClr val="000000"/>
                </a:solidFill>
                <a:effectLst/>
              </a:rPr>
              <a:t>если</a:t>
            </a:r>
            <a:r>
              <a:rPr lang="ru-RU" dirty="0">
                <a:solidFill>
                  <a:srgbClr val="000000"/>
                </a:solidFill>
                <a:effectLst/>
              </a:rPr>
              <a:t> </a:t>
            </a:r>
            <a:r>
              <a:rPr lang="en-US" dirty="0">
                <a:solidFill>
                  <a:srgbClr val="000000"/>
                </a:solidFill>
                <a:effectLst/>
              </a:rPr>
              <a:t>f==m </a:t>
            </a:r>
            <a:r>
              <a:rPr lang="ru-RU" u="sng" dirty="0">
                <a:solidFill>
                  <a:srgbClr val="000000"/>
                </a:solidFill>
                <a:effectLst/>
              </a:rPr>
              <a:t>то</a:t>
            </a:r>
            <a:r>
              <a:rPr lang="en-US" dirty="0">
                <a:solidFill>
                  <a:srgbClr val="000000"/>
                </a:solidFill>
                <a:effectLst/>
              </a:rPr>
              <a:t> </a:t>
            </a:r>
            <a:r>
              <a:rPr lang="ru-RU" dirty="0">
                <a:solidFill>
                  <a:srgbClr val="000000"/>
                </a:solidFill>
                <a:effectLst/>
              </a:rPr>
              <a:t>УСПЕХ, </a:t>
            </a:r>
            <a:r>
              <a:rPr lang="ru-RU" u="sng" dirty="0">
                <a:solidFill>
                  <a:srgbClr val="000000"/>
                </a:solidFill>
                <a:effectLst/>
              </a:rPr>
              <a:t>вернуть</a:t>
            </a:r>
            <a:r>
              <a:rPr lang="ru-RU" dirty="0">
                <a:solidFill>
                  <a:srgbClr val="000000"/>
                </a:solidFill>
                <a:effectLst/>
              </a:rPr>
              <a:t> </a:t>
            </a:r>
            <a:r>
              <a:rPr lang="en-US" dirty="0" err="1">
                <a:solidFill>
                  <a:srgbClr val="000000"/>
                </a:solidFill>
                <a:effectLst/>
              </a:rPr>
              <a:t>i</a:t>
            </a:r>
            <a:r>
              <a:rPr lang="en-US" dirty="0">
                <a:solidFill>
                  <a:srgbClr val="000000"/>
                </a:solidFill>
                <a:effectLst/>
              </a:rPr>
              <a:t>;</a:t>
            </a:r>
          </a:p>
          <a:p>
            <a:pPr>
              <a:buNone/>
            </a:pPr>
            <a:r>
              <a:rPr lang="en-US" dirty="0">
                <a:solidFill>
                  <a:srgbClr val="000000"/>
                </a:solidFill>
                <a:effectLst/>
              </a:rPr>
              <a:t>	</a:t>
            </a:r>
            <a:r>
              <a:rPr lang="en-US" dirty="0" err="1">
                <a:solidFill>
                  <a:srgbClr val="000000"/>
                </a:solidFill>
                <a:effectLst/>
              </a:rPr>
              <a:t>i</a:t>
            </a:r>
            <a:r>
              <a:rPr lang="en-US" dirty="0">
                <a:solidFill>
                  <a:srgbClr val="000000"/>
                </a:solidFill>
                <a:effectLst/>
              </a:rPr>
              <a:t>++;</a:t>
            </a:r>
          </a:p>
          <a:p>
            <a:pPr>
              <a:buNone/>
            </a:pPr>
            <a:r>
              <a:rPr lang="ru-RU" u="sng" dirty="0" err="1">
                <a:solidFill>
                  <a:srgbClr val="000000"/>
                </a:solidFill>
                <a:effectLst/>
              </a:rPr>
              <a:t>кц</a:t>
            </a:r>
            <a:endParaRPr lang="ru-RU" u="sng" dirty="0">
              <a:solidFill>
                <a:srgbClr val="000000"/>
              </a:solidFill>
              <a:effectLst/>
            </a:endParaRPr>
          </a:p>
          <a:p>
            <a:pPr>
              <a:buNone/>
            </a:pPr>
            <a:endParaRPr lang="en-US" dirty="0">
              <a:solidFill>
                <a:srgbClr val="000000"/>
              </a:solidFill>
              <a:effectLst/>
            </a:endParaRPr>
          </a:p>
          <a:p>
            <a:pPr>
              <a:buNone/>
            </a:pPr>
            <a:r>
              <a:rPr lang="ru-RU" dirty="0">
                <a:solidFill>
                  <a:srgbClr val="000000"/>
                </a:solidFill>
                <a:effectLst/>
              </a:rPr>
              <a:t> </a:t>
            </a:r>
            <a:endParaRPr lang="ru-RU" dirty="0"/>
          </a:p>
        </p:txBody>
      </p:sp>
      <p:sp>
        <p:nvSpPr>
          <p:cNvPr id="4" name="Заголовок 1"/>
          <p:cNvSpPr>
            <a:spLocks noGrp="1"/>
          </p:cNvSpPr>
          <p:nvPr>
            <p:ph type="title"/>
          </p:nvPr>
        </p:nvSpPr>
        <p:spPr>
          <a:xfrm>
            <a:off x="409518" y="252369"/>
            <a:ext cx="8229600" cy="930246"/>
          </a:xfrm>
        </p:spPr>
        <p:txBody>
          <a:bodyPr/>
          <a:lstStyle/>
          <a:p>
            <a:r>
              <a:rPr lang="ru-RU" dirty="0">
                <a:solidFill>
                  <a:schemeClr val="bg2"/>
                </a:solidFill>
              </a:rPr>
              <a:t>ПРЯМОЙ ПОИСК</a:t>
            </a:r>
          </a:p>
        </p:txBody>
      </p:sp>
    </p:spTree>
    <p:extLst>
      <p:ext uri="{BB962C8B-B14F-4D97-AF65-F5344CB8AC3E}">
        <p14:creationId xmlns:p14="http://schemas.microsoft.com/office/powerpoint/2010/main" val="41066230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/>
          <p:cNvSpPr>
            <a:spLocks noGrp="1"/>
          </p:cNvSpPr>
          <p:nvPr>
            <p:ph type="title"/>
          </p:nvPr>
        </p:nvSpPr>
        <p:spPr>
          <a:xfrm>
            <a:off x="409518" y="252369"/>
            <a:ext cx="8229600" cy="930246"/>
          </a:xfrm>
        </p:spPr>
        <p:txBody>
          <a:bodyPr/>
          <a:lstStyle/>
          <a:p>
            <a:r>
              <a:rPr lang="ru-RU" dirty="0">
                <a:solidFill>
                  <a:schemeClr val="bg2"/>
                </a:solidFill>
              </a:rPr>
              <a:t>ПРЯМОЙ ПОИСК</a:t>
            </a:r>
          </a:p>
        </p:txBody>
      </p:sp>
      <p:graphicFrame>
        <p:nvGraphicFramePr>
          <p:cNvPr id="5" name="Таблица 4"/>
          <p:cNvGraphicFramePr>
            <a:graphicFrameLocks noGrp="1"/>
          </p:cNvGraphicFramePr>
          <p:nvPr/>
        </p:nvGraphicFramePr>
        <p:xfrm>
          <a:off x="373005" y="2516175"/>
          <a:ext cx="8434512" cy="830908"/>
        </p:xfrm>
        <a:graphic>
          <a:graphicData uri="http://schemas.openxmlformats.org/drawingml/2006/table">
            <a:tbl>
              <a:tblPr/>
              <a:tblGrid>
                <a:gridCol w="35105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182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105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5182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5105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5182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5105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5182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51053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51823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351053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351823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351053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351823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351053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351823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351053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  <a:gridCol w="351823">
                  <a:extLst>
                    <a:ext uri="{9D8B030D-6E8A-4147-A177-3AD203B41FA5}">
                      <a16:colId xmlns:a16="http://schemas.microsoft.com/office/drawing/2014/main" val="20017"/>
                    </a:ext>
                  </a:extLst>
                </a:gridCol>
                <a:gridCol w="351053">
                  <a:extLst>
                    <a:ext uri="{9D8B030D-6E8A-4147-A177-3AD203B41FA5}">
                      <a16:colId xmlns:a16="http://schemas.microsoft.com/office/drawing/2014/main" val="20018"/>
                    </a:ext>
                  </a:extLst>
                </a:gridCol>
                <a:gridCol w="351823">
                  <a:extLst>
                    <a:ext uri="{9D8B030D-6E8A-4147-A177-3AD203B41FA5}">
                      <a16:colId xmlns:a16="http://schemas.microsoft.com/office/drawing/2014/main" val="20019"/>
                    </a:ext>
                  </a:extLst>
                </a:gridCol>
                <a:gridCol w="351053">
                  <a:extLst>
                    <a:ext uri="{9D8B030D-6E8A-4147-A177-3AD203B41FA5}">
                      <a16:colId xmlns:a16="http://schemas.microsoft.com/office/drawing/2014/main" val="20020"/>
                    </a:ext>
                  </a:extLst>
                </a:gridCol>
                <a:gridCol w="351823">
                  <a:extLst>
                    <a:ext uri="{9D8B030D-6E8A-4147-A177-3AD203B41FA5}">
                      <a16:colId xmlns:a16="http://schemas.microsoft.com/office/drawing/2014/main" val="20021"/>
                    </a:ext>
                  </a:extLst>
                </a:gridCol>
                <a:gridCol w="351053">
                  <a:extLst>
                    <a:ext uri="{9D8B030D-6E8A-4147-A177-3AD203B41FA5}">
                      <a16:colId xmlns:a16="http://schemas.microsoft.com/office/drawing/2014/main" val="20022"/>
                    </a:ext>
                  </a:extLst>
                </a:gridCol>
                <a:gridCol w="351823">
                  <a:extLst>
                    <a:ext uri="{9D8B030D-6E8A-4147-A177-3AD203B41FA5}">
                      <a16:colId xmlns:a16="http://schemas.microsoft.com/office/drawing/2014/main" val="20023"/>
                    </a:ext>
                  </a:extLst>
                </a:gridCol>
              </a:tblGrid>
              <a:tr h="415454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24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а</a:t>
                      </a: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24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а</a:t>
                      </a: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24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а</a:t>
                      </a: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24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а</a:t>
                      </a: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24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а</a:t>
                      </a: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24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а</a:t>
                      </a: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24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а</a:t>
                      </a: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24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а</a:t>
                      </a: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24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а</a:t>
                      </a: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24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а</a:t>
                      </a: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24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а</a:t>
                      </a: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24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а</a:t>
                      </a: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24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а</a:t>
                      </a: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24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а</a:t>
                      </a: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24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а</a:t>
                      </a: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24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а</a:t>
                      </a: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24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а</a:t>
                      </a: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24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а</a:t>
                      </a: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24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а</a:t>
                      </a: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24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а</a:t>
                      </a: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24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а</a:t>
                      </a: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24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а</a:t>
                      </a: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24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а</a:t>
                      </a: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24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в</a:t>
                      </a: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5454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24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а</a:t>
                      </a: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24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а</a:t>
                      </a: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24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а</a:t>
                      </a: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24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а</a:t>
                      </a: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24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а</a:t>
                      </a: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24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в</a:t>
                      </a: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ru-RU" sz="24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ru-RU" sz="24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ru-RU" sz="24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ru-RU" sz="24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ru-RU" sz="24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ru-RU" sz="24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ru-RU" sz="24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ru-RU" sz="24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ru-RU" sz="24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ru-RU" sz="24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ru-RU" sz="24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ru-RU" sz="24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ru-RU" sz="24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ru-RU" sz="24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ru-RU" sz="24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ru-RU" sz="24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ru-RU" sz="24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ru-RU" sz="24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6" name="Прямоугольник 5"/>
          <p:cNvSpPr/>
          <p:nvPr/>
        </p:nvSpPr>
        <p:spPr>
          <a:xfrm>
            <a:off x="409518" y="1639863"/>
            <a:ext cx="630974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>
                <a:solidFill>
                  <a:schemeClr val="bg2"/>
                </a:solidFill>
              </a:rPr>
              <a:t>Самый неэффективный случай: </a:t>
            </a:r>
            <a:endParaRPr lang="ru-RU" dirty="0"/>
          </a:p>
        </p:txBody>
      </p:sp>
      <p:sp>
        <p:nvSpPr>
          <p:cNvPr id="7" name="Прямоугольник 6"/>
          <p:cNvSpPr/>
          <p:nvPr/>
        </p:nvSpPr>
        <p:spPr>
          <a:xfrm>
            <a:off x="373005" y="3721104"/>
            <a:ext cx="837280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>
                <a:solidFill>
                  <a:schemeClr val="bg2"/>
                </a:solidFill>
              </a:rPr>
              <a:t>Оценка времени работы алгоритма </a:t>
            </a:r>
            <a:r>
              <a:rPr lang="en-US" dirty="0">
                <a:solidFill>
                  <a:schemeClr val="bg2"/>
                </a:solidFill>
              </a:rPr>
              <a:t>O(n*m)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2892048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solidFill>
            <a:schemeClr val="tx1"/>
          </a:solidFill>
          <a:ln>
            <a:solidFill>
              <a:srgbClr val="000000"/>
            </a:solidFill>
          </a:ln>
        </p:spPr>
        <p:txBody>
          <a:bodyPr/>
          <a:lstStyle/>
          <a:p>
            <a:pPr>
              <a:buClrTx/>
            </a:pPr>
            <a:r>
              <a:rPr lang="ru-RU" dirty="0">
                <a:solidFill>
                  <a:schemeClr val="bg1">
                    <a:lumMod val="75000"/>
                  </a:schemeClr>
                </a:solidFill>
              </a:rPr>
              <a:t>Описан Кнутом и </a:t>
            </a:r>
            <a:r>
              <a:rPr lang="ru-RU" dirty="0" err="1">
                <a:solidFill>
                  <a:schemeClr val="bg1">
                    <a:lumMod val="75000"/>
                  </a:schemeClr>
                </a:solidFill>
              </a:rPr>
              <a:t>Праттом</a:t>
            </a:r>
            <a:r>
              <a:rPr lang="ru-RU" dirty="0">
                <a:solidFill>
                  <a:schemeClr val="bg1">
                    <a:lumMod val="75000"/>
                  </a:schemeClr>
                </a:solidFill>
              </a:rPr>
              <a:t> </a:t>
            </a:r>
            <a:r>
              <a:rPr lang="ru-RU" dirty="0" err="1">
                <a:solidFill>
                  <a:schemeClr val="bg1">
                    <a:lumMod val="75000"/>
                  </a:schemeClr>
                </a:solidFill>
              </a:rPr>
              <a:t>и</a:t>
            </a:r>
            <a:r>
              <a:rPr lang="ru-RU" dirty="0">
                <a:solidFill>
                  <a:schemeClr val="bg1">
                    <a:lumMod val="75000"/>
                  </a:schemeClr>
                </a:solidFill>
              </a:rPr>
              <a:t> независимо от них Моррисом</a:t>
            </a:r>
          </a:p>
          <a:p>
            <a:pPr>
              <a:buClrTx/>
            </a:pPr>
            <a:r>
              <a:rPr lang="ru-RU" dirty="0">
                <a:solidFill>
                  <a:schemeClr val="bg1">
                    <a:lumMod val="75000"/>
                  </a:schemeClr>
                </a:solidFill>
              </a:rPr>
              <a:t>Результаты опубликованы совместно в 1977 г. </a:t>
            </a:r>
          </a:p>
          <a:p>
            <a:pPr>
              <a:buClrTx/>
            </a:pPr>
            <a:r>
              <a:rPr lang="ru-RU" dirty="0">
                <a:solidFill>
                  <a:schemeClr val="bg1">
                    <a:lumMod val="75000"/>
                  </a:schemeClr>
                </a:solidFill>
              </a:rPr>
              <a:t>Алгоритм назвали </a:t>
            </a:r>
            <a:r>
              <a:rPr lang="ru-RU" dirty="0" err="1">
                <a:solidFill>
                  <a:schemeClr val="bg1">
                    <a:lumMod val="75000"/>
                  </a:schemeClr>
                </a:solidFill>
              </a:rPr>
              <a:t>КМП-алгоритмом</a:t>
            </a:r>
            <a:endParaRPr lang="ru-RU" dirty="0">
              <a:solidFill>
                <a:schemeClr val="bg1">
                  <a:lumMod val="75000"/>
                </a:schemeClr>
              </a:solidFill>
            </a:endParaRPr>
          </a:p>
          <a:p>
            <a:pPr>
              <a:buClrTx/>
            </a:pPr>
            <a:r>
              <a:rPr lang="ru-RU" dirty="0">
                <a:solidFill>
                  <a:schemeClr val="bg1">
                    <a:lumMod val="75000"/>
                  </a:schemeClr>
                </a:solidFill>
              </a:rPr>
              <a:t>Временная характеристика алгоритма </a:t>
            </a: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O(n)</a:t>
            </a:r>
            <a:endParaRPr lang="ru-RU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4" name="Заголовок 1"/>
          <p:cNvSpPr>
            <a:spLocks noGrp="1"/>
          </p:cNvSpPr>
          <p:nvPr>
            <p:ph type="title"/>
          </p:nvPr>
        </p:nvSpPr>
        <p:spPr>
          <a:xfrm>
            <a:off x="457200" y="381000"/>
            <a:ext cx="8229600" cy="1371600"/>
          </a:xfrm>
        </p:spPr>
        <p:txBody>
          <a:bodyPr/>
          <a:lstStyle/>
          <a:p>
            <a:pPr lvl="2"/>
            <a:r>
              <a:rPr lang="ru-RU" sz="3600" b="1" dirty="0">
                <a:solidFill>
                  <a:schemeClr val="bg1">
                    <a:lumMod val="75000"/>
                  </a:schemeClr>
                </a:solidFill>
              </a:rPr>
              <a:t>Алгоритм Кнута, Морриса и </a:t>
            </a:r>
            <a:r>
              <a:rPr lang="ru-RU" sz="3600" b="1" dirty="0" err="1">
                <a:solidFill>
                  <a:schemeClr val="bg1">
                    <a:lumMod val="75000"/>
                  </a:schemeClr>
                </a:solidFill>
              </a:rPr>
              <a:t>Пратта</a:t>
            </a:r>
            <a:endParaRPr lang="ru-RU" sz="3600" dirty="0">
              <a:solidFill>
                <a:schemeClr val="bg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85314164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2"/>
            <a:r>
              <a:rPr lang="ru-RU" sz="3600" b="1" dirty="0">
                <a:solidFill>
                  <a:schemeClr val="bg1">
                    <a:lumMod val="75000"/>
                  </a:schemeClr>
                </a:solidFill>
              </a:rPr>
              <a:t>Алгоритм Кнута, Морриса и </a:t>
            </a:r>
            <a:r>
              <a:rPr lang="ru-RU" sz="3600" b="1" dirty="0" err="1">
                <a:solidFill>
                  <a:schemeClr val="bg1">
                    <a:lumMod val="75000"/>
                  </a:schemeClr>
                </a:solidFill>
              </a:rPr>
              <a:t>Пратта</a:t>
            </a:r>
            <a:endParaRPr lang="ru-RU" sz="36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46031" y="1566837"/>
            <a:ext cx="8229600" cy="2044728"/>
          </a:xfrm>
        </p:spPr>
        <p:txBody>
          <a:bodyPr/>
          <a:lstStyle/>
          <a:p>
            <a:pPr>
              <a:buClrTx/>
            </a:pPr>
            <a:r>
              <a:rPr lang="ru-RU" dirty="0">
                <a:solidFill>
                  <a:srgbClr val="000000"/>
                </a:solidFill>
              </a:rPr>
              <a:t>для повышения эффективности алгоритма необходимо, чтобы сдвиг на каждом шаге алгоритма был максимально возможным </a:t>
            </a:r>
          </a:p>
        </p:txBody>
      </p:sp>
      <p:graphicFrame>
        <p:nvGraphicFramePr>
          <p:cNvPr id="4" name="Таблица 3"/>
          <p:cNvGraphicFramePr>
            <a:graphicFrameLocks noGrp="1"/>
          </p:cNvGraphicFramePr>
          <p:nvPr/>
        </p:nvGraphicFramePr>
        <p:xfrm>
          <a:off x="701622" y="3721104"/>
          <a:ext cx="2811495" cy="1280160"/>
        </p:xfrm>
        <a:graphic>
          <a:graphicData uri="http://schemas.openxmlformats.org/drawingml/2006/table">
            <a:tbl>
              <a:tblPr/>
              <a:tblGrid>
                <a:gridCol w="310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0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0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103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103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103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1036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1036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2861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238974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28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а</a:t>
                      </a:r>
                    </a:p>
                  </a:txBody>
                  <a:tcPr marL="60026" marR="60026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28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в</a:t>
                      </a:r>
                    </a:p>
                  </a:txBody>
                  <a:tcPr marL="60026" marR="60026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28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с</a:t>
                      </a:r>
                    </a:p>
                  </a:txBody>
                  <a:tcPr marL="60026" marR="60026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2800" b="1" dirty="0" err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д</a:t>
                      </a:r>
                      <a:endParaRPr lang="ru-RU" sz="28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</a:endParaRPr>
                    </a:p>
                  </a:txBody>
                  <a:tcPr marL="60026" marR="60026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ru-RU" sz="28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</a:endParaRPr>
                    </a:p>
                  </a:txBody>
                  <a:tcPr marL="60026" marR="60026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ru-RU" sz="28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</a:endParaRPr>
                    </a:p>
                  </a:txBody>
                  <a:tcPr marL="60026" marR="60026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ru-RU" sz="28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</a:endParaRPr>
                    </a:p>
                  </a:txBody>
                  <a:tcPr marL="60026" marR="60026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ru-RU" sz="2800" b="1">
                        <a:solidFill>
                          <a:srgbClr val="000000"/>
                        </a:solidFill>
                        <a:latin typeface="Times New Roman"/>
                        <a:ea typeface="Times New Roman"/>
                      </a:endParaRPr>
                    </a:p>
                  </a:txBody>
                  <a:tcPr marL="60026" marR="60026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ru-RU" sz="2800" b="1">
                        <a:solidFill>
                          <a:srgbClr val="000000"/>
                        </a:solidFill>
                        <a:latin typeface="Times New Roman"/>
                        <a:ea typeface="Times New Roman"/>
                      </a:endParaRPr>
                    </a:p>
                  </a:txBody>
                  <a:tcPr marL="60026" marR="60026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8974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28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а</a:t>
                      </a:r>
                    </a:p>
                  </a:txBody>
                  <a:tcPr marL="60026" marR="60026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28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в</a:t>
                      </a:r>
                    </a:p>
                  </a:txBody>
                  <a:tcPr marL="60026" marR="60026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28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с</a:t>
                      </a:r>
                    </a:p>
                  </a:txBody>
                  <a:tcPr marL="60026" marR="60026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28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е</a:t>
                      </a:r>
                    </a:p>
                  </a:txBody>
                  <a:tcPr marL="60026" marR="60026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ru-RU" sz="2800" b="1">
                        <a:solidFill>
                          <a:srgbClr val="000000"/>
                        </a:solidFill>
                        <a:latin typeface="Times New Roman"/>
                        <a:ea typeface="Times New Roman"/>
                      </a:endParaRPr>
                    </a:p>
                  </a:txBody>
                  <a:tcPr marL="60026" marR="60026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ru-RU" sz="2800" b="1">
                        <a:solidFill>
                          <a:srgbClr val="000000"/>
                        </a:solidFill>
                        <a:latin typeface="Times New Roman"/>
                        <a:ea typeface="Times New Roman"/>
                      </a:endParaRPr>
                    </a:p>
                  </a:txBody>
                  <a:tcPr marL="60026" marR="60026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ru-RU" sz="28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</a:endParaRPr>
                    </a:p>
                  </a:txBody>
                  <a:tcPr marL="60026" marR="60026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ru-RU" sz="28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</a:endParaRPr>
                    </a:p>
                  </a:txBody>
                  <a:tcPr marL="60026" marR="60026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ru-RU" sz="28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</a:endParaRPr>
                    </a:p>
                  </a:txBody>
                  <a:tcPr marL="60026" marR="60026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8974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ru-RU" sz="28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</a:endParaRPr>
                    </a:p>
                  </a:txBody>
                  <a:tcPr marL="60026" marR="60026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ru-RU" sz="2800" b="1">
                        <a:solidFill>
                          <a:srgbClr val="000000"/>
                        </a:solidFill>
                        <a:latin typeface="Times New Roman"/>
                        <a:ea typeface="Times New Roman"/>
                      </a:endParaRPr>
                    </a:p>
                  </a:txBody>
                  <a:tcPr marL="60026" marR="60026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ru-RU" sz="2800" b="1">
                        <a:solidFill>
                          <a:srgbClr val="000000"/>
                        </a:solidFill>
                        <a:latin typeface="Times New Roman"/>
                        <a:ea typeface="Times New Roman"/>
                      </a:endParaRPr>
                    </a:p>
                  </a:txBody>
                  <a:tcPr marL="60026" marR="60026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28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а</a:t>
                      </a:r>
                    </a:p>
                  </a:txBody>
                  <a:tcPr marL="60026" marR="60026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28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в</a:t>
                      </a:r>
                    </a:p>
                  </a:txBody>
                  <a:tcPr marL="60026" marR="60026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28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с</a:t>
                      </a:r>
                    </a:p>
                  </a:txBody>
                  <a:tcPr marL="60026" marR="60026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28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д</a:t>
                      </a:r>
                    </a:p>
                  </a:txBody>
                  <a:tcPr marL="60026" marR="60026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ru-RU" sz="2800" b="1">
                        <a:solidFill>
                          <a:srgbClr val="000000"/>
                        </a:solidFill>
                        <a:latin typeface="Times New Roman"/>
                        <a:ea typeface="Times New Roman"/>
                      </a:endParaRPr>
                    </a:p>
                  </a:txBody>
                  <a:tcPr marL="60026" marR="60026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ru-RU" sz="28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</a:endParaRPr>
                    </a:p>
                  </a:txBody>
                  <a:tcPr marL="60026" marR="60026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" name="Содержимое 2"/>
          <p:cNvSpPr txBox="1">
            <a:spLocks/>
          </p:cNvSpPr>
          <p:nvPr/>
        </p:nvSpPr>
        <p:spPr bwMode="auto">
          <a:xfrm>
            <a:off x="519057" y="5081583"/>
            <a:ext cx="8229600" cy="134148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900" lvl="0" indent="-342900" eaLnBrk="0" hangingPunct="0">
              <a:spcBef>
                <a:spcPct val="20000"/>
              </a:spcBef>
              <a:buSzPct val="65000"/>
              <a:buFont typeface="Wingdings" pitchFamily="2" charset="2"/>
              <a:buChar char="n"/>
            </a:pPr>
            <a:r>
              <a:rPr lang="ru-RU" sz="3200" b="0" kern="0" dirty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cs typeface="+mn-cs"/>
              </a:rPr>
              <a:t>для вычисления этого сдвига алгоритм разбит на две части:</a:t>
            </a:r>
            <a:endParaRPr kumimoji="0" lang="ru-RU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33945741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Содержимое 2"/>
          <p:cNvSpPr txBox="1">
            <a:spLocks/>
          </p:cNvSpPr>
          <p:nvPr/>
        </p:nvSpPr>
        <p:spPr bwMode="auto">
          <a:xfrm>
            <a:off x="336492" y="3903669"/>
            <a:ext cx="8229600" cy="24828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900" lvl="0" indent="-342900" eaLnBrk="0" hangingPunct="0">
              <a:spcBef>
                <a:spcPct val="20000"/>
              </a:spcBef>
              <a:buSzPct val="65000"/>
              <a:buFont typeface="Wingdings" pitchFamily="2" charset="2"/>
              <a:buChar char="n"/>
            </a:pPr>
            <a:r>
              <a:rPr lang="ru-RU" sz="3200" b="0" kern="0" dirty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cs typeface="+mn-cs"/>
              </a:rPr>
              <a:t>обозначим </a:t>
            </a:r>
            <a:r>
              <a:rPr lang="en-US" sz="3200" b="0" kern="0" dirty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cs typeface="+mn-cs"/>
              </a:rPr>
              <a:t>j - </a:t>
            </a:r>
            <a:r>
              <a:rPr lang="ru-RU" sz="3200" b="0" dirty="0">
                <a:solidFill>
                  <a:srgbClr val="000000"/>
                </a:solidFill>
              </a:rPr>
              <a:t>количество совпадений, текущего сравнения</a:t>
            </a:r>
            <a:r>
              <a:rPr lang="en-US" sz="3200" b="0" dirty="0">
                <a:solidFill>
                  <a:srgbClr val="000000"/>
                </a:solidFill>
              </a:rPr>
              <a:t> (j = 3)</a:t>
            </a:r>
            <a:endParaRPr lang="ru-RU" sz="3200" b="0" dirty="0">
              <a:solidFill>
                <a:srgbClr val="000000"/>
              </a:solidFill>
            </a:endParaRPr>
          </a:p>
          <a:p>
            <a:pPr marL="342900" lvl="0" indent="-342900" eaLnBrk="0" hangingPunct="0">
              <a:spcBef>
                <a:spcPct val="20000"/>
              </a:spcBef>
              <a:buSzPct val="65000"/>
              <a:buFont typeface="Wingdings" pitchFamily="2" charset="2"/>
              <a:buChar char="n"/>
            </a:pPr>
            <a:r>
              <a:rPr lang="ru-RU" sz="3200" b="0" dirty="0">
                <a:solidFill>
                  <a:srgbClr val="000000"/>
                </a:solidFill>
              </a:rPr>
              <a:t>значение </a:t>
            </a:r>
            <a:r>
              <a:rPr lang="en-US" sz="3200" b="0" dirty="0">
                <a:solidFill>
                  <a:srgbClr val="000000"/>
                </a:solidFill>
              </a:rPr>
              <a:t>j </a:t>
            </a:r>
            <a:r>
              <a:rPr lang="ru-RU" sz="3200" b="0" dirty="0">
                <a:solidFill>
                  <a:srgbClr val="000000"/>
                </a:solidFill>
              </a:rPr>
              <a:t>зависит только от вида образа, никак не зависит от текста</a:t>
            </a:r>
          </a:p>
          <a:p>
            <a:pPr marL="342900" lvl="0" indent="-342900" eaLnBrk="0" hangingPunct="0">
              <a:spcBef>
                <a:spcPct val="20000"/>
              </a:spcBef>
              <a:buSzPct val="65000"/>
              <a:buFont typeface="Wingdings" pitchFamily="2" charset="2"/>
              <a:buChar char="n"/>
            </a:pPr>
            <a:endParaRPr kumimoji="0" lang="ru-RU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Заголовок 1"/>
          <p:cNvSpPr>
            <a:spLocks noGrp="1"/>
          </p:cNvSpPr>
          <p:nvPr>
            <p:ph type="title"/>
          </p:nvPr>
        </p:nvSpPr>
        <p:spPr>
          <a:xfrm>
            <a:off x="555570" y="215856"/>
            <a:ext cx="8229600" cy="1003272"/>
          </a:xfrm>
        </p:spPr>
        <p:txBody>
          <a:bodyPr/>
          <a:lstStyle/>
          <a:p>
            <a:pPr lvl="2"/>
            <a:r>
              <a:rPr lang="ru-RU" sz="3600" b="1" dirty="0">
                <a:solidFill>
                  <a:schemeClr val="bg1">
                    <a:lumMod val="75000"/>
                  </a:schemeClr>
                </a:solidFill>
              </a:rPr>
              <a:t>КМП - АЛГОРИТМ</a:t>
            </a:r>
            <a:endParaRPr lang="ru-RU" sz="36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6" name="Содержимое 2"/>
          <p:cNvSpPr txBox="1">
            <a:spLocks/>
          </p:cNvSpPr>
          <p:nvPr/>
        </p:nvSpPr>
        <p:spPr bwMode="auto">
          <a:xfrm>
            <a:off x="519057" y="1128681"/>
            <a:ext cx="8229600" cy="134148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900" lvl="0" indent="-342900" eaLnBrk="0" hangingPunct="0">
              <a:spcBef>
                <a:spcPct val="20000"/>
              </a:spcBef>
              <a:buSzPct val="65000"/>
            </a:pPr>
            <a:r>
              <a:rPr kumimoji="0" lang="ru-RU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1)</a:t>
            </a:r>
            <a:r>
              <a:rPr kumimoji="0" lang="ru-RU" sz="3200" b="0" i="0" u="none" strike="noStrike" kern="0" cap="none" spc="0" normalizeH="0" noProof="0" dirty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предварительная обработка строки</a:t>
            </a:r>
          </a:p>
          <a:p>
            <a:pPr marL="342900" lvl="0" indent="-342900" eaLnBrk="0" hangingPunct="0">
              <a:spcBef>
                <a:spcPct val="20000"/>
              </a:spcBef>
              <a:buSzPct val="65000"/>
            </a:pPr>
            <a:r>
              <a:rPr lang="ru-RU" sz="3200" b="0" kern="0" baseline="0" dirty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cs typeface="+mn-cs"/>
              </a:rPr>
              <a:t>2) поиск подстроки</a:t>
            </a:r>
            <a:endParaRPr kumimoji="0" lang="ru-RU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  <p:graphicFrame>
        <p:nvGraphicFramePr>
          <p:cNvPr id="7" name="Таблица 6"/>
          <p:cNvGraphicFramePr>
            <a:graphicFrameLocks noGrp="1"/>
          </p:cNvGraphicFramePr>
          <p:nvPr/>
        </p:nvGraphicFramePr>
        <p:xfrm>
          <a:off x="774648" y="2516175"/>
          <a:ext cx="2811495" cy="1280160"/>
        </p:xfrm>
        <a:graphic>
          <a:graphicData uri="http://schemas.openxmlformats.org/drawingml/2006/table">
            <a:tbl>
              <a:tblPr/>
              <a:tblGrid>
                <a:gridCol w="310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0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0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103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103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103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1036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1036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2861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238974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28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а</a:t>
                      </a:r>
                    </a:p>
                  </a:txBody>
                  <a:tcPr marL="60026" marR="60026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28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в</a:t>
                      </a:r>
                    </a:p>
                  </a:txBody>
                  <a:tcPr marL="60026" marR="60026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28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с</a:t>
                      </a:r>
                    </a:p>
                  </a:txBody>
                  <a:tcPr marL="60026" marR="60026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2800" b="1" dirty="0" err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д</a:t>
                      </a:r>
                      <a:endParaRPr lang="ru-RU" sz="28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</a:endParaRPr>
                    </a:p>
                  </a:txBody>
                  <a:tcPr marL="60026" marR="60026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ru-RU" sz="28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</a:endParaRPr>
                    </a:p>
                  </a:txBody>
                  <a:tcPr marL="60026" marR="60026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ru-RU" sz="28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</a:endParaRPr>
                    </a:p>
                  </a:txBody>
                  <a:tcPr marL="60026" marR="60026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ru-RU" sz="28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</a:endParaRPr>
                    </a:p>
                  </a:txBody>
                  <a:tcPr marL="60026" marR="60026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ru-RU" sz="2800" b="1">
                        <a:solidFill>
                          <a:srgbClr val="000000"/>
                        </a:solidFill>
                        <a:latin typeface="Times New Roman"/>
                        <a:ea typeface="Times New Roman"/>
                      </a:endParaRPr>
                    </a:p>
                  </a:txBody>
                  <a:tcPr marL="60026" marR="60026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ru-RU" sz="2800" b="1">
                        <a:solidFill>
                          <a:srgbClr val="000000"/>
                        </a:solidFill>
                        <a:latin typeface="Times New Roman"/>
                        <a:ea typeface="Times New Roman"/>
                      </a:endParaRPr>
                    </a:p>
                  </a:txBody>
                  <a:tcPr marL="60026" marR="60026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8974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28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а</a:t>
                      </a:r>
                    </a:p>
                  </a:txBody>
                  <a:tcPr marL="60026" marR="60026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28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в</a:t>
                      </a:r>
                    </a:p>
                  </a:txBody>
                  <a:tcPr marL="60026" marR="60026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28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с</a:t>
                      </a:r>
                    </a:p>
                  </a:txBody>
                  <a:tcPr marL="60026" marR="60026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28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е</a:t>
                      </a:r>
                    </a:p>
                  </a:txBody>
                  <a:tcPr marL="60026" marR="60026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ru-RU" sz="2800" b="1">
                        <a:solidFill>
                          <a:srgbClr val="000000"/>
                        </a:solidFill>
                        <a:latin typeface="Times New Roman"/>
                        <a:ea typeface="Times New Roman"/>
                      </a:endParaRPr>
                    </a:p>
                  </a:txBody>
                  <a:tcPr marL="60026" marR="60026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ru-RU" sz="2800" b="1">
                        <a:solidFill>
                          <a:srgbClr val="000000"/>
                        </a:solidFill>
                        <a:latin typeface="Times New Roman"/>
                        <a:ea typeface="Times New Roman"/>
                      </a:endParaRPr>
                    </a:p>
                  </a:txBody>
                  <a:tcPr marL="60026" marR="60026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ru-RU" sz="28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</a:endParaRPr>
                    </a:p>
                  </a:txBody>
                  <a:tcPr marL="60026" marR="60026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ru-RU" sz="28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</a:endParaRPr>
                    </a:p>
                  </a:txBody>
                  <a:tcPr marL="60026" marR="60026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ru-RU" sz="28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</a:endParaRPr>
                    </a:p>
                  </a:txBody>
                  <a:tcPr marL="60026" marR="60026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8974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ru-RU" sz="28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</a:endParaRPr>
                    </a:p>
                  </a:txBody>
                  <a:tcPr marL="60026" marR="60026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ru-RU" sz="2800" b="1">
                        <a:solidFill>
                          <a:srgbClr val="000000"/>
                        </a:solidFill>
                        <a:latin typeface="Times New Roman"/>
                        <a:ea typeface="Times New Roman"/>
                      </a:endParaRPr>
                    </a:p>
                  </a:txBody>
                  <a:tcPr marL="60026" marR="60026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ru-RU" sz="2800" b="1">
                        <a:solidFill>
                          <a:srgbClr val="000000"/>
                        </a:solidFill>
                        <a:latin typeface="Times New Roman"/>
                        <a:ea typeface="Times New Roman"/>
                      </a:endParaRPr>
                    </a:p>
                  </a:txBody>
                  <a:tcPr marL="60026" marR="60026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28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а</a:t>
                      </a:r>
                    </a:p>
                  </a:txBody>
                  <a:tcPr marL="60026" marR="60026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28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в</a:t>
                      </a:r>
                    </a:p>
                  </a:txBody>
                  <a:tcPr marL="60026" marR="60026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28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с</a:t>
                      </a:r>
                    </a:p>
                  </a:txBody>
                  <a:tcPr marL="60026" marR="60026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28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д</a:t>
                      </a:r>
                    </a:p>
                  </a:txBody>
                  <a:tcPr marL="60026" marR="60026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ru-RU" sz="2800" b="1">
                        <a:solidFill>
                          <a:srgbClr val="000000"/>
                        </a:solidFill>
                        <a:latin typeface="Times New Roman"/>
                        <a:ea typeface="Times New Roman"/>
                      </a:endParaRPr>
                    </a:p>
                  </a:txBody>
                  <a:tcPr marL="60026" marR="60026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ru-RU" sz="28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</a:endParaRPr>
                    </a:p>
                  </a:txBody>
                  <a:tcPr marL="60026" marR="60026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35170354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82544" y="1785915"/>
            <a:ext cx="8229600" cy="4876800"/>
          </a:xfrm>
        </p:spPr>
        <p:txBody>
          <a:bodyPr/>
          <a:lstStyle/>
          <a:p>
            <a:pPr>
              <a:buClrTx/>
            </a:pPr>
            <a:r>
              <a:rPr lang="ru-RU" dirty="0">
                <a:solidFill>
                  <a:srgbClr val="000000"/>
                </a:solidFill>
              </a:rPr>
              <a:t>Для образа строится таблица сдвигов </a:t>
            </a:r>
            <a:r>
              <a:rPr lang="en-US" dirty="0">
                <a:solidFill>
                  <a:srgbClr val="000000"/>
                </a:solidFill>
              </a:rPr>
              <a:t>d[m]</a:t>
            </a:r>
          </a:p>
          <a:p>
            <a:pPr>
              <a:buClrTx/>
            </a:pPr>
            <a:r>
              <a:rPr lang="en-US" dirty="0">
                <a:solidFill>
                  <a:srgbClr val="000000"/>
                </a:solidFill>
              </a:rPr>
              <a:t>d[0] = -1, d[1] = 0</a:t>
            </a:r>
          </a:p>
          <a:p>
            <a:pPr>
              <a:buClrTx/>
            </a:pPr>
            <a:r>
              <a:rPr lang="en-US" dirty="0">
                <a:solidFill>
                  <a:srgbClr val="000000"/>
                </a:solidFill>
              </a:rPr>
              <a:t>d[j] – </a:t>
            </a:r>
            <a:r>
              <a:rPr lang="ru-RU" dirty="0">
                <a:solidFill>
                  <a:srgbClr val="000000"/>
                </a:solidFill>
              </a:rPr>
              <a:t>длина самой длинной последовательности символов образа, предшествующих </a:t>
            </a:r>
            <a:r>
              <a:rPr lang="en-US" dirty="0">
                <a:solidFill>
                  <a:srgbClr val="000000"/>
                </a:solidFill>
              </a:rPr>
              <a:t>j, </a:t>
            </a:r>
            <a:r>
              <a:rPr lang="ru-RU" dirty="0">
                <a:solidFill>
                  <a:srgbClr val="000000"/>
                </a:solidFill>
              </a:rPr>
              <a:t>которая полностью совпадает с началом образа</a:t>
            </a:r>
          </a:p>
          <a:p>
            <a:pPr>
              <a:buClrTx/>
            </a:pPr>
            <a:r>
              <a:rPr lang="ru-RU" dirty="0">
                <a:solidFill>
                  <a:srgbClr val="000000"/>
                </a:solidFill>
              </a:rPr>
              <a:t>При </a:t>
            </a:r>
            <a:r>
              <a:rPr lang="en-US" dirty="0">
                <a:solidFill>
                  <a:srgbClr val="000000"/>
                </a:solidFill>
              </a:rPr>
              <a:t>j </a:t>
            </a:r>
            <a:r>
              <a:rPr lang="ru-RU" dirty="0">
                <a:solidFill>
                  <a:srgbClr val="000000"/>
                </a:solidFill>
              </a:rPr>
              <a:t>совпадениях образа с текстом можно выполнить сдвиг на </a:t>
            </a:r>
            <a:r>
              <a:rPr lang="en-US" b="1" dirty="0">
                <a:solidFill>
                  <a:srgbClr val="000000"/>
                </a:solidFill>
              </a:rPr>
              <a:t>j – d[j]</a:t>
            </a:r>
            <a:endParaRPr lang="ru-RU" b="1" dirty="0">
              <a:solidFill>
                <a:srgbClr val="000000"/>
              </a:solidFill>
            </a:endParaRPr>
          </a:p>
        </p:txBody>
      </p:sp>
      <p:sp>
        <p:nvSpPr>
          <p:cNvPr id="4" name="Заголовок 1"/>
          <p:cNvSpPr>
            <a:spLocks noGrp="1"/>
          </p:cNvSpPr>
          <p:nvPr>
            <p:ph type="title"/>
          </p:nvPr>
        </p:nvSpPr>
        <p:spPr>
          <a:xfrm>
            <a:off x="555570" y="215855"/>
            <a:ext cx="8229600" cy="1497033"/>
          </a:xfrm>
        </p:spPr>
        <p:txBody>
          <a:bodyPr/>
          <a:lstStyle/>
          <a:p>
            <a:pPr lvl="2"/>
            <a:r>
              <a:rPr lang="ru-RU" sz="3600" b="1" dirty="0">
                <a:solidFill>
                  <a:schemeClr val="bg1">
                    <a:lumMod val="75000"/>
                  </a:schemeClr>
                </a:solidFill>
              </a:rPr>
              <a:t>КМП – АЛГОРИТМ. Предварительная обработка образа</a:t>
            </a:r>
            <a:endParaRPr lang="ru-RU" sz="3600" dirty="0">
              <a:solidFill>
                <a:schemeClr val="bg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30678077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82544" y="1822428"/>
            <a:ext cx="8229600" cy="4114800"/>
          </a:xfrm>
        </p:spPr>
        <p:txBody>
          <a:bodyPr/>
          <a:lstStyle/>
          <a:p>
            <a:pPr marL="0" indent="0">
              <a:buNone/>
            </a:pPr>
            <a:r>
              <a:rPr lang="ru-RU" dirty="0">
                <a:solidFill>
                  <a:srgbClr val="000000"/>
                </a:solidFill>
              </a:rPr>
              <a:t>Примеры таблиц символов для различных образов:</a:t>
            </a:r>
          </a:p>
          <a:p>
            <a:pPr marL="0" indent="0">
              <a:buNone/>
            </a:pPr>
            <a:endParaRPr lang="ru-RU" dirty="0">
              <a:solidFill>
                <a:srgbClr val="000000"/>
              </a:solidFill>
            </a:endParaRPr>
          </a:p>
          <a:p>
            <a:pPr>
              <a:buNone/>
            </a:pPr>
            <a:endParaRPr lang="ru-RU" dirty="0">
              <a:solidFill>
                <a:srgbClr val="000000"/>
              </a:solidFill>
            </a:endParaRPr>
          </a:p>
        </p:txBody>
      </p:sp>
      <p:sp>
        <p:nvSpPr>
          <p:cNvPr id="4" name="Заголовок 1"/>
          <p:cNvSpPr>
            <a:spLocks noGrp="1"/>
          </p:cNvSpPr>
          <p:nvPr>
            <p:ph type="title"/>
          </p:nvPr>
        </p:nvSpPr>
        <p:spPr>
          <a:xfrm>
            <a:off x="555570" y="215855"/>
            <a:ext cx="8229600" cy="1497033"/>
          </a:xfrm>
        </p:spPr>
        <p:txBody>
          <a:bodyPr/>
          <a:lstStyle/>
          <a:p>
            <a:pPr lvl="2"/>
            <a:r>
              <a:rPr lang="ru-RU" sz="3600" b="1" dirty="0">
                <a:solidFill>
                  <a:schemeClr val="bg1">
                    <a:lumMod val="75000"/>
                  </a:schemeClr>
                </a:solidFill>
              </a:rPr>
              <a:t>КМП – АЛГОРИТМ. Предварительная обработка образа</a:t>
            </a:r>
            <a:endParaRPr lang="ru-RU" sz="3600" dirty="0">
              <a:solidFill>
                <a:schemeClr val="bg1">
                  <a:lumMod val="75000"/>
                </a:schemeClr>
              </a:solidFill>
            </a:endParaRPr>
          </a:p>
        </p:txBody>
      </p:sp>
      <p:graphicFrame>
        <p:nvGraphicFramePr>
          <p:cNvPr id="5" name="Таблица 4"/>
          <p:cNvGraphicFramePr>
            <a:graphicFrameLocks noGrp="1"/>
          </p:cNvGraphicFramePr>
          <p:nvPr/>
        </p:nvGraphicFramePr>
        <p:xfrm>
          <a:off x="847674" y="2917818"/>
          <a:ext cx="7704243" cy="3627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808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6808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6808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43372">
                <a:tc>
                  <a:txBody>
                    <a:bodyPr/>
                    <a:lstStyle/>
                    <a:p>
                      <a:r>
                        <a:rPr lang="ru-RU" sz="2800" dirty="0">
                          <a:solidFill>
                            <a:schemeClr val="tx1"/>
                          </a:solidFill>
                        </a:rPr>
                        <a:t>АБВГ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800" dirty="0"/>
                        <a:t>АБАБВ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800" dirty="0"/>
                        <a:t>АБАБВА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3372">
                <a:tc>
                  <a:txBody>
                    <a:bodyPr/>
                    <a:lstStyle/>
                    <a:p>
                      <a:r>
                        <a:rPr lang="en-US" sz="2800" dirty="0">
                          <a:solidFill>
                            <a:srgbClr val="000000"/>
                          </a:solidFill>
                        </a:rPr>
                        <a:t>d[0]=-1</a:t>
                      </a:r>
                      <a:endParaRPr lang="ru-RU" sz="2800" dirty="0">
                        <a:solidFill>
                          <a:srgbClr val="0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>
                          <a:solidFill>
                            <a:srgbClr val="000000"/>
                          </a:solidFill>
                        </a:rPr>
                        <a:t>d[0]=-1</a:t>
                      </a:r>
                      <a:endParaRPr lang="ru-RU" sz="2800" dirty="0">
                        <a:solidFill>
                          <a:srgbClr val="0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>
                          <a:solidFill>
                            <a:srgbClr val="000000"/>
                          </a:solidFill>
                        </a:rPr>
                        <a:t>d[0]=-1</a:t>
                      </a:r>
                      <a:endParaRPr lang="ru-RU" sz="2800" dirty="0">
                        <a:solidFill>
                          <a:srgbClr val="00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3372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>
                          <a:solidFill>
                            <a:srgbClr val="000000"/>
                          </a:solidFill>
                        </a:rPr>
                        <a:t>d[1]=0</a:t>
                      </a:r>
                      <a:endParaRPr lang="ru-RU" sz="2800" dirty="0">
                        <a:solidFill>
                          <a:srgbClr val="0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>
                          <a:solidFill>
                            <a:srgbClr val="000000"/>
                          </a:solidFill>
                        </a:rPr>
                        <a:t>d[1]=0</a:t>
                      </a:r>
                      <a:endParaRPr lang="ru-RU" sz="2800" dirty="0">
                        <a:solidFill>
                          <a:srgbClr val="0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>
                          <a:solidFill>
                            <a:srgbClr val="000000"/>
                          </a:solidFill>
                        </a:rPr>
                        <a:t>d[1]=0</a:t>
                      </a:r>
                      <a:endParaRPr lang="ru-RU" sz="2800" dirty="0">
                        <a:solidFill>
                          <a:srgbClr val="00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3372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>
                          <a:solidFill>
                            <a:srgbClr val="000000"/>
                          </a:solidFill>
                        </a:rPr>
                        <a:t>d[2]=0</a:t>
                      </a:r>
                      <a:endParaRPr lang="ru-RU" sz="2800" dirty="0">
                        <a:solidFill>
                          <a:srgbClr val="0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>
                          <a:solidFill>
                            <a:srgbClr val="000000"/>
                          </a:solidFill>
                        </a:rPr>
                        <a:t>d[2]=0</a:t>
                      </a:r>
                      <a:endParaRPr lang="ru-RU" sz="2800" dirty="0">
                        <a:solidFill>
                          <a:srgbClr val="0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>
                          <a:solidFill>
                            <a:srgbClr val="000000"/>
                          </a:solidFill>
                        </a:rPr>
                        <a:t>d[2]=0</a:t>
                      </a:r>
                      <a:endParaRPr lang="ru-RU" sz="2800" dirty="0">
                        <a:solidFill>
                          <a:srgbClr val="00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3372">
                <a:tc>
                  <a:txBody>
                    <a:bodyPr/>
                    <a:lstStyle/>
                    <a:p>
                      <a:r>
                        <a:rPr lang="en-US" sz="2800" dirty="0">
                          <a:solidFill>
                            <a:srgbClr val="000000"/>
                          </a:solidFill>
                        </a:rPr>
                        <a:t>d[3]=0</a:t>
                      </a:r>
                      <a:endParaRPr lang="ru-RU" sz="2800" dirty="0">
                        <a:solidFill>
                          <a:srgbClr val="0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>
                          <a:solidFill>
                            <a:srgbClr val="000000"/>
                          </a:solidFill>
                        </a:rPr>
                        <a:t>d[3]=1</a:t>
                      </a:r>
                      <a:endParaRPr lang="ru-RU" sz="2800" dirty="0">
                        <a:solidFill>
                          <a:srgbClr val="0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>
                          <a:solidFill>
                            <a:srgbClr val="000000"/>
                          </a:solidFill>
                        </a:rPr>
                        <a:t>d[3]=1</a:t>
                      </a:r>
                      <a:endParaRPr lang="ru-RU" sz="2800" dirty="0">
                        <a:solidFill>
                          <a:srgbClr val="00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3372">
                <a:tc>
                  <a:txBody>
                    <a:bodyPr/>
                    <a:lstStyle/>
                    <a:p>
                      <a:endParaRPr lang="ru-RU" sz="2800">
                        <a:solidFill>
                          <a:srgbClr val="0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>
                          <a:solidFill>
                            <a:srgbClr val="000000"/>
                          </a:solidFill>
                        </a:rPr>
                        <a:t>d[4]=2</a:t>
                      </a:r>
                      <a:endParaRPr lang="ru-RU" sz="2800" dirty="0">
                        <a:solidFill>
                          <a:srgbClr val="0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>
                          <a:solidFill>
                            <a:srgbClr val="000000"/>
                          </a:solidFill>
                        </a:rPr>
                        <a:t>d[4]=2</a:t>
                      </a:r>
                      <a:endParaRPr lang="ru-RU" sz="2800" dirty="0">
                        <a:solidFill>
                          <a:srgbClr val="00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43372">
                <a:tc>
                  <a:txBody>
                    <a:bodyPr/>
                    <a:lstStyle/>
                    <a:p>
                      <a:endParaRPr lang="ru-RU" sz="2800">
                        <a:solidFill>
                          <a:srgbClr val="0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2800">
                        <a:solidFill>
                          <a:srgbClr val="0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>
                          <a:solidFill>
                            <a:srgbClr val="000000"/>
                          </a:solidFill>
                        </a:rPr>
                        <a:t>d[5]=2</a:t>
                      </a:r>
                      <a:endParaRPr lang="ru-RU" sz="2800" dirty="0">
                        <a:solidFill>
                          <a:srgbClr val="00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20483342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solidFill>
            <a:schemeClr val="tx1"/>
          </a:solidFill>
          <a:ln>
            <a:solidFill>
              <a:srgbClr val="000000"/>
            </a:solidFill>
          </a:ln>
        </p:spPr>
        <p:txBody>
          <a:bodyPr/>
          <a:lstStyle/>
          <a:p>
            <a:pPr>
              <a:buNone/>
            </a:pPr>
            <a:r>
              <a:rPr lang="en-US" dirty="0">
                <a:solidFill>
                  <a:srgbClr val="000000"/>
                </a:solidFill>
              </a:rPr>
              <a:t>m = </a:t>
            </a:r>
            <a:r>
              <a:rPr lang="ru-RU" dirty="0">
                <a:solidFill>
                  <a:srgbClr val="000000"/>
                </a:solidFill>
              </a:rPr>
              <a:t>длина образа о</a:t>
            </a:r>
            <a:r>
              <a:rPr lang="en-US" dirty="0">
                <a:solidFill>
                  <a:srgbClr val="000000"/>
                </a:solidFill>
              </a:rPr>
              <a:t>;</a:t>
            </a:r>
          </a:p>
          <a:p>
            <a:pPr>
              <a:buNone/>
            </a:pPr>
            <a:r>
              <a:rPr lang="en-US" dirty="0">
                <a:solidFill>
                  <a:srgbClr val="000000"/>
                </a:solidFill>
              </a:rPr>
              <a:t>j = 1,</a:t>
            </a:r>
            <a:r>
              <a:rPr lang="ru-RU" dirty="0">
                <a:solidFill>
                  <a:srgbClr val="000000"/>
                </a:solidFill>
              </a:rPr>
              <a:t> </a:t>
            </a:r>
            <a:r>
              <a:rPr lang="en-US" dirty="0">
                <a:solidFill>
                  <a:srgbClr val="000000"/>
                </a:solidFill>
              </a:rPr>
              <a:t>k=0</a:t>
            </a:r>
          </a:p>
          <a:p>
            <a:pPr>
              <a:buNone/>
            </a:pPr>
            <a:r>
              <a:rPr lang="en-US" dirty="0">
                <a:solidFill>
                  <a:srgbClr val="000000"/>
                </a:solidFill>
              </a:rPr>
              <a:t>d[0] = -1;</a:t>
            </a:r>
          </a:p>
          <a:p>
            <a:pPr>
              <a:buNone/>
            </a:pPr>
            <a:r>
              <a:rPr lang="en-US" dirty="0">
                <a:solidFill>
                  <a:srgbClr val="000000"/>
                </a:solidFill>
              </a:rPr>
              <a:t>d[1] = 0;</a:t>
            </a:r>
          </a:p>
          <a:p>
            <a:pPr>
              <a:buNone/>
            </a:pPr>
            <a:r>
              <a:rPr lang="ru-RU" u="sng" dirty="0">
                <a:solidFill>
                  <a:srgbClr val="000000"/>
                </a:solidFill>
              </a:rPr>
              <a:t>Пока</a:t>
            </a:r>
            <a:r>
              <a:rPr lang="ru-RU" dirty="0">
                <a:solidFill>
                  <a:srgbClr val="000000"/>
                </a:solidFill>
              </a:rPr>
              <a:t> </a:t>
            </a:r>
            <a:r>
              <a:rPr lang="en-US" dirty="0">
                <a:solidFill>
                  <a:srgbClr val="000000"/>
                </a:solidFill>
              </a:rPr>
              <a:t>j&lt;m-1</a:t>
            </a:r>
            <a:r>
              <a:rPr lang="ru-RU" dirty="0">
                <a:solidFill>
                  <a:srgbClr val="000000"/>
                </a:solidFill>
              </a:rPr>
              <a:t>  </a:t>
            </a:r>
            <a:r>
              <a:rPr lang="ru-RU" u="sng" dirty="0" err="1">
                <a:solidFill>
                  <a:srgbClr val="000000"/>
                </a:solidFill>
              </a:rPr>
              <a:t>нц</a:t>
            </a:r>
            <a:r>
              <a:rPr lang="en-US" dirty="0">
                <a:solidFill>
                  <a:srgbClr val="000000"/>
                </a:solidFill>
              </a:rPr>
              <a:t>       </a:t>
            </a:r>
          </a:p>
          <a:p>
            <a:pPr>
              <a:buNone/>
            </a:pPr>
            <a:r>
              <a:rPr lang="en-US" dirty="0">
                <a:solidFill>
                  <a:srgbClr val="000000"/>
                </a:solidFill>
              </a:rPr>
              <a:t>     </a:t>
            </a:r>
            <a:r>
              <a:rPr lang="ru-RU" u="sng" dirty="0">
                <a:solidFill>
                  <a:srgbClr val="000000"/>
                </a:solidFill>
              </a:rPr>
              <a:t>Пока</a:t>
            </a:r>
            <a:r>
              <a:rPr lang="ru-RU" dirty="0">
                <a:solidFill>
                  <a:srgbClr val="000000"/>
                </a:solidFill>
              </a:rPr>
              <a:t> </a:t>
            </a:r>
            <a:r>
              <a:rPr lang="en-US" dirty="0">
                <a:solidFill>
                  <a:srgbClr val="000000"/>
                </a:solidFill>
              </a:rPr>
              <a:t>o[k]!=o[j]</a:t>
            </a:r>
            <a:r>
              <a:rPr lang="ru-RU" dirty="0">
                <a:solidFill>
                  <a:srgbClr val="000000"/>
                </a:solidFill>
              </a:rPr>
              <a:t> и </a:t>
            </a:r>
            <a:r>
              <a:rPr lang="en-US" dirty="0">
                <a:solidFill>
                  <a:srgbClr val="000000"/>
                </a:solidFill>
              </a:rPr>
              <a:t>j&lt;(m-1)</a:t>
            </a:r>
            <a:r>
              <a:rPr lang="ru-RU" dirty="0">
                <a:solidFill>
                  <a:srgbClr val="000000"/>
                </a:solidFill>
              </a:rPr>
              <a:t> </a:t>
            </a:r>
            <a:r>
              <a:rPr lang="ru-RU" u="sng" dirty="0" err="1">
                <a:solidFill>
                  <a:srgbClr val="000000"/>
                </a:solidFill>
              </a:rPr>
              <a:t>нц</a:t>
            </a:r>
            <a:endParaRPr lang="en-US" u="sng" dirty="0">
              <a:solidFill>
                <a:srgbClr val="000000"/>
              </a:solidFill>
            </a:endParaRPr>
          </a:p>
          <a:p>
            <a:pPr>
              <a:buNone/>
            </a:pPr>
            <a:r>
              <a:rPr lang="en-US" dirty="0">
                <a:solidFill>
                  <a:srgbClr val="000000"/>
                </a:solidFill>
              </a:rPr>
              <a:t>      </a:t>
            </a:r>
            <a:r>
              <a:rPr lang="ru-RU" dirty="0">
                <a:solidFill>
                  <a:srgbClr val="000000"/>
                </a:solidFill>
              </a:rPr>
              <a:t>    </a:t>
            </a:r>
            <a:r>
              <a:rPr lang="en-US" dirty="0">
                <a:solidFill>
                  <a:srgbClr val="000000"/>
                </a:solidFill>
              </a:rPr>
              <a:t>d[j+1] = d[j]; j++;</a:t>
            </a:r>
            <a:r>
              <a:rPr lang="ru-RU" dirty="0">
                <a:solidFill>
                  <a:srgbClr val="000000"/>
                </a:solidFill>
              </a:rPr>
              <a:t>  </a:t>
            </a:r>
            <a:r>
              <a:rPr lang="ru-RU" u="sng" dirty="0" err="1">
                <a:solidFill>
                  <a:srgbClr val="000000"/>
                </a:solidFill>
              </a:rPr>
              <a:t>кц</a:t>
            </a: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4" name="Заголовок 1"/>
          <p:cNvSpPr>
            <a:spLocks noGrp="1"/>
          </p:cNvSpPr>
          <p:nvPr>
            <p:ph type="title"/>
          </p:nvPr>
        </p:nvSpPr>
        <p:spPr>
          <a:xfrm>
            <a:off x="555570" y="215855"/>
            <a:ext cx="8229600" cy="1497033"/>
          </a:xfrm>
        </p:spPr>
        <p:txBody>
          <a:bodyPr/>
          <a:lstStyle/>
          <a:p>
            <a:pPr lvl="2"/>
            <a:r>
              <a:rPr lang="ru-RU" sz="3600" b="1" dirty="0">
                <a:solidFill>
                  <a:schemeClr val="bg1">
                    <a:lumMod val="75000"/>
                  </a:schemeClr>
                </a:solidFill>
              </a:rPr>
              <a:t>КМП – АЛГОРИТМ. Предварительная обработка образа</a:t>
            </a:r>
            <a:endParaRPr lang="ru-RU" sz="3600" dirty="0">
              <a:solidFill>
                <a:schemeClr val="bg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42978541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solidFill>
            <a:schemeClr val="tx1"/>
          </a:solidFill>
          <a:ln>
            <a:solidFill>
              <a:srgbClr val="000000"/>
            </a:solidFill>
          </a:ln>
        </p:spPr>
        <p:txBody>
          <a:bodyPr/>
          <a:lstStyle/>
          <a:p>
            <a:pPr>
              <a:buNone/>
            </a:pPr>
            <a:r>
              <a:rPr lang="en-US" dirty="0">
                <a:solidFill>
                  <a:srgbClr val="000000"/>
                </a:solidFill>
              </a:rPr>
              <a:t> </a:t>
            </a:r>
            <a:r>
              <a:rPr lang="ru-RU" u="sng" dirty="0">
                <a:solidFill>
                  <a:srgbClr val="000000"/>
                </a:solidFill>
              </a:rPr>
              <a:t>Если</a:t>
            </a:r>
            <a:r>
              <a:rPr lang="ru-RU" dirty="0">
                <a:solidFill>
                  <a:srgbClr val="000000"/>
                </a:solidFill>
              </a:rPr>
              <a:t> </a:t>
            </a:r>
            <a:r>
              <a:rPr lang="en-US" dirty="0">
                <a:solidFill>
                  <a:srgbClr val="000000"/>
                </a:solidFill>
              </a:rPr>
              <a:t>j==m-1</a:t>
            </a:r>
            <a:r>
              <a:rPr lang="ru-RU" dirty="0">
                <a:solidFill>
                  <a:srgbClr val="000000"/>
                </a:solidFill>
              </a:rPr>
              <a:t> </a:t>
            </a:r>
            <a:r>
              <a:rPr lang="ru-RU" u="sng" dirty="0">
                <a:solidFill>
                  <a:srgbClr val="000000"/>
                </a:solidFill>
              </a:rPr>
              <a:t>то</a:t>
            </a:r>
            <a:r>
              <a:rPr lang="ru-RU" dirty="0">
                <a:solidFill>
                  <a:srgbClr val="000000"/>
                </a:solidFill>
              </a:rPr>
              <a:t> закончить выполнение 			    цикла</a:t>
            </a:r>
            <a:r>
              <a:rPr lang="en-US" dirty="0">
                <a:solidFill>
                  <a:srgbClr val="000000"/>
                </a:solidFill>
              </a:rPr>
              <a:t> </a:t>
            </a:r>
          </a:p>
          <a:p>
            <a:pPr>
              <a:buNone/>
            </a:pPr>
            <a:r>
              <a:rPr lang="en-US" dirty="0">
                <a:solidFill>
                  <a:srgbClr val="000000"/>
                </a:solidFill>
              </a:rPr>
              <a:t> k++;</a:t>
            </a:r>
          </a:p>
          <a:p>
            <a:pPr>
              <a:buNone/>
            </a:pPr>
            <a:r>
              <a:rPr lang="en-US" dirty="0">
                <a:solidFill>
                  <a:srgbClr val="000000"/>
                </a:solidFill>
              </a:rPr>
              <a:t> d[j+1]=k; </a:t>
            </a:r>
          </a:p>
          <a:p>
            <a:pPr>
              <a:buNone/>
            </a:pPr>
            <a:r>
              <a:rPr lang="en-US" dirty="0">
                <a:solidFill>
                  <a:srgbClr val="000000"/>
                </a:solidFill>
              </a:rPr>
              <a:t> j++;           </a:t>
            </a:r>
          </a:p>
          <a:p>
            <a:pPr>
              <a:buNone/>
            </a:pPr>
            <a:r>
              <a:rPr lang="en-US" u="sng" dirty="0">
                <a:solidFill>
                  <a:srgbClr val="000000"/>
                </a:solidFill>
              </a:rPr>
              <a:t> </a:t>
            </a:r>
            <a:r>
              <a:rPr lang="ru-RU" u="sng" dirty="0" err="1">
                <a:solidFill>
                  <a:srgbClr val="000000"/>
                </a:solidFill>
              </a:rPr>
              <a:t>кц</a:t>
            </a:r>
            <a:endParaRPr lang="ru-RU" u="sng" dirty="0"/>
          </a:p>
        </p:txBody>
      </p:sp>
      <p:sp>
        <p:nvSpPr>
          <p:cNvPr id="4" name="Заголовок 1"/>
          <p:cNvSpPr>
            <a:spLocks noGrp="1"/>
          </p:cNvSpPr>
          <p:nvPr>
            <p:ph type="title"/>
          </p:nvPr>
        </p:nvSpPr>
        <p:spPr>
          <a:xfrm>
            <a:off x="555570" y="215855"/>
            <a:ext cx="8229600" cy="1497033"/>
          </a:xfrm>
        </p:spPr>
        <p:txBody>
          <a:bodyPr/>
          <a:lstStyle/>
          <a:p>
            <a:pPr lvl="2"/>
            <a:r>
              <a:rPr lang="ru-RU" sz="3600" b="1" dirty="0">
                <a:solidFill>
                  <a:schemeClr val="bg1">
                    <a:lumMod val="75000"/>
                  </a:schemeClr>
                </a:solidFill>
              </a:rPr>
              <a:t>КМП – АЛГОРИТМ. Предварительная обработка образа</a:t>
            </a:r>
            <a:endParaRPr lang="ru-RU" sz="3600" dirty="0">
              <a:solidFill>
                <a:schemeClr val="bg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88275847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/>
          <p:cNvSpPr>
            <a:spLocks noGrp="1"/>
          </p:cNvSpPr>
          <p:nvPr>
            <p:ph type="title"/>
          </p:nvPr>
        </p:nvSpPr>
        <p:spPr>
          <a:xfrm>
            <a:off x="555570" y="215855"/>
            <a:ext cx="8229600" cy="1497033"/>
          </a:xfrm>
        </p:spPr>
        <p:txBody>
          <a:bodyPr/>
          <a:lstStyle/>
          <a:p>
            <a:pPr lvl="2"/>
            <a:r>
              <a:rPr lang="ru-RU" sz="3600" b="1" dirty="0">
                <a:solidFill>
                  <a:schemeClr val="bg1">
                    <a:lumMod val="75000"/>
                  </a:schemeClr>
                </a:solidFill>
              </a:rPr>
              <a:t>КМП – АЛГОРИТМ. </a:t>
            </a:r>
            <a:br>
              <a:rPr lang="ru-RU" sz="3600" b="1" dirty="0">
                <a:solidFill>
                  <a:schemeClr val="bg1">
                    <a:lumMod val="75000"/>
                  </a:schemeClr>
                </a:solidFill>
              </a:rPr>
            </a:br>
            <a:r>
              <a:rPr lang="ru-RU" sz="3600" b="1" dirty="0">
                <a:solidFill>
                  <a:schemeClr val="bg1">
                    <a:lumMod val="75000"/>
                  </a:schemeClr>
                </a:solidFill>
              </a:rPr>
              <a:t>Пример</a:t>
            </a:r>
            <a:endParaRPr lang="ru-RU" sz="3600" dirty="0">
              <a:solidFill>
                <a:schemeClr val="bg1">
                  <a:lumMod val="75000"/>
                </a:schemeClr>
              </a:solidFill>
            </a:endParaRPr>
          </a:p>
        </p:txBody>
      </p:sp>
      <p:graphicFrame>
        <p:nvGraphicFramePr>
          <p:cNvPr id="5" name="Таблица 4"/>
          <p:cNvGraphicFramePr>
            <a:graphicFrameLocks noGrp="1"/>
          </p:cNvGraphicFramePr>
          <p:nvPr/>
        </p:nvGraphicFramePr>
        <p:xfrm>
          <a:off x="299979" y="2479662"/>
          <a:ext cx="8434512" cy="3812900"/>
        </p:xfrm>
        <a:graphic>
          <a:graphicData uri="http://schemas.openxmlformats.org/drawingml/2006/table">
            <a:tbl>
              <a:tblPr/>
              <a:tblGrid>
                <a:gridCol w="35105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182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105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5182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5105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5182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5105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5182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51053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51823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351053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351823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351053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351823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351053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351823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351053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  <a:gridCol w="351823">
                  <a:extLst>
                    <a:ext uri="{9D8B030D-6E8A-4147-A177-3AD203B41FA5}">
                      <a16:colId xmlns:a16="http://schemas.microsoft.com/office/drawing/2014/main" val="20017"/>
                    </a:ext>
                  </a:extLst>
                </a:gridCol>
                <a:gridCol w="351053">
                  <a:extLst>
                    <a:ext uri="{9D8B030D-6E8A-4147-A177-3AD203B41FA5}">
                      <a16:colId xmlns:a16="http://schemas.microsoft.com/office/drawing/2014/main" val="20018"/>
                    </a:ext>
                  </a:extLst>
                </a:gridCol>
                <a:gridCol w="351823">
                  <a:extLst>
                    <a:ext uri="{9D8B030D-6E8A-4147-A177-3AD203B41FA5}">
                      <a16:colId xmlns:a16="http://schemas.microsoft.com/office/drawing/2014/main" val="20019"/>
                    </a:ext>
                  </a:extLst>
                </a:gridCol>
                <a:gridCol w="351053">
                  <a:extLst>
                    <a:ext uri="{9D8B030D-6E8A-4147-A177-3AD203B41FA5}">
                      <a16:colId xmlns:a16="http://schemas.microsoft.com/office/drawing/2014/main" val="20020"/>
                    </a:ext>
                  </a:extLst>
                </a:gridCol>
                <a:gridCol w="351823">
                  <a:extLst>
                    <a:ext uri="{9D8B030D-6E8A-4147-A177-3AD203B41FA5}">
                      <a16:colId xmlns:a16="http://schemas.microsoft.com/office/drawing/2014/main" val="20021"/>
                    </a:ext>
                  </a:extLst>
                </a:gridCol>
                <a:gridCol w="351053">
                  <a:extLst>
                    <a:ext uri="{9D8B030D-6E8A-4147-A177-3AD203B41FA5}">
                      <a16:colId xmlns:a16="http://schemas.microsoft.com/office/drawing/2014/main" val="20022"/>
                    </a:ext>
                  </a:extLst>
                </a:gridCol>
                <a:gridCol w="351823">
                  <a:extLst>
                    <a:ext uri="{9D8B030D-6E8A-4147-A177-3AD203B41FA5}">
                      <a16:colId xmlns:a16="http://schemas.microsoft.com/office/drawing/2014/main" val="20023"/>
                    </a:ext>
                  </a:extLst>
                </a:gridCol>
              </a:tblGrid>
              <a:tr h="616276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</a:t>
                      </a:r>
                      <a:endParaRPr lang="ru-RU" sz="24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b</a:t>
                      </a:r>
                      <a:endParaRPr lang="ru-RU" sz="24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c</a:t>
                      </a:r>
                      <a:endParaRPr lang="ru-RU" sz="24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</a:t>
                      </a:r>
                      <a:endParaRPr lang="ru-RU" sz="24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b</a:t>
                      </a:r>
                      <a:endParaRPr lang="ru-RU" sz="24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c</a:t>
                      </a:r>
                      <a:endParaRPr lang="ru-RU" sz="24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</a:t>
                      </a:r>
                      <a:endParaRPr lang="ru-RU" sz="24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</a:t>
                      </a:r>
                      <a:endParaRPr lang="ru-RU" sz="24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b</a:t>
                      </a:r>
                      <a:endParaRPr lang="ru-RU" sz="24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c</a:t>
                      </a:r>
                      <a:endParaRPr lang="ru-RU" sz="24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</a:t>
                      </a:r>
                      <a:endParaRPr lang="ru-RU" sz="24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b</a:t>
                      </a:r>
                      <a:endParaRPr lang="ru-RU" sz="24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</a:t>
                      </a:r>
                      <a:endParaRPr lang="ru-RU" sz="24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b</a:t>
                      </a:r>
                      <a:endParaRPr lang="ru-RU" sz="24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c</a:t>
                      </a:r>
                      <a:endParaRPr lang="ru-RU" sz="24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b</a:t>
                      </a:r>
                      <a:endParaRPr lang="ru-RU" sz="24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</a:t>
                      </a:r>
                      <a:endParaRPr lang="ru-RU" sz="24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b</a:t>
                      </a:r>
                      <a:endParaRPr lang="ru-RU" sz="24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c</a:t>
                      </a:r>
                      <a:endParaRPr lang="ru-RU" sz="24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</a:t>
                      </a:r>
                      <a:endParaRPr lang="ru-RU" sz="24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b</a:t>
                      </a:r>
                      <a:endParaRPr lang="ru-RU" sz="24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d</a:t>
                      </a:r>
                      <a:endParaRPr lang="ru-RU" sz="24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ru-RU" sz="24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ru-RU" sz="24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6276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</a:t>
                      </a:r>
                      <a:endParaRPr lang="ru-RU" sz="2400" b="1" dirty="0">
                        <a:solidFill>
                          <a:srgbClr val="FF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b</a:t>
                      </a:r>
                      <a:endParaRPr lang="ru-RU" sz="2400" b="1" dirty="0">
                        <a:solidFill>
                          <a:srgbClr val="FF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c</a:t>
                      </a:r>
                      <a:endParaRPr lang="ru-RU" sz="2400" b="1" dirty="0">
                        <a:solidFill>
                          <a:srgbClr val="FF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2400" b="1" dirty="0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а</a:t>
                      </a: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b</a:t>
                      </a:r>
                      <a:endParaRPr lang="ru-RU" sz="2400" b="1" dirty="0">
                        <a:solidFill>
                          <a:srgbClr val="FF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d</a:t>
                      </a:r>
                      <a:endParaRPr lang="ru-RU" sz="24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18"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2400" b="1" dirty="0">
                          <a:solidFill>
                            <a:schemeClr val="bg2">
                              <a:lumMod val="60000"/>
                              <a:lumOff val="40000"/>
                            </a:scheme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  5 совпадений</a:t>
                      </a:r>
                      <a:r>
                        <a:rPr lang="ru-RU" sz="2400" b="1" baseline="0" dirty="0">
                          <a:solidFill>
                            <a:schemeClr val="bg2">
                              <a:lumMod val="60000"/>
                              <a:lumOff val="40000"/>
                            </a:scheme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, сдвиг 5 – 2 = 3</a:t>
                      </a:r>
                      <a:endParaRPr lang="ru-RU" sz="2400" b="1" dirty="0">
                        <a:solidFill>
                          <a:schemeClr val="bg2">
                            <a:lumMod val="60000"/>
                            <a:lumOff val="40000"/>
                          </a:schemeClr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ru-RU" sz="24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ru-RU" sz="24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ru-RU" sz="24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ru-RU" sz="24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ru-RU" sz="24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ru-RU" sz="24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ru-RU" sz="24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ru-RU" sz="24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ru-RU" sz="24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ru-RU" sz="24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ru-RU" sz="24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ru-RU" sz="24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ru-RU" sz="24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ru-RU" sz="24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ru-RU" sz="24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ru-RU" sz="24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ru-RU" sz="24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6276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ru-RU" sz="24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ru-RU" sz="24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ru-RU" sz="24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</a:t>
                      </a:r>
                      <a:endParaRPr lang="ru-RU" sz="2400" b="1" dirty="0">
                        <a:solidFill>
                          <a:srgbClr val="FF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b</a:t>
                      </a:r>
                      <a:endParaRPr lang="ru-RU" sz="2400" b="1" dirty="0">
                        <a:solidFill>
                          <a:srgbClr val="FF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c</a:t>
                      </a:r>
                      <a:endParaRPr lang="ru-RU" sz="2400" b="1" dirty="0">
                        <a:solidFill>
                          <a:srgbClr val="FF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2400" b="1" dirty="0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а</a:t>
                      </a: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b</a:t>
                      </a:r>
                      <a:endParaRPr lang="ru-RU" sz="24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d</a:t>
                      </a:r>
                      <a:endParaRPr lang="ru-RU" sz="24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15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4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ru-RU" sz="2400" b="1" dirty="0">
                          <a:solidFill>
                            <a:schemeClr val="bg2">
                              <a:lumMod val="60000"/>
                              <a:lumOff val="40000"/>
                            </a:scheme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4 совпадения</a:t>
                      </a:r>
                      <a:r>
                        <a:rPr lang="ru-RU" sz="2400" b="1" baseline="0" dirty="0">
                          <a:solidFill>
                            <a:schemeClr val="bg2">
                              <a:lumMod val="60000"/>
                              <a:lumOff val="40000"/>
                            </a:scheme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, сдвиг 4 – 1 = 3</a:t>
                      </a:r>
                      <a:endParaRPr lang="ru-RU" sz="2400" b="1" dirty="0">
                        <a:solidFill>
                          <a:schemeClr val="bg2">
                            <a:lumMod val="60000"/>
                            <a:lumOff val="40000"/>
                          </a:schemeClr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ru-RU" sz="24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ru-RU" sz="24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ru-RU" sz="24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ru-RU" sz="24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ru-RU" sz="24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ru-RU" sz="24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ru-RU" sz="24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ru-RU" sz="24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ru-RU" sz="24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ru-RU" sz="24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ru-RU" sz="24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ru-RU" sz="24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ru-RU" sz="24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ru-RU" sz="24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16276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ru-RU" sz="24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ru-RU" sz="24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ru-RU" sz="24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ru-RU" sz="24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ru-RU" sz="24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ru-RU" sz="24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</a:t>
                      </a:r>
                      <a:endParaRPr lang="ru-RU" sz="2400" b="1" dirty="0">
                        <a:solidFill>
                          <a:srgbClr val="FF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b</a:t>
                      </a:r>
                      <a:endParaRPr lang="ru-RU" sz="24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c</a:t>
                      </a:r>
                      <a:endParaRPr lang="ru-RU" sz="24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24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а</a:t>
                      </a: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b</a:t>
                      </a:r>
                      <a:endParaRPr lang="ru-RU" sz="24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d</a:t>
                      </a:r>
                      <a:endParaRPr lang="ru-RU" sz="24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12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4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ru-RU" sz="2400" b="1" dirty="0">
                          <a:solidFill>
                            <a:schemeClr val="bg2">
                              <a:lumMod val="60000"/>
                              <a:lumOff val="40000"/>
                            </a:scheme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 совпадение</a:t>
                      </a:r>
                      <a:r>
                        <a:rPr lang="ru-RU" sz="2400" b="1" baseline="0" dirty="0">
                          <a:solidFill>
                            <a:schemeClr val="bg2">
                              <a:lumMod val="60000"/>
                              <a:lumOff val="40000"/>
                            </a:scheme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, сдвиг 1 – 0 = 1</a:t>
                      </a:r>
                      <a:endParaRPr lang="ru-RU" sz="2400" b="1" dirty="0">
                        <a:solidFill>
                          <a:schemeClr val="bg2">
                            <a:lumMod val="60000"/>
                            <a:lumOff val="40000"/>
                          </a:schemeClr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ru-RU" sz="24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ru-RU" sz="24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ru-RU" sz="24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ru-RU" sz="24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ru-RU" sz="24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ru-RU" sz="24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ru-RU" sz="24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ru-RU" sz="24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ru-RU" sz="24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ru-RU" sz="24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ru-RU" sz="24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16276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ru-RU" sz="24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ru-RU" sz="24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ru-RU" sz="24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ru-RU" sz="24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ru-RU" sz="24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ru-RU" sz="24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ru-RU" sz="24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</a:t>
                      </a:r>
                      <a:endParaRPr lang="ru-RU" sz="2400" b="1" dirty="0">
                        <a:solidFill>
                          <a:srgbClr val="FF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b</a:t>
                      </a:r>
                      <a:endParaRPr lang="ru-RU" sz="2400" b="1" dirty="0">
                        <a:solidFill>
                          <a:srgbClr val="FF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c</a:t>
                      </a:r>
                      <a:endParaRPr lang="ru-RU" sz="2400" b="1" dirty="0">
                        <a:solidFill>
                          <a:srgbClr val="FF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2400" b="1" dirty="0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а</a:t>
                      </a: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b</a:t>
                      </a:r>
                      <a:endParaRPr lang="ru-RU" sz="2400" b="1" dirty="0">
                        <a:solidFill>
                          <a:srgbClr val="FF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d</a:t>
                      </a:r>
                      <a:endParaRPr lang="ru-RU" sz="24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11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4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ru-RU" sz="2400" b="1" dirty="0">
                          <a:solidFill>
                            <a:schemeClr val="bg2">
                              <a:lumMod val="60000"/>
                              <a:lumOff val="40000"/>
                            </a:scheme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5 совпадений</a:t>
                      </a:r>
                      <a:r>
                        <a:rPr lang="ru-RU" sz="2400" b="1" baseline="0" dirty="0">
                          <a:solidFill>
                            <a:schemeClr val="bg2">
                              <a:lumMod val="60000"/>
                              <a:lumOff val="40000"/>
                            </a:scheme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, сдвиг  3</a:t>
                      </a:r>
                      <a:endParaRPr lang="ru-RU" sz="2400" b="1" dirty="0">
                        <a:solidFill>
                          <a:schemeClr val="bg2">
                            <a:lumMod val="60000"/>
                            <a:lumOff val="40000"/>
                          </a:schemeClr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ru-RU" sz="24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ru-RU" sz="24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ru-RU" sz="24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ru-RU" sz="24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ru-RU" sz="24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ru-RU" sz="24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ru-RU" sz="24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ru-RU" sz="24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ru-RU" sz="24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ru-RU" sz="24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16276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ru-RU" sz="24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ru-RU" sz="24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ru-RU" sz="24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ru-RU" sz="24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ru-RU" sz="24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ru-RU" sz="24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ru-RU" sz="24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ru-RU" sz="24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ru-RU" sz="24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ru-RU" sz="24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</a:t>
                      </a:r>
                      <a:endParaRPr lang="ru-RU" sz="2400" b="1" dirty="0">
                        <a:solidFill>
                          <a:srgbClr val="FF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b</a:t>
                      </a:r>
                      <a:endParaRPr lang="ru-RU" sz="2400" b="1" dirty="0">
                        <a:solidFill>
                          <a:srgbClr val="FF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c</a:t>
                      </a:r>
                      <a:endParaRPr lang="ru-RU" sz="24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24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а</a:t>
                      </a: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b</a:t>
                      </a:r>
                      <a:endParaRPr lang="ru-RU" sz="24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d</a:t>
                      </a:r>
                      <a:endParaRPr lang="ru-RU" sz="24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8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4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ru-RU" sz="2400" b="1" dirty="0">
                          <a:solidFill>
                            <a:schemeClr val="bg2">
                              <a:lumMod val="60000"/>
                              <a:lumOff val="40000"/>
                            </a:scheme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2 совпадения</a:t>
                      </a:r>
                      <a:r>
                        <a:rPr lang="ru-RU" sz="2400" b="1" baseline="0" dirty="0">
                          <a:solidFill>
                            <a:schemeClr val="bg2">
                              <a:lumMod val="60000"/>
                              <a:lumOff val="40000"/>
                            </a:scheme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, сдвиг 2</a:t>
                      </a:r>
                      <a:endParaRPr lang="ru-RU" sz="2400" b="1" dirty="0">
                        <a:solidFill>
                          <a:schemeClr val="bg2">
                            <a:lumMod val="60000"/>
                            <a:lumOff val="40000"/>
                          </a:schemeClr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ru-RU" sz="24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ru-RU" sz="24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ru-RU" sz="24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ru-RU" sz="24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ru-RU" sz="24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ru-RU" sz="24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ru-RU" sz="24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6" name="Таблица 5"/>
          <p:cNvGraphicFramePr>
            <a:graphicFrameLocks noGrp="1"/>
          </p:cNvGraphicFramePr>
          <p:nvPr/>
        </p:nvGraphicFramePr>
        <p:xfrm>
          <a:off x="336492" y="1676376"/>
          <a:ext cx="2108628" cy="415454"/>
        </p:xfrm>
        <a:graphic>
          <a:graphicData uri="http://schemas.openxmlformats.org/drawingml/2006/table">
            <a:tbl>
              <a:tblPr/>
              <a:tblGrid>
                <a:gridCol w="35105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182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105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5182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5105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5182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15454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</a:t>
                      </a:r>
                      <a:endParaRPr lang="ru-RU" sz="24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b</a:t>
                      </a:r>
                      <a:endParaRPr lang="ru-RU" sz="24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c</a:t>
                      </a:r>
                      <a:endParaRPr lang="ru-RU" sz="24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24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а</a:t>
                      </a: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b</a:t>
                      </a:r>
                      <a:endParaRPr lang="ru-RU" sz="24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d</a:t>
                      </a:r>
                      <a:endParaRPr lang="ru-RU" sz="24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" name="Таблица 6"/>
          <p:cNvGraphicFramePr>
            <a:graphicFrameLocks noGrp="1"/>
          </p:cNvGraphicFramePr>
          <p:nvPr/>
        </p:nvGraphicFramePr>
        <p:xfrm>
          <a:off x="3586149" y="1712889"/>
          <a:ext cx="3103605" cy="415454"/>
        </p:xfrm>
        <a:graphic>
          <a:graphicData uri="http://schemas.openxmlformats.org/drawingml/2006/table">
            <a:tbl>
              <a:tblPr/>
              <a:tblGrid>
                <a:gridCol w="4429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295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392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4295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4392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4295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4392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15454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d</a:t>
                      </a:r>
                      <a:endParaRPr lang="ru-RU" sz="24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-1</a:t>
                      </a:r>
                      <a:endParaRPr lang="ru-RU" sz="24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</a:t>
                      </a:r>
                      <a:endParaRPr lang="ru-RU" sz="24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</a:t>
                      </a:r>
                      <a:endParaRPr lang="ru-RU" sz="24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24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</a:t>
                      </a: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24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</a:t>
                      </a: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2</a:t>
                      </a:r>
                      <a:endParaRPr lang="ru-RU" sz="24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12253745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/>
          <p:cNvSpPr>
            <a:spLocks noGrp="1"/>
          </p:cNvSpPr>
          <p:nvPr>
            <p:ph type="title"/>
          </p:nvPr>
        </p:nvSpPr>
        <p:spPr>
          <a:xfrm>
            <a:off x="555570" y="215855"/>
            <a:ext cx="8229600" cy="1497033"/>
          </a:xfrm>
        </p:spPr>
        <p:txBody>
          <a:bodyPr/>
          <a:lstStyle/>
          <a:p>
            <a:pPr lvl="2"/>
            <a:r>
              <a:rPr lang="ru-RU" sz="3600" b="1" dirty="0">
                <a:solidFill>
                  <a:schemeClr val="bg1">
                    <a:lumMod val="75000"/>
                  </a:schemeClr>
                </a:solidFill>
              </a:rPr>
              <a:t>КМП – АЛГОРИТМ. </a:t>
            </a:r>
            <a:br>
              <a:rPr lang="ru-RU" sz="3600" b="1" dirty="0">
                <a:solidFill>
                  <a:schemeClr val="bg1">
                    <a:lumMod val="75000"/>
                  </a:schemeClr>
                </a:solidFill>
              </a:rPr>
            </a:br>
            <a:r>
              <a:rPr lang="ru-RU" sz="3600" b="1" dirty="0">
                <a:solidFill>
                  <a:schemeClr val="bg1">
                    <a:lumMod val="75000"/>
                  </a:schemeClr>
                </a:solidFill>
              </a:rPr>
              <a:t>Пример</a:t>
            </a:r>
            <a:endParaRPr lang="ru-RU" sz="3600" dirty="0">
              <a:solidFill>
                <a:schemeClr val="bg1">
                  <a:lumMod val="75000"/>
                </a:schemeClr>
              </a:solidFill>
            </a:endParaRPr>
          </a:p>
        </p:txBody>
      </p:sp>
      <p:graphicFrame>
        <p:nvGraphicFramePr>
          <p:cNvPr id="5" name="Таблица 4"/>
          <p:cNvGraphicFramePr>
            <a:graphicFrameLocks noGrp="1"/>
          </p:cNvGraphicFramePr>
          <p:nvPr/>
        </p:nvGraphicFramePr>
        <p:xfrm>
          <a:off x="373005" y="1712889"/>
          <a:ext cx="8513496" cy="2580348"/>
        </p:xfrm>
        <a:graphic>
          <a:graphicData uri="http://schemas.openxmlformats.org/drawingml/2006/table">
            <a:tbl>
              <a:tblPr/>
              <a:tblGrid>
                <a:gridCol w="35472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47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472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5472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5472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5472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5472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5472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5472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54729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354729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354729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354729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354729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354729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354729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354729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  <a:gridCol w="354729">
                  <a:extLst>
                    <a:ext uri="{9D8B030D-6E8A-4147-A177-3AD203B41FA5}">
                      <a16:colId xmlns:a16="http://schemas.microsoft.com/office/drawing/2014/main" val="20017"/>
                    </a:ext>
                  </a:extLst>
                </a:gridCol>
                <a:gridCol w="354729">
                  <a:extLst>
                    <a:ext uri="{9D8B030D-6E8A-4147-A177-3AD203B41FA5}">
                      <a16:colId xmlns:a16="http://schemas.microsoft.com/office/drawing/2014/main" val="20018"/>
                    </a:ext>
                  </a:extLst>
                </a:gridCol>
                <a:gridCol w="354729">
                  <a:extLst>
                    <a:ext uri="{9D8B030D-6E8A-4147-A177-3AD203B41FA5}">
                      <a16:colId xmlns:a16="http://schemas.microsoft.com/office/drawing/2014/main" val="20019"/>
                    </a:ext>
                  </a:extLst>
                </a:gridCol>
                <a:gridCol w="354729">
                  <a:extLst>
                    <a:ext uri="{9D8B030D-6E8A-4147-A177-3AD203B41FA5}">
                      <a16:colId xmlns:a16="http://schemas.microsoft.com/office/drawing/2014/main" val="20020"/>
                    </a:ext>
                  </a:extLst>
                </a:gridCol>
                <a:gridCol w="354729">
                  <a:extLst>
                    <a:ext uri="{9D8B030D-6E8A-4147-A177-3AD203B41FA5}">
                      <a16:colId xmlns:a16="http://schemas.microsoft.com/office/drawing/2014/main" val="20021"/>
                    </a:ext>
                  </a:extLst>
                </a:gridCol>
                <a:gridCol w="354729">
                  <a:extLst>
                    <a:ext uri="{9D8B030D-6E8A-4147-A177-3AD203B41FA5}">
                      <a16:colId xmlns:a16="http://schemas.microsoft.com/office/drawing/2014/main" val="20022"/>
                    </a:ext>
                  </a:extLst>
                </a:gridCol>
                <a:gridCol w="354729">
                  <a:extLst>
                    <a:ext uri="{9D8B030D-6E8A-4147-A177-3AD203B41FA5}">
                      <a16:colId xmlns:a16="http://schemas.microsoft.com/office/drawing/2014/main" val="20023"/>
                    </a:ext>
                  </a:extLst>
                </a:gridCol>
              </a:tblGrid>
              <a:tr h="616276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</a:t>
                      </a:r>
                      <a:endParaRPr lang="ru-RU" sz="24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b</a:t>
                      </a:r>
                      <a:endParaRPr lang="ru-RU" sz="24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c</a:t>
                      </a:r>
                      <a:endParaRPr lang="ru-RU" sz="24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</a:t>
                      </a:r>
                      <a:endParaRPr lang="ru-RU" sz="24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b</a:t>
                      </a:r>
                      <a:endParaRPr lang="ru-RU" sz="24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c</a:t>
                      </a:r>
                      <a:endParaRPr lang="ru-RU" sz="24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</a:t>
                      </a:r>
                      <a:endParaRPr lang="ru-RU" sz="24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</a:t>
                      </a:r>
                      <a:endParaRPr lang="ru-RU" sz="24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b</a:t>
                      </a:r>
                      <a:endParaRPr lang="ru-RU" sz="24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c</a:t>
                      </a:r>
                      <a:endParaRPr lang="ru-RU" sz="24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</a:t>
                      </a:r>
                      <a:endParaRPr lang="ru-RU" sz="24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b</a:t>
                      </a:r>
                      <a:endParaRPr lang="ru-RU" sz="24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</a:t>
                      </a:r>
                      <a:endParaRPr lang="ru-RU" sz="24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b</a:t>
                      </a:r>
                      <a:endParaRPr lang="ru-RU" sz="24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c</a:t>
                      </a:r>
                      <a:endParaRPr lang="ru-RU" sz="24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b</a:t>
                      </a:r>
                      <a:endParaRPr lang="ru-RU" sz="24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</a:t>
                      </a:r>
                      <a:endParaRPr lang="ru-RU" sz="24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b</a:t>
                      </a:r>
                      <a:endParaRPr lang="ru-RU" sz="24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c</a:t>
                      </a:r>
                      <a:endParaRPr lang="ru-RU" sz="24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</a:t>
                      </a:r>
                      <a:endParaRPr lang="ru-RU" sz="24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b</a:t>
                      </a:r>
                      <a:endParaRPr lang="ru-RU" sz="24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d</a:t>
                      </a:r>
                      <a:endParaRPr lang="ru-RU" sz="24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ru-RU" sz="24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ru-RU" sz="24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6276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ru-RU" sz="24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ru-RU" sz="24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ru-RU" sz="24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ru-RU" sz="24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ru-RU" sz="24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ru-RU" sz="24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ru-RU" sz="24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ru-RU" sz="24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ru-RU" sz="24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ru-RU" sz="24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ru-RU" sz="24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ru-RU" sz="24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</a:t>
                      </a:r>
                      <a:endParaRPr lang="ru-RU" sz="2400" b="1" dirty="0">
                        <a:solidFill>
                          <a:srgbClr val="FF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b</a:t>
                      </a:r>
                      <a:endParaRPr lang="ru-RU" sz="2400" b="1" dirty="0">
                        <a:solidFill>
                          <a:srgbClr val="FF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c</a:t>
                      </a:r>
                      <a:endParaRPr lang="ru-RU" sz="2400" b="1" dirty="0">
                        <a:solidFill>
                          <a:srgbClr val="FF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24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а</a:t>
                      </a: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b</a:t>
                      </a:r>
                      <a:endParaRPr lang="ru-RU" sz="24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d</a:t>
                      </a:r>
                      <a:endParaRPr lang="ru-RU" sz="24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6"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24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сдвиг 3</a:t>
                      </a: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ru-RU" sz="24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ru-RU" sz="24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ru-RU" sz="24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ru-RU" sz="24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ru-RU" sz="24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6276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ru-RU" sz="24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ru-RU" sz="24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ru-RU" sz="24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ru-RU" sz="24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ru-RU" sz="24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ru-RU" sz="24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ru-RU" sz="24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ru-RU" sz="24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ru-RU" sz="24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ru-RU" sz="24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ru-RU" sz="24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ru-RU" sz="24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ru-RU" sz="24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ru-RU" sz="24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</a:t>
                      </a:r>
                      <a:endParaRPr lang="ru-RU" sz="24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b</a:t>
                      </a:r>
                      <a:endParaRPr lang="ru-RU" sz="24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c</a:t>
                      </a:r>
                      <a:endParaRPr lang="ru-RU" sz="24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24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а</a:t>
                      </a: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b</a:t>
                      </a:r>
                      <a:endParaRPr lang="ru-RU" sz="24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d</a:t>
                      </a:r>
                      <a:endParaRPr lang="ru-RU" sz="24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24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сдвиг 1</a:t>
                      </a: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ru-RU" sz="24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ru-RU" sz="24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16276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ru-RU" sz="24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ru-RU" sz="24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ru-RU" sz="24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ru-RU" sz="24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ru-RU" sz="24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ru-RU" sz="24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ru-RU" sz="24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ru-RU" sz="24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ru-RU" sz="24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ru-RU" sz="24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ru-RU" sz="24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ru-RU" sz="24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ru-RU" sz="24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ru-RU" sz="24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ru-RU" sz="24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</a:t>
                      </a:r>
                      <a:endParaRPr lang="ru-RU" sz="2400" b="1" dirty="0">
                        <a:solidFill>
                          <a:srgbClr val="FF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b</a:t>
                      </a:r>
                      <a:endParaRPr lang="ru-RU" sz="2400" b="1" dirty="0">
                        <a:solidFill>
                          <a:srgbClr val="FF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c</a:t>
                      </a:r>
                      <a:endParaRPr lang="ru-RU" sz="2400" b="1" dirty="0">
                        <a:solidFill>
                          <a:srgbClr val="FF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2400" b="1" dirty="0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а</a:t>
                      </a: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b</a:t>
                      </a:r>
                      <a:endParaRPr lang="ru-RU" sz="2400" b="1" dirty="0">
                        <a:solidFill>
                          <a:srgbClr val="FF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d</a:t>
                      </a:r>
                      <a:endParaRPr lang="ru-RU" sz="2400" b="1" dirty="0">
                        <a:solidFill>
                          <a:srgbClr val="FF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24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!!!</a:t>
                      </a: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ru-RU" sz="24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6" name="Таблица 5"/>
          <p:cNvGraphicFramePr>
            <a:graphicFrameLocks noGrp="1"/>
          </p:cNvGraphicFramePr>
          <p:nvPr/>
        </p:nvGraphicFramePr>
        <p:xfrm>
          <a:off x="5484825" y="5911884"/>
          <a:ext cx="3103605" cy="415454"/>
        </p:xfrm>
        <a:graphic>
          <a:graphicData uri="http://schemas.openxmlformats.org/drawingml/2006/table">
            <a:tbl>
              <a:tblPr/>
              <a:tblGrid>
                <a:gridCol w="4429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295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392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4295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4392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4295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4392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15454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d</a:t>
                      </a:r>
                      <a:endParaRPr lang="ru-RU" sz="24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-1</a:t>
                      </a:r>
                      <a:endParaRPr lang="ru-RU" sz="24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</a:t>
                      </a:r>
                      <a:endParaRPr lang="ru-RU" sz="24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</a:t>
                      </a:r>
                      <a:endParaRPr lang="ru-RU" sz="24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24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</a:t>
                      </a: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24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</a:t>
                      </a: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2</a:t>
                      </a:r>
                      <a:endParaRPr lang="ru-RU" sz="2400" b="1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961" marR="59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28596" y="4743468"/>
            <a:ext cx="7777269" cy="954107"/>
          </a:xfrm>
          <a:prstGeom prst="rect">
            <a:avLst/>
          </a:prstGeom>
          <a:solidFill>
            <a:schemeClr val="tx1"/>
          </a:solidFill>
          <a:ln>
            <a:solidFill>
              <a:srgbClr val="000000"/>
            </a:solidFill>
          </a:ln>
        </p:spPr>
        <p:txBody>
          <a:bodyPr wrap="square" rtlCol="0">
            <a:spAutoFit/>
          </a:bodyPr>
          <a:lstStyle/>
          <a:p>
            <a:r>
              <a:rPr lang="ru-RU" dirty="0">
                <a:solidFill>
                  <a:srgbClr val="000000"/>
                </a:solidFill>
              </a:rPr>
              <a:t> Чем больше совпадений по тексту и меньше совпадений по строке</a:t>
            </a:r>
          </a:p>
        </p:txBody>
      </p:sp>
    </p:spTree>
    <p:extLst>
      <p:ext uri="{BB962C8B-B14F-4D97-AF65-F5344CB8AC3E}">
        <p14:creationId xmlns:p14="http://schemas.microsoft.com/office/powerpoint/2010/main" val="296597929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кстура">
  <a:themeElements>
    <a:clrScheme name="Текстура 5">
      <a:dk1>
        <a:srgbClr val="003366"/>
      </a:dk1>
      <a:lt1>
        <a:srgbClr val="FFFFFF"/>
      </a:lt1>
      <a:dk2>
        <a:srgbClr val="2B5481"/>
      </a:dk2>
      <a:lt2>
        <a:srgbClr val="E5FFFF"/>
      </a:lt2>
      <a:accent1>
        <a:srgbClr val="009999"/>
      </a:accent1>
      <a:accent2>
        <a:srgbClr val="336699"/>
      </a:accent2>
      <a:accent3>
        <a:srgbClr val="ACB3C1"/>
      </a:accent3>
      <a:accent4>
        <a:srgbClr val="DADADA"/>
      </a:accent4>
      <a:accent5>
        <a:srgbClr val="AACACA"/>
      </a:accent5>
      <a:accent6>
        <a:srgbClr val="2D5C8A"/>
      </a:accent6>
      <a:hlink>
        <a:srgbClr val="00CCFF"/>
      </a:hlink>
      <a:folHlink>
        <a:srgbClr val="FFCC00"/>
      </a:folHlink>
    </a:clrScheme>
    <a:fontScheme name="Текстура">
      <a:majorFont>
        <a:latin typeface="Tahoma"/>
        <a:ea typeface=""/>
        <a:cs typeface=""/>
      </a:majorFont>
      <a:minorFont>
        <a:latin typeface="Tahoma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20000"/>
          </a:spcBef>
          <a:spcAft>
            <a:spcPct val="0"/>
          </a:spcAft>
          <a:buClr>
            <a:schemeClr val="hlink"/>
          </a:buClr>
          <a:buSzPct val="65000"/>
          <a:buFont typeface="Wingdings" pitchFamily="2" charset="2"/>
          <a:buNone/>
          <a:tabLst/>
          <a:defRPr kumimoji="0" lang="ru-RU" sz="2800" b="1" i="0" u="none" strike="noStrike" cap="none" normalizeH="0" baseline="0" smtClean="0">
            <a:ln>
              <a:noFill/>
            </a:ln>
            <a:solidFill>
              <a:schemeClr val="tx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Tahoma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20000"/>
          </a:spcBef>
          <a:spcAft>
            <a:spcPct val="0"/>
          </a:spcAft>
          <a:buClr>
            <a:schemeClr val="hlink"/>
          </a:buClr>
          <a:buSzPct val="65000"/>
          <a:buFont typeface="Wingdings" pitchFamily="2" charset="2"/>
          <a:buNone/>
          <a:tabLst/>
          <a:defRPr kumimoji="0" lang="ru-RU" sz="2800" b="1" i="0" u="none" strike="noStrike" cap="none" normalizeH="0" baseline="0" smtClean="0">
            <a:ln>
              <a:noFill/>
            </a:ln>
            <a:solidFill>
              <a:schemeClr val="tx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Tahoma" pitchFamily="34" charset="0"/>
          </a:defRPr>
        </a:defPPr>
      </a:lstStyle>
    </a:lnDef>
  </a:objectDefaults>
  <a:extraClrSchemeLst>
    <a:extraClrScheme>
      <a:clrScheme name="Текстура 1">
        <a:dk1>
          <a:srgbClr val="660000"/>
        </a:dk1>
        <a:lt1>
          <a:srgbClr val="FFFFFF"/>
        </a:lt1>
        <a:dk2>
          <a:srgbClr val="800000"/>
        </a:dk2>
        <a:lt2>
          <a:srgbClr val="FFFFCC"/>
        </a:lt2>
        <a:accent1>
          <a:srgbClr val="BE7960"/>
        </a:accent1>
        <a:accent2>
          <a:srgbClr val="CC6600"/>
        </a:accent2>
        <a:accent3>
          <a:srgbClr val="C0AAAA"/>
        </a:accent3>
        <a:accent4>
          <a:srgbClr val="DADADA"/>
        </a:accent4>
        <a:accent5>
          <a:srgbClr val="DBBEB6"/>
        </a:accent5>
        <a:accent6>
          <a:srgbClr val="B95C00"/>
        </a:accent6>
        <a:hlink>
          <a:srgbClr val="FFCC66"/>
        </a:hlink>
        <a:folHlink>
          <a:srgbClr val="CC33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Текстура 2">
        <a:dk1>
          <a:srgbClr val="003300"/>
        </a:dk1>
        <a:lt1>
          <a:srgbClr val="FFFFFF"/>
        </a:lt1>
        <a:dk2>
          <a:srgbClr val="4D6A2A"/>
        </a:dk2>
        <a:lt2>
          <a:srgbClr val="CCFF99"/>
        </a:lt2>
        <a:accent1>
          <a:srgbClr val="33CC33"/>
        </a:accent1>
        <a:accent2>
          <a:srgbClr val="46562A"/>
        </a:accent2>
        <a:accent3>
          <a:srgbClr val="B2B9AC"/>
        </a:accent3>
        <a:accent4>
          <a:srgbClr val="DADADA"/>
        </a:accent4>
        <a:accent5>
          <a:srgbClr val="ADE2AD"/>
        </a:accent5>
        <a:accent6>
          <a:srgbClr val="3F4D25"/>
        </a:accent6>
        <a:hlink>
          <a:srgbClr val="009999"/>
        </a:hlink>
        <a:folHlink>
          <a:srgbClr val="CC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Текстура 3">
        <a:dk1>
          <a:srgbClr val="4E4E74"/>
        </a:dk1>
        <a:lt1>
          <a:srgbClr val="FFFFFF"/>
        </a:lt1>
        <a:dk2>
          <a:srgbClr val="666699"/>
        </a:dk2>
        <a:lt2>
          <a:srgbClr val="FFFFCC"/>
        </a:lt2>
        <a:accent1>
          <a:srgbClr val="5E5884"/>
        </a:accent1>
        <a:accent2>
          <a:srgbClr val="8AB29D"/>
        </a:accent2>
        <a:accent3>
          <a:srgbClr val="B8B8CA"/>
        </a:accent3>
        <a:accent4>
          <a:srgbClr val="DADADA"/>
        </a:accent4>
        <a:accent5>
          <a:srgbClr val="B6B4C2"/>
        </a:accent5>
        <a:accent6>
          <a:srgbClr val="7DA18E"/>
        </a:accent6>
        <a:hlink>
          <a:srgbClr val="FFFF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Текстура 4">
        <a:dk1>
          <a:srgbClr val="004E4C"/>
        </a:dk1>
        <a:lt1>
          <a:srgbClr val="FFFFFF"/>
        </a:lt1>
        <a:dk2>
          <a:srgbClr val="006666"/>
        </a:dk2>
        <a:lt2>
          <a:srgbClr val="FFFFCC"/>
        </a:lt2>
        <a:accent1>
          <a:srgbClr val="FFCC00"/>
        </a:accent1>
        <a:accent2>
          <a:srgbClr val="00B0AC"/>
        </a:accent2>
        <a:accent3>
          <a:srgbClr val="AAB8B8"/>
        </a:accent3>
        <a:accent4>
          <a:srgbClr val="DADADA"/>
        </a:accent4>
        <a:accent5>
          <a:srgbClr val="FFE2AA"/>
        </a:accent5>
        <a:accent6>
          <a:srgbClr val="009F9B"/>
        </a:accent6>
        <a:hlink>
          <a:srgbClr val="BA7C3E"/>
        </a:hlink>
        <a:folHlink>
          <a:srgbClr val="724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Текстура 5">
        <a:dk1>
          <a:srgbClr val="003366"/>
        </a:dk1>
        <a:lt1>
          <a:srgbClr val="FFFFFF"/>
        </a:lt1>
        <a:dk2>
          <a:srgbClr val="2B5481"/>
        </a:dk2>
        <a:lt2>
          <a:srgbClr val="E5FFFF"/>
        </a:lt2>
        <a:accent1>
          <a:srgbClr val="009999"/>
        </a:accent1>
        <a:accent2>
          <a:srgbClr val="336699"/>
        </a:accent2>
        <a:accent3>
          <a:srgbClr val="ACB3C1"/>
        </a:accent3>
        <a:accent4>
          <a:srgbClr val="DADADA"/>
        </a:accent4>
        <a:accent5>
          <a:srgbClr val="AACACA"/>
        </a:accent5>
        <a:accent6>
          <a:srgbClr val="2D5C8A"/>
        </a:accent6>
        <a:hlink>
          <a:srgbClr val="00CCFF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Текстура 6">
        <a:dk1>
          <a:srgbClr val="080808"/>
        </a:dk1>
        <a:lt1>
          <a:srgbClr val="FFFFFF"/>
        </a:lt1>
        <a:dk2>
          <a:srgbClr val="4D4D4D"/>
        </a:dk2>
        <a:lt2>
          <a:srgbClr val="FFFFFF"/>
        </a:lt2>
        <a:accent1>
          <a:srgbClr val="666699"/>
        </a:accent1>
        <a:accent2>
          <a:srgbClr val="3366CC"/>
        </a:accent2>
        <a:accent3>
          <a:srgbClr val="B2B2B2"/>
        </a:accent3>
        <a:accent4>
          <a:srgbClr val="DADADA"/>
        </a:accent4>
        <a:accent5>
          <a:srgbClr val="B8B8CA"/>
        </a:accent5>
        <a:accent6>
          <a:srgbClr val="2D5CB9"/>
        </a:accent6>
        <a:hlink>
          <a:srgbClr val="00CCFF"/>
        </a:hlink>
        <a:folHlink>
          <a:srgbClr val="CCCC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Текстура 7">
        <a:dk1>
          <a:srgbClr val="000000"/>
        </a:dk1>
        <a:lt1>
          <a:srgbClr val="DBDAC2"/>
        </a:lt1>
        <a:dk2>
          <a:srgbClr val="827F4C"/>
        </a:dk2>
        <a:lt2>
          <a:srgbClr val="C0BC94"/>
        </a:lt2>
        <a:accent1>
          <a:srgbClr val="AAA578"/>
        </a:accent1>
        <a:accent2>
          <a:srgbClr val="A2A4AC"/>
        </a:accent2>
        <a:accent3>
          <a:srgbClr val="EAEADD"/>
        </a:accent3>
        <a:accent4>
          <a:srgbClr val="000000"/>
        </a:accent4>
        <a:accent5>
          <a:srgbClr val="D2CFBE"/>
        </a:accent5>
        <a:accent6>
          <a:srgbClr val="92949B"/>
        </a:accent6>
        <a:hlink>
          <a:srgbClr val="5B8800"/>
        </a:hlink>
        <a:folHlink>
          <a:srgbClr val="68653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Текстура 8">
        <a:dk1>
          <a:srgbClr val="000000"/>
        </a:dk1>
        <a:lt1>
          <a:srgbClr val="DCE8F4"/>
        </a:lt1>
        <a:dk2>
          <a:srgbClr val="7B9CB5"/>
        </a:dk2>
        <a:lt2>
          <a:srgbClr val="969696"/>
        </a:lt2>
        <a:accent1>
          <a:srgbClr val="FFFFFF"/>
        </a:accent1>
        <a:accent2>
          <a:srgbClr val="00BAB6"/>
        </a:accent2>
        <a:accent3>
          <a:srgbClr val="EBF2F8"/>
        </a:accent3>
        <a:accent4>
          <a:srgbClr val="000000"/>
        </a:accent4>
        <a:accent5>
          <a:srgbClr val="FFFFFF"/>
        </a:accent5>
        <a:accent6>
          <a:srgbClr val="00A8A5"/>
        </a:accent6>
        <a:hlink>
          <a:srgbClr val="8A8AD8"/>
        </a:hlink>
        <a:folHlink>
          <a:srgbClr val="24249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Textured</Template>
  <TotalTime>12655</TotalTime>
  <Words>4154</Words>
  <Application>Microsoft Office PowerPoint</Application>
  <PresentationFormat>Экран (4:3)</PresentationFormat>
  <Paragraphs>1906</Paragraphs>
  <Slides>86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86</vt:i4>
      </vt:variant>
    </vt:vector>
  </HeadingPairs>
  <TitlesOfParts>
    <vt:vector size="92" baseType="lpstr">
      <vt:lpstr>Arial</vt:lpstr>
      <vt:lpstr>Arial Black</vt:lpstr>
      <vt:lpstr>Tahoma</vt:lpstr>
      <vt:lpstr>Times New Roman</vt:lpstr>
      <vt:lpstr>Wingdings</vt:lpstr>
      <vt:lpstr>Текстура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ПРЯМОЙ ПОИСК</vt:lpstr>
      <vt:lpstr>ПРЯМОЙ ПОИСК</vt:lpstr>
      <vt:lpstr>ПРЯМОЙ ПОИСК</vt:lpstr>
      <vt:lpstr>ПРЯМОЙ ПОИСК</vt:lpstr>
      <vt:lpstr>ПРЯМОЙ ПОИСК</vt:lpstr>
      <vt:lpstr>ПРЯМОЙ ПОИСК</vt:lpstr>
      <vt:lpstr>Алгоритм Кнута, Морриса и Пратта</vt:lpstr>
      <vt:lpstr>Алгоритм Кнута, Морриса и Пратта</vt:lpstr>
      <vt:lpstr>КМП - АЛГОРИТМ</vt:lpstr>
      <vt:lpstr>КМП – АЛГОРИТМ. Предварительная обработка образа</vt:lpstr>
      <vt:lpstr>КМП – АЛГОРИТМ. Предварительная обработка образа</vt:lpstr>
      <vt:lpstr>КМП – АЛГОРИТМ. Предварительная обработка образа</vt:lpstr>
      <vt:lpstr>КМП – АЛГОРИТМ. Предварительная обработка образа</vt:lpstr>
      <vt:lpstr>КМП – АЛГОРИТМ.  Пример</vt:lpstr>
      <vt:lpstr>КМП – АЛГОРИТМ.  Пример</vt:lpstr>
    </vt:vector>
  </TitlesOfParts>
  <Company>AOI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ИНФОРМАТИКА</dc:title>
  <dc:creator>pnv</dc:creator>
  <cp:lastModifiedBy>_user</cp:lastModifiedBy>
  <cp:revision>408</cp:revision>
  <dcterms:created xsi:type="dcterms:W3CDTF">2008-09-04T04:37:13Z</dcterms:created>
  <dcterms:modified xsi:type="dcterms:W3CDTF">2025-06-12T13:53:28Z</dcterms:modified>
</cp:coreProperties>
</file>