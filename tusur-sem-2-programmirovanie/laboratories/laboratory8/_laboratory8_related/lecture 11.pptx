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sldIdLst>
    <p:sldId id="691" r:id="rId2"/>
    <p:sldId id="692" r:id="rId3"/>
    <p:sldId id="693" r:id="rId4"/>
    <p:sldId id="669" r:id="rId5"/>
    <p:sldId id="676" r:id="rId6"/>
    <p:sldId id="675" r:id="rId7"/>
    <p:sldId id="677" r:id="rId8"/>
    <p:sldId id="670" r:id="rId9"/>
    <p:sldId id="671" r:id="rId10"/>
    <p:sldId id="672" r:id="rId11"/>
    <p:sldId id="679" r:id="rId12"/>
    <p:sldId id="673" r:id="rId13"/>
    <p:sldId id="674" r:id="rId14"/>
    <p:sldId id="680" r:id="rId15"/>
    <p:sldId id="681" r:id="rId16"/>
    <p:sldId id="682" r:id="rId17"/>
    <p:sldId id="683" r:id="rId18"/>
    <p:sldId id="684" r:id="rId19"/>
    <p:sldId id="685" r:id="rId20"/>
    <p:sldId id="688" r:id="rId21"/>
    <p:sldId id="689" r:id="rId22"/>
    <p:sldId id="690" r:id="rId23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9900FF"/>
    <a:srgbClr val="FF3300"/>
    <a:srgbClr val="000000"/>
    <a:srgbClr val="33CC33"/>
    <a:srgbClr val="3333CC"/>
    <a:srgbClr val="99FF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3" autoAdjust="0"/>
    <p:restoredTop sz="94576" autoAdjust="0"/>
  </p:normalViewPr>
  <p:slideViewPr>
    <p:cSldViewPr>
      <p:cViewPr varScale="1">
        <p:scale>
          <a:sx n="102" d="100"/>
          <a:sy n="102" d="100"/>
        </p:scale>
        <p:origin x="1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83D2F816-65BA-4ACA-8C4A-01084CA051CD}" type="datetimeFigureOut">
              <a:rPr lang="ru-RU"/>
              <a:pPr>
                <a:defRPr/>
              </a:pPr>
              <a:t>19.05.2022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31A361C-3A15-41B9-AD5F-5EB6860C4A9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6133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954C7-8152-4630-A2EF-F5AEC8CBD43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B0F2-BB10-405C-A1C1-FCCAF6F02F7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D99CC-3A47-4EE2-859D-80ADE2D67F0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0CB35-19F0-45AB-9AD7-2172D8419A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17810-9E70-44F7-A758-5CF6264194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54740-3AD1-4E0E-873A-C713F407A16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1D200-FE5C-493E-ABB5-1EF4E6F5820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3A4783-A4FA-4B15-AD25-E61CBD7B5EA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5FB34-67EE-409F-9721-C5C691B7FA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944E5-EA74-4B7C-8A1F-5BA782390C4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5E5B0-954A-4018-AE01-3CA03D65E50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B3ADE-AF45-4867-8C04-131C824AC7C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1"/>
            </a:gs>
            <a:gs pos="100000">
              <a:schemeClr val="tx1">
                <a:gamma/>
                <a:shade val="8274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48D38359-57E3-459F-A025-63A891DC1C6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2" r:id="rId2"/>
    <p:sldLayoutId id="2147483671" r:id="rId3"/>
    <p:sldLayoutId id="2147483670" r:id="rId4"/>
    <p:sldLayoutId id="2147483669" r:id="rId5"/>
    <p:sldLayoutId id="2147483668" r:id="rId6"/>
    <p:sldLayoutId id="2147483667" r:id="rId7"/>
    <p:sldLayoutId id="2147483666" r:id="rId8"/>
    <p:sldLayoutId id="2147483665" r:id="rId9"/>
    <p:sldLayoutId id="2147483664" r:id="rId10"/>
    <p:sldLayoutId id="2147483663" r:id="rId11"/>
    <p:sldLayoutId id="214748366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5900" y="1628775"/>
            <a:ext cx="8785225" cy="5040313"/>
          </a:xfrm>
          <a:solidFill>
            <a:schemeClr val="tx1"/>
          </a:solidFill>
          <a:ln>
            <a:solidFill>
              <a:schemeClr val="bg1"/>
            </a:solidFill>
          </a:ln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2"/>
                </a:solidFill>
                <a:effectLst/>
              </a:rPr>
              <a:t>Особый подход к организации BST-деревьев, который исключает возможность получения </a:t>
            </a:r>
            <a:r>
              <a:rPr lang="ru-RU" sz="2800" b="1" i="1" dirty="0">
                <a:solidFill>
                  <a:schemeClr val="bg2"/>
                </a:solidFill>
                <a:effectLst/>
              </a:rPr>
              <a:t>худшего</a:t>
            </a:r>
            <a:r>
              <a:rPr lang="ru-RU" sz="2800" dirty="0">
                <a:solidFill>
                  <a:schemeClr val="bg2"/>
                </a:solidFill>
                <a:effectLst/>
              </a:rPr>
              <a:t> случая BST-деревьев.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2"/>
                </a:solidFill>
                <a:effectLst/>
              </a:rPr>
              <a:t>Один из недостатков – необходимо хранить количество элементов </a:t>
            </a:r>
            <a:r>
              <a:rPr lang="en-US" sz="2800" i="1" dirty="0">
                <a:solidFill>
                  <a:schemeClr val="bg2"/>
                </a:solidFill>
                <a:effectLst/>
              </a:rPr>
              <a:t>N</a:t>
            </a:r>
            <a:r>
              <a:rPr lang="ru-RU" sz="2800" i="1" dirty="0">
                <a:solidFill>
                  <a:schemeClr val="bg2"/>
                </a:solidFill>
                <a:effectLst/>
              </a:rPr>
              <a:t>  </a:t>
            </a:r>
            <a:r>
              <a:rPr lang="ru-RU" sz="2800" dirty="0">
                <a:solidFill>
                  <a:schemeClr val="bg2"/>
                </a:solidFill>
                <a:effectLst/>
              </a:rPr>
              <a:t>в поддеревьях.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b="1" i="1" dirty="0" err="1">
                <a:solidFill>
                  <a:srgbClr val="000000"/>
                </a:solidFill>
                <a:effectLst/>
              </a:rPr>
              <a:t>typedef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</a:t>
            </a:r>
            <a:r>
              <a:rPr lang="en-US" sz="2400" b="1" i="1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node{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effectLst/>
              </a:rPr>
              <a:t>        </a:t>
            </a:r>
            <a:r>
              <a:rPr lang="en-US" sz="2400" b="1" i="1" dirty="0" err="1">
                <a:solidFill>
                  <a:srgbClr val="000000"/>
                </a:solidFill>
                <a:effectLst/>
              </a:rPr>
              <a:t>int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data;</a:t>
            </a:r>
            <a:endParaRPr lang="ru-RU" sz="2400" b="1" i="1" dirty="0">
              <a:solidFill>
                <a:srgbClr val="000000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2400" b="1" i="1" dirty="0">
                <a:solidFill>
                  <a:srgbClr val="000000"/>
                </a:solidFill>
                <a:effectLst/>
              </a:rPr>
              <a:t>        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int N;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effectLst/>
              </a:rPr>
              <a:t>        </a:t>
            </a:r>
            <a:r>
              <a:rPr lang="en-US" sz="2400" b="1" i="1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node *left;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effectLst/>
              </a:rPr>
              <a:t>        </a:t>
            </a:r>
            <a:r>
              <a:rPr lang="en-US" sz="2400" b="1" i="1" dirty="0" err="1">
                <a:solidFill>
                  <a:srgbClr val="000000"/>
                </a:solidFill>
                <a:effectLst/>
              </a:rPr>
              <a:t>struct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 node *right;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effectLst/>
              </a:rPr>
              <a:t>        } Node;</a:t>
            </a:r>
            <a:r>
              <a:rPr lang="ru-RU" sz="2400" i="1" dirty="0">
                <a:solidFill>
                  <a:srgbClr val="000000"/>
                </a:solidFill>
                <a:effectLst/>
              </a:rPr>
              <a:t> </a:t>
            </a:r>
          </a:p>
          <a:p>
            <a:pPr marL="0" indent="0">
              <a:buFont typeface="Wingdings" pitchFamily="2" charset="2"/>
              <a:buNone/>
              <a:defRPr/>
            </a:pPr>
            <a:endParaRPr lang="ru-RU" sz="2800" dirty="0">
              <a:solidFill>
                <a:schemeClr val="bg2"/>
              </a:solidFill>
              <a:effectLst/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60438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</a:t>
            </a:r>
            <a:r>
              <a:rPr lang="ru-RU" sz="3600" b="1" dirty="0" err="1">
                <a:solidFill>
                  <a:schemeClr val="bg1">
                    <a:lumMod val="75000"/>
                  </a:schemeClr>
                </a:solidFill>
              </a:rPr>
              <a:t>Рандомизованная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вставка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50619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60438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</a:t>
            </a:r>
            <a:r>
              <a:rPr lang="ru-RU" sz="3600" b="1" dirty="0" err="1">
                <a:solidFill>
                  <a:schemeClr val="bg1">
                    <a:lumMod val="75000"/>
                  </a:schemeClr>
                </a:solidFill>
              </a:rPr>
              <a:t>Рандомизованная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вставка</a:t>
            </a:r>
            <a:endParaRPr lang="ru-RU" sz="3600" dirty="0"/>
          </a:p>
        </p:txBody>
      </p:sp>
      <p:sp>
        <p:nvSpPr>
          <p:cNvPr id="35842" name="TextBox 4"/>
          <p:cNvSpPr txBox="1">
            <a:spLocks noChangeArrowheads="1"/>
          </p:cNvSpPr>
          <p:nvPr/>
        </p:nvSpPr>
        <p:spPr bwMode="auto">
          <a:xfrm>
            <a:off x="395288" y="1717675"/>
            <a:ext cx="8461375" cy="4031873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</a:rPr>
              <a:t>InsertR</a:t>
            </a:r>
            <a:r>
              <a:rPr lang="en-US" sz="3200" b="0" dirty="0">
                <a:solidFill>
                  <a:schemeClr val="bg2"/>
                </a:solidFill>
              </a:rPr>
              <a:t>(Node *</a:t>
            </a:r>
            <a:r>
              <a:rPr lang="ru-RU" sz="3200" b="0" dirty="0">
                <a:solidFill>
                  <a:schemeClr val="bg2"/>
                </a:solidFill>
              </a:rPr>
              <a:t>*</a:t>
            </a:r>
            <a:r>
              <a:rPr lang="en-US" sz="3200" b="0" dirty="0">
                <a:solidFill>
                  <a:schemeClr val="bg2"/>
                </a:solidFill>
              </a:rPr>
              <a:t>Root, key)</a:t>
            </a:r>
            <a:endParaRPr lang="ru-RU" sz="3200" b="0" dirty="0">
              <a:solidFill>
                <a:schemeClr val="bg2"/>
              </a:solidFill>
            </a:endParaRPr>
          </a:p>
          <a:p>
            <a:r>
              <a:rPr lang="en-US" sz="3200" b="0" dirty="0">
                <a:solidFill>
                  <a:schemeClr val="bg2"/>
                </a:solidFill>
              </a:rPr>
              <a:t>{</a:t>
            </a:r>
            <a:endParaRPr lang="ru-RU" sz="3200" b="0" dirty="0">
              <a:solidFill>
                <a:schemeClr val="bg2"/>
              </a:solidFill>
            </a:endParaRPr>
          </a:p>
          <a:p>
            <a:r>
              <a:rPr lang="ru-RU" sz="3200" b="0" dirty="0">
                <a:solidFill>
                  <a:schemeClr val="bg2"/>
                </a:solidFill>
              </a:rPr>
              <a:t>   </a:t>
            </a:r>
            <a:r>
              <a:rPr lang="en-US" sz="3200" b="0" dirty="0">
                <a:solidFill>
                  <a:schemeClr val="bg2"/>
                </a:solidFill>
              </a:rPr>
              <a:t>if </a:t>
            </a:r>
            <a:r>
              <a:rPr lang="ru-RU" sz="3200" b="0" dirty="0">
                <a:solidFill>
                  <a:schemeClr val="bg2"/>
                </a:solidFill>
              </a:rPr>
              <a:t> (дерево пустое) {Выделить под новый </a:t>
            </a:r>
            <a:endParaRPr lang="en-US" sz="3200" b="0" dirty="0">
              <a:solidFill>
                <a:schemeClr val="bg2"/>
              </a:solidFill>
            </a:endParaRPr>
          </a:p>
          <a:p>
            <a:r>
              <a:rPr lang="en-US" sz="3200" b="0" dirty="0">
                <a:solidFill>
                  <a:schemeClr val="bg2"/>
                </a:solidFill>
              </a:rPr>
              <a:t>                                 </a:t>
            </a:r>
            <a:r>
              <a:rPr lang="ru-RU" sz="3200" b="0" dirty="0">
                <a:solidFill>
                  <a:schemeClr val="bg2"/>
                </a:solidFill>
              </a:rPr>
              <a:t>узел память;</a:t>
            </a:r>
          </a:p>
          <a:p>
            <a:r>
              <a:rPr lang="en-US" sz="3200" b="0" dirty="0">
                <a:solidFill>
                  <a:schemeClr val="bg2"/>
                </a:solidFill>
              </a:rPr>
              <a:t>                                 </a:t>
            </a:r>
            <a:r>
              <a:rPr lang="ru-RU" sz="3200" b="0" dirty="0">
                <a:solidFill>
                  <a:schemeClr val="bg2"/>
                </a:solidFill>
              </a:rPr>
              <a:t>*</a:t>
            </a:r>
            <a:r>
              <a:rPr lang="en-US" sz="3200" b="0" dirty="0">
                <a:solidFill>
                  <a:schemeClr val="bg2"/>
                </a:solidFill>
              </a:rPr>
              <a:t>Root </a:t>
            </a:r>
            <a:r>
              <a:rPr lang="en-US" sz="3200" b="0" dirty="0">
                <a:solidFill>
                  <a:schemeClr val="bg2"/>
                </a:solidFill>
                <a:sym typeface="Wingdings" pitchFamily="2" charset="2"/>
              </a:rPr>
              <a:t></a:t>
            </a:r>
            <a:r>
              <a:rPr lang="en-US" sz="3200" b="0" dirty="0">
                <a:solidFill>
                  <a:schemeClr val="bg2"/>
                </a:solidFill>
              </a:rPr>
              <a:t> data = key;</a:t>
            </a:r>
            <a:endParaRPr lang="ru-RU" sz="3200" b="0" dirty="0">
              <a:solidFill>
                <a:schemeClr val="bg2"/>
              </a:solidFill>
            </a:endParaRPr>
          </a:p>
          <a:p>
            <a:r>
              <a:rPr lang="en-US" sz="3200" b="0" dirty="0">
                <a:solidFill>
                  <a:schemeClr val="bg2"/>
                </a:solidFill>
              </a:rPr>
              <a:t>                                 </a:t>
            </a:r>
            <a:r>
              <a:rPr lang="ru-RU" sz="3200" b="0" dirty="0">
                <a:solidFill>
                  <a:schemeClr val="bg2"/>
                </a:solidFill>
              </a:rPr>
              <a:t>*</a:t>
            </a:r>
            <a:r>
              <a:rPr lang="en-US" sz="3200" b="0" dirty="0">
                <a:solidFill>
                  <a:schemeClr val="bg2"/>
                </a:solidFill>
              </a:rPr>
              <a:t>Root </a:t>
            </a:r>
            <a:r>
              <a:rPr lang="en-US" sz="3200" b="0" dirty="0">
                <a:solidFill>
                  <a:schemeClr val="bg2"/>
                </a:solidFill>
                <a:sym typeface="Wingdings" pitchFamily="2" charset="2"/>
              </a:rPr>
              <a:t></a:t>
            </a:r>
            <a:r>
              <a:rPr lang="en-US" sz="3200" b="0" dirty="0">
                <a:solidFill>
                  <a:schemeClr val="bg2"/>
                </a:solidFill>
              </a:rPr>
              <a:t> N = 1; </a:t>
            </a:r>
          </a:p>
          <a:p>
            <a:r>
              <a:rPr lang="en-US" sz="3200" b="0" dirty="0">
                <a:solidFill>
                  <a:schemeClr val="bg2"/>
                </a:solidFill>
              </a:rPr>
              <a:t>                                       return;}</a:t>
            </a:r>
            <a:endParaRPr lang="ru-RU" sz="3200" b="0" dirty="0">
              <a:solidFill>
                <a:schemeClr val="bg2"/>
              </a:solidFill>
            </a:endParaRPr>
          </a:p>
          <a:p>
            <a:r>
              <a:rPr lang="ru-RU" sz="3200" b="0" dirty="0">
                <a:solidFill>
                  <a:schemeClr val="bg2"/>
                </a:solidFill>
              </a:rPr>
              <a:t>   </a:t>
            </a:r>
            <a:endParaRPr lang="ru-RU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166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Содержимое 2"/>
          <p:cNvSpPr>
            <a:spLocks noGrp="1"/>
          </p:cNvSpPr>
          <p:nvPr>
            <p:ph idx="1"/>
          </p:nvPr>
        </p:nvSpPr>
        <p:spPr>
          <a:xfrm>
            <a:off x="179388" y="1665288"/>
            <a:ext cx="8748712" cy="4895850"/>
          </a:xfrm>
          <a:solidFill>
            <a:schemeClr val="tx1"/>
          </a:solidFill>
          <a:ln>
            <a:solidFill>
              <a:schemeClr val="bg1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 dirty="0">
                <a:solidFill>
                  <a:schemeClr val="bg2"/>
                </a:solidFill>
                <a:effectLst/>
              </a:rPr>
              <a:t> *Root </a:t>
            </a:r>
            <a:r>
              <a:rPr lang="en-US" sz="2800" dirty="0">
                <a:solidFill>
                  <a:schemeClr val="bg2"/>
                </a:solidFill>
                <a:effectLst/>
                <a:sym typeface="Wingdings" pitchFamily="2" charset="2"/>
              </a:rPr>
              <a:t></a:t>
            </a:r>
            <a:r>
              <a:rPr lang="en-US" sz="2800" dirty="0">
                <a:solidFill>
                  <a:schemeClr val="bg2"/>
                </a:solidFill>
                <a:effectLst/>
              </a:rPr>
              <a:t> N++;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solidFill>
                  <a:schemeClr val="bg2"/>
                </a:solidFill>
                <a:effectLst/>
              </a:rPr>
              <a:t>   </a:t>
            </a:r>
            <a:r>
              <a:rPr lang="en-US" dirty="0">
                <a:solidFill>
                  <a:schemeClr val="bg2"/>
                </a:solidFill>
                <a:effectLst/>
              </a:rPr>
              <a:t>z</a:t>
            </a:r>
            <a:r>
              <a:rPr lang="ru-RU" dirty="0">
                <a:solidFill>
                  <a:schemeClr val="bg2"/>
                </a:solidFill>
                <a:effectLst/>
              </a:rPr>
              <a:t> = случайное число в диапазоне (0,1)</a:t>
            </a:r>
          </a:p>
          <a:p>
            <a:pPr>
              <a:buFont typeface="Wingdings" pitchFamily="2" charset="2"/>
              <a:buNone/>
            </a:pPr>
            <a:r>
              <a:rPr lang="ru-RU" dirty="0">
                <a:solidFill>
                  <a:schemeClr val="bg2"/>
                </a:solidFill>
                <a:effectLst/>
              </a:rPr>
              <a:t>   </a:t>
            </a:r>
            <a:r>
              <a:rPr lang="en-US" dirty="0">
                <a:solidFill>
                  <a:schemeClr val="bg2"/>
                </a:solidFill>
                <a:effectLst/>
              </a:rPr>
              <a:t>if</a:t>
            </a:r>
            <a:r>
              <a:rPr lang="ru-RU" dirty="0">
                <a:solidFill>
                  <a:schemeClr val="bg2"/>
                </a:solidFill>
                <a:effectLst/>
              </a:rPr>
              <a:t> (</a:t>
            </a:r>
            <a:r>
              <a:rPr lang="en-US" dirty="0">
                <a:solidFill>
                  <a:schemeClr val="bg2"/>
                </a:solidFill>
                <a:effectLst/>
              </a:rPr>
              <a:t>z</a:t>
            </a:r>
            <a:r>
              <a:rPr lang="ru-RU" dirty="0">
                <a:solidFill>
                  <a:schemeClr val="bg2"/>
                </a:solidFill>
                <a:effectLst/>
              </a:rPr>
              <a:t> &lt; 1/(</a:t>
            </a:r>
            <a:r>
              <a:rPr lang="en-US" dirty="0">
                <a:solidFill>
                  <a:schemeClr val="bg2"/>
                </a:solidFill>
                <a:effectLst/>
              </a:rPr>
              <a:t>*Root </a:t>
            </a:r>
            <a:r>
              <a:rPr lang="en-US" dirty="0">
                <a:solidFill>
                  <a:schemeClr val="bg2"/>
                </a:solidFill>
                <a:effectLst/>
                <a:sym typeface="Wingdings" pitchFamily="2" charset="2"/>
              </a:rPr>
              <a:t></a:t>
            </a:r>
            <a:r>
              <a:rPr lang="en-US" dirty="0">
                <a:solidFill>
                  <a:schemeClr val="bg2"/>
                </a:solidFill>
                <a:effectLst/>
              </a:rPr>
              <a:t>N</a:t>
            </a:r>
            <a:r>
              <a:rPr lang="ru-RU" dirty="0">
                <a:solidFill>
                  <a:schemeClr val="bg2"/>
                </a:solidFill>
                <a:effectLst/>
              </a:rPr>
              <a:t>+1</a:t>
            </a:r>
            <a:r>
              <a:rPr lang="en-US" dirty="0">
                <a:solidFill>
                  <a:schemeClr val="bg2"/>
                </a:solidFill>
                <a:effectLst/>
              </a:rPr>
              <a:t>.</a:t>
            </a:r>
            <a:r>
              <a:rPr lang="ru-RU" dirty="0">
                <a:solidFill>
                  <a:schemeClr val="bg2"/>
                </a:solidFill>
                <a:effectLst/>
              </a:rPr>
              <a:t>)) {</a:t>
            </a:r>
            <a:r>
              <a:rPr lang="en-US" dirty="0">
                <a:solidFill>
                  <a:schemeClr val="bg2"/>
                </a:solidFill>
                <a:effectLst/>
              </a:rPr>
              <a:t> 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chemeClr val="bg2"/>
                </a:solidFill>
                <a:effectLst/>
              </a:rPr>
              <a:t>                             </a:t>
            </a:r>
            <a:r>
              <a:rPr lang="ru-RU" b="1" dirty="0">
                <a:solidFill>
                  <a:schemeClr val="bg2"/>
                </a:solidFill>
                <a:effectLst/>
              </a:rPr>
              <a:t>Вставка</a:t>
            </a:r>
            <a:r>
              <a:rPr lang="en-US" b="1" dirty="0">
                <a:solidFill>
                  <a:schemeClr val="bg2"/>
                </a:solidFill>
                <a:effectLst/>
              </a:rPr>
              <a:t>R</a:t>
            </a:r>
            <a:r>
              <a:rPr lang="ru-RU" dirty="0">
                <a:solidFill>
                  <a:schemeClr val="bg2"/>
                </a:solidFill>
                <a:effectLst/>
              </a:rPr>
              <a:t>(</a:t>
            </a:r>
            <a:r>
              <a:rPr lang="en-US" dirty="0">
                <a:solidFill>
                  <a:schemeClr val="bg2"/>
                </a:solidFill>
                <a:effectLst/>
              </a:rPr>
              <a:t>Root, key</a:t>
            </a:r>
            <a:r>
              <a:rPr lang="ru-RU" dirty="0">
                <a:solidFill>
                  <a:schemeClr val="bg2"/>
                </a:solidFill>
                <a:effectLst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ru-RU" dirty="0">
                <a:solidFill>
                  <a:schemeClr val="bg2"/>
                </a:solidFill>
                <a:effectLst/>
              </a:rPr>
              <a:t>                             </a:t>
            </a:r>
            <a:r>
              <a:rPr lang="en-US" dirty="0">
                <a:solidFill>
                  <a:schemeClr val="bg2"/>
                </a:solidFill>
                <a:effectLst/>
              </a:rPr>
              <a:t>return}</a:t>
            </a: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chemeClr val="bg2"/>
                </a:solidFill>
                <a:effectLst/>
              </a:rPr>
              <a:t>   if </a:t>
            </a:r>
            <a:r>
              <a:rPr lang="en-US">
                <a:solidFill>
                  <a:schemeClr val="bg2"/>
                </a:solidFill>
                <a:effectLst/>
              </a:rPr>
              <a:t>(</a:t>
            </a:r>
            <a:r>
              <a:rPr lang="en-US" smtClean="0">
                <a:solidFill>
                  <a:schemeClr val="bg2"/>
                </a:solidFill>
                <a:effectLst/>
              </a:rPr>
              <a:t>key</a:t>
            </a:r>
            <a:r>
              <a:rPr lang="en-US">
                <a:solidFill>
                  <a:schemeClr val="bg2"/>
                </a:solidFill>
                <a:effectLst/>
              </a:rPr>
              <a:t>&lt;</a:t>
            </a:r>
            <a:r>
              <a:rPr lang="en-US" smtClean="0">
                <a:solidFill>
                  <a:schemeClr val="bg2"/>
                </a:solidFill>
                <a:effectLst/>
              </a:rPr>
              <a:t>*</a:t>
            </a:r>
            <a:r>
              <a:rPr lang="en-US" dirty="0" err="1" smtClean="0">
                <a:solidFill>
                  <a:schemeClr val="bg2"/>
                </a:solidFill>
                <a:effectLst/>
              </a:rPr>
              <a:t>Root</a:t>
            </a:r>
            <a:r>
              <a:rPr lang="en-US" dirty="0" err="1">
                <a:solidFill>
                  <a:schemeClr val="bg2"/>
                </a:solidFill>
                <a:effectLst/>
                <a:sym typeface="Wingdings" pitchFamily="2" charset="2"/>
              </a:rPr>
              <a:t></a:t>
            </a:r>
            <a:r>
              <a:rPr lang="en-US" dirty="0" err="1">
                <a:solidFill>
                  <a:schemeClr val="bg2"/>
                </a:solidFill>
                <a:effectLst/>
              </a:rPr>
              <a:t>data</a:t>
            </a:r>
            <a:r>
              <a:rPr lang="en-US" dirty="0">
                <a:solidFill>
                  <a:schemeClr val="bg2"/>
                </a:solidFill>
                <a:effectLst/>
              </a:rPr>
              <a:t>) </a:t>
            </a: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ru-RU" dirty="0">
                <a:solidFill>
                  <a:schemeClr val="bg2"/>
                </a:solidFill>
                <a:effectLst/>
              </a:rPr>
              <a:t>             </a:t>
            </a:r>
            <a:r>
              <a:rPr lang="en-US" b="1" dirty="0" err="1">
                <a:solidFill>
                  <a:schemeClr val="bg2"/>
                </a:solidFill>
                <a:effectLst/>
              </a:rPr>
              <a:t>InsertR</a:t>
            </a:r>
            <a:r>
              <a:rPr lang="en-US" dirty="0">
                <a:solidFill>
                  <a:schemeClr val="bg2"/>
                </a:solidFill>
                <a:effectLst/>
              </a:rPr>
              <a:t>(*</a:t>
            </a:r>
            <a:r>
              <a:rPr lang="en-US" dirty="0" err="1">
                <a:solidFill>
                  <a:schemeClr val="bg2"/>
                </a:solidFill>
                <a:effectLst/>
              </a:rPr>
              <a:t>Root</a:t>
            </a:r>
            <a:r>
              <a:rPr lang="en-US" dirty="0" err="1">
                <a:solidFill>
                  <a:schemeClr val="bg2"/>
                </a:solidFill>
                <a:effectLst/>
                <a:sym typeface="Wingdings" pitchFamily="2" charset="2"/>
              </a:rPr>
              <a:t></a:t>
            </a:r>
            <a:r>
              <a:rPr lang="en-US" dirty="0" err="1">
                <a:solidFill>
                  <a:schemeClr val="bg2"/>
                </a:solidFill>
                <a:effectLst/>
              </a:rPr>
              <a:t>left,key</a:t>
            </a:r>
            <a:r>
              <a:rPr lang="en-US" dirty="0">
                <a:solidFill>
                  <a:schemeClr val="bg2"/>
                </a:solidFill>
                <a:effectLst/>
              </a:rPr>
              <a:t>);</a:t>
            </a: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chemeClr val="bg2"/>
                </a:solidFill>
                <a:effectLst/>
              </a:rPr>
              <a:t>            else </a:t>
            </a:r>
            <a:r>
              <a:rPr lang="en-US" b="1" dirty="0" err="1">
                <a:solidFill>
                  <a:schemeClr val="bg2"/>
                </a:solidFill>
                <a:effectLst/>
              </a:rPr>
              <a:t>InsertR</a:t>
            </a:r>
            <a:r>
              <a:rPr lang="en-US" dirty="0">
                <a:solidFill>
                  <a:schemeClr val="bg2"/>
                </a:solidFill>
                <a:effectLst/>
              </a:rPr>
              <a:t>(*</a:t>
            </a:r>
            <a:r>
              <a:rPr lang="en-US" dirty="0" err="1">
                <a:solidFill>
                  <a:schemeClr val="bg2"/>
                </a:solidFill>
                <a:effectLst/>
              </a:rPr>
              <a:t>Root</a:t>
            </a:r>
            <a:r>
              <a:rPr lang="en-US" dirty="0" err="1">
                <a:solidFill>
                  <a:schemeClr val="bg2"/>
                </a:solidFill>
                <a:effectLst/>
                <a:sym typeface="Wingdings" pitchFamily="2" charset="2"/>
              </a:rPr>
              <a:t>rigth</a:t>
            </a:r>
            <a:r>
              <a:rPr lang="en-US" dirty="0" err="1">
                <a:solidFill>
                  <a:schemeClr val="bg2"/>
                </a:solidFill>
                <a:effectLst/>
              </a:rPr>
              <a:t>,key</a:t>
            </a:r>
            <a:r>
              <a:rPr lang="en-US" dirty="0">
                <a:solidFill>
                  <a:schemeClr val="bg2"/>
                </a:solidFill>
                <a:effectLst/>
              </a:rPr>
              <a:t>);</a:t>
            </a: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chemeClr val="bg2"/>
                </a:solidFill>
                <a:effectLst/>
              </a:rPr>
              <a:t>}</a:t>
            </a: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endParaRPr lang="ru-RU" sz="2800" dirty="0">
              <a:solidFill>
                <a:schemeClr val="bg2"/>
              </a:solidFill>
              <a:effectLst/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60438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chemeClr val="bg1">
                    <a:lumMod val="75000"/>
                  </a:schemeClr>
                </a:solidFill>
              </a:rPr>
              <a:t>BST-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деревья. </a:t>
            </a:r>
            <a:r>
              <a:rPr lang="ru-RU" sz="3600" b="1" dirty="0" err="1">
                <a:solidFill>
                  <a:schemeClr val="bg1">
                    <a:lumMod val="75000"/>
                  </a:schemeClr>
                </a:solidFill>
              </a:rPr>
              <a:t>Рандомизованная</a:t>
            </a:r>
            <a:r>
              <a:rPr lang="ru-RU" sz="3600" b="1" dirty="0">
                <a:solidFill>
                  <a:schemeClr val="bg1">
                    <a:lumMod val="75000"/>
                  </a:schemeClr>
                </a:solidFill>
              </a:rPr>
              <a:t> вставка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208498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8313" y="1916112"/>
            <a:ext cx="8229600" cy="4465215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ru-RU" b="1" dirty="0"/>
              <a:t> </a:t>
            </a:r>
            <a:r>
              <a:rPr lang="ru-RU" b="1" i="1" dirty="0">
                <a:solidFill>
                  <a:schemeClr val="bg2"/>
                </a:solidFill>
                <a:effectLst/>
              </a:rPr>
              <a:t>Суть операции </a:t>
            </a:r>
            <a:r>
              <a:rPr lang="ru-RU" dirty="0">
                <a:solidFill>
                  <a:schemeClr val="bg2"/>
                </a:solidFill>
              </a:rPr>
              <a:t>– </a:t>
            </a:r>
            <a:r>
              <a:rPr lang="ru-RU" dirty="0">
                <a:solidFill>
                  <a:schemeClr val="bg2"/>
                </a:solidFill>
                <a:effectLst/>
              </a:rPr>
              <a:t>помещение </a:t>
            </a:r>
            <a:r>
              <a:rPr lang="en-US" i="1" dirty="0">
                <a:solidFill>
                  <a:schemeClr val="bg2"/>
                </a:solidFill>
                <a:effectLst/>
              </a:rPr>
              <a:t>k</a:t>
            </a:r>
            <a:r>
              <a:rPr lang="en-US" dirty="0">
                <a:solidFill>
                  <a:schemeClr val="bg2"/>
                </a:solidFill>
                <a:effectLst/>
              </a:rPr>
              <a:t>-</a:t>
            </a:r>
            <a:r>
              <a:rPr lang="ru-RU" dirty="0">
                <a:solidFill>
                  <a:schemeClr val="bg2"/>
                </a:solidFill>
                <a:effectLst/>
              </a:rPr>
              <a:t>го наименьшего узла в корень дерева. Эта операция не относится к основным операциям деревьев, но она может сделать некоторые операции более эффективными, либо может применяться для реализации этих основных операций. </a:t>
            </a:r>
          </a:p>
          <a:p>
            <a:pPr>
              <a:buFont typeface="Wingdings" pitchFamily="2" charset="2"/>
              <a:buNone/>
              <a:defRPr/>
            </a:pPr>
            <a:endParaRPr lang="ru-RU" dirty="0"/>
          </a:p>
          <a:p>
            <a:pPr>
              <a:buFont typeface="Wingdings" pitchFamily="2" charset="2"/>
              <a:buNone/>
              <a:defRPr/>
            </a:pP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225425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ru-RU" sz="4000" b="1" dirty="0">
                <a:solidFill>
                  <a:schemeClr val="bg2"/>
                </a:solidFill>
              </a:rPr>
              <a:t>Операция разделения </a:t>
            </a:r>
            <a:r>
              <a:rPr lang="en-US" sz="4000" b="1" dirty="0">
                <a:solidFill>
                  <a:schemeClr val="bg2"/>
                </a:solidFill>
              </a:rPr>
              <a:t>BST-</a:t>
            </a:r>
            <a:r>
              <a:rPr lang="ru-RU" sz="4000" b="1" dirty="0">
                <a:solidFill>
                  <a:schemeClr val="bg2"/>
                </a:solidFill>
              </a:rPr>
              <a:t>дерева на части</a:t>
            </a:r>
            <a:endParaRPr lang="ru-RU" sz="4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225425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ru-RU" sz="4000" b="1" dirty="0">
                <a:solidFill>
                  <a:schemeClr val="bg2"/>
                </a:solidFill>
              </a:rPr>
              <a:t>Операция разделения </a:t>
            </a:r>
            <a:r>
              <a:rPr lang="en-US" sz="4000" b="1" dirty="0">
                <a:solidFill>
                  <a:schemeClr val="bg2"/>
                </a:solidFill>
              </a:rPr>
              <a:t>BST-</a:t>
            </a:r>
            <a:r>
              <a:rPr lang="ru-RU" sz="4000" b="1" dirty="0">
                <a:solidFill>
                  <a:schemeClr val="bg2"/>
                </a:solidFill>
              </a:rPr>
              <a:t>дерева на части</a:t>
            </a:r>
            <a:endParaRPr lang="ru-RU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215900" y="1736725"/>
            <a:ext cx="8569325" cy="4708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ru-RU" sz="2000" b="0" dirty="0">
                <a:solidFill>
                  <a:schemeClr val="bg2"/>
                </a:solidFill>
              </a:rPr>
              <a:t>Вставка (</a:t>
            </a:r>
            <a:r>
              <a:rPr lang="en-US" sz="2000" b="0" dirty="0">
                <a:solidFill>
                  <a:schemeClr val="bg2"/>
                </a:solidFill>
              </a:rPr>
              <a:t>Node ** Root, </a:t>
            </a:r>
            <a:r>
              <a:rPr lang="en-US" sz="2000" b="0" dirty="0" err="1">
                <a:solidFill>
                  <a:schemeClr val="bg2"/>
                </a:solidFill>
              </a:rPr>
              <a:t>int</a:t>
            </a:r>
            <a:r>
              <a:rPr lang="en-US" sz="2000" b="0" dirty="0">
                <a:solidFill>
                  <a:schemeClr val="bg2"/>
                </a:solidFill>
              </a:rPr>
              <a:t> key) </a:t>
            </a:r>
          </a:p>
          <a:p>
            <a:pPr>
              <a:defRPr/>
            </a:pPr>
            <a:r>
              <a:rPr lang="ru-RU" sz="2000" b="0" dirty="0">
                <a:solidFill>
                  <a:schemeClr val="bg2"/>
                </a:solidFill>
              </a:rPr>
              <a:t>Если *</a:t>
            </a:r>
            <a:r>
              <a:rPr lang="en-US" sz="2000" b="0" dirty="0">
                <a:solidFill>
                  <a:schemeClr val="bg2"/>
                </a:solidFill>
              </a:rPr>
              <a:t>Root  - </a:t>
            </a:r>
            <a:r>
              <a:rPr lang="ru-RU" sz="2000" b="0" dirty="0">
                <a:solidFill>
                  <a:schemeClr val="bg2"/>
                </a:solidFill>
              </a:rPr>
              <a:t>пустой, то </a:t>
            </a:r>
          </a:p>
          <a:p>
            <a:pPr>
              <a:defRPr/>
            </a:pPr>
            <a:r>
              <a:rPr lang="ru-RU" sz="2000" b="0" dirty="0">
                <a:solidFill>
                  <a:schemeClr val="bg2"/>
                </a:solidFill>
              </a:rPr>
              <a:t>                                 выделить память под *</a:t>
            </a:r>
            <a:r>
              <a:rPr lang="en-US" sz="2000" b="0" dirty="0">
                <a:solidFill>
                  <a:schemeClr val="bg2"/>
                </a:solidFill>
              </a:rPr>
              <a:t>Root</a:t>
            </a:r>
          </a:p>
          <a:p>
            <a:pPr>
              <a:defRPr/>
            </a:pPr>
            <a:r>
              <a:rPr lang="en-US" sz="2000" b="0" dirty="0">
                <a:solidFill>
                  <a:schemeClr val="bg2"/>
                </a:solidFill>
              </a:rPr>
              <a:t>			*Root -&gt; data = key</a:t>
            </a:r>
          </a:p>
          <a:p>
            <a:pPr>
              <a:defRPr/>
            </a:pPr>
            <a:r>
              <a:rPr lang="en-US" sz="2000" b="0" dirty="0">
                <a:solidFill>
                  <a:schemeClr val="bg2"/>
                </a:solidFill>
              </a:rPr>
              <a:t>			*Root -&gt; left = Null</a:t>
            </a:r>
          </a:p>
          <a:p>
            <a:pPr>
              <a:defRPr/>
            </a:pPr>
            <a:r>
              <a:rPr lang="en-US" sz="2000" b="0" dirty="0">
                <a:solidFill>
                  <a:schemeClr val="bg2"/>
                </a:solidFill>
              </a:rPr>
              <a:t>			*Root-&gt;right = Null</a:t>
            </a:r>
          </a:p>
          <a:p>
            <a:pPr>
              <a:defRPr/>
            </a:pPr>
            <a:r>
              <a:rPr lang="en-US" sz="2000" b="0" dirty="0">
                <a:solidFill>
                  <a:schemeClr val="bg2"/>
                </a:solidFill>
              </a:rPr>
              <a:t>			</a:t>
            </a:r>
            <a:r>
              <a:rPr lang="en-US" sz="2000" dirty="0">
                <a:solidFill>
                  <a:schemeClr val="bg2"/>
                </a:solidFill>
              </a:rPr>
              <a:t>*Root -&gt;N = 1;</a:t>
            </a:r>
          </a:p>
          <a:p>
            <a:pPr>
              <a:defRPr/>
            </a:pPr>
            <a:r>
              <a:rPr lang="en-US" sz="2000" b="0" dirty="0">
                <a:solidFill>
                  <a:schemeClr val="bg2"/>
                </a:solidFill>
              </a:rPr>
              <a:t>				return</a:t>
            </a:r>
          </a:p>
          <a:p>
            <a:pPr>
              <a:defRPr/>
            </a:pPr>
            <a:r>
              <a:rPr lang="ru-RU" sz="2000" b="0" dirty="0">
                <a:solidFill>
                  <a:schemeClr val="bg2"/>
                </a:solidFill>
              </a:rPr>
              <a:t>иначе</a:t>
            </a:r>
            <a:endParaRPr lang="en-US" sz="2000" b="0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chemeClr val="bg2"/>
                </a:solidFill>
              </a:rPr>
              <a:t>*Root -&gt;N++;</a:t>
            </a:r>
            <a:r>
              <a:rPr lang="ru-RU" sz="2000" b="0" dirty="0">
                <a:solidFill>
                  <a:schemeClr val="bg2"/>
                </a:solidFill>
              </a:rPr>
              <a:t> </a:t>
            </a:r>
          </a:p>
          <a:p>
            <a:pPr>
              <a:defRPr/>
            </a:pPr>
            <a:r>
              <a:rPr lang="ru-RU" sz="2000" b="0" dirty="0">
                <a:solidFill>
                  <a:schemeClr val="bg2"/>
                </a:solidFill>
              </a:rPr>
              <a:t>Если </a:t>
            </a:r>
            <a:r>
              <a:rPr lang="en-US" sz="2000" b="0" dirty="0">
                <a:solidFill>
                  <a:schemeClr val="bg2"/>
                </a:solidFill>
              </a:rPr>
              <a:t>key &gt;= *Root-&gt;data </a:t>
            </a:r>
            <a:r>
              <a:rPr lang="ru-RU" sz="2000" b="0" dirty="0">
                <a:solidFill>
                  <a:schemeClr val="bg2"/>
                </a:solidFill>
              </a:rPr>
              <a:t>то </a:t>
            </a:r>
            <a:r>
              <a:rPr lang="en-US" sz="2000" b="0" dirty="0">
                <a:solidFill>
                  <a:schemeClr val="bg2"/>
                </a:solidFill>
              </a:rPr>
              <a:t>	</a:t>
            </a:r>
            <a:endParaRPr lang="ru-RU" sz="2000" b="0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sz="2000" b="0" dirty="0">
                <a:solidFill>
                  <a:schemeClr val="bg2"/>
                </a:solidFill>
              </a:rPr>
              <a:t>				</a:t>
            </a:r>
            <a:r>
              <a:rPr lang="ru-RU" sz="2000" b="0" dirty="0">
                <a:solidFill>
                  <a:schemeClr val="bg2"/>
                </a:solidFill>
              </a:rPr>
              <a:t>Вставка (*</a:t>
            </a:r>
            <a:r>
              <a:rPr lang="en-US" sz="2000" b="0" dirty="0">
                <a:solidFill>
                  <a:schemeClr val="bg2"/>
                </a:solidFill>
              </a:rPr>
              <a:t>Root-&gt;right, key)</a:t>
            </a:r>
          </a:p>
          <a:p>
            <a:pPr>
              <a:defRPr/>
            </a:pPr>
            <a:r>
              <a:rPr lang="en-US" sz="2000" b="0" dirty="0">
                <a:solidFill>
                  <a:schemeClr val="bg2"/>
                </a:solidFill>
              </a:rPr>
              <a:t>			    </a:t>
            </a:r>
            <a:r>
              <a:rPr lang="ru-RU" sz="2000" b="0" dirty="0">
                <a:solidFill>
                  <a:schemeClr val="bg2"/>
                </a:solidFill>
              </a:rPr>
              <a:t>иначе </a:t>
            </a:r>
          </a:p>
          <a:p>
            <a:pPr>
              <a:defRPr/>
            </a:pPr>
            <a:r>
              <a:rPr lang="en-US" sz="2000" b="0" dirty="0">
                <a:solidFill>
                  <a:schemeClr val="bg2"/>
                </a:solidFill>
              </a:rPr>
              <a:t>				</a:t>
            </a:r>
            <a:r>
              <a:rPr lang="ru-RU" sz="2000" b="0" dirty="0">
                <a:solidFill>
                  <a:schemeClr val="bg2"/>
                </a:solidFill>
              </a:rPr>
              <a:t>Вставка (*</a:t>
            </a:r>
            <a:r>
              <a:rPr lang="en-US" sz="2000" b="0" dirty="0">
                <a:solidFill>
                  <a:schemeClr val="bg2"/>
                </a:solidFill>
              </a:rPr>
              <a:t>Root-&gt;left, key)</a:t>
            </a:r>
          </a:p>
          <a:p>
            <a:pPr>
              <a:defRPr/>
            </a:pPr>
            <a:r>
              <a:rPr lang="ru-RU" sz="2000" b="0" dirty="0">
                <a:solidFill>
                  <a:schemeClr val="bg2"/>
                </a:solidFill>
              </a:rPr>
              <a:t>конец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Группа 65"/>
          <p:cNvGrpSpPr/>
          <p:nvPr/>
        </p:nvGrpSpPr>
        <p:grpSpPr>
          <a:xfrm>
            <a:off x="4644008" y="224644"/>
            <a:ext cx="3241675" cy="3203575"/>
            <a:chOff x="4643438" y="873125"/>
            <a:chExt cx="3241675" cy="3203575"/>
          </a:xfrm>
        </p:grpSpPr>
        <p:grpSp>
          <p:nvGrpSpPr>
            <p:cNvPr id="20481" name="Группа 6"/>
            <p:cNvGrpSpPr>
              <a:grpSpLocks/>
            </p:cNvGrpSpPr>
            <p:nvPr/>
          </p:nvGrpSpPr>
          <p:grpSpPr bwMode="auto">
            <a:xfrm>
              <a:off x="4643438" y="1089025"/>
              <a:ext cx="3241675" cy="2987675"/>
              <a:chOff x="179512" y="1880828"/>
              <a:chExt cx="3528392" cy="3080085"/>
            </a:xfrm>
          </p:grpSpPr>
          <p:sp>
            <p:nvSpPr>
              <p:cNvPr id="8" name="Овал 7"/>
              <p:cNvSpPr/>
              <p:nvPr/>
            </p:nvSpPr>
            <p:spPr bwMode="auto">
              <a:xfrm>
                <a:off x="1152325" y="1880828"/>
                <a:ext cx="466536" cy="50407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" name="Овал 8"/>
              <p:cNvSpPr/>
              <p:nvPr/>
            </p:nvSpPr>
            <p:spPr bwMode="auto">
              <a:xfrm>
                <a:off x="720347" y="2744954"/>
                <a:ext cx="466536" cy="50407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Овал 9"/>
              <p:cNvSpPr/>
              <p:nvPr/>
            </p:nvSpPr>
            <p:spPr bwMode="auto">
              <a:xfrm>
                <a:off x="1691433" y="2708949"/>
                <a:ext cx="468264" cy="50407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7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" name="Овал 10"/>
              <p:cNvSpPr/>
              <p:nvPr/>
            </p:nvSpPr>
            <p:spPr bwMode="auto">
              <a:xfrm>
                <a:off x="179512" y="3573074"/>
                <a:ext cx="468263" cy="50407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" name="Овал 11"/>
              <p:cNvSpPr/>
              <p:nvPr/>
            </p:nvSpPr>
            <p:spPr bwMode="auto">
              <a:xfrm>
                <a:off x="900050" y="3537069"/>
                <a:ext cx="468264" cy="50407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4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" name="Овал 12"/>
              <p:cNvSpPr/>
              <p:nvPr/>
            </p:nvSpPr>
            <p:spPr bwMode="auto">
              <a:xfrm>
                <a:off x="1618860" y="3501064"/>
                <a:ext cx="468264" cy="50407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6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" name="Овал 13"/>
              <p:cNvSpPr/>
              <p:nvPr/>
            </p:nvSpPr>
            <p:spPr bwMode="auto">
              <a:xfrm>
                <a:off x="2268555" y="3537069"/>
                <a:ext cx="466536" cy="50407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8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" name="Овал 14"/>
              <p:cNvSpPr/>
              <p:nvPr/>
            </p:nvSpPr>
            <p:spPr bwMode="auto">
              <a:xfrm>
                <a:off x="575203" y="4329185"/>
                <a:ext cx="468264" cy="50407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" name="Овал 15"/>
              <p:cNvSpPr/>
              <p:nvPr/>
            </p:nvSpPr>
            <p:spPr bwMode="auto">
              <a:xfrm>
                <a:off x="1295742" y="4293179"/>
                <a:ext cx="468263" cy="50407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7" name="Овал 16"/>
              <p:cNvSpPr/>
              <p:nvPr/>
            </p:nvSpPr>
            <p:spPr bwMode="auto">
              <a:xfrm>
                <a:off x="2916521" y="4149158"/>
                <a:ext cx="466536" cy="50407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9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cxnSp>
            <p:nvCxnSpPr>
              <p:cNvPr id="20526" name="Прямая со стрелкой 17"/>
              <p:cNvCxnSpPr>
                <a:cxnSpLocks noChangeShapeType="1"/>
              </p:cNvCxnSpPr>
              <p:nvPr/>
            </p:nvCxnSpPr>
            <p:spPr bwMode="auto">
              <a:xfrm flipH="1">
                <a:off x="971600" y="2384884"/>
                <a:ext cx="432048" cy="360040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0527" name="Прямая со стрелкой 18"/>
              <p:cNvCxnSpPr>
                <a:cxnSpLocks noChangeShapeType="1"/>
                <a:stCxn id="8" idx="4"/>
                <a:endCxn id="10" idx="1"/>
              </p:cNvCxnSpPr>
              <p:nvPr/>
            </p:nvCxnSpPr>
            <p:spPr bwMode="auto">
              <a:xfrm>
                <a:off x="1385646" y="2384884"/>
                <a:ext cx="374579" cy="397853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0528" name="Прямая со стрелкой 19"/>
              <p:cNvCxnSpPr>
                <a:cxnSpLocks noChangeShapeType="1"/>
                <a:stCxn id="9" idx="4"/>
                <a:endCxn id="11" idx="0"/>
              </p:cNvCxnSpPr>
              <p:nvPr/>
            </p:nvCxnSpPr>
            <p:spPr bwMode="auto">
              <a:xfrm flipH="1">
                <a:off x="413538" y="3248980"/>
                <a:ext cx="540060" cy="32403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0529" name="Прямая со стрелкой 20"/>
              <p:cNvCxnSpPr>
                <a:cxnSpLocks noChangeShapeType="1"/>
                <a:stCxn id="9" idx="4"/>
                <a:endCxn id="12" idx="0"/>
              </p:cNvCxnSpPr>
              <p:nvPr/>
            </p:nvCxnSpPr>
            <p:spPr bwMode="auto">
              <a:xfrm>
                <a:off x="953598" y="3248980"/>
                <a:ext cx="180020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0530" name="Прямая со стрелкой 21"/>
              <p:cNvCxnSpPr>
                <a:cxnSpLocks noChangeShapeType="1"/>
                <a:stCxn id="10" idx="4"/>
                <a:endCxn id="13" idx="0"/>
              </p:cNvCxnSpPr>
              <p:nvPr/>
            </p:nvCxnSpPr>
            <p:spPr bwMode="auto">
              <a:xfrm flipH="1">
                <a:off x="1853698" y="3212976"/>
                <a:ext cx="72008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0531" name="Прямая со стрелкой 22"/>
              <p:cNvCxnSpPr>
                <a:cxnSpLocks noChangeShapeType="1"/>
                <a:stCxn id="10" idx="4"/>
                <a:endCxn id="14" idx="0"/>
              </p:cNvCxnSpPr>
              <p:nvPr/>
            </p:nvCxnSpPr>
            <p:spPr bwMode="auto">
              <a:xfrm>
                <a:off x="1925706" y="3212976"/>
                <a:ext cx="576064" cy="32403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0532" name="Прямая со стрелкой 23"/>
              <p:cNvCxnSpPr>
                <a:cxnSpLocks noChangeShapeType="1"/>
                <a:stCxn id="12" idx="4"/>
                <a:endCxn id="15" idx="0"/>
              </p:cNvCxnSpPr>
              <p:nvPr/>
            </p:nvCxnSpPr>
            <p:spPr bwMode="auto">
              <a:xfrm flipH="1">
                <a:off x="809582" y="4041068"/>
                <a:ext cx="324036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0533" name="Прямая со стрелкой 24"/>
              <p:cNvCxnSpPr>
                <a:cxnSpLocks noChangeShapeType="1"/>
                <a:stCxn id="12" idx="4"/>
                <a:endCxn id="16" idx="1"/>
              </p:cNvCxnSpPr>
              <p:nvPr/>
            </p:nvCxnSpPr>
            <p:spPr bwMode="auto">
              <a:xfrm>
                <a:off x="1133618" y="4041068"/>
                <a:ext cx="230563" cy="325845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0534" name="Прямая со стрелкой 25"/>
              <p:cNvCxnSpPr>
                <a:cxnSpLocks noChangeShapeType="1"/>
                <a:stCxn id="14" idx="5"/>
                <a:endCxn id="17" idx="1"/>
              </p:cNvCxnSpPr>
              <p:nvPr/>
            </p:nvCxnSpPr>
            <p:spPr bwMode="auto">
              <a:xfrm>
                <a:off x="2667251" y="3967251"/>
                <a:ext cx="317110" cy="25564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sp>
            <p:nvSpPr>
              <p:cNvPr id="20535" name="TextBox 26"/>
              <p:cNvSpPr txBox="1">
                <a:spLocks noChangeArrowheads="1"/>
              </p:cNvSpPr>
              <p:nvPr/>
            </p:nvSpPr>
            <p:spPr bwMode="auto">
              <a:xfrm>
                <a:off x="1439652" y="2204864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10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0536" name="TextBox 27"/>
              <p:cNvSpPr txBox="1">
                <a:spLocks noChangeArrowheads="1"/>
              </p:cNvSpPr>
              <p:nvPr/>
            </p:nvSpPr>
            <p:spPr bwMode="auto">
              <a:xfrm>
                <a:off x="1043608" y="299695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5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0537" name="TextBox 28"/>
              <p:cNvSpPr txBox="1">
                <a:spLocks noChangeArrowheads="1"/>
              </p:cNvSpPr>
              <p:nvPr/>
            </p:nvSpPr>
            <p:spPr bwMode="auto">
              <a:xfrm>
                <a:off x="2087724" y="3068960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4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0538" name="TextBox 29"/>
              <p:cNvSpPr txBox="1">
                <a:spLocks noChangeArrowheads="1"/>
              </p:cNvSpPr>
              <p:nvPr/>
            </p:nvSpPr>
            <p:spPr bwMode="auto">
              <a:xfrm>
                <a:off x="467544" y="3933056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0539" name="TextBox 30"/>
              <p:cNvSpPr txBox="1">
                <a:spLocks noChangeArrowheads="1"/>
              </p:cNvSpPr>
              <p:nvPr/>
            </p:nvSpPr>
            <p:spPr bwMode="auto">
              <a:xfrm>
                <a:off x="1223628" y="3825044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3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0540" name="TextBox 31"/>
              <p:cNvSpPr txBox="1">
                <a:spLocks noChangeArrowheads="1"/>
              </p:cNvSpPr>
              <p:nvPr/>
            </p:nvSpPr>
            <p:spPr bwMode="auto">
              <a:xfrm>
                <a:off x="2627784" y="371703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2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0541" name="TextBox 32"/>
              <p:cNvSpPr txBox="1">
                <a:spLocks noChangeArrowheads="1"/>
              </p:cNvSpPr>
              <p:nvPr/>
            </p:nvSpPr>
            <p:spPr bwMode="auto">
              <a:xfrm>
                <a:off x="863588" y="4653136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0542" name="TextBox 33"/>
              <p:cNvSpPr txBox="1">
                <a:spLocks noChangeArrowheads="1"/>
              </p:cNvSpPr>
              <p:nvPr/>
            </p:nvSpPr>
            <p:spPr bwMode="auto">
              <a:xfrm>
                <a:off x="1583668" y="461713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0543" name="TextBox 34"/>
              <p:cNvSpPr txBox="1">
                <a:spLocks noChangeArrowheads="1"/>
              </p:cNvSpPr>
              <p:nvPr/>
            </p:nvSpPr>
            <p:spPr bwMode="auto">
              <a:xfrm>
                <a:off x="3203848" y="4509120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0482" name="TextBox 35"/>
            <p:cNvSpPr txBox="1">
              <a:spLocks noChangeArrowheads="1"/>
            </p:cNvSpPr>
            <p:nvPr/>
          </p:nvSpPr>
          <p:spPr bwMode="auto">
            <a:xfrm>
              <a:off x="6264275" y="3141663"/>
              <a:ext cx="463550" cy="306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38" name="Дуга 37"/>
            <p:cNvSpPr/>
            <p:nvPr/>
          </p:nvSpPr>
          <p:spPr bwMode="auto">
            <a:xfrm rot="16200000">
              <a:off x="5291931" y="1053307"/>
              <a:ext cx="900113" cy="539750"/>
            </a:xfrm>
            <a:prstGeom prst="arc">
              <a:avLst>
                <a:gd name="adj1" fmla="val 16200000"/>
                <a:gd name="adj2" fmla="val 5293557"/>
              </a:avLst>
            </a:prstGeom>
            <a:noFill/>
            <a:ln w="381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endParaRPr lang="ru-RU">
                <a:ln>
                  <a:solidFill>
                    <a:srgbClr val="FF3300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0514" name="TextBox 4"/>
          <p:cNvSpPr txBox="1">
            <a:spLocks noChangeArrowheads="1"/>
          </p:cNvSpPr>
          <p:nvPr/>
        </p:nvSpPr>
        <p:spPr bwMode="auto">
          <a:xfrm>
            <a:off x="323850" y="620713"/>
            <a:ext cx="4068763" cy="569436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dirty="0">
                <a:solidFill>
                  <a:srgbClr val="000000"/>
                </a:solidFill>
              </a:rPr>
              <a:t>rotate_r</a:t>
            </a:r>
            <a:r>
              <a:rPr lang="pt-BR" b="0" dirty="0">
                <a:solidFill>
                  <a:srgbClr val="000000"/>
                </a:solidFill>
              </a:rPr>
              <a:t>(Node **h)</a:t>
            </a:r>
          </a:p>
          <a:p>
            <a:r>
              <a:rPr lang="pt-BR" b="0" dirty="0">
                <a:solidFill>
                  <a:srgbClr val="000000"/>
                </a:solidFill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</a:rPr>
              <a:t>Root</a:t>
            </a:r>
            <a:r>
              <a:rPr lang="pt-BR" b="0" dirty="0">
                <a:solidFill>
                  <a:srgbClr val="000000"/>
                </a:solidFill>
              </a:rPr>
              <a:t> *x;</a:t>
            </a:r>
          </a:p>
          <a:p>
            <a:r>
              <a:rPr lang="pt-BR" b="0" dirty="0">
                <a:solidFill>
                  <a:srgbClr val="000000"/>
                </a:solidFill>
              </a:rPr>
              <a:t>int k = *h-&gt;</a:t>
            </a:r>
            <a:r>
              <a:rPr lang="en-US" b="0" dirty="0">
                <a:solidFill>
                  <a:srgbClr val="000000"/>
                </a:solidFill>
              </a:rPr>
              <a:t>N</a:t>
            </a:r>
            <a:r>
              <a:rPr lang="pt-BR" b="0" dirty="0">
                <a:solidFill>
                  <a:srgbClr val="000000"/>
                </a:solidFill>
              </a:rPr>
              <a:t>;</a:t>
            </a:r>
          </a:p>
          <a:p>
            <a:r>
              <a:rPr lang="pt-BR" b="0" dirty="0">
                <a:solidFill>
                  <a:srgbClr val="000000"/>
                </a:solidFill>
              </a:rPr>
              <a:t>x=*h-&gt;left;</a:t>
            </a:r>
          </a:p>
          <a:p>
            <a:r>
              <a:rPr lang="pt-BR" b="0" dirty="0">
                <a:solidFill>
                  <a:srgbClr val="000000"/>
                </a:solidFill>
              </a:rPr>
              <a:t>*h-&gt;left=x-&gt;rigth;</a:t>
            </a:r>
          </a:p>
          <a:p>
            <a:r>
              <a:rPr lang="pt-BR" b="0" dirty="0">
                <a:solidFill>
                  <a:srgbClr val="000000"/>
                </a:solidFill>
              </a:rPr>
              <a:t>x-&gt;rigth=*h;</a:t>
            </a:r>
          </a:p>
          <a:p>
            <a:r>
              <a:rPr lang="pt-BR" b="0" dirty="0">
                <a:solidFill>
                  <a:srgbClr val="000000"/>
                </a:solidFill>
              </a:rPr>
              <a:t>*h=x;</a:t>
            </a:r>
          </a:p>
          <a:p>
            <a:r>
              <a:rPr lang="pt-BR" b="0" dirty="0">
                <a:solidFill>
                  <a:srgbClr val="000000"/>
                </a:solidFill>
              </a:rPr>
              <a:t>*h -&gt;N=k;</a:t>
            </a:r>
          </a:p>
          <a:p>
            <a:r>
              <a:rPr lang="pt-BR" b="0" dirty="0">
                <a:solidFill>
                  <a:srgbClr val="000000"/>
                </a:solidFill>
              </a:rPr>
              <a:t>*h-&gt;rigth-&gt;N = 1+</a:t>
            </a:r>
          </a:p>
          <a:p>
            <a:r>
              <a:rPr lang="pt-BR" b="0" dirty="0">
                <a:solidFill>
                  <a:srgbClr val="000000"/>
                </a:solidFill>
              </a:rPr>
              <a:t>*h-&gt;rigth-&gt;rigth-&gt;N + </a:t>
            </a:r>
          </a:p>
          <a:p>
            <a:r>
              <a:rPr lang="pt-BR" b="0" dirty="0">
                <a:solidFill>
                  <a:srgbClr val="000000"/>
                </a:solidFill>
              </a:rPr>
              <a:t>*h-&gt;rigth-&gt;left-&gt;N</a:t>
            </a:r>
          </a:p>
          <a:p>
            <a:r>
              <a:rPr lang="pt-BR" b="0" dirty="0">
                <a:solidFill>
                  <a:srgbClr val="000000"/>
                </a:solidFill>
              </a:rPr>
              <a:t>}</a:t>
            </a:r>
            <a:endParaRPr lang="ru-RU" dirty="0"/>
          </a:p>
        </p:txBody>
      </p:sp>
      <p:grpSp>
        <p:nvGrpSpPr>
          <p:cNvPr id="67" name="Группа 66"/>
          <p:cNvGrpSpPr/>
          <p:nvPr/>
        </p:nvGrpSpPr>
        <p:grpSpPr>
          <a:xfrm>
            <a:off x="4860032" y="3392996"/>
            <a:ext cx="3778250" cy="2768600"/>
            <a:chOff x="5365750" y="3802063"/>
            <a:chExt cx="3778250" cy="2768600"/>
          </a:xfrm>
        </p:grpSpPr>
        <p:sp>
          <p:nvSpPr>
            <p:cNvPr id="71" name="Овал 70"/>
            <p:cNvSpPr/>
            <p:nvPr/>
          </p:nvSpPr>
          <p:spPr bwMode="auto">
            <a:xfrm>
              <a:off x="7096125" y="4545013"/>
              <a:ext cx="430213" cy="4889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" name="Овал 71"/>
            <p:cNvSpPr/>
            <p:nvPr/>
          </p:nvSpPr>
          <p:spPr bwMode="auto">
            <a:xfrm>
              <a:off x="6651625" y="3802063"/>
              <a:ext cx="430213" cy="4889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3" name="Овал 72"/>
            <p:cNvSpPr/>
            <p:nvPr/>
          </p:nvSpPr>
          <p:spPr bwMode="auto">
            <a:xfrm>
              <a:off x="7585075" y="5043488"/>
              <a:ext cx="430213" cy="4889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Овал 73"/>
            <p:cNvSpPr/>
            <p:nvPr/>
          </p:nvSpPr>
          <p:spPr bwMode="auto">
            <a:xfrm>
              <a:off x="5365750" y="4603750"/>
              <a:ext cx="428625" cy="4889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5" name="Овал 74"/>
            <p:cNvSpPr/>
            <p:nvPr/>
          </p:nvSpPr>
          <p:spPr bwMode="auto">
            <a:xfrm>
              <a:off x="6269038" y="5013325"/>
              <a:ext cx="430212" cy="4889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" name="Овал 75"/>
            <p:cNvSpPr/>
            <p:nvPr/>
          </p:nvSpPr>
          <p:spPr bwMode="auto">
            <a:xfrm>
              <a:off x="7205663" y="5697538"/>
              <a:ext cx="428625" cy="4889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Овал 76"/>
            <p:cNvSpPr/>
            <p:nvPr/>
          </p:nvSpPr>
          <p:spPr bwMode="auto">
            <a:xfrm>
              <a:off x="7888288" y="5661025"/>
              <a:ext cx="430212" cy="4889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Овал 77"/>
            <p:cNvSpPr/>
            <p:nvPr/>
          </p:nvSpPr>
          <p:spPr bwMode="auto">
            <a:xfrm>
              <a:off x="5970588" y="5781675"/>
              <a:ext cx="430212" cy="4889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9" name="Овал 78"/>
            <p:cNvSpPr/>
            <p:nvPr/>
          </p:nvSpPr>
          <p:spPr bwMode="auto">
            <a:xfrm>
              <a:off x="6632575" y="5746750"/>
              <a:ext cx="430213" cy="4889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" name="Овал 79"/>
            <p:cNvSpPr/>
            <p:nvPr/>
          </p:nvSpPr>
          <p:spPr bwMode="auto">
            <a:xfrm>
              <a:off x="8356600" y="6081713"/>
              <a:ext cx="430213" cy="4889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20494" name="Прямая со стрелкой 80"/>
            <p:cNvCxnSpPr>
              <a:cxnSpLocks noChangeShapeType="1"/>
              <a:stCxn id="71" idx="5"/>
              <a:endCxn id="73" idx="1"/>
            </p:cNvCxnSpPr>
            <p:nvPr/>
          </p:nvCxnSpPr>
          <p:spPr bwMode="auto">
            <a:xfrm>
              <a:off x="7464425" y="4962525"/>
              <a:ext cx="184150" cy="15240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0495" name="Прямая со стрелкой 81"/>
            <p:cNvCxnSpPr>
              <a:cxnSpLocks noChangeShapeType="1"/>
              <a:stCxn id="72" idx="4"/>
              <a:endCxn id="71" idx="1"/>
            </p:cNvCxnSpPr>
            <p:nvPr/>
          </p:nvCxnSpPr>
          <p:spPr bwMode="auto">
            <a:xfrm>
              <a:off x="6865938" y="4291013"/>
              <a:ext cx="293687" cy="325437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0496" name="Прямая со стрелкой 82"/>
            <p:cNvCxnSpPr>
              <a:cxnSpLocks noChangeShapeType="1"/>
              <a:stCxn id="72" idx="4"/>
              <a:endCxn id="74" idx="0"/>
            </p:cNvCxnSpPr>
            <p:nvPr/>
          </p:nvCxnSpPr>
          <p:spPr bwMode="auto">
            <a:xfrm flipH="1">
              <a:off x="5580063" y="4291013"/>
              <a:ext cx="1285875" cy="312737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0497" name="Прямая со стрелкой 83"/>
            <p:cNvCxnSpPr>
              <a:cxnSpLocks noChangeShapeType="1"/>
              <a:stCxn id="71" idx="3"/>
              <a:endCxn id="75" idx="0"/>
            </p:cNvCxnSpPr>
            <p:nvPr/>
          </p:nvCxnSpPr>
          <p:spPr bwMode="auto">
            <a:xfrm flipH="1">
              <a:off x="6483350" y="4962525"/>
              <a:ext cx="676275" cy="5080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0498" name="Прямая со стрелкой 84"/>
            <p:cNvCxnSpPr>
              <a:cxnSpLocks noChangeShapeType="1"/>
              <a:stCxn id="73" idx="4"/>
              <a:endCxn id="76" idx="0"/>
            </p:cNvCxnSpPr>
            <p:nvPr/>
          </p:nvCxnSpPr>
          <p:spPr bwMode="auto">
            <a:xfrm flipH="1">
              <a:off x="7419975" y="5532438"/>
              <a:ext cx="381000" cy="16510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0499" name="Прямая со стрелкой 85"/>
            <p:cNvCxnSpPr>
              <a:cxnSpLocks noChangeShapeType="1"/>
              <a:stCxn id="73" idx="4"/>
              <a:endCxn id="77" idx="0"/>
            </p:cNvCxnSpPr>
            <p:nvPr/>
          </p:nvCxnSpPr>
          <p:spPr bwMode="auto">
            <a:xfrm>
              <a:off x="7800975" y="5532438"/>
              <a:ext cx="303213" cy="128587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0500" name="Прямая со стрелкой 86"/>
            <p:cNvCxnSpPr>
              <a:cxnSpLocks noChangeShapeType="1"/>
              <a:stCxn id="75" idx="4"/>
              <a:endCxn id="78" idx="0"/>
            </p:cNvCxnSpPr>
            <p:nvPr/>
          </p:nvCxnSpPr>
          <p:spPr bwMode="auto">
            <a:xfrm flipH="1">
              <a:off x="6186488" y="5502275"/>
              <a:ext cx="296862" cy="27940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0501" name="Прямая со стрелкой 87"/>
            <p:cNvCxnSpPr>
              <a:cxnSpLocks noChangeShapeType="1"/>
              <a:stCxn id="75" idx="4"/>
              <a:endCxn id="79" idx="1"/>
            </p:cNvCxnSpPr>
            <p:nvPr/>
          </p:nvCxnSpPr>
          <p:spPr bwMode="auto">
            <a:xfrm>
              <a:off x="6483350" y="5502275"/>
              <a:ext cx="212725" cy="31591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0502" name="Прямая со стрелкой 88"/>
            <p:cNvCxnSpPr>
              <a:cxnSpLocks noChangeShapeType="1"/>
              <a:stCxn id="77" idx="5"/>
              <a:endCxn id="80" idx="1"/>
            </p:cNvCxnSpPr>
            <p:nvPr/>
          </p:nvCxnSpPr>
          <p:spPr bwMode="auto">
            <a:xfrm>
              <a:off x="8256588" y="6078538"/>
              <a:ext cx="163512" cy="74612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sp>
          <p:nvSpPr>
            <p:cNvPr id="20503" name="TextBox 89"/>
            <p:cNvSpPr txBox="1">
              <a:spLocks noChangeArrowheads="1"/>
            </p:cNvSpPr>
            <p:nvPr/>
          </p:nvSpPr>
          <p:spPr bwMode="auto">
            <a:xfrm>
              <a:off x="6916738" y="4113213"/>
              <a:ext cx="46355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9900FF"/>
                  </a:solidFill>
                </a:rPr>
                <a:t>10</a:t>
              </a:r>
              <a:endParaRPr lang="ru-RU" sz="1400">
                <a:solidFill>
                  <a:srgbClr val="9900FF"/>
                </a:solidFill>
              </a:endParaRPr>
            </a:p>
          </p:txBody>
        </p:sp>
        <p:sp>
          <p:nvSpPr>
            <p:cNvPr id="20504" name="TextBox 90"/>
            <p:cNvSpPr txBox="1">
              <a:spLocks noChangeArrowheads="1"/>
            </p:cNvSpPr>
            <p:nvPr/>
          </p:nvSpPr>
          <p:spPr bwMode="auto">
            <a:xfrm>
              <a:off x="7456488" y="4689475"/>
              <a:ext cx="46355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9900FF"/>
                  </a:solidFill>
                </a:rPr>
                <a:t>8</a:t>
              </a:r>
              <a:endParaRPr lang="ru-RU" sz="1400">
                <a:solidFill>
                  <a:srgbClr val="9900FF"/>
                </a:solidFill>
              </a:endParaRPr>
            </a:p>
          </p:txBody>
        </p:sp>
        <p:sp>
          <p:nvSpPr>
            <p:cNvPr id="20505" name="TextBox 91"/>
            <p:cNvSpPr txBox="1">
              <a:spLocks noChangeArrowheads="1"/>
            </p:cNvSpPr>
            <p:nvPr/>
          </p:nvSpPr>
          <p:spPr bwMode="auto">
            <a:xfrm>
              <a:off x="7888288" y="5192713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4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0506" name="TextBox 92"/>
            <p:cNvSpPr txBox="1">
              <a:spLocks noChangeArrowheads="1"/>
            </p:cNvSpPr>
            <p:nvPr/>
          </p:nvSpPr>
          <p:spPr bwMode="auto">
            <a:xfrm>
              <a:off x="5629275" y="4953000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0507" name="TextBox 93"/>
            <p:cNvSpPr txBox="1">
              <a:spLocks noChangeArrowheads="1"/>
            </p:cNvSpPr>
            <p:nvPr/>
          </p:nvSpPr>
          <p:spPr bwMode="auto">
            <a:xfrm>
              <a:off x="6565900" y="5292725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3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0508" name="TextBox 94"/>
            <p:cNvSpPr txBox="1">
              <a:spLocks noChangeArrowheads="1"/>
            </p:cNvSpPr>
            <p:nvPr/>
          </p:nvSpPr>
          <p:spPr bwMode="auto">
            <a:xfrm>
              <a:off x="8213725" y="5697538"/>
              <a:ext cx="461963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2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0509" name="TextBox 95"/>
            <p:cNvSpPr txBox="1">
              <a:spLocks noChangeArrowheads="1"/>
            </p:cNvSpPr>
            <p:nvPr/>
          </p:nvSpPr>
          <p:spPr bwMode="auto">
            <a:xfrm>
              <a:off x="6235700" y="6096000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0512" name="TextBox 98"/>
            <p:cNvSpPr txBox="1">
              <a:spLocks noChangeArrowheads="1"/>
            </p:cNvSpPr>
            <p:nvPr/>
          </p:nvSpPr>
          <p:spPr bwMode="auto">
            <a:xfrm>
              <a:off x="8680450" y="6262688"/>
              <a:ext cx="46355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0513" name="TextBox 122"/>
            <p:cNvSpPr txBox="1">
              <a:spLocks noChangeArrowheads="1"/>
            </p:cNvSpPr>
            <p:nvPr/>
          </p:nvSpPr>
          <p:spPr bwMode="auto">
            <a:xfrm>
              <a:off x="7313613" y="6057900"/>
              <a:ext cx="461962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0515" name="TextBox 63"/>
            <p:cNvSpPr txBox="1">
              <a:spLocks noChangeArrowheads="1"/>
            </p:cNvSpPr>
            <p:nvPr/>
          </p:nvSpPr>
          <p:spPr bwMode="auto">
            <a:xfrm>
              <a:off x="6804025" y="6092825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</p:grpSp>
      <p:sp>
        <p:nvSpPr>
          <p:cNvPr id="65" name="Номер слайда 64"/>
          <p:cNvSpPr>
            <a:spLocks noGrp="1"/>
          </p:cNvSpPr>
          <p:nvPr>
            <p:ph type="sldNum" sz="quarter" idx="12"/>
          </p:nvPr>
        </p:nvSpPr>
        <p:spPr>
          <a:xfrm>
            <a:off x="6804248" y="6381750"/>
            <a:ext cx="2133600" cy="476250"/>
          </a:xfrm>
        </p:spPr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Содержимое 2"/>
          <p:cNvSpPr>
            <a:spLocks noGrp="1"/>
          </p:cNvSpPr>
          <p:nvPr>
            <p:ph idx="1"/>
          </p:nvPr>
        </p:nvSpPr>
        <p:spPr>
          <a:xfrm>
            <a:off x="431800" y="657225"/>
            <a:ext cx="4006850" cy="5580063"/>
          </a:xfrm>
          <a:solidFill>
            <a:schemeClr val="tx1"/>
          </a:solidFill>
          <a:ln>
            <a:solidFill>
              <a:schemeClr val="accent1"/>
            </a:solidFill>
          </a:ln>
        </p:spPr>
        <p:txBody>
          <a:bodyPr/>
          <a:lstStyle/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 b="1">
                <a:solidFill>
                  <a:srgbClr val="000000"/>
                </a:solidFill>
                <a:effectLst/>
              </a:rPr>
              <a:t>rotate_l</a:t>
            </a:r>
            <a:r>
              <a:rPr lang="pt-BR" sz="2800">
                <a:solidFill>
                  <a:srgbClr val="000000"/>
                </a:solidFill>
                <a:effectLst/>
              </a:rPr>
              <a:t>(</a:t>
            </a:r>
            <a:r>
              <a:rPr lang="en-US" sz="2800">
                <a:solidFill>
                  <a:srgbClr val="000000"/>
                </a:solidFill>
                <a:effectLst/>
              </a:rPr>
              <a:t>Node</a:t>
            </a:r>
            <a:r>
              <a:rPr lang="pt-BR" sz="2800">
                <a:solidFill>
                  <a:srgbClr val="000000"/>
                </a:solidFill>
                <a:effectLst/>
              </a:rPr>
              <a:t> **h)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{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Node *x;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int k = *h-&gt;n;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x=*h-&gt;rigth;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*h-&gt;rigth=x-&gt;left;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x-&gt;left=*h;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*h=x;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*h -&gt;n=k;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*h-&gt;left-&gt;n = 1+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*h-&gt;left-&gt;rigth-&gt;n +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*h-&gt;left-&gt;left-&gt;n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pt-BR" sz="2800">
                <a:solidFill>
                  <a:srgbClr val="000000"/>
                </a:solidFill>
                <a:effectLst/>
              </a:rPr>
              <a:t>}</a:t>
            </a:r>
          </a:p>
        </p:txBody>
      </p:sp>
      <p:grpSp>
        <p:nvGrpSpPr>
          <p:cNvPr id="63" name="Группа 62"/>
          <p:cNvGrpSpPr/>
          <p:nvPr/>
        </p:nvGrpSpPr>
        <p:grpSpPr>
          <a:xfrm>
            <a:off x="4787900" y="228600"/>
            <a:ext cx="3240088" cy="3092450"/>
            <a:chOff x="4787900" y="228600"/>
            <a:chExt cx="3240088" cy="3092450"/>
          </a:xfrm>
        </p:grpSpPr>
        <p:sp>
          <p:nvSpPr>
            <p:cNvPr id="9" name="Овал 8"/>
            <p:cNvSpPr/>
            <p:nvPr/>
          </p:nvSpPr>
          <p:spPr bwMode="auto">
            <a:xfrm>
              <a:off x="5680075" y="333375"/>
              <a:ext cx="430213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Овал 9"/>
            <p:cNvSpPr/>
            <p:nvPr/>
          </p:nvSpPr>
          <p:spPr bwMode="auto">
            <a:xfrm>
              <a:off x="5284788" y="1171575"/>
              <a:ext cx="428625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Овал 10"/>
            <p:cNvSpPr/>
            <p:nvPr/>
          </p:nvSpPr>
          <p:spPr bwMode="auto">
            <a:xfrm>
              <a:off x="6176963" y="1136650"/>
              <a:ext cx="430212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Овал 11"/>
            <p:cNvSpPr/>
            <p:nvPr/>
          </p:nvSpPr>
          <p:spPr bwMode="auto">
            <a:xfrm>
              <a:off x="4787900" y="1974850"/>
              <a:ext cx="430213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Овал 12"/>
            <p:cNvSpPr/>
            <p:nvPr/>
          </p:nvSpPr>
          <p:spPr bwMode="auto">
            <a:xfrm>
              <a:off x="5449888" y="1939925"/>
              <a:ext cx="428625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Овал 13"/>
            <p:cNvSpPr/>
            <p:nvPr/>
          </p:nvSpPr>
          <p:spPr bwMode="auto">
            <a:xfrm>
              <a:off x="6110288" y="1905000"/>
              <a:ext cx="430212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Овал 14"/>
            <p:cNvSpPr/>
            <p:nvPr/>
          </p:nvSpPr>
          <p:spPr bwMode="auto">
            <a:xfrm>
              <a:off x="6705600" y="1939925"/>
              <a:ext cx="430213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Овал 15"/>
            <p:cNvSpPr/>
            <p:nvPr/>
          </p:nvSpPr>
          <p:spPr bwMode="auto">
            <a:xfrm>
              <a:off x="5151438" y="2708275"/>
              <a:ext cx="430212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Овал 16"/>
            <p:cNvSpPr/>
            <p:nvPr/>
          </p:nvSpPr>
          <p:spPr bwMode="auto">
            <a:xfrm>
              <a:off x="5813425" y="2673350"/>
              <a:ext cx="430213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Овал 17"/>
            <p:cNvSpPr/>
            <p:nvPr/>
          </p:nvSpPr>
          <p:spPr bwMode="auto">
            <a:xfrm>
              <a:off x="7300913" y="2533650"/>
              <a:ext cx="430212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21516" name="Прямая со стрелкой 18"/>
            <p:cNvCxnSpPr>
              <a:cxnSpLocks noChangeShapeType="1"/>
            </p:cNvCxnSpPr>
            <p:nvPr/>
          </p:nvCxnSpPr>
          <p:spPr bwMode="auto">
            <a:xfrm flipH="1">
              <a:off x="5514975" y="822325"/>
              <a:ext cx="396875" cy="34925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17" name="Прямая со стрелкой 19"/>
            <p:cNvCxnSpPr>
              <a:cxnSpLocks noChangeShapeType="1"/>
              <a:stCxn id="9" idx="4"/>
              <a:endCxn id="11" idx="1"/>
            </p:cNvCxnSpPr>
            <p:nvPr/>
          </p:nvCxnSpPr>
          <p:spPr bwMode="auto">
            <a:xfrm>
              <a:off x="5895975" y="822325"/>
              <a:ext cx="344488" cy="38576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18" name="Прямая со стрелкой 20"/>
            <p:cNvCxnSpPr>
              <a:cxnSpLocks noChangeShapeType="1"/>
              <a:stCxn id="10" idx="4"/>
              <a:endCxn id="12" idx="0"/>
            </p:cNvCxnSpPr>
            <p:nvPr/>
          </p:nvCxnSpPr>
          <p:spPr bwMode="auto">
            <a:xfrm flipH="1">
              <a:off x="5002213" y="1660525"/>
              <a:ext cx="496887" cy="314325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19" name="Прямая со стрелкой 21"/>
            <p:cNvCxnSpPr>
              <a:cxnSpLocks noChangeShapeType="1"/>
              <a:stCxn id="10" idx="4"/>
              <a:endCxn id="13" idx="0"/>
            </p:cNvCxnSpPr>
            <p:nvPr/>
          </p:nvCxnSpPr>
          <p:spPr bwMode="auto">
            <a:xfrm>
              <a:off x="5499100" y="1660525"/>
              <a:ext cx="165100" cy="27940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20" name="Прямая со стрелкой 22"/>
            <p:cNvCxnSpPr>
              <a:cxnSpLocks noChangeShapeType="1"/>
              <a:stCxn id="11" idx="4"/>
              <a:endCxn id="14" idx="0"/>
            </p:cNvCxnSpPr>
            <p:nvPr/>
          </p:nvCxnSpPr>
          <p:spPr bwMode="auto">
            <a:xfrm flipH="1">
              <a:off x="6326188" y="1625600"/>
              <a:ext cx="65087" cy="27940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21" name="Прямая со стрелкой 23"/>
            <p:cNvCxnSpPr>
              <a:cxnSpLocks noChangeShapeType="1"/>
              <a:stCxn id="11" idx="4"/>
              <a:endCxn id="15" idx="0"/>
            </p:cNvCxnSpPr>
            <p:nvPr/>
          </p:nvCxnSpPr>
          <p:spPr bwMode="auto">
            <a:xfrm>
              <a:off x="6391275" y="1625600"/>
              <a:ext cx="530225" cy="314325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22" name="Прямая со стрелкой 24"/>
            <p:cNvCxnSpPr>
              <a:cxnSpLocks noChangeShapeType="1"/>
              <a:stCxn id="13" idx="4"/>
              <a:endCxn id="16" idx="0"/>
            </p:cNvCxnSpPr>
            <p:nvPr/>
          </p:nvCxnSpPr>
          <p:spPr bwMode="auto">
            <a:xfrm flipH="1">
              <a:off x="5367338" y="2428875"/>
              <a:ext cx="296862" cy="27940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23" name="Прямая со стрелкой 25"/>
            <p:cNvCxnSpPr>
              <a:cxnSpLocks noChangeShapeType="1"/>
              <a:stCxn id="13" idx="4"/>
              <a:endCxn id="17" idx="1"/>
            </p:cNvCxnSpPr>
            <p:nvPr/>
          </p:nvCxnSpPr>
          <p:spPr bwMode="auto">
            <a:xfrm>
              <a:off x="5664200" y="2428875"/>
              <a:ext cx="211138" cy="31591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24" name="Прямая со стрелкой 26"/>
            <p:cNvCxnSpPr>
              <a:cxnSpLocks noChangeShapeType="1"/>
              <a:stCxn id="15" idx="5"/>
              <a:endCxn id="18" idx="1"/>
            </p:cNvCxnSpPr>
            <p:nvPr/>
          </p:nvCxnSpPr>
          <p:spPr bwMode="auto">
            <a:xfrm>
              <a:off x="7072313" y="2357438"/>
              <a:ext cx="292100" cy="24765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sp>
          <p:nvSpPr>
            <p:cNvPr id="21525" name="TextBox 27"/>
            <p:cNvSpPr txBox="1">
              <a:spLocks noChangeArrowheads="1"/>
            </p:cNvSpPr>
            <p:nvPr/>
          </p:nvSpPr>
          <p:spPr bwMode="auto">
            <a:xfrm>
              <a:off x="5945188" y="647700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10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26" name="TextBox 28"/>
            <p:cNvSpPr txBox="1">
              <a:spLocks noChangeArrowheads="1"/>
            </p:cNvSpPr>
            <p:nvPr/>
          </p:nvSpPr>
          <p:spPr bwMode="auto">
            <a:xfrm>
              <a:off x="5581650" y="1416050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5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27" name="TextBox 29"/>
            <p:cNvSpPr txBox="1">
              <a:spLocks noChangeArrowheads="1"/>
            </p:cNvSpPr>
            <p:nvPr/>
          </p:nvSpPr>
          <p:spPr bwMode="auto">
            <a:xfrm>
              <a:off x="6540500" y="1485900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4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28" name="TextBox 30"/>
            <p:cNvSpPr txBox="1">
              <a:spLocks noChangeArrowheads="1"/>
            </p:cNvSpPr>
            <p:nvPr/>
          </p:nvSpPr>
          <p:spPr bwMode="auto">
            <a:xfrm>
              <a:off x="5053013" y="2324100"/>
              <a:ext cx="461962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29" name="TextBox 31"/>
            <p:cNvSpPr txBox="1">
              <a:spLocks noChangeArrowheads="1"/>
            </p:cNvSpPr>
            <p:nvPr/>
          </p:nvSpPr>
          <p:spPr bwMode="auto">
            <a:xfrm>
              <a:off x="5746750" y="2219325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3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30" name="TextBox 32"/>
            <p:cNvSpPr txBox="1">
              <a:spLocks noChangeArrowheads="1"/>
            </p:cNvSpPr>
            <p:nvPr/>
          </p:nvSpPr>
          <p:spPr bwMode="auto">
            <a:xfrm>
              <a:off x="7035800" y="2114550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2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31" name="TextBox 33"/>
            <p:cNvSpPr txBox="1">
              <a:spLocks noChangeArrowheads="1"/>
            </p:cNvSpPr>
            <p:nvPr/>
          </p:nvSpPr>
          <p:spPr bwMode="auto">
            <a:xfrm>
              <a:off x="5416550" y="3022600"/>
              <a:ext cx="461963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32" name="TextBox 34"/>
            <p:cNvSpPr txBox="1">
              <a:spLocks noChangeArrowheads="1"/>
            </p:cNvSpPr>
            <p:nvPr/>
          </p:nvSpPr>
          <p:spPr bwMode="auto">
            <a:xfrm>
              <a:off x="6076950" y="2987675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33" name="TextBox 35"/>
            <p:cNvSpPr txBox="1">
              <a:spLocks noChangeArrowheads="1"/>
            </p:cNvSpPr>
            <p:nvPr/>
          </p:nvSpPr>
          <p:spPr bwMode="auto">
            <a:xfrm>
              <a:off x="7566025" y="2882900"/>
              <a:ext cx="461963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37" name="Дуга 36"/>
            <p:cNvSpPr/>
            <p:nvPr/>
          </p:nvSpPr>
          <p:spPr bwMode="auto">
            <a:xfrm rot="4787470" flipH="1">
              <a:off x="5476081" y="408782"/>
              <a:ext cx="900113" cy="539750"/>
            </a:xfrm>
            <a:prstGeom prst="arc">
              <a:avLst>
                <a:gd name="adj1" fmla="val 16200000"/>
                <a:gd name="adj2" fmla="val 5293557"/>
              </a:avLst>
            </a:prstGeom>
            <a:noFill/>
            <a:ln w="381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endParaRPr lang="ru-RU">
                <a:ln>
                  <a:solidFill>
                    <a:srgbClr val="FF3300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562" name="TextBox 76"/>
            <p:cNvSpPr txBox="1">
              <a:spLocks noChangeArrowheads="1"/>
            </p:cNvSpPr>
            <p:nvPr/>
          </p:nvSpPr>
          <p:spPr bwMode="auto">
            <a:xfrm>
              <a:off x="6300788" y="2349500"/>
              <a:ext cx="461962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5076056" y="3068960"/>
            <a:ext cx="3416300" cy="3332162"/>
            <a:chOff x="5146675" y="3525838"/>
            <a:chExt cx="3416300" cy="3332162"/>
          </a:xfrm>
        </p:grpSpPr>
        <p:sp>
          <p:nvSpPr>
            <p:cNvPr id="39" name="Овал 38"/>
            <p:cNvSpPr/>
            <p:nvPr/>
          </p:nvSpPr>
          <p:spPr bwMode="auto">
            <a:xfrm>
              <a:off x="6038850" y="3870325"/>
              <a:ext cx="430213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Овал 39"/>
            <p:cNvSpPr/>
            <p:nvPr/>
          </p:nvSpPr>
          <p:spPr bwMode="auto">
            <a:xfrm>
              <a:off x="5641975" y="4708525"/>
              <a:ext cx="430213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Овал 41"/>
            <p:cNvSpPr/>
            <p:nvPr/>
          </p:nvSpPr>
          <p:spPr bwMode="auto">
            <a:xfrm>
              <a:off x="5146675" y="5511800"/>
              <a:ext cx="430213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Овал 42"/>
            <p:cNvSpPr/>
            <p:nvPr/>
          </p:nvSpPr>
          <p:spPr bwMode="auto">
            <a:xfrm>
              <a:off x="5808663" y="5476875"/>
              <a:ext cx="428625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Овал 45"/>
            <p:cNvSpPr/>
            <p:nvPr/>
          </p:nvSpPr>
          <p:spPr bwMode="auto">
            <a:xfrm>
              <a:off x="5510213" y="6245225"/>
              <a:ext cx="430212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Овал 46"/>
            <p:cNvSpPr/>
            <p:nvPr/>
          </p:nvSpPr>
          <p:spPr bwMode="auto">
            <a:xfrm>
              <a:off x="6172200" y="6210300"/>
              <a:ext cx="428625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21541" name="Прямая со стрелкой 48"/>
            <p:cNvCxnSpPr>
              <a:cxnSpLocks noChangeShapeType="1"/>
            </p:cNvCxnSpPr>
            <p:nvPr/>
          </p:nvCxnSpPr>
          <p:spPr bwMode="auto">
            <a:xfrm flipH="1">
              <a:off x="5873750" y="4359275"/>
              <a:ext cx="396875" cy="34925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42" name="Прямая со стрелкой 49"/>
            <p:cNvCxnSpPr>
              <a:cxnSpLocks noChangeShapeType="1"/>
              <a:stCxn id="68" idx="4"/>
              <a:endCxn id="39" idx="6"/>
            </p:cNvCxnSpPr>
            <p:nvPr/>
          </p:nvCxnSpPr>
          <p:spPr bwMode="auto">
            <a:xfrm flipH="1">
              <a:off x="6469063" y="4014788"/>
              <a:ext cx="488950" cy="100012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43" name="Прямая со стрелкой 50"/>
            <p:cNvCxnSpPr>
              <a:cxnSpLocks noChangeShapeType="1"/>
              <a:stCxn id="40" idx="4"/>
              <a:endCxn id="42" idx="0"/>
            </p:cNvCxnSpPr>
            <p:nvPr/>
          </p:nvCxnSpPr>
          <p:spPr bwMode="auto">
            <a:xfrm flipH="1">
              <a:off x="5360988" y="5197475"/>
              <a:ext cx="496887" cy="314325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44" name="Прямая со стрелкой 51"/>
            <p:cNvCxnSpPr>
              <a:cxnSpLocks noChangeShapeType="1"/>
              <a:stCxn id="40" idx="4"/>
              <a:endCxn id="43" idx="0"/>
            </p:cNvCxnSpPr>
            <p:nvPr/>
          </p:nvCxnSpPr>
          <p:spPr bwMode="auto">
            <a:xfrm>
              <a:off x="5857875" y="5197475"/>
              <a:ext cx="165100" cy="27940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45" name="Прямая со стрелкой 54"/>
            <p:cNvCxnSpPr>
              <a:cxnSpLocks noChangeShapeType="1"/>
              <a:stCxn id="43" idx="4"/>
              <a:endCxn id="46" idx="0"/>
            </p:cNvCxnSpPr>
            <p:nvPr/>
          </p:nvCxnSpPr>
          <p:spPr bwMode="auto">
            <a:xfrm flipH="1">
              <a:off x="5724525" y="5965825"/>
              <a:ext cx="298450" cy="27940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46" name="Прямая со стрелкой 55"/>
            <p:cNvCxnSpPr>
              <a:cxnSpLocks noChangeShapeType="1"/>
              <a:stCxn id="43" idx="4"/>
              <a:endCxn id="47" idx="1"/>
            </p:cNvCxnSpPr>
            <p:nvPr/>
          </p:nvCxnSpPr>
          <p:spPr bwMode="auto">
            <a:xfrm>
              <a:off x="6022975" y="5965825"/>
              <a:ext cx="211138" cy="31591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sp>
          <p:nvSpPr>
            <p:cNvPr id="21547" name="TextBox 57"/>
            <p:cNvSpPr txBox="1">
              <a:spLocks noChangeArrowheads="1"/>
            </p:cNvSpPr>
            <p:nvPr/>
          </p:nvSpPr>
          <p:spPr bwMode="auto">
            <a:xfrm>
              <a:off x="7092950" y="3824288"/>
              <a:ext cx="461963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9900FF"/>
                  </a:solidFill>
                </a:rPr>
                <a:t>10</a:t>
              </a:r>
              <a:endParaRPr lang="ru-RU" sz="1400">
                <a:solidFill>
                  <a:srgbClr val="9900FF"/>
                </a:solidFill>
              </a:endParaRPr>
            </a:p>
          </p:txBody>
        </p:sp>
        <p:sp>
          <p:nvSpPr>
            <p:cNvPr id="21548" name="TextBox 58"/>
            <p:cNvSpPr txBox="1">
              <a:spLocks noChangeArrowheads="1"/>
            </p:cNvSpPr>
            <p:nvPr/>
          </p:nvSpPr>
          <p:spPr bwMode="auto">
            <a:xfrm>
              <a:off x="5940425" y="4953000"/>
              <a:ext cx="461963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5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49" name="TextBox 60"/>
            <p:cNvSpPr txBox="1">
              <a:spLocks noChangeArrowheads="1"/>
            </p:cNvSpPr>
            <p:nvPr/>
          </p:nvSpPr>
          <p:spPr bwMode="auto">
            <a:xfrm>
              <a:off x="5411788" y="5861050"/>
              <a:ext cx="461962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50" name="TextBox 61"/>
            <p:cNvSpPr txBox="1">
              <a:spLocks noChangeArrowheads="1"/>
            </p:cNvSpPr>
            <p:nvPr/>
          </p:nvSpPr>
          <p:spPr bwMode="auto">
            <a:xfrm>
              <a:off x="6105525" y="5756275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3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51" name="TextBox 63"/>
            <p:cNvSpPr txBox="1">
              <a:spLocks noChangeArrowheads="1"/>
            </p:cNvSpPr>
            <p:nvPr/>
          </p:nvSpPr>
          <p:spPr bwMode="auto">
            <a:xfrm>
              <a:off x="5775325" y="6559550"/>
              <a:ext cx="461963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52" name="TextBox 64"/>
            <p:cNvSpPr txBox="1">
              <a:spLocks noChangeArrowheads="1"/>
            </p:cNvSpPr>
            <p:nvPr/>
          </p:nvSpPr>
          <p:spPr bwMode="auto">
            <a:xfrm>
              <a:off x="6435725" y="6524625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68" name="Овал 67"/>
            <p:cNvSpPr/>
            <p:nvPr/>
          </p:nvSpPr>
          <p:spPr bwMode="auto">
            <a:xfrm>
              <a:off x="6743700" y="3525838"/>
              <a:ext cx="428625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9" name="Овал 68"/>
            <p:cNvSpPr/>
            <p:nvPr/>
          </p:nvSpPr>
          <p:spPr bwMode="auto">
            <a:xfrm>
              <a:off x="6480175" y="4724400"/>
              <a:ext cx="430213" cy="4905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" name="Овал 69"/>
            <p:cNvSpPr/>
            <p:nvPr/>
          </p:nvSpPr>
          <p:spPr bwMode="auto">
            <a:xfrm>
              <a:off x="7272338" y="4329113"/>
              <a:ext cx="430212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" name="Овал 70"/>
            <p:cNvSpPr/>
            <p:nvPr/>
          </p:nvSpPr>
          <p:spPr bwMode="auto">
            <a:xfrm>
              <a:off x="7867650" y="4922838"/>
              <a:ext cx="430213" cy="48895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21557" name="Прямая со стрелкой 71"/>
            <p:cNvCxnSpPr>
              <a:cxnSpLocks noChangeShapeType="1"/>
              <a:stCxn id="39" idx="4"/>
              <a:endCxn id="69" idx="0"/>
            </p:cNvCxnSpPr>
            <p:nvPr/>
          </p:nvCxnSpPr>
          <p:spPr bwMode="auto">
            <a:xfrm>
              <a:off x="6254750" y="4359275"/>
              <a:ext cx="439738" cy="365125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58" name="Прямая со стрелкой 72"/>
            <p:cNvCxnSpPr>
              <a:cxnSpLocks noChangeShapeType="1"/>
              <a:stCxn id="68" idx="4"/>
              <a:endCxn id="70" idx="0"/>
            </p:cNvCxnSpPr>
            <p:nvPr/>
          </p:nvCxnSpPr>
          <p:spPr bwMode="auto">
            <a:xfrm>
              <a:off x="6958013" y="4014788"/>
              <a:ext cx="528637" cy="314325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21559" name="Прямая со стрелкой 73"/>
            <p:cNvCxnSpPr>
              <a:cxnSpLocks noChangeShapeType="1"/>
              <a:stCxn id="70" idx="5"/>
              <a:endCxn id="71" idx="1"/>
            </p:cNvCxnSpPr>
            <p:nvPr/>
          </p:nvCxnSpPr>
          <p:spPr bwMode="auto">
            <a:xfrm>
              <a:off x="7639050" y="4746625"/>
              <a:ext cx="292100" cy="24765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sp>
          <p:nvSpPr>
            <p:cNvPr id="21560" name="TextBox 74"/>
            <p:cNvSpPr txBox="1">
              <a:spLocks noChangeArrowheads="1"/>
            </p:cNvSpPr>
            <p:nvPr/>
          </p:nvSpPr>
          <p:spPr bwMode="auto">
            <a:xfrm>
              <a:off x="6372225" y="4184650"/>
              <a:ext cx="46355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9900FF"/>
                  </a:solidFill>
                </a:rPr>
                <a:t>7</a:t>
              </a:r>
              <a:endParaRPr lang="ru-RU" sz="1400">
                <a:solidFill>
                  <a:srgbClr val="9900FF"/>
                </a:solidFill>
              </a:endParaRPr>
            </a:p>
          </p:txBody>
        </p:sp>
        <p:sp>
          <p:nvSpPr>
            <p:cNvPr id="21561" name="TextBox 75"/>
            <p:cNvSpPr txBox="1">
              <a:spLocks noChangeArrowheads="1"/>
            </p:cNvSpPr>
            <p:nvPr/>
          </p:nvSpPr>
          <p:spPr bwMode="auto">
            <a:xfrm>
              <a:off x="7602538" y="4503738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2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63" name="TextBox 81"/>
            <p:cNvSpPr txBox="1">
              <a:spLocks noChangeArrowheads="1"/>
            </p:cNvSpPr>
            <p:nvPr/>
          </p:nvSpPr>
          <p:spPr bwMode="auto">
            <a:xfrm>
              <a:off x="6696075" y="5157788"/>
              <a:ext cx="4635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21564" name="TextBox 82"/>
            <p:cNvSpPr txBox="1">
              <a:spLocks noChangeArrowheads="1"/>
            </p:cNvSpPr>
            <p:nvPr/>
          </p:nvSpPr>
          <p:spPr bwMode="auto">
            <a:xfrm>
              <a:off x="8101013" y="5337175"/>
              <a:ext cx="461962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</p:grpSp>
      <p:sp>
        <p:nvSpPr>
          <p:cNvPr id="62" name="Номер слайда 61"/>
          <p:cNvSpPr>
            <a:spLocks noGrp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</p:spPr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750" y="1808163"/>
            <a:ext cx="8229600" cy="4897437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/>
          <a:lstStyle/>
          <a:p>
            <a:pPr>
              <a:buNone/>
              <a:defRPr/>
            </a:pPr>
            <a:r>
              <a:rPr lang="en-US" b="1" dirty="0">
                <a:solidFill>
                  <a:schemeClr val="bg2"/>
                </a:solidFill>
                <a:effectLst/>
              </a:rPr>
              <a:t>partition(Node **R, </a:t>
            </a:r>
            <a:r>
              <a:rPr lang="en-US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b="1" dirty="0">
                <a:solidFill>
                  <a:schemeClr val="bg2"/>
                </a:solidFill>
                <a:effectLst/>
              </a:rPr>
              <a:t> k</a:t>
            </a:r>
            <a:r>
              <a:rPr lang="ru-RU" b="1" dirty="0">
                <a:solidFill>
                  <a:schemeClr val="bg2"/>
                </a:solidFill>
                <a:effectLst/>
              </a:rPr>
              <a:t> </a:t>
            </a:r>
            <a:r>
              <a:rPr lang="en-US" b="1" dirty="0">
                <a:solidFill>
                  <a:schemeClr val="bg2"/>
                </a:solidFill>
                <a:effectLst/>
              </a:rPr>
              <a:t>) </a:t>
            </a:r>
            <a:endParaRPr lang="ru-RU" b="1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effectLst/>
              </a:rPr>
              <a:t>Если</a:t>
            </a:r>
            <a:r>
              <a:rPr lang="en-US" dirty="0">
                <a:solidFill>
                  <a:schemeClr val="bg2"/>
                </a:solidFill>
                <a:effectLst/>
              </a:rPr>
              <a:t> *R == 0 return;</a:t>
            </a: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dirty="0">
                <a:solidFill>
                  <a:schemeClr val="bg2"/>
                </a:solidFill>
                <a:effectLst/>
              </a:rPr>
              <a:t>T = (*R</a:t>
            </a:r>
            <a:r>
              <a:rPr lang="ru-RU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dirty="0">
                <a:solidFill>
                  <a:schemeClr val="bg2"/>
                </a:solidFill>
                <a:effectLst/>
              </a:rPr>
              <a:t>left == 0) ? 0: *R</a:t>
            </a:r>
            <a:r>
              <a:rPr lang="ru-RU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dirty="0">
                <a:solidFill>
                  <a:schemeClr val="bg2"/>
                </a:solidFill>
                <a:effectLst/>
              </a:rPr>
              <a:t>left</a:t>
            </a:r>
            <a:r>
              <a:rPr lang="ru-RU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dirty="0">
                <a:solidFill>
                  <a:schemeClr val="bg2"/>
                </a:solidFill>
                <a:effectLst/>
              </a:rPr>
              <a:t>N;</a:t>
            </a: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effectLst/>
              </a:rPr>
              <a:t>Если</a:t>
            </a:r>
            <a:r>
              <a:rPr lang="en-US" dirty="0">
                <a:solidFill>
                  <a:schemeClr val="bg2"/>
                </a:solidFill>
                <a:effectLst/>
              </a:rPr>
              <a:t> T&gt;k </a:t>
            </a:r>
            <a:r>
              <a:rPr lang="en-US" b="1" dirty="0">
                <a:solidFill>
                  <a:schemeClr val="bg2"/>
                </a:solidFill>
                <a:effectLst/>
              </a:rPr>
              <a:t>partition (*R</a:t>
            </a:r>
            <a:r>
              <a:rPr lang="ru-RU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b="1" dirty="0">
                <a:solidFill>
                  <a:schemeClr val="bg2"/>
                </a:solidFill>
                <a:effectLst/>
              </a:rPr>
              <a:t>left, k)</a:t>
            </a:r>
            <a:r>
              <a:rPr lang="en-US" dirty="0">
                <a:solidFill>
                  <a:schemeClr val="bg2"/>
                </a:solidFill>
                <a:effectLst/>
              </a:rPr>
              <a:t>;              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dirty="0" err="1">
                <a:solidFill>
                  <a:schemeClr val="bg2"/>
                </a:solidFill>
                <a:effectLst/>
              </a:rPr>
              <a:t>rotate_r</a:t>
            </a:r>
            <a:r>
              <a:rPr lang="en-US" dirty="0">
                <a:solidFill>
                  <a:schemeClr val="bg2"/>
                </a:solidFill>
                <a:effectLst/>
              </a:rPr>
              <a:t>(R);</a:t>
            </a: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effectLst/>
              </a:rPr>
              <a:t>Если</a:t>
            </a:r>
            <a:r>
              <a:rPr lang="en-US" dirty="0">
                <a:solidFill>
                  <a:schemeClr val="bg2"/>
                </a:solidFill>
                <a:effectLst/>
              </a:rPr>
              <a:t> T&lt;k </a:t>
            </a:r>
            <a:r>
              <a:rPr lang="en-US" b="1" dirty="0">
                <a:solidFill>
                  <a:schemeClr val="bg2"/>
                </a:solidFill>
                <a:effectLst/>
              </a:rPr>
              <a:t>partition (*R</a:t>
            </a:r>
            <a:r>
              <a:rPr lang="ru-RU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b="1" dirty="0">
                <a:solidFill>
                  <a:schemeClr val="bg2"/>
                </a:solidFill>
                <a:effectLst/>
              </a:rPr>
              <a:t>right, k-T-1)</a:t>
            </a:r>
            <a:r>
              <a:rPr lang="en-US" dirty="0">
                <a:solidFill>
                  <a:schemeClr val="bg2"/>
                </a:solidFill>
                <a:effectLst/>
              </a:rPr>
              <a:t>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dirty="0" err="1">
                <a:solidFill>
                  <a:schemeClr val="bg2"/>
                </a:solidFill>
                <a:effectLst/>
              </a:rPr>
              <a:t>rotate_l</a:t>
            </a:r>
            <a:r>
              <a:rPr lang="en-US" dirty="0">
                <a:solidFill>
                  <a:schemeClr val="bg2"/>
                </a:solidFill>
                <a:effectLst/>
              </a:rPr>
              <a:t>(R);</a:t>
            </a:r>
            <a:endParaRPr lang="ru-RU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dirty="0">
                <a:solidFill>
                  <a:schemeClr val="bg2"/>
                </a:solidFill>
                <a:effectLst/>
              </a:rPr>
              <a:t>конец</a:t>
            </a:r>
          </a:p>
          <a:p>
            <a:pPr>
              <a:buFont typeface="Wingdings" pitchFamily="2" charset="2"/>
              <a:buNone/>
              <a:defRPr/>
            </a:pP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225425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ru-RU" sz="4000" b="1" dirty="0">
                <a:solidFill>
                  <a:schemeClr val="bg2"/>
                </a:solidFill>
              </a:rPr>
              <a:t>Операция разделения </a:t>
            </a:r>
            <a:r>
              <a:rPr lang="en-US" sz="4000" b="1" dirty="0">
                <a:solidFill>
                  <a:schemeClr val="bg2"/>
                </a:solidFill>
              </a:rPr>
              <a:t>BST-</a:t>
            </a:r>
            <a:r>
              <a:rPr lang="ru-RU" sz="4000" b="1" dirty="0">
                <a:solidFill>
                  <a:schemeClr val="bg2"/>
                </a:solidFill>
              </a:rPr>
              <a:t>дерева на части</a:t>
            </a:r>
            <a:endParaRPr lang="ru-RU" sz="4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99319"/>
          </a:xfrm>
        </p:spPr>
        <p:txBody>
          <a:bodyPr/>
          <a:lstStyle/>
          <a:p>
            <a:pPr>
              <a:defRPr/>
            </a:pPr>
            <a:r>
              <a:rPr lang="ru-RU" sz="2800" b="1" dirty="0">
                <a:solidFill>
                  <a:schemeClr val="bg2"/>
                </a:solidFill>
              </a:rPr>
              <a:t>Операция разделения </a:t>
            </a:r>
            <a:r>
              <a:rPr lang="en-US" sz="2800" b="1" dirty="0">
                <a:solidFill>
                  <a:schemeClr val="bg2"/>
                </a:solidFill>
              </a:rPr>
              <a:t>BST-</a:t>
            </a:r>
            <a:r>
              <a:rPr lang="ru-RU" sz="2800" b="1" dirty="0">
                <a:solidFill>
                  <a:schemeClr val="bg2"/>
                </a:solidFill>
              </a:rPr>
              <a:t>дерева на части</a:t>
            </a:r>
            <a:endParaRPr lang="ru-RU" sz="2800" dirty="0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4572000" y="1628800"/>
            <a:ext cx="4392612" cy="2663825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  <a:defRPr/>
            </a:pPr>
            <a:r>
              <a:rPr lang="en-US" sz="1600" b="1" dirty="0">
                <a:solidFill>
                  <a:schemeClr val="bg2"/>
                </a:solidFill>
                <a:effectLst/>
              </a:rPr>
              <a:t>partition(Node **R, 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 k</a:t>
            </a:r>
            <a:r>
              <a:rPr lang="ru-RU" sz="16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) </a:t>
            </a:r>
            <a:endParaRPr lang="ru-RU" sz="1600" b="1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*R == 0 return;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T = (*R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left == 0) ? 0: *R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left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N;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T&gt;k 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partition (*R</a:t>
            </a:r>
            <a:r>
              <a:rPr lang="ru-RU" sz="16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left,k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)</a:t>
            </a:r>
            <a:r>
              <a:rPr lang="en-US" sz="1600" dirty="0">
                <a:solidFill>
                  <a:schemeClr val="bg2"/>
                </a:solidFill>
                <a:effectLst/>
              </a:rPr>
              <a:t>;              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600" dirty="0" err="1">
                <a:solidFill>
                  <a:schemeClr val="bg2"/>
                </a:solidFill>
                <a:effectLst/>
              </a:rPr>
              <a:t>rotate_r</a:t>
            </a:r>
            <a:r>
              <a:rPr lang="en-US" sz="1600" dirty="0">
                <a:solidFill>
                  <a:schemeClr val="bg2"/>
                </a:solidFill>
                <a:effectLst/>
              </a:rPr>
              <a:t>(R);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T&lt;k 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partition (*R</a:t>
            </a:r>
            <a:r>
              <a:rPr lang="ru-RU" sz="16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rigth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, k-T-1)</a:t>
            </a:r>
            <a:r>
              <a:rPr lang="en-US" sz="1600" dirty="0">
                <a:solidFill>
                  <a:schemeClr val="bg2"/>
                </a:solidFill>
                <a:effectLst/>
              </a:rPr>
              <a:t>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600" dirty="0" err="1">
                <a:solidFill>
                  <a:schemeClr val="bg2"/>
                </a:solidFill>
                <a:effectLst/>
              </a:rPr>
              <a:t>rotate_l</a:t>
            </a:r>
            <a:r>
              <a:rPr lang="en-US" sz="1600" dirty="0">
                <a:solidFill>
                  <a:schemeClr val="bg2"/>
                </a:solidFill>
                <a:effectLst/>
              </a:rPr>
              <a:t>(R);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конец</a:t>
            </a:r>
          </a:p>
          <a:p>
            <a:pPr>
              <a:buFont typeface="Wingdings" pitchFamily="2" charset="2"/>
              <a:buNone/>
              <a:defRPr/>
            </a:pPr>
            <a:endParaRPr lang="ru-RU" dirty="0"/>
          </a:p>
        </p:txBody>
      </p:sp>
      <p:sp>
        <p:nvSpPr>
          <p:cNvPr id="23556" name="TextBox 51"/>
          <p:cNvSpPr txBox="1">
            <a:spLocks noChangeArrowheads="1"/>
          </p:cNvSpPr>
          <p:nvPr/>
        </p:nvSpPr>
        <p:spPr bwMode="auto">
          <a:xfrm>
            <a:off x="2555776" y="800708"/>
            <a:ext cx="51117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0" dirty="0">
                <a:solidFill>
                  <a:schemeClr val="bg1"/>
                </a:solidFill>
              </a:rPr>
              <a:t>Разделим относительно </a:t>
            </a:r>
            <a:r>
              <a:rPr lang="en-US" sz="2400" dirty="0">
                <a:solidFill>
                  <a:schemeClr val="bg1"/>
                </a:solidFill>
              </a:rPr>
              <a:t>0-</a:t>
            </a:r>
            <a:r>
              <a:rPr lang="ru-RU" sz="2400" dirty="0">
                <a:solidFill>
                  <a:schemeClr val="bg1"/>
                </a:solidFill>
              </a:rPr>
              <a:t>го </a:t>
            </a:r>
            <a:r>
              <a:rPr lang="ru-RU" sz="2400" b="0" dirty="0">
                <a:solidFill>
                  <a:schemeClr val="bg1"/>
                </a:solidFill>
              </a:rPr>
              <a:t>наименьшего </a:t>
            </a:r>
          </a:p>
        </p:txBody>
      </p:sp>
      <p:grpSp>
        <p:nvGrpSpPr>
          <p:cNvPr id="35" name="Группа 34"/>
          <p:cNvGrpSpPr/>
          <p:nvPr/>
        </p:nvGrpSpPr>
        <p:grpSpPr>
          <a:xfrm>
            <a:off x="215516" y="908720"/>
            <a:ext cx="3529012" cy="3079750"/>
            <a:chOff x="215516" y="908720"/>
            <a:chExt cx="3529012" cy="3079750"/>
          </a:xfrm>
        </p:grpSpPr>
        <p:grpSp>
          <p:nvGrpSpPr>
            <p:cNvPr id="23555" name="Группа 50"/>
            <p:cNvGrpSpPr>
              <a:grpSpLocks/>
            </p:cNvGrpSpPr>
            <p:nvPr/>
          </p:nvGrpSpPr>
          <p:grpSpPr bwMode="auto">
            <a:xfrm>
              <a:off x="215516" y="908720"/>
              <a:ext cx="3529012" cy="3079750"/>
              <a:chOff x="179512" y="1880828"/>
              <a:chExt cx="3528392" cy="3080085"/>
            </a:xfrm>
          </p:grpSpPr>
          <p:sp>
            <p:nvSpPr>
              <p:cNvPr id="6" name="Овал 5"/>
              <p:cNvSpPr/>
              <p:nvPr/>
            </p:nvSpPr>
            <p:spPr bwMode="auto">
              <a:xfrm>
                <a:off x="1150891" y="1880828"/>
                <a:ext cx="468230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" name="Овал 6"/>
              <p:cNvSpPr/>
              <p:nvPr/>
            </p:nvSpPr>
            <p:spPr bwMode="auto">
              <a:xfrm>
                <a:off x="719167" y="2744522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" name="Овал 7"/>
              <p:cNvSpPr/>
              <p:nvPr/>
            </p:nvSpPr>
            <p:spPr bwMode="auto">
              <a:xfrm>
                <a:off x="1692133" y="2709593"/>
                <a:ext cx="468231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7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" name="Овал 8"/>
              <p:cNvSpPr/>
              <p:nvPr/>
            </p:nvSpPr>
            <p:spPr bwMode="auto">
              <a:xfrm>
                <a:off x="179512" y="3573287"/>
                <a:ext cx="468230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Овал 9"/>
              <p:cNvSpPr/>
              <p:nvPr/>
            </p:nvSpPr>
            <p:spPr bwMode="auto">
              <a:xfrm>
                <a:off x="900110" y="3536770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4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" name="Овал 10"/>
              <p:cNvSpPr/>
              <p:nvPr/>
            </p:nvSpPr>
            <p:spPr bwMode="auto">
              <a:xfrm>
                <a:off x="1619121" y="3500254"/>
                <a:ext cx="468231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6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" name="Овал 11"/>
              <p:cNvSpPr/>
              <p:nvPr/>
            </p:nvSpPr>
            <p:spPr bwMode="auto">
              <a:xfrm>
                <a:off x="2268295" y="3536770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8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" name="Овал 12"/>
              <p:cNvSpPr/>
              <p:nvPr/>
            </p:nvSpPr>
            <p:spPr bwMode="auto">
              <a:xfrm>
                <a:off x="576317" y="4329019"/>
                <a:ext cx="466643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" name="Овал 13"/>
              <p:cNvSpPr/>
              <p:nvPr/>
            </p:nvSpPr>
            <p:spPr bwMode="auto">
              <a:xfrm>
                <a:off x="1295328" y="4292502"/>
                <a:ext cx="468231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" name="Овал 14"/>
              <p:cNvSpPr/>
              <p:nvPr/>
            </p:nvSpPr>
            <p:spPr bwMode="auto">
              <a:xfrm>
                <a:off x="2915881" y="4149612"/>
                <a:ext cx="468230" cy="50329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9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cxnSp>
            <p:nvCxnSpPr>
              <p:cNvPr id="23568" name="Прямая со стрелкой 16"/>
              <p:cNvCxnSpPr>
                <a:cxnSpLocks noChangeShapeType="1"/>
              </p:cNvCxnSpPr>
              <p:nvPr/>
            </p:nvCxnSpPr>
            <p:spPr bwMode="auto">
              <a:xfrm flipH="1">
                <a:off x="971600" y="2384884"/>
                <a:ext cx="432048" cy="360040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3569" name="Прямая со стрелкой 17"/>
              <p:cNvCxnSpPr>
                <a:cxnSpLocks noChangeShapeType="1"/>
                <a:stCxn id="6" idx="4"/>
                <a:endCxn id="8" idx="1"/>
              </p:cNvCxnSpPr>
              <p:nvPr/>
            </p:nvCxnSpPr>
            <p:spPr bwMode="auto">
              <a:xfrm>
                <a:off x="1385646" y="2384884"/>
                <a:ext cx="374579" cy="397853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3570" name="Прямая со стрелкой 20"/>
              <p:cNvCxnSpPr>
                <a:cxnSpLocks noChangeShapeType="1"/>
                <a:stCxn id="7" idx="4"/>
                <a:endCxn id="9" idx="0"/>
              </p:cNvCxnSpPr>
              <p:nvPr/>
            </p:nvCxnSpPr>
            <p:spPr bwMode="auto">
              <a:xfrm flipH="1">
                <a:off x="413538" y="3248980"/>
                <a:ext cx="540060" cy="32403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3571" name="Прямая со стрелкой 23"/>
              <p:cNvCxnSpPr>
                <a:cxnSpLocks noChangeShapeType="1"/>
                <a:stCxn id="7" idx="4"/>
                <a:endCxn id="10" idx="0"/>
              </p:cNvCxnSpPr>
              <p:nvPr/>
            </p:nvCxnSpPr>
            <p:spPr bwMode="auto">
              <a:xfrm>
                <a:off x="953598" y="3248980"/>
                <a:ext cx="180020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3572" name="Прямая со стрелкой 26"/>
              <p:cNvCxnSpPr>
                <a:cxnSpLocks noChangeShapeType="1"/>
                <a:stCxn id="8" idx="4"/>
                <a:endCxn id="11" idx="0"/>
              </p:cNvCxnSpPr>
              <p:nvPr/>
            </p:nvCxnSpPr>
            <p:spPr bwMode="auto">
              <a:xfrm flipH="1">
                <a:off x="1853698" y="3212976"/>
                <a:ext cx="72008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3573" name="Прямая со стрелкой 29"/>
              <p:cNvCxnSpPr>
                <a:cxnSpLocks noChangeShapeType="1"/>
                <a:stCxn id="8" idx="4"/>
                <a:endCxn id="12" idx="0"/>
              </p:cNvCxnSpPr>
              <p:nvPr/>
            </p:nvCxnSpPr>
            <p:spPr bwMode="auto">
              <a:xfrm>
                <a:off x="1925706" y="3212976"/>
                <a:ext cx="576064" cy="32403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3574" name="Прямая со стрелкой 32"/>
              <p:cNvCxnSpPr>
                <a:cxnSpLocks noChangeShapeType="1"/>
                <a:stCxn id="10" idx="4"/>
                <a:endCxn id="13" idx="0"/>
              </p:cNvCxnSpPr>
              <p:nvPr/>
            </p:nvCxnSpPr>
            <p:spPr bwMode="auto">
              <a:xfrm flipH="1">
                <a:off x="809582" y="4041068"/>
                <a:ext cx="324036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3575" name="Прямая со стрелкой 35"/>
              <p:cNvCxnSpPr>
                <a:cxnSpLocks noChangeShapeType="1"/>
                <a:stCxn id="10" idx="4"/>
                <a:endCxn id="14" idx="1"/>
              </p:cNvCxnSpPr>
              <p:nvPr/>
            </p:nvCxnSpPr>
            <p:spPr bwMode="auto">
              <a:xfrm>
                <a:off x="1133618" y="4041068"/>
                <a:ext cx="230563" cy="325845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3576" name="Прямая со стрелкой 38"/>
              <p:cNvCxnSpPr>
                <a:cxnSpLocks noChangeShapeType="1"/>
                <a:stCxn id="12" idx="5"/>
                <a:endCxn id="15" idx="1"/>
              </p:cNvCxnSpPr>
              <p:nvPr/>
            </p:nvCxnSpPr>
            <p:spPr bwMode="auto">
              <a:xfrm>
                <a:off x="2667251" y="3967251"/>
                <a:ext cx="317110" cy="25564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sp>
            <p:nvSpPr>
              <p:cNvPr id="23577" name="TextBox 41"/>
              <p:cNvSpPr txBox="1">
                <a:spLocks noChangeArrowheads="1"/>
              </p:cNvSpPr>
              <p:nvPr/>
            </p:nvSpPr>
            <p:spPr bwMode="auto">
              <a:xfrm>
                <a:off x="1439652" y="2204864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10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3578" name="TextBox 42"/>
              <p:cNvSpPr txBox="1">
                <a:spLocks noChangeArrowheads="1"/>
              </p:cNvSpPr>
              <p:nvPr/>
            </p:nvSpPr>
            <p:spPr bwMode="auto">
              <a:xfrm>
                <a:off x="1043608" y="299695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5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3579" name="TextBox 43"/>
              <p:cNvSpPr txBox="1">
                <a:spLocks noChangeArrowheads="1"/>
              </p:cNvSpPr>
              <p:nvPr/>
            </p:nvSpPr>
            <p:spPr bwMode="auto">
              <a:xfrm>
                <a:off x="2087724" y="3068960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4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3580" name="TextBox 44"/>
              <p:cNvSpPr txBox="1">
                <a:spLocks noChangeArrowheads="1"/>
              </p:cNvSpPr>
              <p:nvPr/>
            </p:nvSpPr>
            <p:spPr bwMode="auto">
              <a:xfrm>
                <a:off x="467544" y="3933056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3581" name="TextBox 45"/>
              <p:cNvSpPr txBox="1">
                <a:spLocks noChangeArrowheads="1"/>
              </p:cNvSpPr>
              <p:nvPr/>
            </p:nvSpPr>
            <p:spPr bwMode="auto">
              <a:xfrm>
                <a:off x="1223628" y="3825044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3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3582" name="TextBox 46"/>
              <p:cNvSpPr txBox="1">
                <a:spLocks noChangeArrowheads="1"/>
              </p:cNvSpPr>
              <p:nvPr/>
            </p:nvSpPr>
            <p:spPr bwMode="auto">
              <a:xfrm>
                <a:off x="2627784" y="371703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2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3583" name="TextBox 47"/>
              <p:cNvSpPr txBox="1">
                <a:spLocks noChangeArrowheads="1"/>
              </p:cNvSpPr>
              <p:nvPr/>
            </p:nvSpPr>
            <p:spPr bwMode="auto">
              <a:xfrm>
                <a:off x="863588" y="4653136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3584" name="TextBox 48"/>
              <p:cNvSpPr txBox="1">
                <a:spLocks noChangeArrowheads="1"/>
              </p:cNvSpPr>
              <p:nvPr/>
            </p:nvSpPr>
            <p:spPr bwMode="auto">
              <a:xfrm>
                <a:off x="1583668" y="461713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3585" name="TextBox 49"/>
              <p:cNvSpPr txBox="1">
                <a:spLocks noChangeArrowheads="1"/>
              </p:cNvSpPr>
              <p:nvPr/>
            </p:nvSpPr>
            <p:spPr bwMode="auto">
              <a:xfrm>
                <a:off x="3203848" y="4509120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3557" name="TextBox 52"/>
            <p:cNvSpPr txBox="1">
              <a:spLocks noChangeArrowheads="1"/>
            </p:cNvSpPr>
            <p:nvPr/>
          </p:nvSpPr>
          <p:spPr bwMode="auto">
            <a:xfrm>
              <a:off x="1836353" y="2961357"/>
              <a:ext cx="503238" cy="306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</p:grpSp>
      <p:sp>
        <p:nvSpPr>
          <p:cNvPr id="36" name="Номер слайда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15516" y="0"/>
            <a:ext cx="8675687" cy="791307"/>
          </a:xfrm>
        </p:spPr>
        <p:txBody>
          <a:bodyPr/>
          <a:lstStyle/>
          <a:p>
            <a:pPr>
              <a:defRPr/>
            </a:pPr>
            <a:r>
              <a:rPr lang="ru-RU" sz="2800" b="1" dirty="0">
                <a:solidFill>
                  <a:schemeClr val="bg2"/>
                </a:solidFill>
              </a:rPr>
              <a:t>Операция разделения </a:t>
            </a:r>
            <a:r>
              <a:rPr lang="en-US" sz="2800" b="1" dirty="0">
                <a:solidFill>
                  <a:schemeClr val="bg2"/>
                </a:solidFill>
              </a:rPr>
              <a:t>BST-</a:t>
            </a:r>
            <a:r>
              <a:rPr lang="ru-RU" sz="2800" b="1" dirty="0">
                <a:solidFill>
                  <a:schemeClr val="bg2"/>
                </a:solidFill>
              </a:rPr>
              <a:t>дерева на части</a:t>
            </a:r>
            <a:endParaRPr lang="ru-RU" sz="2800" dirty="0"/>
          </a:p>
        </p:txBody>
      </p:sp>
      <p:sp>
        <p:nvSpPr>
          <p:cNvPr id="24579" name="TextBox 33"/>
          <p:cNvSpPr txBox="1">
            <a:spLocks noChangeArrowheads="1"/>
          </p:cNvSpPr>
          <p:nvPr/>
        </p:nvSpPr>
        <p:spPr bwMode="auto">
          <a:xfrm>
            <a:off x="3527884" y="764704"/>
            <a:ext cx="54006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0" dirty="0">
                <a:solidFill>
                  <a:schemeClr val="bg1"/>
                </a:solidFill>
              </a:rPr>
              <a:t>Разделим относительно </a:t>
            </a:r>
            <a:r>
              <a:rPr lang="ru-RU" sz="2000" dirty="0">
                <a:solidFill>
                  <a:schemeClr val="bg1"/>
                </a:solidFill>
              </a:rPr>
              <a:t>3</a:t>
            </a:r>
            <a:r>
              <a:rPr lang="en-US" sz="2000" dirty="0">
                <a:solidFill>
                  <a:schemeClr val="bg1"/>
                </a:solidFill>
              </a:rPr>
              <a:t>-</a:t>
            </a:r>
            <a:r>
              <a:rPr lang="ru-RU" sz="2000" dirty="0">
                <a:solidFill>
                  <a:schemeClr val="bg1"/>
                </a:solidFill>
              </a:rPr>
              <a:t>го </a:t>
            </a:r>
            <a:r>
              <a:rPr lang="ru-RU" sz="2000" b="0" dirty="0">
                <a:solidFill>
                  <a:schemeClr val="bg1"/>
                </a:solidFill>
              </a:rPr>
              <a:t>наименьшего</a:t>
            </a:r>
          </a:p>
        </p:txBody>
      </p:sp>
      <p:sp>
        <p:nvSpPr>
          <p:cNvPr id="35" name="Содержимое 2"/>
          <p:cNvSpPr>
            <a:spLocks noGrp="1"/>
          </p:cNvSpPr>
          <p:nvPr>
            <p:ph idx="1"/>
          </p:nvPr>
        </p:nvSpPr>
        <p:spPr>
          <a:xfrm>
            <a:off x="4751388" y="1196752"/>
            <a:ext cx="4392612" cy="2663825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  <a:defRPr/>
            </a:pPr>
            <a:r>
              <a:rPr lang="en-US" sz="1600" b="1" dirty="0">
                <a:solidFill>
                  <a:schemeClr val="bg2"/>
                </a:solidFill>
                <a:effectLst/>
              </a:rPr>
              <a:t>partition(Node **R, 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 k</a:t>
            </a:r>
            <a:r>
              <a:rPr lang="ru-RU" sz="16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) </a:t>
            </a:r>
            <a:endParaRPr lang="ru-RU" sz="1600" b="1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*R == 0 return;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T = (*R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left == 0) ? 0: *R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left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N;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T&gt;k 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partition (*R</a:t>
            </a:r>
            <a:r>
              <a:rPr lang="ru-RU" sz="16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left,k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)</a:t>
            </a:r>
            <a:r>
              <a:rPr lang="en-US" sz="1600" dirty="0">
                <a:solidFill>
                  <a:schemeClr val="bg2"/>
                </a:solidFill>
                <a:effectLst/>
              </a:rPr>
              <a:t>;              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600" dirty="0" err="1">
                <a:solidFill>
                  <a:schemeClr val="bg2"/>
                </a:solidFill>
                <a:effectLst/>
              </a:rPr>
              <a:t>rotate_r</a:t>
            </a:r>
            <a:r>
              <a:rPr lang="en-US" sz="1600" dirty="0">
                <a:solidFill>
                  <a:schemeClr val="bg2"/>
                </a:solidFill>
                <a:effectLst/>
              </a:rPr>
              <a:t>(R);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T&lt;k 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partition (*R</a:t>
            </a:r>
            <a:r>
              <a:rPr lang="ru-RU" sz="16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rigth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, k-T-1)</a:t>
            </a:r>
            <a:r>
              <a:rPr lang="en-US" sz="1600" dirty="0">
                <a:solidFill>
                  <a:schemeClr val="bg2"/>
                </a:solidFill>
                <a:effectLst/>
              </a:rPr>
              <a:t>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600" dirty="0" err="1">
                <a:solidFill>
                  <a:schemeClr val="bg2"/>
                </a:solidFill>
                <a:effectLst/>
              </a:rPr>
              <a:t>rotate_l</a:t>
            </a:r>
            <a:r>
              <a:rPr lang="en-US" sz="1600" dirty="0">
                <a:solidFill>
                  <a:schemeClr val="bg2"/>
                </a:solidFill>
                <a:effectLst/>
              </a:rPr>
              <a:t>(R);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конец</a:t>
            </a:r>
          </a:p>
          <a:p>
            <a:pPr>
              <a:buFont typeface="Wingdings" pitchFamily="2" charset="2"/>
              <a:buNone/>
              <a:defRPr/>
            </a:pPr>
            <a:endParaRPr lang="ru-RU" dirty="0"/>
          </a:p>
        </p:txBody>
      </p:sp>
      <p:grpSp>
        <p:nvGrpSpPr>
          <p:cNvPr id="36" name="Группа 35"/>
          <p:cNvGrpSpPr/>
          <p:nvPr/>
        </p:nvGrpSpPr>
        <p:grpSpPr>
          <a:xfrm>
            <a:off x="467544" y="692696"/>
            <a:ext cx="3529012" cy="3079750"/>
            <a:chOff x="287338" y="1881188"/>
            <a:chExt cx="3529012" cy="3079750"/>
          </a:xfrm>
        </p:grpSpPr>
        <p:grpSp>
          <p:nvGrpSpPr>
            <p:cNvPr id="24578" name="Группа 4"/>
            <p:cNvGrpSpPr>
              <a:grpSpLocks/>
            </p:cNvGrpSpPr>
            <p:nvPr/>
          </p:nvGrpSpPr>
          <p:grpSpPr bwMode="auto">
            <a:xfrm>
              <a:off x="287338" y="1881188"/>
              <a:ext cx="3529012" cy="3079750"/>
              <a:chOff x="179512" y="1880828"/>
              <a:chExt cx="3528392" cy="3080085"/>
            </a:xfrm>
          </p:grpSpPr>
          <p:sp>
            <p:nvSpPr>
              <p:cNvPr id="6" name="Овал 5"/>
              <p:cNvSpPr/>
              <p:nvPr/>
            </p:nvSpPr>
            <p:spPr bwMode="auto">
              <a:xfrm>
                <a:off x="1150891" y="1880828"/>
                <a:ext cx="468230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" name="Овал 6"/>
              <p:cNvSpPr/>
              <p:nvPr/>
            </p:nvSpPr>
            <p:spPr bwMode="auto">
              <a:xfrm>
                <a:off x="719167" y="2744522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" name="Овал 7"/>
              <p:cNvSpPr/>
              <p:nvPr/>
            </p:nvSpPr>
            <p:spPr bwMode="auto">
              <a:xfrm>
                <a:off x="1692133" y="2709593"/>
                <a:ext cx="468231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7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" name="Овал 8"/>
              <p:cNvSpPr/>
              <p:nvPr/>
            </p:nvSpPr>
            <p:spPr bwMode="auto">
              <a:xfrm>
                <a:off x="179512" y="3573287"/>
                <a:ext cx="468230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Овал 9"/>
              <p:cNvSpPr/>
              <p:nvPr/>
            </p:nvSpPr>
            <p:spPr bwMode="auto">
              <a:xfrm>
                <a:off x="900110" y="3536770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4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" name="Овал 10"/>
              <p:cNvSpPr/>
              <p:nvPr/>
            </p:nvSpPr>
            <p:spPr bwMode="auto">
              <a:xfrm>
                <a:off x="1619121" y="3500254"/>
                <a:ext cx="468231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6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" name="Овал 11"/>
              <p:cNvSpPr/>
              <p:nvPr/>
            </p:nvSpPr>
            <p:spPr bwMode="auto">
              <a:xfrm>
                <a:off x="2268295" y="3536770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8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" name="Овал 12"/>
              <p:cNvSpPr/>
              <p:nvPr/>
            </p:nvSpPr>
            <p:spPr bwMode="auto">
              <a:xfrm>
                <a:off x="576317" y="4329019"/>
                <a:ext cx="466643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" name="Овал 13"/>
              <p:cNvSpPr/>
              <p:nvPr/>
            </p:nvSpPr>
            <p:spPr bwMode="auto">
              <a:xfrm>
                <a:off x="1295328" y="4292502"/>
                <a:ext cx="468231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" name="Овал 14"/>
              <p:cNvSpPr/>
              <p:nvPr/>
            </p:nvSpPr>
            <p:spPr bwMode="auto">
              <a:xfrm>
                <a:off x="2915881" y="4149612"/>
                <a:ext cx="468230" cy="50329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9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cxnSp>
            <p:nvCxnSpPr>
              <p:cNvPr id="24592" name="Прямая со стрелкой 15"/>
              <p:cNvCxnSpPr>
                <a:cxnSpLocks noChangeShapeType="1"/>
              </p:cNvCxnSpPr>
              <p:nvPr/>
            </p:nvCxnSpPr>
            <p:spPr bwMode="auto">
              <a:xfrm flipH="1">
                <a:off x="971600" y="2384884"/>
                <a:ext cx="432048" cy="360040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3" name="Прямая со стрелкой 16"/>
              <p:cNvCxnSpPr>
                <a:cxnSpLocks noChangeShapeType="1"/>
                <a:stCxn id="6" idx="4"/>
                <a:endCxn id="8" idx="1"/>
              </p:cNvCxnSpPr>
              <p:nvPr/>
            </p:nvCxnSpPr>
            <p:spPr bwMode="auto">
              <a:xfrm>
                <a:off x="1385646" y="2384884"/>
                <a:ext cx="374579" cy="397853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4" name="Прямая со стрелкой 17"/>
              <p:cNvCxnSpPr>
                <a:cxnSpLocks noChangeShapeType="1"/>
                <a:stCxn id="7" idx="4"/>
                <a:endCxn id="9" idx="0"/>
              </p:cNvCxnSpPr>
              <p:nvPr/>
            </p:nvCxnSpPr>
            <p:spPr bwMode="auto">
              <a:xfrm flipH="1">
                <a:off x="413538" y="3248980"/>
                <a:ext cx="540060" cy="32403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5" name="Прямая со стрелкой 18"/>
              <p:cNvCxnSpPr>
                <a:cxnSpLocks noChangeShapeType="1"/>
                <a:stCxn id="7" idx="4"/>
                <a:endCxn id="10" idx="0"/>
              </p:cNvCxnSpPr>
              <p:nvPr/>
            </p:nvCxnSpPr>
            <p:spPr bwMode="auto">
              <a:xfrm>
                <a:off x="953598" y="3248980"/>
                <a:ext cx="180020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6" name="Прямая со стрелкой 19"/>
              <p:cNvCxnSpPr>
                <a:cxnSpLocks noChangeShapeType="1"/>
                <a:stCxn id="8" idx="4"/>
                <a:endCxn id="11" idx="0"/>
              </p:cNvCxnSpPr>
              <p:nvPr/>
            </p:nvCxnSpPr>
            <p:spPr bwMode="auto">
              <a:xfrm flipH="1">
                <a:off x="1853698" y="3212976"/>
                <a:ext cx="72008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7" name="Прямая со стрелкой 20"/>
              <p:cNvCxnSpPr>
                <a:cxnSpLocks noChangeShapeType="1"/>
                <a:stCxn id="8" idx="4"/>
                <a:endCxn id="12" idx="0"/>
              </p:cNvCxnSpPr>
              <p:nvPr/>
            </p:nvCxnSpPr>
            <p:spPr bwMode="auto">
              <a:xfrm>
                <a:off x="1925706" y="3212976"/>
                <a:ext cx="576064" cy="32403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8" name="Прямая со стрелкой 21"/>
              <p:cNvCxnSpPr>
                <a:cxnSpLocks noChangeShapeType="1"/>
                <a:stCxn id="10" idx="4"/>
                <a:endCxn id="13" idx="0"/>
              </p:cNvCxnSpPr>
              <p:nvPr/>
            </p:nvCxnSpPr>
            <p:spPr bwMode="auto">
              <a:xfrm flipH="1">
                <a:off x="809582" y="4041068"/>
                <a:ext cx="324036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9" name="Прямая со стрелкой 22"/>
              <p:cNvCxnSpPr>
                <a:cxnSpLocks noChangeShapeType="1"/>
                <a:stCxn id="10" idx="4"/>
                <a:endCxn id="14" idx="1"/>
              </p:cNvCxnSpPr>
              <p:nvPr/>
            </p:nvCxnSpPr>
            <p:spPr bwMode="auto">
              <a:xfrm>
                <a:off x="1133618" y="4041068"/>
                <a:ext cx="230563" cy="325845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600" name="Прямая со стрелкой 23"/>
              <p:cNvCxnSpPr>
                <a:cxnSpLocks noChangeShapeType="1"/>
                <a:stCxn id="12" idx="5"/>
                <a:endCxn id="15" idx="1"/>
              </p:cNvCxnSpPr>
              <p:nvPr/>
            </p:nvCxnSpPr>
            <p:spPr bwMode="auto">
              <a:xfrm>
                <a:off x="2667251" y="3967251"/>
                <a:ext cx="317110" cy="25564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sp>
            <p:nvSpPr>
              <p:cNvPr id="24601" name="TextBox 24"/>
              <p:cNvSpPr txBox="1">
                <a:spLocks noChangeArrowheads="1"/>
              </p:cNvSpPr>
              <p:nvPr/>
            </p:nvSpPr>
            <p:spPr bwMode="auto">
              <a:xfrm>
                <a:off x="1439652" y="2204864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10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2" name="TextBox 25"/>
              <p:cNvSpPr txBox="1">
                <a:spLocks noChangeArrowheads="1"/>
              </p:cNvSpPr>
              <p:nvPr/>
            </p:nvSpPr>
            <p:spPr bwMode="auto">
              <a:xfrm>
                <a:off x="1043608" y="299695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5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3" name="TextBox 26"/>
              <p:cNvSpPr txBox="1">
                <a:spLocks noChangeArrowheads="1"/>
              </p:cNvSpPr>
              <p:nvPr/>
            </p:nvSpPr>
            <p:spPr bwMode="auto">
              <a:xfrm>
                <a:off x="2087724" y="3068960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4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4" name="TextBox 27"/>
              <p:cNvSpPr txBox="1">
                <a:spLocks noChangeArrowheads="1"/>
              </p:cNvSpPr>
              <p:nvPr/>
            </p:nvSpPr>
            <p:spPr bwMode="auto">
              <a:xfrm>
                <a:off x="467544" y="3933056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5" name="TextBox 28"/>
              <p:cNvSpPr txBox="1">
                <a:spLocks noChangeArrowheads="1"/>
              </p:cNvSpPr>
              <p:nvPr/>
            </p:nvSpPr>
            <p:spPr bwMode="auto">
              <a:xfrm>
                <a:off x="1223628" y="3825044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3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6" name="TextBox 29"/>
              <p:cNvSpPr txBox="1">
                <a:spLocks noChangeArrowheads="1"/>
              </p:cNvSpPr>
              <p:nvPr/>
            </p:nvSpPr>
            <p:spPr bwMode="auto">
              <a:xfrm>
                <a:off x="2627784" y="371703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2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7" name="TextBox 30"/>
              <p:cNvSpPr txBox="1">
                <a:spLocks noChangeArrowheads="1"/>
              </p:cNvSpPr>
              <p:nvPr/>
            </p:nvSpPr>
            <p:spPr bwMode="auto">
              <a:xfrm>
                <a:off x="863588" y="4653136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8" name="TextBox 31"/>
              <p:cNvSpPr txBox="1">
                <a:spLocks noChangeArrowheads="1"/>
              </p:cNvSpPr>
              <p:nvPr/>
            </p:nvSpPr>
            <p:spPr bwMode="auto">
              <a:xfrm>
                <a:off x="1583668" y="461713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9" name="TextBox 32"/>
              <p:cNvSpPr txBox="1">
                <a:spLocks noChangeArrowheads="1"/>
              </p:cNvSpPr>
              <p:nvPr/>
            </p:nvSpPr>
            <p:spPr bwMode="auto">
              <a:xfrm>
                <a:off x="3203848" y="4509120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4581" name="TextBox 35"/>
            <p:cNvSpPr txBox="1">
              <a:spLocks noChangeArrowheads="1"/>
            </p:cNvSpPr>
            <p:nvPr/>
          </p:nvSpPr>
          <p:spPr bwMode="auto">
            <a:xfrm>
              <a:off x="1943100" y="3897313"/>
              <a:ext cx="504825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</p:grpSp>
      <p:sp>
        <p:nvSpPr>
          <p:cNvPr id="38" name="Номер слайда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15516" y="0"/>
            <a:ext cx="8675687" cy="791307"/>
          </a:xfrm>
        </p:spPr>
        <p:txBody>
          <a:bodyPr/>
          <a:lstStyle/>
          <a:p>
            <a:pPr>
              <a:defRPr/>
            </a:pPr>
            <a:r>
              <a:rPr lang="ru-RU" sz="2800" b="1" dirty="0">
                <a:solidFill>
                  <a:schemeClr val="bg2"/>
                </a:solidFill>
              </a:rPr>
              <a:t>Операция разделения </a:t>
            </a:r>
            <a:r>
              <a:rPr lang="en-US" sz="2800" b="1" dirty="0">
                <a:solidFill>
                  <a:schemeClr val="bg2"/>
                </a:solidFill>
              </a:rPr>
              <a:t>BST-</a:t>
            </a:r>
            <a:r>
              <a:rPr lang="ru-RU" sz="2800" b="1" dirty="0">
                <a:solidFill>
                  <a:schemeClr val="bg2"/>
                </a:solidFill>
              </a:rPr>
              <a:t>дерева на части</a:t>
            </a:r>
            <a:endParaRPr lang="ru-RU" sz="2800" dirty="0"/>
          </a:p>
        </p:txBody>
      </p:sp>
      <p:sp>
        <p:nvSpPr>
          <p:cNvPr id="24579" name="TextBox 33"/>
          <p:cNvSpPr txBox="1">
            <a:spLocks noChangeArrowheads="1"/>
          </p:cNvSpPr>
          <p:nvPr/>
        </p:nvSpPr>
        <p:spPr bwMode="auto">
          <a:xfrm>
            <a:off x="3059832" y="764704"/>
            <a:ext cx="58687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b="0" dirty="0">
                <a:solidFill>
                  <a:schemeClr val="bg1"/>
                </a:solidFill>
              </a:rPr>
              <a:t>Разделим относительно </a:t>
            </a:r>
            <a:r>
              <a:rPr lang="ru-RU" sz="2000" dirty="0">
                <a:solidFill>
                  <a:schemeClr val="bg1"/>
                </a:solidFill>
              </a:rPr>
              <a:t>15</a:t>
            </a:r>
            <a:r>
              <a:rPr lang="en-US" sz="2000" dirty="0">
                <a:solidFill>
                  <a:schemeClr val="bg1"/>
                </a:solidFill>
              </a:rPr>
              <a:t>-</a:t>
            </a:r>
            <a:r>
              <a:rPr lang="ru-RU" sz="2000" dirty="0">
                <a:solidFill>
                  <a:schemeClr val="bg1"/>
                </a:solidFill>
              </a:rPr>
              <a:t>го </a:t>
            </a:r>
            <a:r>
              <a:rPr lang="ru-RU" sz="2000" b="0" dirty="0">
                <a:solidFill>
                  <a:schemeClr val="bg1"/>
                </a:solidFill>
              </a:rPr>
              <a:t>наименьшего</a:t>
            </a:r>
          </a:p>
        </p:txBody>
      </p:sp>
      <p:sp>
        <p:nvSpPr>
          <p:cNvPr id="35" name="Содержимое 2"/>
          <p:cNvSpPr>
            <a:spLocks noGrp="1"/>
          </p:cNvSpPr>
          <p:nvPr>
            <p:ph idx="1"/>
          </p:nvPr>
        </p:nvSpPr>
        <p:spPr>
          <a:xfrm>
            <a:off x="4751388" y="1196752"/>
            <a:ext cx="4392612" cy="2663825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  <a:defRPr/>
            </a:pPr>
            <a:r>
              <a:rPr lang="en-US" sz="1600" b="1" dirty="0">
                <a:solidFill>
                  <a:schemeClr val="bg2"/>
                </a:solidFill>
                <a:effectLst/>
              </a:rPr>
              <a:t>partition(Node **R, 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 k</a:t>
            </a:r>
            <a:r>
              <a:rPr lang="ru-RU" sz="16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) </a:t>
            </a:r>
            <a:endParaRPr lang="ru-RU" sz="1600" b="1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*R == 0 return;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T = (*R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left == 0) ? 0: *R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left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N;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T&gt;k 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partition (*R</a:t>
            </a:r>
            <a:r>
              <a:rPr lang="ru-RU" sz="16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left,k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)</a:t>
            </a:r>
            <a:r>
              <a:rPr lang="en-US" sz="1600" dirty="0">
                <a:solidFill>
                  <a:schemeClr val="bg2"/>
                </a:solidFill>
                <a:effectLst/>
              </a:rPr>
              <a:t>;              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600" dirty="0" err="1">
                <a:solidFill>
                  <a:schemeClr val="bg2"/>
                </a:solidFill>
                <a:effectLst/>
              </a:rPr>
              <a:t>rotate_r</a:t>
            </a:r>
            <a:r>
              <a:rPr lang="en-US" sz="1600" dirty="0">
                <a:solidFill>
                  <a:schemeClr val="bg2"/>
                </a:solidFill>
                <a:effectLst/>
              </a:rPr>
              <a:t>(R);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T&lt;k 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partition (*R</a:t>
            </a:r>
            <a:r>
              <a:rPr lang="ru-RU" sz="16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rigth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, k-T-1)</a:t>
            </a:r>
            <a:r>
              <a:rPr lang="en-US" sz="1600" dirty="0">
                <a:solidFill>
                  <a:schemeClr val="bg2"/>
                </a:solidFill>
                <a:effectLst/>
              </a:rPr>
              <a:t>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600" dirty="0" err="1">
                <a:solidFill>
                  <a:schemeClr val="bg2"/>
                </a:solidFill>
                <a:effectLst/>
              </a:rPr>
              <a:t>rotate_l</a:t>
            </a:r>
            <a:r>
              <a:rPr lang="en-US" sz="1600" dirty="0">
                <a:solidFill>
                  <a:schemeClr val="bg2"/>
                </a:solidFill>
                <a:effectLst/>
              </a:rPr>
              <a:t>(R);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конец</a:t>
            </a:r>
          </a:p>
          <a:p>
            <a:pPr>
              <a:buFont typeface="Wingdings" pitchFamily="2" charset="2"/>
              <a:buNone/>
              <a:defRPr/>
            </a:pPr>
            <a:endParaRPr lang="ru-RU" dirty="0"/>
          </a:p>
        </p:txBody>
      </p:sp>
      <p:grpSp>
        <p:nvGrpSpPr>
          <p:cNvPr id="2" name="Группа 35"/>
          <p:cNvGrpSpPr/>
          <p:nvPr/>
        </p:nvGrpSpPr>
        <p:grpSpPr>
          <a:xfrm>
            <a:off x="467544" y="692696"/>
            <a:ext cx="3529012" cy="3079750"/>
            <a:chOff x="287338" y="1881188"/>
            <a:chExt cx="3529012" cy="3079750"/>
          </a:xfrm>
        </p:grpSpPr>
        <p:grpSp>
          <p:nvGrpSpPr>
            <p:cNvPr id="3" name="Группа 4"/>
            <p:cNvGrpSpPr>
              <a:grpSpLocks/>
            </p:cNvGrpSpPr>
            <p:nvPr/>
          </p:nvGrpSpPr>
          <p:grpSpPr bwMode="auto">
            <a:xfrm>
              <a:off x="287338" y="1881188"/>
              <a:ext cx="3529012" cy="3079750"/>
              <a:chOff x="179512" y="1880828"/>
              <a:chExt cx="3528392" cy="3080085"/>
            </a:xfrm>
          </p:grpSpPr>
          <p:sp>
            <p:nvSpPr>
              <p:cNvPr id="6" name="Овал 5"/>
              <p:cNvSpPr/>
              <p:nvPr/>
            </p:nvSpPr>
            <p:spPr bwMode="auto">
              <a:xfrm>
                <a:off x="1150891" y="1880828"/>
                <a:ext cx="468230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" name="Овал 6"/>
              <p:cNvSpPr/>
              <p:nvPr/>
            </p:nvSpPr>
            <p:spPr bwMode="auto">
              <a:xfrm>
                <a:off x="719167" y="2744522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" name="Овал 7"/>
              <p:cNvSpPr/>
              <p:nvPr/>
            </p:nvSpPr>
            <p:spPr bwMode="auto">
              <a:xfrm>
                <a:off x="1692133" y="2709593"/>
                <a:ext cx="468231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7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" name="Овал 8"/>
              <p:cNvSpPr/>
              <p:nvPr/>
            </p:nvSpPr>
            <p:spPr bwMode="auto">
              <a:xfrm>
                <a:off x="179512" y="3573287"/>
                <a:ext cx="468230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Овал 9"/>
              <p:cNvSpPr/>
              <p:nvPr/>
            </p:nvSpPr>
            <p:spPr bwMode="auto">
              <a:xfrm>
                <a:off x="900110" y="3536770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4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" name="Овал 10"/>
              <p:cNvSpPr/>
              <p:nvPr/>
            </p:nvSpPr>
            <p:spPr bwMode="auto">
              <a:xfrm>
                <a:off x="1619121" y="3500254"/>
                <a:ext cx="468231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6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" name="Овал 11"/>
              <p:cNvSpPr/>
              <p:nvPr/>
            </p:nvSpPr>
            <p:spPr bwMode="auto">
              <a:xfrm>
                <a:off x="2268295" y="3536770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8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" name="Овал 12"/>
              <p:cNvSpPr/>
              <p:nvPr/>
            </p:nvSpPr>
            <p:spPr bwMode="auto">
              <a:xfrm>
                <a:off x="576317" y="4329019"/>
                <a:ext cx="466643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" name="Овал 13"/>
              <p:cNvSpPr/>
              <p:nvPr/>
            </p:nvSpPr>
            <p:spPr bwMode="auto">
              <a:xfrm>
                <a:off x="1295328" y="4292502"/>
                <a:ext cx="468231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" name="Овал 14"/>
              <p:cNvSpPr/>
              <p:nvPr/>
            </p:nvSpPr>
            <p:spPr bwMode="auto">
              <a:xfrm>
                <a:off x="2915881" y="4149612"/>
                <a:ext cx="468230" cy="50329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9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cxnSp>
            <p:nvCxnSpPr>
              <p:cNvPr id="24592" name="Прямая со стрелкой 15"/>
              <p:cNvCxnSpPr>
                <a:cxnSpLocks noChangeShapeType="1"/>
              </p:cNvCxnSpPr>
              <p:nvPr/>
            </p:nvCxnSpPr>
            <p:spPr bwMode="auto">
              <a:xfrm flipH="1">
                <a:off x="971600" y="2384884"/>
                <a:ext cx="432048" cy="360040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3" name="Прямая со стрелкой 16"/>
              <p:cNvCxnSpPr>
                <a:cxnSpLocks noChangeShapeType="1"/>
                <a:stCxn id="6" idx="4"/>
                <a:endCxn id="8" idx="1"/>
              </p:cNvCxnSpPr>
              <p:nvPr/>
            </p:nvCxnSpPr>
            <p:spPr bwMode="auto">
              <a:xfrm>
                <a:off x="1385646" y="2384884"/>
                <a:ext cx="374579" cy="397853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4" name="Прямая со стрелкой 17"/>
              <p:cNvCxnSpPr>
                <a:cxnSpLocks noChangeShapeType="1"/>
                <a:stCxn id="7" idx="4"/>
                <a:endCxn id="9" idx="0"/>
              </p:cNvCxnSpPr>
              <p:nvPr/>
            </p:nvCxnSpPr>
            <p:spPr bwMode="auto">
              <a:xfrm flipH="1">
                <a:off x="413538" y="3248980"/>
                <a:ext cx="540060" cy="32403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5" name="Прямая со стрелкой 18"/>
              <p:cNvCxnSpPr>
                <a:cxnSpLocks noChangeShapeType="1"/>
                <a:stCxn id="7" idx="4"/>
                <a:endCxn id="10" idx="0"/>
              </p:cNvCxnSpPr>
              <p:nvPr/>
            </p:nvCxnSpPr>
            <p:spPr bwMode="auto">
              <a:xfrm>
                <a:off x="953598" y="3248980"/>
                <a:ext cx="180020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6" name="Прямая со стрелкой 19"/>
              <p:cNvCxnSpPr>
                <a:cxnSpLocks noChangeShapeType="1"/>
                <a:stCxn id="8" idx="4"/>
                <a:endCxn id="11" idx="0"/>
              </p:cNvCxnSpPr>
              <p:nvPr/>
            </p:nvCxnSpPr>
            <p:spPr bwMode="auto">
              <a:xfrm flipH="1">
                <a:off x="1853698" y="3212976"/>
                <a:ext cx="72008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7" name="Прямая со стрелкой 20"/>
              <p:cNvCxnSpPr>
                <a:cxnSpLocks noChangeShapeType="1"/>
                <a:stCxn id="8" idx="4"/>
                <a:endCxn id="12" idx="0"/>
              </p:cNvCxnSpPr>
              <p:nvPr/>
            </p:nvCxnSpPr>
            <p:spPr bwMode="auto">
              <a:xfrm>
                <a:off x="1925706" y="3212976"/>
                <a:ext cx="576064" cy="32403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8" name="Прямая со стрелкой 21"/>
              <p:cNvCxnSpPr>
                <a:cxnSpLocks noChangeShapeType="1"/>
                <a:stCxn id="10" idx="4"/>
                <a:endCxn id="13" idx="0"/>
              </p:cNvCxnSpPr>
              <p:nvPr/>
            </p:nvCxnSpPr>
            <p:spPr bwMode="auto">
              <a:xfrm flipH="1">
                <a:off x="809582" y="4041068"/>
                <a:ext cx="324036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599" name="Прямая со стрелкой 22"/>
              <p:cNvCxnSpPr>
                <a:cxnSpLocks noChangeShapeType="1"/>
                <a:stCxn id="10" idx="4"/>
                <a:endCxn id="14" idx="1"/>
              </p:cNvCxnSpPr>
              <p:nvPr/>
            </p:nvCxnSpPr>
            <p:spPr bwMode="auto">
              <a:xfrm>
                <a:off x="1133618" y="4041068"/>
                <a:ext cx="230563" cy="325845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4600" name="Прямая со стрелкой 23"/>
              <p:cNvCxnSpPr>
                <a:cxnSpLocks noChangeShapeType="1"/>
                <a:stCxn id="12" idx="5"/>
                <a:endCxn id="15" idx="1"/>
              </p:cNvCxnSpPr>
              <p:nvPr/>
            </p:nvCxnSpPr>
            <p:spPr bwMode="auto">
              <a:xfrm>
                <a:off x="2667251" y="3967251"/>
                <a:ext cx="317110" cy="25564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sp>
            <p:nvSpPr>
              <p:cNvPr id="24601" name="TextBox 24"/>
              <p:cNvSpPr txBox="1">
                <a:spLocks noChangeArrowheads="1"/>
              </p:cNvSpPr>
              <p:nvPr/>
            </p:nvSpPr>
            <p:spPr bwMode="auto">
              <a:xfrm>
                <a:off x="1439652" y="2204864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10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2" name="TextBox 25"/>
              <p:cNvSpPr txBox="1">
                <a:spLocks noChangeArrowheads="1"/>
              </p:cNvSpPr>
              <p:nvPr/>
            </p:nvSpPr>
            <p:spPr bwMode="auto">
              <a:xfrm>
                <a:off x="1043608" y="299695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5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3" name="TextBox 26"/>
              <p:cNvSpPr txBox="1">
                <a:spLocks noChangeArrowheads="1"/>
              </p:cNvSpPr>
              <p:nvPr/>
            </p:nvSpPr>
            <p:spPr bwMode="auto">
              <a:xfrm>
                <a:off x="2087724" y="3068960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4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4" name="TextBox 27"/>
              <p:cNvSpPr txBox="1">
                <a:spLocks noChangeArrowheads="1"/>
              </p:cNvSpPr>
              <p:nvPr/>
            </p:nvSpPr>
            <p:spPr bwMode="auto">
              <a:xfrm>
                <a:off x="467544" y="3933056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5" name="TextBox 28"/>
              <p:cNvSpPr txBox="1">
                <a:spLocks noChangeArrowheads="1"/>
              </p:cNvSpPr>
              <p:nvPr/>
            </p:nvSpPr>
            <p:spPr bwMode="auto">
              <a:xfrm>
                <a:off x="1223628" y="3825044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3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6" name="TextBox 29"/>
              <p:cNvSpPr txBox="1">
                <a:spLocks noChangeArrowheads="1"/>
              </p:cNvSpPr>
              <p:nvPr/>
            </p:nvSpPr>
            <p:spPr bwMode="auto">
              <a:xfrm>
                <a:off x="2627784" y="371703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2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7" name="TextBox 30"/>
              <p:cNvSpPr txBox="1">
                <a:spLocks noChangeArrowheads="1"/>
              </p:cNvSpPr>
              <p:nvPr/>
            </p:nvSpPr>
            <p:spPr bwMode="auto">
              <a:xfrm>
                <a:off x="863588" y="4653136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8" name="TextBox 31"/>
              <p:cNvSpPr txBox="1">
                <a:spLocks noChangeArrowheads="1"/>
              </p:cNvSpPr>
              <p:nvPr/>
            </p:nvSpPr>
            <p:spPr bwMode="auto">
              <a:xfrm>
                <a:off x="1583668" y="461713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09" name="TextBox 32"/>
              <p:cNvSpPr txBox="1">
                <a:spLocks noChangeArrowheads="1"/>
              </p:cNvSpPr>
              <p:nvPr/>
            </p:nvSpPr>
            <p:spPr bwMode="auto">
              <a:xfrm>
                <a:off x="3203848" y="4509120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4581" name="TextBox 35"/>
            <p:cNvSpPr txBox="1">
              <a:spLocks noChangeArrowheads="1"/>
            </p:cNvSpPr>
            <p:nvPr/>
          </p:nvSpPr>
          <p:spPr bwMode="auto">
            <a:xfrm>
              <a:off x="1943100" y="3897313"/>
              <a:ext cx="504825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</p:grpSp>
      <p:sp>
        <p:nvSpPr>
          <p:cNvPr id="36" name="Номер слайда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00213"/>
            <a:ext cx="8229600" cy="4860925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spcAft>
                <a:spcPts val="1000"/>
              </a:spcAft>
              <a:buFont typeface="Wingdings" pitchFamily="2" charset="2"/>
              <a:buNone/>
              <a:tabLst>
                <a:tab pos="0" algn="l"/>
              </a:tabLst>
              <a:defRPr/>
            </a:pPr>
            <a:r>
              <a:rPr lang="ru-RU" dirty="0">
                <a:solidFill>
                  <a:schemeClr val="bg1"/>
                </a:solidFill>
              </a:rPr>
              <a:t>Использует операцию разделения дерева на части</a:t>
            </a:r>
          </a:p>
          <a:p>
            <a:pPr marL="514350" indent="-514350">
              <a:buClrTx/>
              <a:buFont typeface="+mj-lt"/>
              <a:buAutoNum type="arabicPeriod"/>
              <a:defRPr/>
            </a:pPr>
            <a:r>
              <a:rPr lang="ru-RU" sz="2800" b="1" i="1" dirty="0">
                <a:solidFill>
                  <a:schemeClr val="bg2"/>
                </a:solidFill>
                <a:effectLst/>
              </a:rPr>
              <a:t>переместить удаляемый узел  в корень и удалить его, </a:t>
            </a:r>
          </a:p>
          <a:p>
            <a:pPr marL="514350" indent="-514350">
              <a:buClrTx/>
              <a:buFont typeface="+mj-lt"/>
              <a:buAutoNum type="arabicPeriod"/>
              <a:defRPr/>
            </a:pPr>
            <a:r>
              <a:rPr lang="ru-RU" sz="2800" b="1" i="1" dirty="0">
                <a:solidFill>
                  <a:schemeClr val="bg2"/>
                </a:solidFill>
                <a:effectLst/>
              </a:rPr>
              <a:t>второе дерево разделить для наименьшего элемента</a:t>
            </a:r>
          </a:p>
          <a:p>
            <a:pPr marL="514350" indent="-514350">
              <a:buClrTx/>
              <a:buFont typeface="+mj-lt"/>
              <a:buAutoNum type="arabicPeriod"/>
              <a:defRPr/>
            </a:pPr>
            <a:r>
              <a:rPr lang="ru-RU" sz="2800" b="1" i="1" dirty="0">
                <a:solidFill>
                  <a:schemeClr val="bg2"/>
                </a:solidFill>
                <a:effectLst/>
              </a:rPr>
              <a:t>присоединить первое дерево слева к измененному второму дереву.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225425"/>
            <a:ext cx="8229600" cy="1371600"/>
          </a:xfrm>
        </p:spPr>
        <p:txBody>
          <a:bodyPr/>
          <a:lstStyle/>
          <a:p>
            <a:pPr algn="l">
              <a:defRPr/>
            </a:pPr>
            <a:r>
              <a:rPr lang="ru-RU" sz="3600" b="1" dirty="0">
                <a:solidFill>
                  <a:schemeClr val="bg2"/>
                </a:solidFill>
              </a:rPr>
              <a:t>Операция удаления заданного ключа из BST – дерева</a:t>
            </a:r>
            <a:endParaRPr lang="ru-RU" sz="3600" dirty="0"/>
          </a:p>
        </p:txBody>
      </p:sp>
      <p:cxnSp>
        <p:nvCxnSpPr>
          <p:cNvPr id="25603" name="Прямая соединительная линия 5"/>
          <p:cNvCxnSpPr>
            <a:cxnSpLocks noChangeShapeType="1"/>
          </p:cNvCxnSpPr>
          <p:nvPr/>
        </p:nvCxnSpPr>
        <p:spPr bwMode="auto">
          <a:xfrm>
            <a:off x="468313" y="2852738"/>
            <a:ext cx="8243887" cy="0"/>
          </a:xfrm>
          <a:prstGeom prst="line">
            <a:avLst/>
          </a:prstGeom>
          <a:noFill/>
          <a:ln w="28575" algn="ctr">
            <a:solidFill>
              <a:srgbClr val="000000"/>
            </a:solidFill>
            <a:prstDash val="lgDash"/>
            <a:round/>
            <a:headEnd/>
            <a:tailEnd/>
          </a:ln>
        </p:spPr>
      </p:cxn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0"/>
            <a:ext cx="8424862" cy="1233488"/>
          </a:xfrm>
        </p:spPr>
        <p:txBody>
          <a:bodyPr/>
          <a:lstStyle/>
          <a:p>
            <a:pPr algn="l">
              <a:defRPr/>
            </a:pPr>
            <a:r>
              <a:rPr lang="ru-RU" sz="3600" b="1" dirty="0">
                <a:solidFill>
                  <a:schemeClr val="bg2"/>
                </a:solidFill>
              </a:rPr>
              <a:t>Операция удаления заданного ключа из BST – дерева</a:t>
            </a:r>
            <a:r>
              <a:rPr lang="en-US" sz="3600" b="1" dirty="0">
                <a:solidFill>
                  <a:schemeClr val="bg2"/>
                </a:solidFill>
              </a:rPr>
              <a:t> (1)</a:t>
            </a:r>
            <a:endParaRPr lang="ru-RU" sz="3600" dirty="0"/>
          </a:p>
        </p:txBody>
      </p:sp>
      <p:grpSp>
        <p:nvGrpSpPr>
          <p:cNvPr id="34" name="Группа 33"/>
          <p:cNvGrpSpPr/>
          <p:nvPr/>
        </p:nvGrpSpPr>
        <p:grpSpPr>
          <a:xfrm>
            <a:off x="251520" y="1196752"/>
            <a:ext cx="3529012" cy="3079750"/>
            <a:chOff x="287338" y="1881188"/>
            <a:chExt cx="3529012" cy="3079750"/>
          </a:xfrm>
        </p:grpSpPr>
        <p:grpSp>
          <p:nvGrpSpPr>
            <p:cNvPr id="26626" name="Группа 4"/>
            <p:cNvGrpSpPr>
              <a:grpSpLocks/>
            </p:cNvGrpSpPr>
            <p:nvPr/>
          </p:nvGrpSpPr>
          <p:grpSpPr bwMode="auto">
            <a:xfrm>
              <a:off x="287338" y="1881188"/>
              <a:ext cx="3529012" cy="3079750"/>
              <a:chOff x="179512" y="1880828"/>
              <a:chExt cx="3528392" cy="3080085"/>
            </a:xfrm>
          </p:grpSpPr>
          <p:sp>
            <p:nvSpPr>
              <p:cNvPr id="6" name="Овал 5"/>
              <p:cNvSpPr/>
              <p:nvPr/>
            </p:nvSpPr>
            <p:spPr bwMode="auto">
              <a:xfrm>
                <a:off x="1150891" y="1880828"/>
                <a:ext cx="468230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" name="Овал 6"/>
              <p:cNvSpPr/>
              <p:nvPr/>
            </p:nvSpPr>
            <p:spPr bwMode="auto">
              <a:xfrm>
                <a:off x="719167" y="2744522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" name="Овал 7"/>
              <p:cNvSpPr/>
              <p:nvPr/>
            </p:nvSpPr>
            <p:spPr bwMode="auto">
              <a:xfrm>
                <a:off x="1692133" y="2709593"/>
                <a:ext cx="468231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7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" name="Овал 8"/>
              <p:cNvSpPr/>
              <p:nvPr/>
            </p:nvSpPr>
            <p:spPr bwMode="auto">
              <a:xfrm>
                <a:off x="179512" y="3573287"/>
                <a:ext cx="468230" cy="503292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Овал 9"/>
              <p:cNvSpPr/>
              <p:nvPr/>
            </p:nvSpPr>
            <p:spPr bwMode="auto">
              <a:xfrm>
                <a:off x="900110" y="3536770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4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" name="Овал 10"/>
              <p:cNvSpPr/>
              <p:nvPr/>
            </p:nvSpPr>
            <p:spPr bwMode="auto">
              <a:xfrm>
                <a:off x="1619121" y="3500254"/>
                <a:ext cx="468231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6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" name="Овал 11"/>
              <p:cNvSpPr/>
              <p:nvPr/>
            </p:nvSpPr>
            <p:spPr bwMode="auto">
              <a:xfrm>
                <a:off x="2268295" y="3536770"/>
                <a:ext cx="468230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8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" name="Овал 12"/>
              <p:cNvSpPr/>
              <p:nvPr/>
            </p:nvSpPr>
            <p:spPr bwMode="auto">
              <a:xfrm>
                <a:off x="576317" y="4329019"/>
                <a:ext cx="466643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" name="Овал 13"/>
              <p:cNvSpPr/>
              <p:nvPr/>
            </p:nvSpPr>
            <p:spPr bwMode="auto">
              <a:xfrm>
                <a:off x="1295328" y="4292502"/>
                <a:ext cx="468231" cy="50488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" name="Овал 14"/>
              <p:cNvSpPr/>
              <p:nvPr/>
            </p:nvSpPr>
            <p:spPr bwMode="auto">
              <a:xfrm>
                <a:off x="2915881" y="4149612"/>
                <a:ext cx="468230" cy="503293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hlink"/>
                  </a:buClr>
                  <a:buSzPct val="65000"/>
                  <a:buFont typeface="Wingdings" pitchFamily="2" charset="2"/>
                  <a:buNone/>
                  <a:defRPr/>
                </a:pPr>
                <a:r>
                  <a:rPr lang="en-US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9</a:t>
                </a:r>
                <a:endParaRPr lang="ru-RU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cxnSp>
            <p:nvCxnSpPr>
              <p:cNvPr id="26639" name="Прямая со стрелкой 15"/>
              <p:cNvCxnSpPr>
                <a:cxnSpLocks noChangeShapeType="1"/>
              </p:cNvCxnSpPr>
              <p:nvPr/>
            </p:nvCxnSpPr>
            <p:spPr bwMode="auto">
              <a:xfrm flipH="1">
                <a:off x="971600" y="2384884"/>
                <a:ext cx="432048" cy="360040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6640" name="Прямая со стрелкой 16"/>
              <p:cNvCxnSpPr>
                <a:cxnSpLocks noChangeShapeType="1"/>
                <a:stCxn id="6" idx="4"/>
                <a:endCxn id="8" idx="1"/>
              </p:cNvCxnSpPr>
              <p:nvPr/>
            </p:nvCxnSpPr>
            <p:spPr bwMode="auto">
              <a:xfrm>
                <a:off x="1385646" y="2384884"/>
                <a:ext cx="374579" cy="397853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6641" name="Прямая со стрелкой 17"/>
              <p:cNvCxnSpPr>
                <a:cxnSpLocks noChangeShapeType="1"/>
                <a:stCxn id="7" idx="4"/>
                <a:endCxn id="9" idx="0"/>
              </p:cNvCxnSpPr>
              <p:nvPr/>
            </p:nvCxnSpPr>
            <p:spPr bwMode="auto">
              <a:xfrm flipH="1">
                <a:off x="413538" y="3248980"/>
                <a:ext cx="540060" cy="32403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6642" name="Прямая со стрелкой 18"/>
              <p:cNvCxnSpPr>
                <a:cxnSpLocks noChangeShapeType="1"/>
                <a:stCxn id="7" idx="4"/>
                <a:endCxn id="10" idx="0"/>
              </p:cNvCxnSpPr>
              <p:nvPr/>
            </p:nvCxnSpPr>
            <p:spPr bwMode="auto">
              <a:xfrm>
                <a:off x="953598" y="3248980"/>
                <a:ext cx="180020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6643" name="Прямая со стрелкой 19"/>
              <p:cNvCxnSpPr>
                <a:cxnSpLocks noChangeShapeType="1"/>
                <a:stCxn id="8" idx="4"/>
                <a:endCxn id="11" idx="0"/>
              </p:cNvCxnSpPr>
              <p:nvPr/>
            </p:nvCxnSpPr>
            <p:spPr bwMode="auto">
              <a:xfrm flipH="1">
                <a:off x="1853698" y="3212976"/>
                <a:ext cx="72008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6644" name="Прямая со стрелкой 20"/>
              <p:cNvCxnSpPr>
                <a:cxnSpLocks noChangeShapeType="1"/>
                <a:stCxn id="8" idx="4"/>
                <a:endCxn id="12" idx="0"/>
              </p:cNvCxnSpPr>
              <p:nvPr/>
            </p:nvCxnSpPr>
            <p:spPr bwMode="auto">
              <a:xfrm>
                <a:off x="1925706" y="3212976"/>
                <a:ext cx="576064" cy="32403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6645" name="Прямая со стрелкой 21"/>
              <p:cNvCxnSpPr>
                <a:cxnSpLocks noChangeShapeType="1"/>
                <a:stCxn id="10" idx="4"/>
                <a:endCxn id="13" idx="0"/>
              </p:cNvCxnSpPr>
              <p:nvPr/>
            </p:nvCxnSpPr>
            <p:spPr bwMode="auto">
              <a:xfrm flipH="1">
                <a:off x="809582" y="4041068"/>
                <a:ext cx="324036" cy="288032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6646" name="Прямая со стрелкой 22"/>
              <p:cNvCxnSpPr>
                <a:cxnSpLocks noChangeShapeType="1"/>
                <a:stCxn id="10" idx="4"/>
                <a:endCxn id="14" idx="1"/>
              </p:cNvCxnSpPr>
              <p:nvPr/>
            </p:nvCxnSpPr>
            <p:spPr bwMode="auto">
              <a:xfrm>
                <a:off x="1133618" y="4041068"/>
                <a:ext cx="230563" cy="325845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6647" name="Прямая со стрелкой 23"/>
              <p:cNvCxnSpPr>
                <a:cxnSpLocks noChangeShapeType="1"/>
                <a:stCxn id="12" idx="5"/>
                <a:endCxn id="15" idx="1"/>
              </p:cNvCxnSpPr>
              <p:nvPr/>
            </p:nvCxnSpPr>
            <p:spPr bwMode="auto">
              <a:xfrm>
                <a:off x="2667251" y="3967251"/>
                <a:ext cx="317110" cy="255646"/>
              </a:xfrm>
              <a:prstGeom prst="straightConnector1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 type="arrow" w="med" len="med"/>
              </a:ln>
            </p:spPr>
          </p:cxnSp>
          <p:sp>
            <p:nvSpPr>
              <p:cNvPr id="26648" name="TextBox 24"/>
              <p:cNvSpPr txBox="1">
                <a:spLocks noChangeArrowheads="1"/>
              </p:cNvSpPr>
              <p:nvPr/>
            </p:nvSpPr>
            <p:spPr bwMode="auto">
              <a:xfrm>
                <a:off x="1439652" y="2204864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10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649" name="TextBox 25"/>
              <p:cNvSpPr txBox="1">
                <a:spLocks noChangeArrowheads="1"/>
              </p:cNvSpPr>
              <p:nvPr/>
            </p:nvSpPr>
            <p:spPr bwMode="auto">
              <a:xfrm>
                <a:off x="1043608" y="299695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5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650" name="TextBox 26"/>
              <p:cNvSpPr txBox="1">
                <a:spLocks noChangeArrowheads="1"/>
              </p:cNvSpPr>
              <p:nvPr/>
            </p:nvSpPr>
            <p:spPr bwMode="auto">
              <a:xfrm>
                <a:off x="2087724" y="3068960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4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651" name="TextBox 27"/>
              <p:cNvSpPr txBox="1">
                <a:spLocks noChangeArrowheads="1"/>
              </p:cNvSpPr>
              <p:nvPr/>
            </p:nvSpPr>
            <p:spPr bwMode="auto">
              <a:xfrm>
                <a:off x="467544" y="3933056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652" name="TextBox 28"/>
              <p:cNvSpPr txBox="1">
                <a:spLocks noChangeArrowheads="1"/>
              </p:cNvSpPr>
              <p:nvPr/>
            </p:nvSpPr>
            <p:spPr bwMode="auto">
              <a:xfrm>
                <a:off x="1223628" y="3825044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3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653" name="TextBox 29"/>
              <p:cNvSpPr txBox="1">
                <a:spLocks noChangeArrowheads="1"/>
              </p:cNvSpPr>
              <p:nvPr/>
            </p:nvSpPr>
            <p:spPr bwMode="auto">
              <a:xfrm>
                <a:off x="2627784" y="371703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2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654" name="TextBox 30"/>
              <p:cNvSpPr txBox="1">
                <a:spLocks noChangeArrowheads="1"/>
              </p:cNvSpPr>
              <p:nvPr/>
            </p:nvSpPr>
            <p:spPr bwMode="auto">
              <a:xfrm>
                <a:off x="863588" y="4653136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655" name="TextBox 31"/>
              <p:cNvSpPr txBox="1">
                <a:spLocks noChangeArrowheads="1"/>
              </p:cNvSpPr>
              <p:nvPr/>
            </p:nvSpPr>
            <p:spPr bwMode="auto">
              <a:xfrm>
                <a:off x="1583668" y="4617132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656" name="TextBox 32"/>
              <p:cNvSpPr txBox="1">
                <a:spLocks noChangeArrowheads="1"/>
              </p:cNvSpPr>
              <p:nvPr/>
            </p:nvSpPr>
            <p:spPr bwMode="auto">
              <a:xfrm>
                <a:off x="3203848" y="4509120"/>
                <a:ext cx="50405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</a:rPr>
                  <a:t>1</a:t>
                </a:r>
                <a:endParaRPr lang="ru-RU" sz="140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6627" name="TextBox 33"/>
            <p:cNvSpPr txBox="1">
              <a:spLocks noChangeArrowheads="1"/>
            </p:cNvSpPr>
            <p:nvPr/>
          </p:nvSpPr>
          <p:spPr bwMode="auto">
            <a:xfrm>
              <a:off x="1943100" y="3897313"/>
              <a:ext cx="504825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</p:grpSp>
      <p:sp>
        <p:nvSpPr>
          <p:cNvPr id="37" name="Содержимое 2"/>
          <p:cNvSpPr>
            <a:spLocks noGrp="1"/>
          </p:cNvSpPr>
          <p:nvPr>
            <p:ph idx="1"/>
          </p:nvPr>
        </p:nvSpPr>
        <p:spPr>
          <a:xfrm>
            <a:off x="5399075" y="1160748"/>
            <a:ext cx="3744925" cy="5437187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b="1" dirty="0">
                <a:solidFill>
                  <a:schemeClr val="bg2"/>
                </a:solidFill>
                <a:effectLst/>
              </a:rPr>
              <a:t>Delete</a:t>
            </a:r>
            <a:r>
              <a:rPr lang="ru-RU" sz="2000" b="1" dirty="0">
                <a:solidFill>
                  <a:schemeClr val="bg2"/>
                </a:solidFill>
                <a:effectLst/>
              </a:rPr>
              <a:t>1</a:t>
            </a:r>
            <a:r>
              <a:rPr lang="en-US" sz="2000" b="1" dirty="0">
                <a:solidFill>
                  <a:schemeClr val="bg2"/>
                </a:solidFill>
                <a:effectLst/>
              </a:rPr>
              <a:t>(</a:t>
            </a:r>
            <a:r>
              <a:rPr lang="en-US" sz="2000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sz="2000" b="1" dirty="0">
                <a:solidFill>
                  <a:schemeClr val="bg2"/>
                </a:solidFill>
                <a:effectLst/>
              </a:rPr>
              <a:t> k</a:t>
            </a:r>
            <a:r>
              <a:rPr lang="ru-RU" sz="20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2000" b="1" dirty="0">
                <a:solidFill>
                  <a:schemeClr val="bg2"/>
                </a:solidFill>
                <a:effectLst/>
              </a:rPr>
              <a:t>,</a:t>
            </a:r>
            <a:r>
              <a:rPr lang="ru-RU" sz="20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2000" b="1" dirty="0">
                <a:solidFill>
                  <a:schemeClr val="bg2"/>
                </a:solidFill>
                <a:effectLst/>
              </a:rPr>
              <a:t>Node **R) </a:t>
            </a:r>
            <a:endParaRPr lang="ru-RU" sz="2000" b="1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ru-RU" sz="20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2000" dirty="0">
                <a:solidFill>
                  <a:schemeClr val="bg2"/>
                </a:solidFill>
                <a:effectLst/>
              </a:rPr>
              <a:t> *R == 0 return;</a:t>
            </a:r>
            <a:endParaRPr lang="ru-RU" sz="20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ru-RU" sz="2000" dirty="0">
                <a:solidFill>
                  <a:schemeClr val="bg2"/>
                </a:solidFill>
                <a:effectLst/>
              </a:rPr>
              <a:t>Если *</a:t>
            </a:r>
            <a:r>
              <a:rPr lang="en-US" sz="2000" dirty="0">
                <a:solidFill>
                  <a:schemeClr val="bg2"/>
                </a:solidFill>
                <a:effectLst/>
              </a:rPr>
              <a:t>R-&gt;data == k </a:t>
            </a:r>
            <a:r>
              <a:rPr lang="ru-RU" sz="2000" dirty="0">
                <a:solidFill>
                  <a:schemeClr val="bg2"/>
                </a:solidFill>
                <a:effectLst/>
              </a:rPr>
              <a:t>то </a:t>
            </a:r>
          </a:p>
          <a:p>
            <a:pPr>
              <a:buFont typeface="Wingdings" pitchFamily="2" charset="2"/>
              <a:buNone/>
            </a:pPr>
            <a:r>
              <a:rPr lang="ru-RU" sz="2000" dirty="0">
                <a:solidFill>
                  <a:schemeClr val="bg2"/>
                </a:solidFill>
                <a:effectLst/>
              </a:rPr>
              <a:t> 	</a:t>
            </a:r>
            <a:r>
              <a:rPr lang="en-US" sz="2000" dirty="0">
                <a:solidFill>
                  <a:schemeClr val="bg2"/>
                </a:solidFill>
                <a:effectLst/>
              </a:rPr>
              <a:t>Node * z  = *R-&gt;</a:t>
            </a:r>
            <a:r>
              <a:rPr lang="en-US" sz="2000" dirty="0" err="1">
                <a:solidFill>
                  <a:schemeClr val="bg2"/>
                </a:solidFill>
                <a:effectLst/>
              </a:rPr>
              <a:t>rigth</a:t>
            </a:r>
            <a:endParaRPr lang="en-US" sz="20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ru-RU" sz="2000" dirty="0">
                <a:solidFill>
                  <a:schemeClr val="bg2"/>
                </a:solidFill>
                <a:effectLst/>
              </a:rPr>
              <a:t>	</a:t>
            </a:r>
            <a:r>
              <a:rPr lang="en-US" sz="2000" dirty="0">
                <a:solidFill>
                  <a:schemeClr val="bg2"/>
                </a:solidFill>
                <a:effectLst/>
              </a:rPr>
              <a:t>Node * z1  = *R-&gt;left</a:t>
            </a:r>
            <a:endParaRPr lang="ru-RU" sz="20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ru-RU" sz="2000" dirty="0">
                <a:solidFill>
                  <a:schemeClr val="bg2"/>
                </a:solidFill>
                <a:effectLst/>
              </a:rPr>
              <a:t>	Освободить память (</a:t>
            </a:r>
            <a:r>
              <a:rPr lang="en-US" sz="2000" dirty="0">
                <a:solidFill>
                  <a:schemeClr val="bg2"/>
                </a:solidFill>
                <a:effectLst/>
              </a:rPr>
              <a:t>*R</a:t>
            </a:r>
            <a:r>
              <a:rPr lang="ru-RU" sz="2000" dirty="0">
                <a:solidFill>
                  <a:schemeClr val="bg2"/>
                </a:solidFill>
                <a:effectLst/>
              </a:rPr>
              <a:t>)</a:t>
            </a:r>
            <a:endParaRPr lang="en-US" sz="20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ru-RU" sz="2000" dirty="0">
                <a:solidFill>
                  <a:schemeClr val="bg2"/>
                </a:solidFill>
                <a:effectLst/>
              </a:rPr>
              <a:t>	</a:t>
            </a:r>
            <a:r>
              <a:rPr lang="en-US" sz="2000" dirty="0">
                <a:solidFill>
                  <a:schemeClr val="bg2"/>
                </a:solidFill>
                <a:effectLst/>
              </a:rPr>
              <a:t>Partition(&amp;z,0)</a:t>
            </a:r>
          </a:p>
          <a:p>
            <a:pPr>
              <a:buFont typeface="Wingdings" pitchFamily="2" charset="2"/>
              <a:buNone/>
            </a:pPr>
            <a:r>
              <a:rPr lang="ru-RU" sz="2000" dirty="0">
                <a:solidFill>
                  <a:schemeClr val="bg2"/>
                </a:solidFill>
                <a:effectLst/>
              </a:rPr>
              <a:t>	</a:t>
            </a:r>
            <a:r>
              <a:rPr lang="en-US" sz="2000" dirty="0">
                <a:solidFill>
                  <a:schemeClr val="bg2"/>
                </a:solidFill>
                <a:effectLst/>
              </a:rPr>
              <a:t>z-&gt;left = z1</a:t>
            </a:r>
            <a:r>
              <a:rPr lang="ru-RU" sz="2000" dirty="0">
                <a:solidFill>
                  <a:schemeClr val="bg2"/>
                </a:solidFill>
                <a:effectLst/>
              </a:rPr>
              <a:t>, </a:t>
            </a:r>
            <a:r>
              <a:rPr lang="en-US" sz="2000" dirty="0">
                <a:solidFill>
                  <a:schemeClr val="bg2"/>
                </a:solidFill>
                <a:effectLst/>
              </a:rPr>
              <a:t>*R = z;</a:t>
            </a:r>
            <a:endParaRPr lang="ru-RU" sz="20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ru-RU" sz="20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2000" dirty="0">
                <a:solidFill>
                  <a:schemeClr val="bg2"/>
                </a:solidFill>
                <a:effectLst/>
              </a:rPr>
              <a:t> *R-&gt;data &gt;k </a:t>
            </a:r>
            <a:r>
              <a:rPr lang="en-US" sz="2000" b="1" dirty="0">
                <a:solidFill>
                  <a:schemeClr val="bg2"/>
                </a:solidFill>
                <a:effectLst/>
              </a:rPr>
              <a:t>Delete</a:t>
            </a:r>
            <a:r>
              <a:rPr lang="ru-RU" sz="2000" b="1" dirty="0">
                <a:solidFill>
                  <a:schemeClr val="bg2"/>
                </a:solidFill>
                <a:effectLst/>
              </a:rPr>
              <a:t>1</a:t>
            </a:r>
            <a:r>
              <a:rPr lang="en-US" sz="2000" b="1" dirty="0">
                <a:solidFill>
                  <a:schemeClr val="bg2"/>
                </a:solidFill>
                <a:effectLst/>
              </a:rPr>
              <a:t>(k,*R</a:t>
            </a:r>
            <a:r>
              <a:rPr lang="ru-RU" sz="2000" b="1" dirty="0">
                <a:solidFill>
                  <a:schemeClr val="bg2"/>
                </a:solidFill>
                <a:effectLst/>
                <a:sym typeface="Wingdings" pitchFamily="2" charset="2"/>
              </a:rPr>
              <a:t></a:t>
            </a:r>
            <a:r>
              <a:rPr lang="en-US" sz="2000" b="1" dirty="0">
                <a:solidFill>
                  <a:schemeClr val="bg2"/>
                </a:solidFill>
                <a:effectLst/>
              </a:rPr>
              <a:t>left)</a:t>
            </a:r>
            <a:r>
              <a:rPr lang="en-US" sz="2000" dirty="0">
                <a:solidFill>
                  <a:schemeClr val="bg2"/>
                </a:solidFill>
                <a:effectLst/>
              </a:rPr>
              <a:t>;                  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bg2"/>
                </a:solidFill>
                <a:effectLst/>
              </a:rPr>
              <a:t>    </a:t>
            </a:r>
            <a:r>
              <a:rPr lang="en-US" sz="2000" dirty="0" err="1">
                <a:solidFill>
                  <a:schemeClr val="bg2"/>
                </a:solidFill>
                <a:effectLst/>
              </a:rPr>
              <a:t>rotate_r</a:t>
            </a:r>
            <a:r>
              <a:rPr lang="en-US" sz="2000" dirty="0">
                <a:solidFill>
                  <a:schemeClr val="bg2"/>
                </a:solidFill>
                <a:effectLst/>
              </a:rPr>
              <a:t>(R);</a:t>
            </a:r>
            <a:endParaRPr lang="ru-RU" sz="20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ru-RU" sz="2000" dirty="0">
                <a:solidFill>
                  <a:schemeClr val="bg2"/>
                </a:solidFill>
                <a:effectLst/>
              </a:rPr>
              <a:t>иначе</a:t>
            </a:r>
            <a:r>
              <a:rPr lang="en-US" sz="2000" dirty="0">
                <a:solidFill>
                  <a:schemeClr val="bg2"/>
                </a:solidFill>
                <a:effectLst/>
              </a:rPr>
              <a:t> </a:t>
            </a:r>
            <a:endParaRPr lang="ru-RU" sz="20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r>
              <a:rPr lang="ru-RU" sz="2000" b="1" dirty="0">
                <a:solidFill>
                  <a:schemeClr val="bg2"/>
                </a:solidFill>
                <a:effectLst/>
              </a:rPr>
              <a:t>	</a:t>
            </a:r>
            <a:r>
              <a:rPr lang="en-US" sz="2000" b="1" dirty="0">
                <a:solidFill>
                  <a:schemeClr val="bg2"/>
                </a:solidFill>
                <a:effectLst/>
              </a:rPr>
              <a:t>Delete</a:t>
            </a:r>
            <a:r>
              <a:rPr lang="ru-RU" sz="2000" b="1" dirty="0">
                <a:solidFill>
                  <a:schemeClr val="bg2"/>
                </a:solidFill>
                <a:effectLst/>
              </a:rPr>
              <a:t>1</a:t>
            </a:r>
            <a:r>
              <a:rPr lang="en-US" sz="2000" b="1" dirty="0">
                <a:solidFill>
                  <a:schemeClr val="bg2"/>
                </a:solidFill>
                <a:effectLst/>
              </a:rPr>
              <a:t>(k,*R</a:t>
            </a:r>
            <a:r>
              <a:rPr lang="ru-RU" sz="2000" b="1" dirty="0">
                <a:solidFill>
                  <a:schemeClr val="bg2"/>
                </a:solidFill>
                <a:effectLst/>
                <a:sym typeface="Wingdings" pitchFamily="2" charset="2"/>
              </a:rPr>
              <a:t></a:t>
            </a:r>
            <a:r>
              <a:rPr lang="en-US" sz="2000" b="1" dirty="0" err="1">
                <a:solidFill>
                  <a:schemeClr val="bg2"/>
                </a:solidFill>
                <a:effectLst/>
              </a:rPr>
              <a:t>rigth</a:t>
            </a:r>
            <a:r>
              <a:rPr lang="en-US" sz="2000" b="1" dirty="0">
                <a:solidFill>
                  <a:schemeClr val="bg2"/>
                </a:solidFill>
                <a:effectLst/>
              </a:rPr>
              <a:t>)</a:t>
            </a:r>
            <a:r>
              <a:rPr lang="en-US" sz="2000" dirty="0">
                <a:solidFill>
                  <a:schemeClr val="bg2"/>
                </a:solidFill>
                <a:effectLst/>
              </a:rPr>
              <a:t>;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bg2"/>
                </a:solidFill>
                <a:effectLst/>
              </a:rPr>
              <a:t>    </a:t>
            </a:r>
            <a:r>
              <a:rPr lang="en-US" sz="2000" dirty="0" err="1">
                <a:solidFill>
                  <a:schemeClr val="bg2"/>
                </a:solidFill>
                <a:effectLst/>
              </a:rPr>
              <a:t>rotate_l</a:t>
            </a:r>
            <a:r>
              <a:rPr lang="en-US" sz="2000" dirty="0">
                <a:solidFill>
                  <a:schemeClr val="bg2"/>
                </a:solidFill>
                <a:effectLst/>
              </a:rPr>
              <a:t>(R);</a:t>
            </a:r>
          </a:p>
          <a:p>
            <a:pPr>
              <a:buFont typeface="Wingdings" pitchFamily="2" charset="2"/>
              <a:buNone/>
            </a:pPr>
            <a:r>
              <a:rPr lang="ru-RU" sz="2000" dirty="0">
                <a:solidFill>
                  <a:schemeClr val="bg2"/>
                </a:solidFill>
                <a:effectLst/>
              </a:rPr>
              <a:t>конец</a:t>
            </a:r>
            <a:endParaRPr lang="ru-RU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5" name="Номер слайда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0"/>
            <a:ext cx="8424862" cy="1233488"/>
          </a:xfrm>
        </p:spPr>
        <p:txBody>
          <a:bodyPr/>
          <a:lstStyle/>
          <a:p>
            <a:pPr algn="l">
              <a:defRPr/>
            </a:pPr>
            <a:r>
              <a:rPr lang="ru-RU" sz="3600" b="1" dirty="0">
                <a:solidFill>
                  <a:schemeClr val="bg2"/>
                </a:solidFill>
              </a:rPr>
              <a:t>Операция объединения двух</a:t>
            </a:r>
            <a:r>
              <a:rPr lang="en-US" sz="3600" b="1" dirty="0">
                <a:solidFill>
                  <a:schemeClr val="bg2"/>
                </a:solidFill>
              </a:rPr>
              <a:t> </a:t>
            </a:r>
            <a:r>
              <a:rPr lang="ru-RU" sz="3600" b="1" dirty="0">
                <a:solidFill>
                  <a:schemeClr val="bg2"/>
                </a:solidFill>
              </a:rPr>
              <a:t/>
            </a:r>
            <a:br>
              <a:rPr lang="ru-RU" sz="3600" b="1" dirty="0">
                <a:solidFill>
                  <a:schemeClr val="bg2"/>
                </a:solidFill>
              </a:rPr>
            </a:br>
            <a:r>
              <a:rPr lang="en-US" sz="3600" b="1" dirty="0">
                <a:solidFill>
                  <a:schemeClr val="bg2"/>
                </a:solidFill>
              </a:rPr>
              <a:t>BST-</a:t>
            </a:r>
            <a:r>
              <a:rPr lang="ru-RU" sz="3600" b="1" dirty="0">
                <a:solidFill>
                  <a:schemeClr val="bg2"/>
                </a:solidFill>
              </a:rPr>
              <a:t>деревьев</a:t>
            </a:r>
            <a:endParaRPr lang="ru-RU" sz="3600" dirty="0"/>
          </a:p>
        </p:txBody>
      </p:sp>
      <p:sp>
        <p:nvSpPr>
          <p:cNvPr id="35" name="Прямоугольник 34"/>
          <p:cNvSpPr/>
          <p:nvPr/>
        </p:nvSpPr>
        <p:spPr bwMode="auto">
          <a:xfrm>
            <a:off x="287338" y="1304925"/>
            <a:ext cx="4645025" cy="2952750"/>
          </a:xfrm>
          <a:prstGeom prst="rect">
            <a:avLst/>
          </a:prstGeom>
          <a:solidFill>
            <a:schemeClr val="tx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Овал 35"/>
          <p:cNvSpPr/>
          <p:nvPr/>
        </p:nvSpPr>
        <p:spPr bwMode="auto">
          <a:xfrm>
            <a:off x="1258888" y="1736725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Овал 36"/>
          <p:cNvSpPr/>
          <p:nvPr/>
        </p:nvSpPr>
        <p:spPr bwMode="auto">
          <a:xfrm>
            <a:off x="2808288" y="1665288"/>
            <a:ext cx="468312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Овал 37"/>
          <p:cNvSpPr/>
          <p:nvPr/>
        </p:nvSpPr>
        <p:spPr bwMode="auto">
          <a:xfrm>
            <a:off x="719138" y="2565400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Овал 38"/>
          <p:cNvSpPr/>
          <p:nvPr/>
        </p:nvSpPr>
        <p:spPr bwMode="auto">
          <a:xfrm>
            <a:off x="1439863" y="2528888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Овал 39"/>
          <p:cNvSpPr/>
          <p:nvPr/>
        </p:nvSpPr>
        <p:spPr bwMode="auto">
          <a:xfrm>
            <a:off x="2735263" y="2457450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Овал 40"/>
          <p:cNvSpPr/>
          <p:nvPr/>
        </p:nvSpPr>
        <p:spPr bwMode="auto">
          <a:xfrm>
            <a:off x="3384550" y="2492375"/>
            <a:ext cx="466725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Овал 41"/>
          <p:cNvSpPr/>
          <p:nvPr/>
        </p:nvSpPr>
        <p:spPr bwMode="auto">
          <a:xfrm>
            <a:off x="1116013" y="3321050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Овал 42"/>
          <p:cNvSpPr/>
          <p:nvPr/>
        </p:nvSpPr>
        <p:spPr bwMode="auto">
          <a:xfrm>
            <a:off x="1835150" y="3284538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Овал 43"/>
          <p:cNvSpPr/>
          <p:nvPr/>
        </p:nvSpPr>
        <p:spPr bwMode="auto">
          <a:xfrm>
            <a:off x="4103688" y="2960688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7660" name="Прямая со стрелкой 44"/>
          <p:cNvCxnSpPr>
            <a:cxnSpLocks noChangeShapeType="1"/>
            <a:stCxn id="36" idx="4"/>
            <a:endCxn id="38" idx="0"/>
          </p:cNvCxnSpPr>
          <p:nvPr/>
        </p:nvCxnSpPr>
        <p:spPr bwMode="auto">
          <a:xfrm flipH="1">
            <a:off x="954088" y="2241550"/>
            <a:ext cx="539750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661" name="Прямая со стрелкой 45"/>
          <p:cNvCxnSpPr>
            <a:cxnSpLocks noChangeShapeType="1"/>
            <a:stCxn id="36" idx="4"/>
            <a:endCxn id="39" idx="0"/>
          </p:cNvCxnSpPr>
          <p:nvPr/>
        </p:nvCxnSpPr>
        <p:spPr bwMode="auto">
          <a:xfrm>
            <a:off x="1493838" y="2241550"/>
            <a:ext cx="179387" cy="2873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662" name="Прямая со стрелкой 46"/>
          <p:cNvCxnSpPr>
            <a:cxnSpLocks noChangeShapeType="1"/>
            <a:stCxn id="37" idx="4"/>
            <a:endCxn id="40" idx="0"/>
          </p:cNvCxnSpPr>
          <p:nvPr/>
        </p:nvCxnSpPr>
        <p:spPr bwMode="auto">
          <a:xfrm flipH="1">
            <a:off x="2970213" y="2168525"/>
            <a:ext cx="71437" cy="2889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663" name="Прямая со стрелкой 47"/>
          <p:cNvCxnSpPr>
            <a:cxnSpLocks noChangeShapeType="1"/>
            <a:stCxn id="37" idx="4"/>
            <a:endCxn id="41" idx="0"/>
          </p:cNvCxnSpPr>
          <p:nvPr/>
        </p:nvCxnSpPr>
        <p:spPr bwMode="auto">
          <a:xfrm>
            <a:off x="3041650" y="2168525"/>
            <a:ext cx="576263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664" name="Прямая со стрелкой 48"/>
          <p:cNvCxnSpPr>
            <a:cxnSpLocks noChangeShapeType="1"/>
            <a:stCxn id="39" idx="4"/>
            <a:endCxn id="42" idx="0"/>
          </p:cNvCxnSpPr>
          <p:nvPr/>
        </p:nvCxnSpPr>
        <p:spPr bwMode="auto">
          <a:xfrm flipH="1">
            <a:off x="1349375" y="3033713"/>
            <a:ext cx="323850" cy="2873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665" name="Прямая со стрелкой 49"/>
          <p:cNvCxnSpPr>
            <a:cxnSpLocks noChangeShapeType="1"/>
            <a:stCxn id="39" idx="4"/>
            <a:endCxn id="43" idx="1"/>
          </p:cNvCxnSpPr>
          <p:nvPr/>
        </p:nvCxnSpPr>
        <p:spPr bwMode="auto">
          <a:xfrm>
            <a:off x="1673225" y="3033713"/>
            <a:ext cx="231775" cy="3254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666" name="Прямая со стрелкой 50"/>
          <p:cNvCxnSpPr>
            <a:cxnSpLocks noChangeShapeType="1"/>
            <a:stCxn id="41" idx="5"/>
            <a:endCxn id="44" idx="1"/>
          </p:cNvCxnSpPr>
          <p:nvPr/>
        </p:nvCxnSpPr>
        <p:spPr bwMode="auto">
          <a:xfrm>
            <a:off x="3783013" y="2922588"/>
            <a:ext cx="388937" cy="11271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7667" name="TextBox 58"/>
          <p:cNvSpPr txBox="1">
            <a:spLocks noChangeArrowheads="1"/>
          </p:cNvSpPr>
          <p:nvPr/>
        </p:nvSpPr>
        <p:spPr bwMode="auto">
          <a:xfrm>
            <a:off x="4679950" y="3752850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61" name="Прямоугольник 60"/>
          <p:cNvSpPr/>
          <p:nvPr/>
        </p:nvSpPr>
        <p:spPr bwMode="auto">
          <a:xfrm>
            <a:off x="3959225" y="3716338"/>
            <a:ext cx="4645025" cy="2952750"/>
          </a:xfrm>
          <a:prstGeom prst="rect">
            <a:avLst/>
          </a:prstGeom>
          <a:solidFill>
            <a:schemeClr val="tx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" name="Овал 61"/>
          <p:cNvSpPr/>
          <p:nvPr/>
        </p:nvSpPr>
        <p:spPr bwMode="auto">
          <a:xfrm>
            <a:off x="4932363" y="4149725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" name="Овал 62"/>
          <p:cNvSpPr/>
          <p:nvPr/>
        </p:nvSpPr>
        <p:spPr bwMode="auto">
          <a:xfrm>
            <a:off x="6480175" y="4076700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" name="Овал 63"/>
          <p:cNvSpPr/>
          <p:nvPr/>
        </p:nvSpPr>
        <p:spPr bwMode="auto">
          <a:xfrm>
            <a:off x="4392613" y="4976813"/>
            <a:ext cx="466725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Овал 64"/>
          <p:cNvSpPr/>
          <p:nvPr/>
        </p:nvSpPr>
        <p:spPr bwMode="auto">
          <a:xfrm>
            <a:off x="5111750" y="4941888"/>
            <a:ext cx="468313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" name="Овал 65"/>
          <p:cNvSpPr/>
          <p:nvPr/>
        </p:nvSpPr>
        <p:spPr bwMode="auto">
          <a:xfrm>
            <a:off x="6408738" y="4868863"/>
            <a:ext cx="466725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Овал 66"/>
          <p:cNvSpPr/>
          <p:nvPr/>
        </p:nvSpPr>
        <p:spPr bwMode="auto">
          <a:xfrm>
            <a:off x="7056438" y="4905375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8" name="Овал 67"/>
          <p:cNvSpPr/>
          <p:nvPr/>
        </p:nvSpPr>
        <p:spPr bwMode="auto">
          <a:xfrm>
            <a:off x="4787900" y="5732463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9" name="Овал 68"/>
          <p:cNvSpPr/>
          <p:nvPr/>
        </p:nvSpPr>
        <p:spPr bwMode="auto">
          <a:xfrm>
            <a:off x="5508625" y="5697538"/>
            <a:ext cx="468313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" name="Овал 69"/>
          <p:cNvSpPr/>
          <p:nvPr/>
        </p:nvSpPr>
        <p:spPr bwMode="auto">
          <a:xfrm>
            <a:off x="7704138" y="5516563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7678" name="Прямая со стрелкой 70"/>
          <p:cNvCxnSpPr>
            <a:cxnSpLocks noChangeShapeType="1"/>
            <a:stCxn id="62" idx="4"/>
            <a:endCxn id="64" idx="0"/>
          </p:cNvCxnSpPr>
          <p:nvPr/>
        </p:nvCxnSpPr>
        <p:spPr bwMode="auto">
          <a:xfrm flipH="1">
            <a:off x="4625975" y="4652963"/>
            <a:ext cx="539750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679" name="Прямая со стрелкой 71"/>
          <p:cNvCxnSpPr>
            <a:cxnSpLocks noChangeShapeType="1"/>
            <a:stCxn id="62" idx="4"/>
            <a:endCxn id="65" idx="0"/>
          </p:cNvCxnSpPr>
          <p:nvPr/>
        </p:nvCxnSpPr>
        <p:spPr bwMode="auto">
          <a:xfrm>
            <a:off x="5165725" y="4652963"/>
            <a:ext cx="180975" cy="2889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680" name="Прямая со стрелкой 74"/>
          <p:cNvCxnSpPr>
            <a:cxnSpLocks noChangeShapeType="1"/>
            <a:stCxn id="65" idx="4"/>
            <a:endCxn id="68" idx="0"/>
          </p:cNvCxnSpPr>
          <p:nvPr/>
        </p:nvCxnSpPr>
        <p:spPr bwMode="auto">
          <a:xfrm flipH="1">
            <a:off x="5021263" y="5445125"/>
            <a:ext cx="325437" cy="2873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681" name="Прямая со стрелкой 75"/>
          <p:cNvCxnSpPr>
            <a:cxnSpLocks noChangeShapeType="1"/>
            <a:stCxn id="65" idx="4"/>
            <a:endCxn id="69" idx="1"/>
          </p:cNvCxnSpPr>
          <p:nvPr/>
        </p:nvCxnSpPr>
        <p:spPr bwMode="auto">
          <a:xfrm>
            <a:off x="5346700" y="5445125"/>
            <a:ext cx="230188" cy="3254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682" name="Прямая со стрелкой 76"/>
          <p:cNvCxnSpPr>
            <a:cxnSpLocks noChangeShapeType="1"/>
            <a:stCxn id="67" idx="5"/>
            <a:endCxn id="70" idx="1"/>
          </p:cNvCxnSpPr>
          <p:nvPr/>
        </p:nvCxnSpPr>
        <p:spPr bwMode="auto">
          <a:xfrm>
            <a:off x="7456488" y="5335588"/>
            <a:ext cx="315912" cy="2555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7683" name="Прямая со стрелкой 89"/>
          <p:cNvCxnSpPr>
            <a:cxnSpLocks noChangeShapeType="1"/>
          </p:cNvCxnSpPr>
          <p:nvPr/>
        </p:nvCxnSpPr>
        <p:spPr bwMode="auto">
          <a:xfrm flipH="1">
            <a:off x="5580063" y="4329113"/>
            <a:ext cx="755650" cy="10795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</p:spPr>
      </p:cxnSp>
      <p:sp>
        <p:nvSpPr>
          <p:cNvPr id="45" name="Номер слайда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0"/>
            <a:ext cx="8424862" cy="1233488"/>
          </a:xfrm>
        </p:spPr>
        <p:txBody>
          <a:bodyPr/>
          <a:lstStyle/>
          <a:p>
            <a:pPr algn="l">
              <a:defRPr/>
            </a:pPr>
            <a:r>
              <a:rPr lang="ru-RU" sz="3600" b="1" dirty="0">
                <a:solidFill>
                  <a:schemeClr val="bg2"/>
                </a:solidFill>
              </a:rPr>
              <a:t>Операция объединения двух</a:t>
            </a:r>
            <a:r>
              <a:rPr lang="en-US" sz="3600" b="1" dirty="0">
                <a:solidFill>
                  <a:schemeClr val="bg2"/>
                </a:solidFill>
              </a:rPr>
              <a:t> </a:t>
            </a:r>
            <a:r>
              <a:rPr lang="ru-RU" sz="3600" b="1" dirty="0">
                <a:solidFill>
                  <a:schemeClr val="bg2"/>
                </a:solidFill>
              </a:rPr>
              <a:t/>
            </a:r>
            <a:br>
              <a:rPr lang="ru-RU" sz="3600" b="1" dirty="0">
                <a:solidFill>
                  <a:schemeClr val="bg2"/>
                </a:solidFill>
              </a:rPr>
            </a:br>
            <a:r>
              <a:rPr lang="en-US" sz="3600" b="1" dirty="0">
                <a:solidFill>
                  <a:schemeClr val="bg2"/>
                </a:solidFill>
              </a:rPr>
              <a:t>BST-</a:t>
            </a:r>
            <a:r>
              <a:rPr lang="ru-RU" sz="3600" b="1" dirty="0">
                <a:solidFill>
                  <a:schemeClr val="bg2"/>
                </a:solidFill>
              </a:rPr>
              <a:t>деревьев</a:t>
            </a:r>
            <a:endParaRPr lang="ru-RU" sz="3600" dirty="0"/>
          </a:p>
        </p:txBody>
      </p:sp>
      <p:sp>
        <p:nvSpPr>
          <p:cNvPr id="28674" name="TextBox 4"/>
          <p:cNvSpPr txBox="1">
            <a:spLocks noChangeArrowheads="1"/>
          </p:cNvSpPr>
          <p:nvPr/>
        </p:nvSpPr>
        <p:spPr bwMode="auto">
          <a:xfrm>
            <a:off x="1114425" y="1449388"/>
            <a:ext cx="504825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395288" y="1412875"/>
            <a:ext cx="4645025" cy="2952750"/>
          </a:xfrm>
          <a:prstGeom prst="rect">
            <a:avLst/>
          </a:prstGeom>
          <a:solidFill>
            <a:schemeClr val="tx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Овал 6"/>
          <p:cNvSpPr/>
          <p:nvPr/>
        </p:nvSpPr>
        <p:spPr bwMode="auto">
          <a:xfrm>
            <a:off x="1258888" y="2168525"/>
            <a:ext cx="468312" cy="504825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Овал 7"/>
          <p:cNvSpPr/>
          <p:nvPr/>
        </p:nvSpPr>
        <p:spPr bwMode="auto">
          <a:xfrm>
            <a:off x="1871663" y="1557338"/>
            <a:ext cx="468312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Овал 8"/>
          <p:cNvSpPr/>
          <p:nvPr/>
        </p:nvSpPr>
        <p:spPr bwMode="auto">
          <a:xfrm>
            <a:off x="719138" y="2997200"/>
            <a:ext cx="468312" cy="503238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Овал 9"/>
          <p:cNvSpPr/>
          <p:nvPr/>
        </p:nvSpPr>
        <p:spPr bwMode="auto">
          <a:xfrm>
            <a:off x="1439863" y="2960688"/>
            <a:ext cx="468312" cy="504825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2268538" y="2565400"/>
            <a:ext cx="466725" cy="503238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Овал 11"/>
          <p:cNvSpPr/>
          <p:nvPr/>
        </p:nvSpPr>
        <p:spPr bwMode="auto">
          <a:xfrm>
            <a:off x="2987675" y="2312988"/>
            <a:ext cx="468313" cy="503237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Овал 12"/>
          <p:cNvSpPr/>
          <p:nvPr/>
        </p:nvSpPr>
        <p:spPr bwMode="auto">
          <a:xfrm>
            <a:off x="1116013" y="3752850"/>
            <a:ext cx="468312" cy="504825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Овал 13"/>
          <p:cNvSpPr/>
          <p:nvPr/>
        </p:nvSpPr>
        <p:spPr bwMode="auto">
          <a:xfrm>
            <a:off x="1835150" y="3716338"/>
            <a:ext cx="468313" cy="504825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Овал 14"/>
          <p:cNvSpPr/>
          <p:nvPr/>
        </p:nvSpPr>
        <p:spPr bwMode="auto">
          <a:xfrm>
            <a:off x="3635375" y="2924175"/>
            <a:ext cx="468313" cy="504825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8685" name="Прямая со стрелкой 15"/>
          <p:cNvCxnSpPr>
            <a:cxnSpLocks noChangeShapeType="1"/>
            <a:stCxn id="7" idx="4"/>
            <a:endCxn id="9" idx="0"/>
          </p:cNvCxnSpPr>
          <p:nvPr/>
        </p:nvCxnSpPr>
        <p:spPr bwMode="auto">
          <a:xfrm flipH="1">
            <a:off x="954088" y="2673350"/>
            <a:ext cx="539750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686" name="Прямая со стрелкой 16"/>
          <p:cNvCxnSpPr>
            <a:cxnSpLocks noChangeShapeType="1"/>
            <a:stCxn id="7" idx="4"/>
            <a:endCxn id="10" idx="0"/>
          </p:cNvCxnSpPr>
          <p:nvPr/>
        </p:nvCxnSpPr>
        <p:spPr bwMode="auto">
          <a:xfrm>
            <a:off x="1493838" y="2673350"/>
            <a:ext cx="179387" cy="2873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687" name="Прямая со стрелкой 17"/>
          <p:cNvCxnSpPr>
            <a:cxnSpLocks noChangeShapeType="1"/>
            <a:stCxn id="10" idx="4"/>
            <a:endCxn id="13" idx="0"/>
          </p:cNvCxnSpPr>
          <p:nvPr/>
        </p:nvCxnSpPr>
        <p:spPr bwMode="auto">
          <a:xfrm flipH="1">
            <a:off x="1349375" y="3465513"/>
            <a:ext cx="323850" cy="2873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688" name="Прямая со стрелкой 18"/>
          <p:cNvCxnSpPr>
            <a:cxnSpLocks noChangeShapeType="1"/>
            <a:stCxn id="10" idx="4"/>
            <a:endCxn id="14" idx="1"/>
          </p:cNvCxnSpPr>
          <p:nvPr/>
        </p:nvCxnSpPr>
        <p:spPr bwMode="auto">
          <a:xfrm>
            <a:off x="1673225" y="3465513"/>
            <a:ext cx="231775" cy="3254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689" name="Прямая со стрелкой 19"/>
          <p:cNvCxnSpPr>
            <a:cxnSpLocks noChangeShapeType="1"/>
            <a:stCxn id="12" idx="5"/>
            <a:endCxn id="15" idx="1"/>
          </p:cNvCxnSpPr>
          <p:nvPr/>
        </p:nvCxnSpPr>
        <p:spPr bwMode="auto">
          <a:xfrm>
            <a:off x="3387725" y="2743200"/>
            <a:ext cx="317500" cy="2555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690" name="Прямая со стрелкой 21"/>
          <p:cNvCxnSpPr>
            <a:cxnSpLocks noChangeShapeType="1"/>
            <a:stCxn id="8" idx="3"/>
            <a:endCxn id="7" idx="7"/>
          </p:cNvCxnSpPr>
          <p:nvPr/>
        </p:nvCxnSpPr>
        <p:spPr bwMode="auto">
          <a:xfrm flipH="1">
            <a:off x="1658938" y="1987550"/>
            <a:ext cx="280987" cy="2555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8691" name="TextBox 24"/>
          <p:cNvSpPr txBox="1">
            <a:spLocks noChangeArrowheads="1"/>
          </p:cNvSpPr>
          <p:nvPr/>
        </p:nvSpPr>
        <p:spPr bwMode="auto">
          <a:xfrm>
            <a:off x="4930775" y="3500438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26" name="Прямоугольник 25"/>
          <p:cNvSpPr/>
          <p:nvPr/>
        </p:nvSpPr>
        <p:spPr bwMode="auto">
          <a:xfrm>
            <a:off x="4211638" y="3465513"/>
            <a:ext cx="4645025" cy="2951162"/>
          </a:xfrm>
          <a:prstGeom prst="rect">
            <a:avLst/>
          </a:prstGeom>
          <a:solidFill>
            <a:schemeClr val="tx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Овал 26"/>
          <p:cNvSpPr/>
          <p:nvPr/>
        </p:nvSpPr>
        <p:spPr bwMode="auto">
          <a:xfrm>
            <a:off x="5076825" y="4221163"/>
            <a:ext cx="466725" cy="503237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Овал 27"/>
          <p:cNvSpPr/>
          <p:nvPr/>
        </p:nvSpPr>
        <p:spPr bwMode="auto">
          <a:xfrm>
            <a:off x="6551613" y="3536950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Овал 28"/>
          <p:cNvSpPr/>
          <p:nvPr/>
        </p:nvSpPr>
        <p:spPr bwMode="auto">
          <a:xfrm>
            <a:off x="4535488" y="5049838"/>
            <a:ext cx="468312" cy="503237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Овал 29"/>
          <p:cNvSpPr/>
          <p:nvPr/>
        </p:nvSpPr>
        <p:spPr bwMode="auto">
          <a:xfrm>
            <a:off x="5256213" y="5013325"/>
            <a:ext cx="468312" cy="503238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Овал 30"/>
          <p:cNvSpPr/>
          <p:nvPr/>
        </p:nvSpPr>
        <p:spPr bwMode="auto">
          <a:xfrm>
            <a:off x="5688013" y="3716338"/>
            <a:ext cx="468312" cy="504825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Овал 31"/>
          <p:cNvSpPr/>
          <p:nvPr/>
        </p:nvSpPr>
        <p:spPr bwMode="auto">
          <a:xfrm>
            <a:off x="6804025" y="4365625"/>
            <a:ext cx="468313" cy="503238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Овал 32"/>
          <p:cNvSpPr/>
          <p:nvPr/>
        </p:nvSpPr>
        <p:spPr bwMode="auto">
          <a:xfrm>
            <a:off x="4932363" y="5805488"/>
            <a:ext cx="468312" cy="503237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Овал 33"/>
          <p:cNvSpPr/>
          <p:nvPr/>
        </p:nvSpPr>
        <p:spPr bwMode="auto">
          <a:xfrm>
            <a:off x="5651500" y="5768975"/>
            <a:ext cx="468313" cy="504825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Овал 34"/>
          <p:cNvSpPr/>
          <p:nvPr/>
        </p:nvSpPr>
        <p:spPr bwMode="auto">
          <a:xfrm>
            <a:off x="7451725" y="4976813"/>
            <a:ext cx="468313" cy="504825"/>
          </a:xfrm>
          <a:prstGeom prst="ellipse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8702" name="Прямая со стрелкой 35"/>
          <p:cNvCxnSpPr>
            <a:cxnSpLocks noChangeShapeType="1"/>
            <a:stCxn id="27" idx="4"/>
            <a:endCxn id="29" idx="0"/>
          </p:cNvCxnSpPr>
          <p:nvPr/>
        </p:nvCxnSpPr>
        <p:spPr bwMode="auto">
          <a:xfrm flipH="1">
            <a:off x="4770438" y="4724400"/>
            <a:ext cx="539750" cy="3254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703" name="Прямая со стрелкой 36"/>
          <p:cNvCxnSpPr>
            <a:cxnSpLocks noChangeShapeType="1"/>
            <a:stCxn id="27" idx="4"/>
            <a:endCxn id="30" idx="0"/>
          </p:cNvCxnSpPr>
          <p:nvPr/>
        </p:nvCxnSpPr>
        <p:spPr bwMode="auto">
          <a:xfrm>
            <a:off x="5310188" y="4724400"/>
            <a:ext cx="179387" cy="2889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704" name="Прямая со стрелкой 37"/>
          <p:cNvCxnSpPr>
            <a:cxnSpLocks noChangeShapeType="1"/>
            <a:stCxn id="30" idx="4"/>
            <a:endCxn id="33" idx="0"/>
          </p:cNvCxnSpPr>
          <p:nvPr/>
        </p:nvCxnSpPr>
        <p:spPr bwMode="auto">
          <a:xfrm flipH="1">
            <a:off x="5165725" y="5516563"/>
            <a:ext cx="323850" cy="2889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705" name="Прямая со стрелкой 38"/>
          <p:cNvCxnSpPr>
            <a:cxnSpLocks noChangeShapeType="1"/>
            <a:stCxn id="30" idx="4"/>
            <a:endCxn id="34" idx="1"/>
          </p:cNvCxnSpPr>
          <p:nvPr/>
        </p:nvCxnSpPr>
        <p:spPr bwMode="auto">
          <a:xfrm>
            <a:off x="5489575" y="5516563"/>
            <a:ext cx="231775" cy="3270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706" name="Прямая со стрелкой 39"/>
          <p:cNvCxnSpPr>
            <a:cxnSpLocks noChangeShapeType="1"/>
            <a:stCxn id="32" idx="5"/>
            <a:endCxn id="35" idx="1"/>
          </p:cNvCxnSpPr>
          <p:nvPr/>
        </p:nvCxnSpPr>
        <p:spPr bwMode="auto">
          <a:xfrm>
            <a:off x="7204075" y="4795838"/>
            <a:ext cx="317500" cy="2555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707" name="Прямая со стрелкой 41"/>
          <p:cNvCxnSpPr>
            <a:cxnSpLocks noChangeShapeType="1"/>
            <a:stCxn id="31" idx="3"/>
            <a:endCxn id="27" idx="7"/>
          </p:cNvCxnSpPr>
          <p:nvPr/>
        </p:nvCxnSpPr>
        <p:spPr bwMode="auto">
          <a:xfrm flipH="1">
            <a:off x="5475288" y="4146550"/>
            <a:ext cx="280987" cy="1476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708" name="Прямая со стрелкой 44"/>
          <p:cNvCxnSpPr>
            <a:cxnSpLocks noChangeShapeType="1"/>
            <a:stCxn id="28" idx="3"/>
            <a:endCxn id="31" idx="6"/>
          </p:cNvCxnSpPr>
          <p:nvPr/>
        </p:nvCxnSpPr>
        <p:spPr bwMode="auto">
          <a:xfrm flipH="1">
            <a:off x="6156325" y="3967163"/>
            <a:ext cx="465138" cy="15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28709" name="Прямая со стрелкой 47"/>
          <p:cNvCxnSpPr>
            <a:cxnSpLocks noChangeShapeType="1"/>
            <a:stCxn id="28" idx="4"/>
            <a:endCxn id="32" idx="1"/>
          </p:cNvCxnSpPr>
          <p:nvPr/>
        </p:nvCxnSpPr>
        <p:spPr bwMode="auto">
          <a:xfrm>
            <a:off x="6786563" y="4041775"/>
            <a:ext cx="85725" cy="3968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39" name="Номер слайда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0"/>
            <a:ext cx="8424862" cy="1233488"/>
          </a:xfrm>
        </p:spPr>
        <p:txBody>
          <a:bodyPr/>
          <a:lstStyle/>
          <a:p>
            <a:pPr algn="l">
              <a:defRPr/>
            </a:pPr>
            <a:r>
              <a:rPr lang="ru-RU" sz="3600" b="1" dirty="0">
                <a:solidFill>
                  <a:schemeClr val="bg2"/>
                </a:solidFill>
              </a:rPr>
              <a:t>Операция объединения двух</a:t>
            </a:r>
            <a:r>
              <a:rPr lang="en-US" sz="3600" b="1" dirty="0">
                <a:solidFill>
                  <a:schemeClr val="bg2"/>
                </a:solidFill>
              </a:rPr>
              <a:t> </a:t>
            </a:r>
            <a:r>
              <a:rPr lang="ru-RU" sz="3600" b="1" dirty="0">
                <a:solidFill>
                  <a:schemeClr val="bg2"/>
                </a:solidFill>
              </a:rPr>
              <a:t/>
            </a:r>
            <a:br>
              <a:rPr lang="ru-RU" sz="3600" b="1" dirty="0">
                <a:solidFill>
                  <a:schemeClr val="bg2"/>
                </a:solidFill>
              </a:rPr>
            </a:br>
            <a:r>
              <a:rPr lang="en-US" sz="3600" b="1" dirty="0">
                <a:solidFill>
                  <a:schemeClr val="bg2"/>
                </a:solidFill>
              </a:rPr>
              <a:t>BST-</a:t>
            </a:r>
            <a:r>
              <a:rPr lang="ru-RU" sz="3600" b="1" dirty="0">
                <a:solidFill>
                  <a:schemeClr val="bg2"/>
                </a:solidFill>
              </a:rPr>
              <a:t>деревьев</a:t>
            </a:r>
            <a:endParaRPr lang="ru-RU" sz="3600" dirty="0"/>
          </a:p>
        </p:txBody>
      </p:sp>
      <p:sp>
        <p:nvSpPr>
          <p:cNvPr id="29698" name="TextBox 4"/>
          <p:cNvSpPr txBox="1">
            <a:spLocks noChangeArrowheads="1"/>
          </p:cNvSpPr>
          <p:nvPr/>
        </p:nvSpPr>
        <p:spPr bwMode="auto">
          <a:xfrm>
            <a:off x="431800" y="1449388"/>
            <a:ext cx="8280400" cy="3944937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Node *Join(Node *a, Node *b) </a:t>
            </a:r>
          </a:p>
          <a:p>
            <a:r>
              <a:rPr lang="ru-RU" b="0">
                <a:solidFill>
                  <a:schemeClr val="bg2"/>
                </a:solidFill>
              </a:rPr>
              <a:t>Если </a:t>
            </a:r>
            <a:r>
              <a:rPr lang="en-US" b="0">
                <a:solidFill>
                  <a:schemeClr val="bg2"/>
                </a:solidFill>
              </a:rPr>
              <a:t>  b==</a:t>
            </a:r>
            <a:r>
              <a:rPr lang="ru-RU" b="0">
                <a:solidFill>
                  <a:schemeClr val="bg2"/>
                </a:solidFill>
              </a:rPr>
              <a:t> </a:t>
            </a:r>
            <a:r>
              <a:rPr lang="en-US" b="0">
                <a:solidFill>
                  <a:schemeClr val="bg2"/>
                </a:solidFill>
              </a:rPr>
              <a:t>NULL </a:t>
            </a:r>
            <a:r>
              <a:rPr lang="ru-RU" b="0">
                <a:solidFill>
                  <a:schemeClr val="bg2"/>
                </a:solidFill>
              </a:rPr>
              <a:t> </a:t>
            </a:r>
            <a:r>
              <a:rPr lang="en-US" b="0">
                <a:solidFill>
                  <a:schemeClr val="bg2"/>
                </a:solidFill>
              </a:rPr>
              <a:t>return a</a:t>
            </a:r>
          </a:p>
          <a:p>
            <a:r>
              <a:rPr lang="ru-RU" b="0">
                <a:solidFill>
                  <a:schemeClr val="bg2"/>
                </a:solidFill>
              </a:rPr>
              <a:t>Если  </a:t>
            </a:r>
            <a:r>
              <a:rPr lang="en-US" b="0">
                <a:solidFill>
                  <a:schemeClr val="bg2"/>
                </a:solidFill>
              </a:rPr>
              <a:t> a ==NULL return b</a:t>
            </a:r>
          </a:p>
          <a:p>
            <a:r>
              <a:rPr lang="ru-RU" b="0">
                <a:solidFill>
                  <a:schemeClr val="bg2"/>
                </a:solidFill>
              </a:rPr>
              <a:t>Вставка</a:t>
            </a:r>
            <a:r>
              <a:rPr lang="en-US" b="0">
                <a:solidFill>
                  <a:schemeClr val="bg2"/>
                </a:solidFill>
              </a:rPr>
              <a:t>R(b, a -&gt;data)</a:t>
            </a:r>
          </a:p>
          <a:p>
            <a:r>
              <a:rPr lang="en-US" b="0">
                <a:solidFill>
                  <a:schemeClr val="bg2"/>
                </a:solidFill>
              </a:rPr>
              <a:t>b-&gt;left = </a:t>
            </a:r>
            <a:r>
              <a:rPr lang="en-US">
                <a:solidFill>
                  <a:schemeClr val="bg2"/>
                </a:solidFill>
              </a:rPr>
              <a:t>Join(a-&gt;left; b-&gt;left)</a:t>
            </a:r>
          </a:p>
          <a:p>
            <a:r>
              <a:rPr lang="en-US" b="0">
                <a:solidFill>
                  <a:schemeClr val="bg2"/>
                </a:solidFill>
              </a:rPr>
              <a:t>b-&gt;rigth = </a:t>
            </a:r>
            <a:r>
              <a:rPr lang="en-US">
                <a:solidFill>
                  <a:schemeClr val="bg2"/>
                </a:solidFill>
              </a:rPr>
              <a:t>Join(a -&gt;rigth; b -&gt;rigth)</a:t>
            </a:r>
          </a:p>
          <a:p>
            <a:r>
              <a:rPr lang="ru-RU" b="0">
                <a:solidFill>
                  <a:schemeClr val="bg2"/>
                </a:solidFill>
              </a:rPr>
              <a:t>Освободить</a:t>
            </a:r>
            <a:r>
              <a:rPr lang="en-US" b="0">
                <a:solidFill>
                  <a:schemeClr val="bg2"/>
                </a:solidFill>
              </a:rPr>
              <a:t> a </a:t>
            </a:r>
          </a:p>
          <a:p>
            <a:r>
              <a:rPr lang="en-US" b="0">
                <a:solidFill>
                  <a:schemeClr val="bg2"/>
                </a:solidFill>
              </a:rPr>
              <a:t>return b</a:t>
            </a:r>
          </a:p>
          <a:p>
            <a:r>
              <a:rPr lang="ru-RU" b="0">
                <a:solidFill>
                  <a:schemeClr val="bg2"/>
                </a:solidFill>
              </a:rPr>
              <a:t>конец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0"/>
            <a:ext cx="8424862" cy="1233488"/>
          </a:xfrm>
        </p:spPr>
        <p:txBody>
          <a:bodyPr/>
          <a:lstStyle/>
          <a:p>
            <a:pPr algn="l">
              <a:defRPr/>
            </a:pPr>
            <a:r>
              <a:rPr lang="ru-RU" sz="3600" b="1" dirty="0">
                <a:solidFill>
                  <a:schemeClr val="bg2"/>
                </a:solidFill>
              </a:rPr>
              <a:t>Операция удаления заданного ключа из BST – дерева</a:t>
            </a:r>
            <a:r>
              <a:rPr lang="en-US" sz="3600" b="1" dirty="0">
                <a:solidFill>
                  <a:schemeClr val="bg2"/>
                </a:solidFill>
              </a:rPr>
              <a:t> (</a:t>
            </a:r>
            <a:r>
              <a:rPr lang="ru-RU" sz="3600" b="1" dirty="0">
                <a:solidFill>
                  <a:schemeClr val="bg2"/>
                </a:solidFill>
              </a:rPr>
              <a:t>2</a:t>
            </a:r>
            <a:r>
              <a:rPr lang="en-US" sz="3600" b="1" dirty="0">
                <a:solidFill>
                  <a:schemeClr val="bg2"/>
                </a:solidFill>
              </a:rPr>
              <a:t>)</a:t>
            </a:r>
            <a:endParaRPr lang="ru-RU" sz="3600" dirty="0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503238" y="1268413"/>
            <a:ext cx="8245475" cy="5184775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sz="2800" b="1" dirty="0">
                <a:solidFill>
                  <a:schemeClr val="bg2"/>
                </a:solidFill>
                <a:effectLst/>
              </a:rPr>
              <a:t>Delete</a:t>
            </a:r>
            <a:r>
              <a:rPr lang="ru-RU" sz="2800" b="1" dirty="0">
                <a:solidFill>
                  <a:schemeClr val="bg2"/>
                </a:solidFill>
                <a:effectLst/>
              </a:rPr>
              <a:t>2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(</a:t>
            </a:r>
            <a:r>
              <a:rPr lang="en-US" sz="2800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 k</a:t>
            </a:r>
            <a:r>
              <a:rPr lang="ru-RU" sz="28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,</a:t>
            </a:r>
            <a:r>
              <a:rPr lang="ru-RU" sz="28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Node **R) </a:t>
            </a:r>
            <a:endParaRPr lang="ru-RU" sz="2800" b="1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800" dirty="0">
                <a:solidFill>
                  <a:schemeClr val="bg2"/>
                </a:solidFill>
                <a:effectLst/>
              </a:rPr>
              <a:t>z  = *R-&gt;data</a:t>
            </a:r>
          </a:p>
          <a:p>
            <a:pPr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2"/>
                </a:solidFill>
                <a:effectLst/>
              </a:rPr>
              <a:t>Если </a:t>
            </a:r>
            <a:r>
              <a:rPr lang="en-US" sz="2800" dirty="0">
                <a:solidFill>
                  <a:schemeClr val="bg2"/>
                </a:solidFill>
                <a:effectLst/>
              </a:rPr>
              <a:t>(k==z ) </a:t>
            </a:r>
            <a:r>
              <a:rPr lang="ru-RU" sz="2800" dirty="0">
                <a:solidFill>
                  <a:schemeClr val="bg2"/>
                </a:solidFill>
                <a:effectLst/>
              </a:rPr>
              <a:t>то </a:t>
            </a:r>
            <a:r>
              <a:rPr lang="en-US" sz="2800" dirty="0">
                <a:solidFill>
                  <a:schemeClr val="bg2"/>
                </a:solidFill>
                <a:effectLst/>
              </a:rPr>
              <a:t>Node *t = *R,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800" dirty="0">
                <a:solidFill>
                  <a:schemeClr val="bg2"/>
                </a:solidFill>
                <a:effectLst/>
              </a:rPr>
              <a:t>			*R = 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Join(*R-&gt;left,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800" b="1" dirty="0">
                <a:solidFill>
                  <a:schemeClr val="bg2"/>
                </a:solidFill>
                <a:effectLst/>
              </a:rPr>
              <a:t>				   *R-&gt;</a:t>
            </a:r>
            <a:r>
              <a:rPr lang="en-US" sz="2800" b="1" dirty="0" err="1">
                <a:solidFill>
                  <a:schemeClr val="bg2"/>
                </a:solidFill>
                <a:effectLst/>
              </a:rPr>
              <a:t>rigth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800" dirty="0">
                <a:solidFill>
                  <a:schemeClr val="bg2"/>
                </a:solidFill>
                <a:effectLst/>
              </a:rPr>
              <a:t>			</a:t>
            </a:r>
            <a:r>
              <a:rPr lang="ru-RU" sz="2800" dirty="0">
                <a:solidFill>
                  <a:schemeClr val="bg2"/>
                </a:solidFill>
                <a:effectLst/>
              </a:rPr>
              <a:t>Освободить </a:t>
            </a:r>
            <a:r>
              <a:rPr lang="en-US" sz="2800" dirty="0">
                <a:solidFill>
                  <a:schemeClr val="bg2"/>
                </a:solidFill>
                <a:effectLst/>
              </a:rPr>
              <a:t>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800" dirty="0">
                <a:solidFill>
                  <a:schemeClr val="bg2"/>
                </a:solidFill>
                <a:effectLst/>
              </a:rPr>
              <a:t>			return</a:t>
            </a:r>
          </a:p>
          <a:p>
            <a:pPr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2"/>
                </a:solidFill>
                <a:effectLst/>
              </a:rPr>
              <a:t>Если (</a:t>
            </a:r>
            <a:r>
              <a:rPr lang="en-US" sz="2800" dirty="0">
                <a:solidFill>
                  <a:schemeClr val="bg2"/>
                </a:solidFill>
                <a:effectLst/>
              </a:rPr>
              <a:t>k&lt;z</a:t>
            </a:r>
            <a:r>
              <a:rPr lang="ru-RU" sz="2800" dirty="0">
                <a:solidFill>
                  <a:schemeClr val="bg2"/>
                </a:solidFill>
                <a:effectLst/>
              </a:rPr>
              <a:t>)</a:t>
            </a:r>
            <a:r>
              <a:rPr lang="en-US" sz="2800" dirty="0">
                <a:solidFill>
                  <a:schemeClr val="bg2"/>
                </a:solidFill>
                <a:effectLst/>
              </a:rPr>
              <a:t> 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Delete</a:t>
            </a:r>
            <a:r>
              <a:rPr lang="ru-RU" sz="2800" b="1" dirty="0">
                <a:solidFill>
                  <a:schemeClr val="bg2"/>
                </a:solidFill>
                <a:effectLst/>
              </a:rPr>
              <a:t>2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(k</a:t>
            </a:r>
            <a:r>
              <a:rPr lang="ru-RU" sz="28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,</a:t>
            </a:r>
            <a:r>
              <a:rPr lang="ru-RU" sz="28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*R-&gt;left)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800" b="1" dirty="0">
                <a:solidFill>
                  <a:schemeClr val="bg2"/>
                </a:solidFill>
                <a:effectLst/>
              </a:rPr>
              <a:t>         </a:t>
            </a:r>
            <a:r>
              <a:rPr lang="ru-RU" sz="2800" dirty="0">
                <a:solidFill>
                  <a:schemeClr val="bg2"/>
                </a:solidFill>
                <a:effectLst/>
              </a:rPr>
              <a:t>иначе 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Delete</a:t>
            </a:r>
            <a:r>
              <a:rPr lang="ru-RU" sz="2800" b="1" dirty="0">
                <a:solidFill>
                  <a:schemeClr val="bg2"/>
                </a:solidFill>
                <a:effectLst/>
              </a:rPr>
              <a:t>2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(k</a:t>
            </a:r>
            <a:r>
              <a:rPr lang="ru-RU" sz="28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,</a:t>
            </a:r>
            <a:r>
              <a:rPr lang="ru-RU" sz="28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*R-&gt;</a:t>
            </a:r>
            <a:r>
              <a:rPr lang="en-US" sz="2800" b="1" dirty="0" err="1">
                <a:solidFill>
                  <a:schemeClr val="bg2"/>
                </a:solidFill>
                <a:effectLst/>
              </a:rPr>
              <a:t>rigth</a:t>
            </a:r>
            <a:r>
              <a:rPr lang="en-US" sz="2800" b="1" dirty="0">
                <a:solidFill>
                  <a:schemeClr val="bg2"/>
                </a:solidFill>
                <a:effectLst/>
              </a:rPr>
              <a:t>) </a:t>
            </a:r>
            <a:endParaRPr lang="ru-RU" sz="2800" b="1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2800" dirty="0">
                <a:solidFill>
                  <a:schemeClr val="bg2"/>
                </a:solidFill>
                <a:effectLst/>
              </a:rPr>
              <a:t>конец</a:t>
            </a:r>
            <a:endParaRPr lang="ru-RU" sz="28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0"/>
            <a:ext cx="8424862" cy="1233488"/>
          </a:xfrm>
        </p:spPr>
        <p:txBody>
          <a:bodyPr/>
          <a:lstStyle/>
          <a:p>
            <a:pPr algn="l">
              <a:defRPr/>
            </a:pPr>
            <a:r>
              <a:rPr lang="ru-RU" sz="3600" b="1" dirty="0">
                <a:solidFill>
                  <a:schemeClr val="bg2"/>
                </a:solidFill>
              </a:rPr>
              <a:t>Операция балансировки BST – дерева</a:t>
            </a:r>
            <a:endParaRPr lang="ru-RU" sz="3600" dirty="0"/>
          </a:p>
        </p:txBody>
      </p:sp>
      <p:sp>
        <p:nvSpPr>
          <p:cNvPr id="31746" name="TextBox 4"/>
          <p:cNvSpPr txBox="1">
            <a:spLocks noChangeArrowheads="1"/>
          </p:cNvSpPr>
          <p:nvPr/>
        </p:nvSpPr>
        <p:spPr bwMode="auto">
          <a:xfrm>
            <a:off x="503238" y="1412875"/>
            <a:ext cx="7848600" cy="1384300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>
                <a:solidFill>
                  <a:schemeClr val="bg2"/>
                </a:solidFill>
              </a:rPr>
              <a:t>Сбалансированным</a:t>
            </a:r>
            <a:r>
              <a:rPr lang="ru-RU" b="0">
                <a:solidFill>
                  <a:schemeClr val="bg2"/>
                </a:solidFill>
              </a:rPr>
              <a:t> называется дерево, все внешние узлы (листы) которого находятся максимум в двух уровнях.</a:t>
            </a:r>
          </a:p>
        </p:txBody>
      </p:sp>
      <p:grpSp>
        <p:nvGrpSpPr>
          <p:cNvPr id="2" name="Группа 5"/>
          <p:cNvGrpSpPr>
            <a:grpSpLocks/>
          </p:cNvGrpSpPr>
          <p:nvPr/>
        </p:nvGrpSpPr>
        <p:grpSpPr bwMode="auto">
          <a:xfrm>
            <a:off x="719138" y="3105150"/>
            <a:ext cx="3529012" cy="3079750"/>
            <a:chOff x="179512" y="1880828"/>
            <a:chExt cx="3528392" cy="3080085"/>
          </a:xfrm>
        </p:grpSpPr>
        <p:sp>
          <p:nvSpPr>
            <p:cNvPr id="7" name="Овал 6"/>
            <p:cNvSpPr/>
            <p:nvPr/>
          </p:nvSpPr>
          <p:spPr bwMode="auto">
            <a:xfrm>
              <a:off x="1150891" y="1880828"/>
              <a:ext cx="468230" cy="50329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Овал 7"/>
            <p:cNvSpPr/>
            <p:nvPr/>
          </p:nvSpPr>
          <p:spPr bwMode="auto">
            <a:xfrm>
              <a:off x="719167" y="2744522"/>
              <a:ext cx="468230" cy="50488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Овал 8"/>
            <p:cNvSpPr/>
            <p:nvPr/>
          </p:nvSpPr>
          <p:spPr bwMode="auto">
            <a:xfrm>
              <a:off x="1692133" y="2709593"/>
              <a:ext cx="468231" cy="50329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Овал 9"/>
            <p:cNvSpPr/>
            <p:nvPr/>
          </p:nvSpPr>
          <p:spPr bwMode="auto">
            <a:xfrm>
              <a:off x="179512" y="3573287"/>
              <a:ext cx="468230" cy="503293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Овал 10"/>
            <p:cNvSpPr/>
            <p:nvPr/>
          </p:nvSpPr>
          <p:spPr bwMode="auto">
            <a:xfrm>
              <a:off x="900110" y="3536771"/>
              <a:ext cx="468230" cy="50488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Овал 11"/>
            <p:cNvSpPr/>
            <p:nvPr/>
          </p:nvSpPr>
          <p:spPr bwMode="auto">
            <a:xfrm>
              <a:off x="1619121" y="3500254"/>
              <a:ext cx="468231" cy="50488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Овал 12"/>
            <p:cNvSpPr/>
            <p:nvPr/>
          </p:nvSpPr>
          <p:spPr bwMode="auto">
            <a:xfrm>
              <a:off x="2268295" y="3536771"/>
              <a:ext cx="468230" cy="50488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Овал 13"/>
            <p:cNvSpPr/>
            <p:nvPr/>
          </p:nvSpPr>
          <p:spPr bwMode="auto">
            <a:xfrm>
              <a:off x="576317" y="4329019"/>
              <a:ext cx="466643" cy="50488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Овал 14"/>
            <p:cNvSpPr/>
            <p:nvPr/>
          </p:nvSpPr>
          <p:spPr bwMode="auto">
            <a:xfrm>
              <a:off x="1295328" y="4292503"/>
              <a:ext cx="468231" cy="50488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Овал 15"/>
            <p:cNvSpPr/>
            <p:nvPr/>
          </p:nvSpPr>
          <p:spPr bwMode="auto">
            <a:xfrm>
              <a:off x="2915881" y="4149613"/>
              <a:ext cx="468230" cy="50329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itchFamily="2" charset="2"/>
                <a:buNone/>
                <a:defRPr/>
              </a:pPr>
              <a:r>
                <a: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</a:t>
              </a:r>
              <a:endPara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31781" name="Прямая со стрелкой 16"/>
            <p:cNvCxnSpPr>
              <a:cxnSpLocks noChangeShapeType="1"/>
            </p:cNvCxnSpPr>
            <p:nvPr/>
          </p:nvCxnSpPr>
          <p:spPr bwMode="auto">
            <a:xfrm flipH="1">
              <a:off x="971600" y="2384884"/>
              <a:ext cx="432048" cy="360040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31782" name="Прямая со стрелкой 17"/>
            <p:cNvCxnSpPr>
              <a:cxnSpLocks noChangeShapeType="1"/>
              <a:stCxn id="7" idx="4"/>
              <a:endCxn id="9" idx="1"/>
            </p:cNvCxnSpPr>
            <p:nvPr/>
          </p:nvCxnSpPr>
          <p:spPr bwMode="auto">
            <a:xfrm>
              <a:off x="1385646" y="2384884"/>
              <a:ext cx="374579" cy="397853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31783" name="Прямая со стрелкой 18"/>
            <p:cNvCxnSpPr>
              <a:cxnSpLocks noChangeShapeType="1"/>
              <a:stCxn id="8" idx="4"/>
              <a:endCxn id="10" idx="0"/>
            </p:cNvCxnSpPr>
            <p:nvPr/>
          </p:nvCxnSpPr>
          <p:spPr bwMode="auto">
            <a:xfrm flipH="1">
              <a:off x="413538" y="3248980"/>
              <a:ext cx="540060" cy="32403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31784" name="Прямая со стрелкой 19"/>
            <p:cNvCxnSpPr>
              <a:cxnSpLocks noChangeShapeType="1"/>
              <a:stCxn id="8" idx="4"/>
              <a:endCxn id="11" idx="0"/>
            </p:cNvCxnSpPr>
            <p:nvPr/>
          </p:nvCxnSpPr>
          <p:spPr bwMode="auto">
            <a:xfrm>
              <a:off x="953598" y="3248980"/>
              <a:ext cx="180020" cy="288032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31785" name="Прямая со стрелкой 20"/>
            <p:cNvCxnSpPr>
              <a:cxnSpLocks noChangeShapeType="1"/>
              <a:stCxn id="9" idx="4"/>
              <a:endCxn id="12" idx="0"/>
            </p:cNvCxnSpPr>
            <p:nvPr/>
          </p:nvCxnSpPr>
          <p:spPr bwMode="auto">
            <a:xfrm flipH="1">
              <a:off x="1853698" y="3212976"/>
              <a:ext cx="72008" cy="288032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31786" name="Прямая со стрелкой 21"/>
            <p:cNvCxnSpPr>
              <a:cxnSpLocks noChangeShapeType="1"/>
              <a:stCxn id="9" idx="4"/>
              <a:endCxn id="13" idx="0"/>
            </p:cNvCxnSpPr>
            <p:nvPr/>
          </p:nvCxnSpPr>
          <p:spPr bwMode="auto">
            <a:xfrm>
              <a:off x="1925706" y="3212976"/>
              <a:ext cx="576064" cy="32403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31787" name="Прямая со стрелкой 22"/>
            <p:cNvCxnSpPr>
              <a:cxnSpLocks noChangeShapeType="1"/>
              <a:stCxn id="11" idx="4"/>
              <a:endCxn id="14" idx="0"/>
            </p:cNvCxnSpPr>
            <p:nvPr/>
          </p:nvCxnSpPr>
          <p:spPr bwMode="auto">
            <a:xfrm flipH="1">
              <a:off x="809582" y="4041068"/>
              <a:ext cx="324036" cy="288032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31788" name="Прямая со стрелкой 23"/>
            <p:cNvCxnSpPr>
              <a:cxnSpLocks noChangeShapeType="1"/>
              <a:stCxn id="11" idx="4"/>
              <a:endCxn id="15" idx="1"/>
            </p:cNvCxnSpPr>
            <p:nvPr/>
          </p:nvCxnSpPr>
          <p:spPr bwMode="auto">
            <a:xfrm>
              <a:off x="1133618" y="4041068"/>
              <a:ext cx="230563" cy="325845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cxnSp>
          <p:nvCxnSpPr>
            <p:cNvPr id="31789" name="Прямая со стрелкой 24"/>
            <p:cNvCxnSpPr>
              <a:cxnSpLocks noChangeShapeType="1"/>
              <a:stCxn id="13" idx="5"/>
              <a:endCxn id="16" idx="1"/>
            </p:cNvCxnSpPr>
            <p:nvPr/>
          </p:nvCxnSpPr>
          <p:spPr bwMode="auto">
            <a:xfrm>
              <a:off x="2667251" y="3967251"/>
              <a:ext cx="317110" cy="255646"/>
            </a:xfrm>
            <a:prstGeom prst="straightConnector1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arrow" w="med" len="med"/>
            </a:ln>
          </p:spPr>
        </p:cxnSp>
        <p:sp>
          <p:nvSpPr>
            <p:cNvPr id="31790" name="TextBox 25"/>
            <p:cNvSpPr txBox="1">
              <a:spLocks noChangeArrowheads="1"/>
            </p:cNvSpPr>
            <p:nvPr/>
          </p:nvSpPr>
          <p:spPr bwMode="auto">
            <a:xfrm>
              <a:off x="1439652" y="2204864"/>
              <a:ext cx="50405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10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31791" name="TextBox 26"/>
            <p:cNvSpPr txBox="1">
              <a:spLocks noChangeArrowheads="1"/>
            </p:cNvSpPr>
            <p:nvPr/>
          </p:nvSpPr>
          <p:spPr bwMode="auto">
            <a:xfrm>
              <a:off x="1043608" y="2996952"/>
              <a:ext cx="50405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5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31792" name="TextBox 27"/>
            <p:cNvSpPr txBox="1">
              <a:spLocks noChangeArrowheads="1"/>
            </p:cNvSpPr>
            <p:nvPr/>
          </p:nvSpPr>
          <p:spPr bwMode="auto">
            <a:xfrm>
              <a:off x="2087724" y="3068960"/>
              <a:ext cx="50405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4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31793" name="TextBox 28"/>
            <p:cNvSpPr txBox="1">
              <a:spLocks noChangeArrowheads="1"/>
            </p:cNvSpPr>
            <p:nvPr/>
          </p:nvSpPr>
          <p:spPr bwMode="auto">
            <a:xfrm>
              <a:off x="467544" y="3933056"/>
              <a:ext cx="50405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31794" name="TextBox 29"/>
            <p:cNvSpPr txBox="1">
              <a:spLocks noChangeArrowheads="1"/>
            </p:cNvSpPr>
            <p:nvPr/>
          </p:nvSpPr>
          <p:spPr bwMode="auto">
            <a:xfrm>
              <a:off x="1223628" y="3825044"/>
              <a:ext cx="50405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3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31795" name="TextBox 30"/>
            <p:cNvSpPr txBox="1">
              <a:spLocks noChangeArrowheads="1"/>
            </p:cNvSpPr>
            <p:nvPr/>
          </p:nvSpPr>
          <p:spPr bwMode="auto">
            <a:xfrm>
              <a:off x="2627784" y="3717032"/>
              <a:ext cx="50405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2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31796" name="TextBox 31"/>
            <p:cNvSpPr txBox="1">
              <a:spLocks noChangeArrowheads="1"/>
            </p:cNvSpPr>
            <p:nvPr/>
          </p:nvSpPr>
          <p:spPr bwMode="auto">
            <a:xfrm>
              <a:off x="863588" y="4653136"/>
              <a:ext cx="50405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31797" name="TextBox 32"/>
            <p:cNvSpPr txBox="1">
              <a:spLocks noChangeArrowheads="1"/>
            </p:cNvSpPr>
            <p:nvPr/>
          </p:nvSpPr>
          <p:spPr bwMode="auto">
            <a:xfrm>
              <a:off x="1583668" y="4617132"/>
              <a:ext cx="50405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  <p:sp>
          <p:nvSpPr>
            <p:cNvPr id="31798" name="TextBox 33"/>
            <p:cNvSpPr txBox="1">
              <a:spLocks noChangeArrowheads="1"/>
            </p:cNvSpPr>
            <p:nvPr/>
          </p:nvSpPr>
          <p:spPr bwMode="auto">
            <a:xfrm>
              <a:off x="3203848" y="4509120"/>
              <a:ext cx="50405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1</a:t>
              </a:r>
              <a:endParaRPr lang="ru-RU" sz="1400">
                <a:solidFill>
                  <a:srgbClr val="FF0000"/>
                </a:solidFill>
              </a:endParaRPr>
            </a:p>
          </p:txBody>
        </p:sp>
      </p:grpSp>
      <p:sp>
        <p:nvSpPr>
          <p:cNvPr id="36" name="Овал 35"/>
          <p:cNvSpPr/>
          <p:nvPr/>
        </p:nvSpPr>
        <p:spPr bwMode="auto">
          <a:xfrm>
            <a:off x="5903913" y="3105150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Овал 36"/>
          <p:cNvSpPr/>
          <p:nvPr/>
        </p:nvSpPr>
        <p:spPr bwMode="auto">
          <a:xfrm>
            <a:off x="5472113" y="3968750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Овал 37"/>
          <p:cNvSpPr/>
          <p:nvPr/>
        </p:nvSpPr>
        <p:spPr bwMode="auto">
          <a:xfrm>
            <a:off x="6443663" y="3933825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Овал 38"/>
          <p:cNvSpPr/>
          <p:nvPr/>
        </p:nvSpPr>
        <p:spPr bwMode="auto">
          <a:xfrm>
            <a:off x="4932363" y="4797425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Овал 39"/>
          <p:cNvSpPr/>
          <p:nvPr/>
        </p:nvSpPr>
        <p:spPr bwMode="auto">
          <a:xfrm>
            <a:off x="5651500" y="4760913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Овал 42"/>
          <p:cNvSpPr/>
          <p:nvPr/>
        </p:nvSpPr>
        <p:spPr bwMode="auto">
          <a:xfrm>
            <a:off x="5327650" y="5553075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Овал 43"/>
          <p:cNvSpPr/>
          <p:nvPr/>
        </p:nvSpPr>
        <p:spPr bwMode="auto">
          <a:xfrm>
            <a:off x="6048375" y="5516563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1755" name="Прямая со стрелкой 45"/>
          <p:cNvCxnSpPr>
            <a:cxnSpLocks noChangeShapeType="1"/>
          </p:cNvCxnSpPr>
          <p:nvPr/>
        </p:nvCxnSpPr>
        <p:spPr bwMode="auto">
          <a:xfrm flipH="1">
            <a:off x="5724525" y="3608388"/>
            <a:ext cx="431800" cy="36036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1756" name="Прямая со стрелкой 46"/>
          <p:cNvCxnSpPr>
            <a:cxnSpLocks noChangeShapeType="1"/>
            <a:stCxn id="36" idx="4"/>
            <a:endCxn id="38" idx="1"/>
          </p:cNvCxnSpPr>
          <p:nvPr/>
        </p:nvCxnSpPr>
        <p:spPr bwMode="auto">
          <a:xfrm>
            <a:off x="6138863" y="3608388"/>
            <a:ext cx="374650" cy="39846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1757" name="Прямая со стрелкой 47"/>
          <p:cNvCxnSpPr>
            <a:cxnSpLocks noChangeShapeType="1"/>
            <a:stCxn id="37" idx="4"/>
            <a:endCxn id="39" idx="0"/>
          </p:cNvCxnSpPr>
          <p:nvPr/>
        </p:nvCxnSpPr>
        <p:spPr bwMode="auto">
          <a:xfrm flipH="1">
            <a:off x="5165725" y="4473575"/>
            <a:ext cx="539750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1758" name="Прямая со стрелкой 48"/>
          <p:cNvCxnSpPr>
            <a:cxnSpLocks noChangeShapeType="1"/>
            <a:stCxn id="37" idx="4"/>
            <a:endCxn id="40" idx="0"/>
          </p:cNvCxnSpPr>
          <p:nvPr/>
        </p:nvCxnSpPr>
        <p:spPr bwMode="auto">
          <a:xfrm>
            <a:off x="5705475" y="4473575"/>
            <a:ext cx="180975" cy="2873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1759" name="Прямая со стрелкой 51"/>
          <p:cNvCxnSpPr>
            <a:cxnSpLocks noChangeShapeType="1"/>
            <a:stCxn id="40" idx="4"/>
            <a:endCxn id="43" idx="0"/>
          </p:cNvCxnSpPr>
          <p:nvPr/>
        </p:nvCxnSpPr>
        <p:spPr bwMode="auto">
          <a:xfrm flipH="1">
            <a:off x="5562600" y="5265738"/>
            <a:ext cx="323850" cy="2873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1760" name="Прямая со стрелкой 52"/>
          <p:cNvCxnSpPr>
            <a:cxnSpLocks noChangeShapeType="1"/>
            <a:stCxn id="40" idx="4"/>
            <a:endCxn id="44" idx="1"/>
          </p:cNvCxnSpPr>
          <p:nvPr/>
        </p:nvCxnSpPr>
        <p:spPr bwMode="auto">
          <a:xfrm>
            <a:off x="5886450" y="5265738"/>
            <a:ext cx="230188" cy="3254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31761" name="TextBox 54"/>
          <p:cNvSpPr txBox="1">
            <a:spLocks noChangeArrowheads="1"/>
          </p:cNvSpPr>
          <p:nvPr/>
        </p:nvSpPr>
        <p:spPr bwMode="auto">
          <a:xfrm>
            <a:off x="6192838" y="3429000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40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1762" name="TextBox 55"/>
          <p:cNvSpPr txBox="1">
            <a:spLocks noChangeArrowheads="1"/>
          </p:cNvSpPr>
          <p:nvPr/>
        </p:nvSpPr>
        <p:spPr bwMode="auto">
          <a:xfrm>
            <a:off x="5795963" y="4221163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5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31763" name="TextBox 57"/>
          <p:cNvSpPr txBox="1">
            <a:spLocks noChangeArrowheads="1"/>
          </p:cNvSpPr>
          <p:nvPr/>
        </p:nvSpPr>
        <p:spPr bwMode="auto">
          <a:xfrm>
            <a:off x="5219700" y="5157788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31764" name="TextBox 58"/>
          <p:cNvSpPr txBox="1">
            <a:spLocks noChangeArrowheads="1"/>
          </p:cNvSpPr>
          <p:nvPr/>
        </p:nvSpPr>
        <p:spPr bwMode="auto">
          <a:xfrm>
            <a:off x="5976938" y="5049838"/>
            <a:ext cx="503237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3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31765" name="TextBox 60"/>
          <p:cNvSpPr txBox="1">
            <a:spLocks noChangeArrowheads="1"/>
          </p:cNvSpPr>
          <p:nvPr/>
        </p:nvSpPr>
        <p:spPr bwMode="auto">
          <a:xfrm>
            <a:off x="5616575" y="5876925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31766" name="TextBox 61"/>
          <p:cNvSpPr txBox="1">
            <a:spLocks noChangeArrowheads="1"/>
          </p:cNvSpPr>
          <p:nvPr/>
        </p:nvSpPr>
        <p:spPr bwMode="auto">
          <a:xfrm>
            <a:off x="6335713" y="5842000"/>
            <a:ext cx="504825" cy="30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87338" y="6237288"/>
            <a:ext cx="3779837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b="0" dirty="0">
                <a:solidFill>
                  <a:schemeClr val="tx2">
                    <a:lumMod val="25000"/>
                  </a:schemeClr>
                </a:solidFill>
              </a:rPr>
              <a:t>Сбалансированное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87900" y="6165850"/>
            <a:ext cx="3779838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b="0" dirty="0">
                <a:solidFill>
                  <a:schemeClr val="tx2">
                    <a:lumMod val="25000"/>
                  </a:schemeClr>
                </a:solidFill>
              </a:rPr>
              <a:t>Не сбалансированное</a:t>
            </a:r>
          </a:p>
        </p:txBody>
      </p:sp>
      <p:sp>
        <p:nvSpPr>
          <p:cNvPr id="31769" name="TextBox 65"/>
          <p:cNvSpPr txBox="1">
            <a:spLocks noChangeArrowheads="1"/>
          </p:cNvSpPr>
          <p:nvPr/>
        </p:nvSpPr>
        <p:spPr bwMode="auto">
          <a:xfrm>
            <a:off x="2376488" y="5084763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31770" name="TextBox 66"/>
          <p:cNvSpPr txBox="1">
            <a:spLocks noChangeArrowheads="1"/>
          </p:cNvSpPr>
          <p:nvPr/>
        </p:nvSpPr>
        <p:spPr bwMode="auto">
          <a:xfrm>
            <a:off x="6659563" y="4365625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6" name="Номер слайда 5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Box 3"/>
          <p:cNvSpPr txBox="1">
            <a:spLocks noChangeArrowheads="1"/>
          </p:cNvSpPr>
          <p:nvPr/>
        </p:nvSpPr>
        <p:spPr bwMode="auto">
          <a:xfrm>
            <a:off x="576263" y="1484313"/>
            <a:ext cx="8135937" cy="2247900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Balansed</a:t>
            </a:r>
            <a:r>
              <a:rPr lang="en-US" dirty="0">
                <a:solidFill>
                  <a:schemeClr val="bg1"/>
                </a:solidFill>
              </a:rPr>
              <a:t>(Node </a:t>
            </a:r>
            <a:r>
              <a:rPr lang="ru-RU" dirty="0">
                <a:solidFill>
                  <a:schemeClr val="bg1"/>
                </a:solidFill>
              </a:rPr>
              <a:t>*</a:t>
            </a:r>
            <a:r>
              <a:rPr lang="en-US" dirty="0">
                <a:solidFill>
                  <a:schemeClr val="bg1"/>
                </a:solidFill>
              </a:rPr>
              <a:t>*h)</a:t>
            </a:r>
            <a:r>
              <a:rPr lang="en-US" b="0" dirty="0">
                <a:solidFill>
                  <a:schemeClr val="bg1"/>
                </a:solidFill>
              </a:rPr>
              <a:t> </a:t>
            </a:r>
          </a:p>
          <a:p>
            <a:r>
              <a:rPr lang="ru-RU" b="0" dirty="0">
                <a:solidFill>
                  <a:schemeClr val="bg1"/>
                </a:solidFill>
              </a:rPr>
              <a:t>Если </a:t>
            </a:r>
            <a:r>
              <a:rPr lang="en-US" b="0" dirty="0">
                <a:solidFill>
                  <a:schemeClr val="bg1"/>
                </a:solidFill>
              </a:rPr>
              <a:t> </a:t>
            </a:r>
            <a:r>
              <a:rPr lang="ru-RU" b="0" dirty="0">
                <a:solidFill>
                  <a:schemeClr val="bg1"/>
                </a:solidFill>
              </a:rPr>
              <a:t>*</a:t>
            </a:r>
            <a:r>
              <a:rPr lang="en-US" b="0" dirty="0">
                <a:solidFill>
                  <a:schemeClr val="bg1"/>
                </a:solidFill>
              </a:rPr>
              <a:t>h==NULL </a:t>
            </a:r>
            <a:r>
              <a:rPr lang="ru-RU" b="0" dirty="0">
                <a:solidFill>
                  <a:schemeClr val="bg1"/>
                </a:solidFill>
              </a:rPr>
              <a:t>или *</a:t>
            </a:r>
            <a:r>
              <a:rPr lang="en-US" b="0" dirty="0">
                <a:solidFill>
                  <a:schemeClr val="bg1"/>
                </a:solidFill>
              </a:rPr>
              <a:t>h</a:t>
            </a:r>
            <a:r>
              <a:rPr lang="ru-RU" b="0" dirty="0">
                <a:solidFill>
                  <a:schemeClr val="bg1"/>
                </a:solidFill>
              </a:rPr>
              <a:t> -</a:t>
            </a:r>
            <a:r>
              <a:rPr lang="en-US" b="0" dirty="0">
                <a:solidFill>
                  <a:schemeClr val="bg1"/>
                </a:solidFill>
              </a:rPr>
              <a:t>&gt;N==1 return</a:t>
            </a:r>
          </a:p>
          <a:p>
            <a:r>
              <a:rPr lang="en-US" dirty="0">
                <a:solidFill>
                  <a:schemeClr val="bg1"/>
                </a:solidFill>
              </a:rPr>
              <a:t>Partition(*h, *h-&gt;N/2)</a:t>
            </a:r>
          </a:p>
          <a:p>
            <a:r>
              <a:rPr lang="en-US" dirty="0" err="1">
                <a:solidFill>
                  <a:schemeClr val="bg1"/>
                </a:solidFill>
              </a:rPr>
              <a:t>Balansed</a:t>
            </a:r>
            <a:r>
              <a:rPr lang="en-US" dirty="0">
                <a:solidFill>
                  <a:schemeClr val="bg1"/>
                </a:solidFill>
              </a:rPr>
              <a:t>(h-&gt;left)</a:t>
            </a:r>
          </a:p>
          <a:p>
            <a:r>
              <a:rPr lang="en-US" dirty="0" err="1">
                <a:solidFill>
                  <a:schemeClr val="bg1"/>
                </a:solidFill>
              </a:rPr>
              <a:t>Balansed</a:t>
            </a:r>
            <a:r>
              <a:rPr lang="en-US" dirty="0">
                <a:solidFill>
                  <a:schemeClr val="bg1"/>
                </a:solidFill>
              </a:rPr>
              <a:t>(h-&gt;</a:t>
            </a:r>
            <a:r>
              <a:rPr lang="en-US" dirty="0" err="1">
                <a:solidFill>
                  <a:schemeClr val="bg1"/>
                </a:solidFill>
              </a:rPr>
              <a:t>rigth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ru-RU" b="0" dirty="0">
              <a:solidFill>
                <a:schemeClr val="bg1"/>
              </a:solidFill>
            </a:endParaRPr>
          </a:p>
        </p:txBody>
      </p:sp>
      <p:sp>
        <p:nvSpPr>
          <p:cNvPr id="5" name="Заголовок 3"/>
          <p:cNvSpPr>
            <a:spLocks noGrp="1"/>
          </p:cNvSpPr>
          <p:nvPr>
            <p:ph type="title"/>
          </p:nvPr>
        </p:nvSpPr>
        <p:spPr>
          <a:xfrm>
            <a:off x="468313" y="0"/>
            <a:ext cx="8424862" cy="1233488"/>
          </a:xfrm>
        </p:spPr>
        <p:txBody>
          <a:bodyPr/>
          <a:lstStyle/>
          <a:p>
            <a:pPr algn="l">
              <a:defRPr/>
            </a:pPr>
            <a:r>
              <a:rPr lang="ru-RU" sz="3600" b="1" dirty="0">
                <a:solidFill>
                  <a:schemeClr val="bg2"/>
                </a:solidFill>
              </a:rPr>
              <a:t>Операция балансировки BST – дерева</a:t>
            </a:r>
            <a:endParaRPr lang="ru-RU" sz="3600" dirty="0"/>
          </a:p>
        </p:txBody>
      </p:sp>
      <p:sp>
        <p:nvSpPr>
          <p:cNvPr id="6" name="Овал 5"/>
          <p:cNvSpPr/>
          <p:nvPr/>
        </p:nvSpPr>
        <p:spPr bwMode="auto">
          <a:xfrm>
            <a:off x="6011863" y="3321050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Овал 6"/>
          <p:cNvSpPr/>
          <p:nvPr/>
        </p:nvSpPr>
        <p:spPr bwMode="auto">
          <a:xfrm>
            <a:off x="5580063" y="4184650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Овал 7"/>
          <p:cNvSpPr/>
          <p:nvPr/>
        </p:nvSpPr>
        <p:spPr bwMode="auto">
          <a:xfrm>
            <a:off x="6551613" y="4149725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Овал 8"/>
          <p:cNvSpPr/>
          <p:nvPr/>
        </p:nvSpPr>
        <p:spPr bwMode="auto">
          <a:xfrm>
            <a:off x="5040313" y="5013325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Овал 9"/>
          <p:cNvSpPr/>
          <p:nvPr/>
        </p:nvSpPr>
        <p:spPr bwMode="auto">
          <a:xfrm>
            <a:off x="5759450" y="4976813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Овал 11"/>
          <p:cNvSpPr/>
          <p:nvPr/>
        </p:nvSpPr>
        <p:spPr bwMode="auto">
          <a:xfrm>
            <a:off x="5435600" y="5768975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Овал 12"/>
          <p:cNvSpPr/>
          <p:nvPr/>
        </p:nvSpPr>
        <p:spPr bwMode="auto">
          <a:xfrm>
            <a:off x="6156325" y="5732463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2778" name="Прямая со стрелкой 14"/>
          <p:cNvCxnSpPr>
            <a:cxnSpLocks noChangeShapeType="1"/>
          </p:cNvCxnSpPr>
          <p:nvPr/>
        </p:nvCxnSpPr>
        <p:spPr bwMode="auto">
          <a:xfrm flipH="1">
            <a:off x="5832475" y="3824288"/>
            <a:ext cx="431800" cy="36036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2779" name="Прямая со стрелкой 15"/>
          <p:cNvCxnSpPr>
            <a:cxnSpLocks noChangeShapeType="1"/>
            <a:stCxn id="6" idx="4"/>
            <a:endCxn id="8" idx="1"/>
          </p:cNvCxnSpPr>
          <p:nvPr/>
        </p:nvCxnSpPr>
        <p:spPr bwMode="auto">
          <a:xfrm>
            <a:off x="6246813" y="3824288"/>
            <a:ext cx="374650" cy="39846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2780" name="Прямая со стрелкой 16"/>
          <p:cNvCxnSpPr>
            <a:cxnSpLocks noChangeShapeType="1"/>
            <a:stCxn id="7" idx="4"/>
            <a:endCxn id="9" idx="0"/>
          </p:cNvCxnSpPr>
          <p:nvPr/>
        </p:nvCxnSpPr>
        <p:spPr bwMode="auto">
          <a:xfrm flipH="1">
            <a:off x="5273675" y="4689475"/>
            <a:ext cx="539750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2781" name="Прямая со стрелкой 17"/>
          <p:cNvCxnSpPr>
            <a:cxnSpLocks noChangeShapeType="1"/>
            <a:stCxn id="7" idx="4"/>
            <a:endCxn id="10" idx="0"/>
          </p:cNvCxnSpPr>
          <p:nvPr/>
        </p:nvCxnSpPr>
        <p:spPr bwMode="auto">
          <a:xfrm>
            <a:off x="5813425" y="4689475"/>
            <a:ext cx="180975" cy="2873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2782" name="Прямая со стрелкой 19"/>
          <p:cNvCxnSpPr>
            <a:cxnSpLocks noChangeShapeType="1"/>
            <a:stCxn id="10" idx="4"/>
            <a:endCxn id="12" idx="0"/>
          </p:cNvCxnSpPr>
          <p:nvPr/>
        </p:nvCxnSpPr>
        <p:spPr bwMode="auto">
          <a:xfrm flipH="1">
            <a:off x="5670550" y="5481638"/>
            <a:ext cx="323850" cy="2873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32783" name="Прямая со стрелкой 20"/>
          <p:cNvCxnSpPr>
            <a:cxnSpLocks noChangeShapeType="1"/>
            <a:stCxn id="10" idx="4"/>
            <a:endCxn id="13" idx="1"/>
          </p:cNvCxnSpPr>
          <p:nvPr/>
        </p:nvCxnSpPr>
        <p:spPr bwMode="auto">
          <a:xfrm>
            <a:off x="5994400" y="5481638"/>
            <a:ext cx="230188" cy="3254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32784" name="TextBox 22"/>
          <p:cNvSpPr txBox="1">
            <a:spLocks noChangeArrowheads="1"/>
          </p:cNvSpPr>
          <p:nvPr/>
        </p:nvSpPr>
        <p:spPr bwMode="auto">
          <a:xfrm>
            <a:off x="6300788" y="3644900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40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2785" name="TextBox 23"/>
          <p:cNvSpPr txBox="1">
            <a:spLocks noChangeArrowheads="1"/>
          </p:cNvSpPr>
          <p:nvPr/>
        </p:nvSpPr>
        <p:spPr bwMode="auto">
          <a:xfrm>
            <a:off x="5903913" y="4437063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5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32786" name="TextBox 25"/>
          <p:cNvSpPr txBox="1">
            <a:spLocks noChangeArrowheads="1"/>
          </p:cNvSpPr>
          <p:nvPr/>
        </p:nvSpPr>
        <p:spPr bwMode="auto">
          <a:xfrm>
            <a:off x="5327650" y="5373688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32787" name="TextBox 26"/>
          <p:cNvSpPr txBox="1">
            <a:spLocks noChangeArrowheads="1"/>
          </p:cNvSpPr>
          <p:nvPr/>
        </p:nvSpPr>
        <p:spPr bwMode="auto">
          <a:xfrm>
            <a:off x="6084888" y="5265738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3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32788" name="TextBox 28"/>
          <p:cNvSpPr txBox="1">
            <a:spLocks noChangeArrowheads="1"/>
          </p:cNvSpPr>
          <p:nvPr/>
        </p:nvSpPr>
        <p:spPr bwMode="auto">
          <a:xfrm>
            <a:off x="5724525" y="6092825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32789" name="TextBox 29"/>
          <p:cNvSpPr txBox="1">
            <a:spLocks noChangeArrowheads="1"/>
          </p:cNvSpPr>
          <p:nvPr/>
        </p:nvSpPr>
        <p:spPr bwMode="auto">
          <a:xfrm>
            <a:off x="6443663" y="6057900"/>
            <a:ext cx="504825" cy="30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33" name="Содержимое 2"/>
          <p:cNvSpPr>
            <a:spLocks noGrp="1"/>
          </p:cNvSpPr>
          <p:nvPr>
            <p:ph idx="1"/>
          </p:nvPr>
        </p:nvSpPr>
        <p:spPr>
          <a:xfrm>
            <a:off x="0" y="4194175"/>
            <a:ext cx="4392613" cy="2663825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None/>
              <a:defRPr/>
            </a:pPr>
            <a:r>
              <a:rPr lang="en-US" sz="1600" b="1" dirty="0">
                <a:solidFill>
                  <a:schemeClr val="bg2"/>
                </a:solidFill>
                <a:effectLst/>
              </a:rPr>
              <a:t>partition(Node **R, 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 k) </a:t>
            </a:r>
            <a:endParaRPr lang="ru-RU" sz="1600" b="1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*R == 0 return NULL;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T = (*R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left == 0) ? 0: *R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left</a:t>
            </a:r>
            <a:r>
              <a:rPr lang="ru-RU" sz="16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dirty="0">
                <a:solidFill>
                  <a:schemeClr val="bg2"/>
                </a:solidFill>
                <a:effectLst/>
              </a:rPr>
              <a:t>N;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T&gt;k 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partition (*R</a:t>
            </a:r>
            <a:r>
              <a:rPr lang="ru-RU" sz="16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left,k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)</a:t>
            </a:r>
            <a:r>
              <a:rPr lang="en-US" sz="1600" dirty="0">
                <a:solidFill>
                  <a:schemeClr val="bg2"/>
                </a:solidFill>
                <a:effectLst/>
              </a:rPr>
              <a:t>;              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600" dirty="0" err="1">
                <a:solidFill>
                  <a:schemeClr val="bg2"/>
                </a:solidFill>
                <a:effectLst/>
              </a:rPr>
              <a:t>rotate_r</a:t>
            </a:r>
            <a:r>
              <a:rPr lang="en-US" sz="1600" dirty="0">
                <a:solidFill>
                  <a:schemeClr val="bg2"/>
                </a:solidFill>
                <a:effectLst/>
              </a:rPr>
              <a:t>(R);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600" dirty="0">
                <a:solidFill>
                  <a:schemeClr val="bg2"/>
                </a:solidFill>
                <a:effectLst/>
              </a:rPr>
              <a:t> T&lt;k 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partition (*R</a:t>
            </a:r>
            <a:r>
              <a:rPr lang="ru-RU" sz="16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600" b="1" dirty="0" err="1">
                <a:solidFill>
                  <a:schemeClr val="bg2"/>
                </a:solidFill>
                <a:effectLst/>
              </a:rPr>
              <a:t>rigth</a:t>
            </a:r>
            <a:r>
              <a:rPr lang="en-US" sz="1600" b="1" dirty="0">
                <a:solidFill>
                  <a:schemeClr val="bg2"/>
                </a:solidFill>
                <a:effectLst/>
              </a:rPr>
              <a:t>, k-T-1)</a:t>
            </a:r>
            <a:r>
              <a:rPr lang="en-US" sz="1600" dirty="0">
                <a:solidFill>
                  <a:schemeClr val="bg2"/>
                </a:solidFill>
                <a:effectLst/>
              </a:rPr>
              <a:t>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600" dirty="0" err="1">
                <a:solidFill>
                  <a:schemeClr val="bg2"/>
                </a:solidFill>
                <a:effectLst/>
              </a:rPr>
              <a:t>rotate_l</a:t>
            </a:r>
            <a:r>
              <a:rPr lang="en-US" sz="1600" dirty="0">
                <a:solidFill>
                  <a:schemeClr val="bg2"/>
                </a:solidFill>
                <a:effectLst/>
              </a:rPr>
              <a:t>(R);</a:t>
            </a:r>
            <a:endParaRPr lang="ru-RU" sz="16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600" dirty="0">
                <a:solidFill>
                  <a:schemeClr val="bg2"/>
                </a:solidFill>
                <a:effectLst/>
              </a:rPr>
              <a:t>конец</a:t>
            </a:r>
          </a:p>
          <a:p>
            <a:pPr>
              <a:buFont typeface="Wingdings" pitchFamily="2" charset="2"/>
              <a:buNone/>
              <a:defRPr/>
            </a:pPr>
            <a:endParaRPr lang="ru-RU" dirty="0"/>
          </a:p>
        </p:txBody>
      </p:sp>
      <p:sp>
        <p:nvSpPr>
          <p:cNvPr id="32791" name="TextBox 33"/>
          <p:cNvSpPr txBox="1">
            <a:spLocks noChangeArrowheads="1"/>
          </p:cNvSpPr>
          <p:nvPr/>
        </p:nvSpPr>
        <p:spPr bwMode="auto">
          <a:xfrm>
            <a:off x="6767513" y="4545013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25" name="Номер слайда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0"/>
            <a:ext cx="8424862" cy="1233488"/>
          </a:xfrm>
        </p:spPr>
        <p:txBody>
          <a:bodyPr/>
          <a:lstStyle/>
          <a:p>
            <a:pPr algn="l">
              <a:defRPr/>
            </a:pPr>
            <a:r>
              <a:rPr lang="ru-RU" sz="3600" b="1" dirty="0">
                <a:solidFill>
                  <a:schemeClr val="bg2"/>
                </a:solidFill>
              </a:rPr>
              <a:t>Операция балансировки BST – дерева</a:t>
            </a:r>
            <a:endParaRPr lang="ru-RU" sz="3600" dirty="0"/>
          </a:p>
        </p:txBody>
      </p:sp>
      <p:sp>
        <p:nvSpPr>
          <p:cNvPr id="5" name="Овал 4"/>
          <p:cNvSpPr/>
          <p:nvPr/>
        </p:nvSpPr>
        <p:spPr bwMode="auto">
          <a:xfrm>
            <a:off x="1349375" y="1233488"/>
            <a:ext cx="468313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Овал 5"/>
          <p:cNvSpPr/>
          <p:nvPr/>
        </p:nvSpPr>
        <p:spPr bwMode="auto">
          <a:xfrm>
            <a:off x="917575" y="2097088"/>
            <a:ext cx="468313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Овал 6"/>
          <p:cNvSpPr/>
          <p:nvPr/>
        </p:nvSpPr>
        <p:spPr bwMode="auto">
          <a:xfrm>
            <a:off x="1889125" y="2060575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Овал 7"/>
          <p:cNvSpPr/>
          <p:nvPr/>
        </p:nvSpPr>
        <p:spPr bwMode="auto">
          <a:xfrm>
            <a:off x="377825" y="2924175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Овал 8"/>
          <p:cNvSpPr/>
          <p:nvPr/>
        </p:nvSpPr>
        <p:spPr bwMode="auto">
          <a:xfrm>
            <a:off x="1096963" y="2889250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Овал 9"/>
          <p:cNvSpPr/>
          <p:nvPr/>
        </p:nvSpPr>
        <p:spPr bwMode="auto">
          <a:xfrm>
            <a:off x="2465388" y="2889250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773113" y="3681413"/>
            <a:ext cx="468312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Овал 11"/>
          <p:cNvSpPr/>
          <p:nvPr/>
        </p:nvSpPr>
        <p:spPr bwMode="auto">
          <a:xfrm>
            <a:off x="1493838" y="3644900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Овал 12"/>
          <p:cNvSpPr/>
          <p:nvPr/>
        </p:nvSpPr>
        <p:spPr bwMode="auto">
          <a:xfrm>
            <a:off x="3113088" y="3500438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419" name="Прямая со стрелкой 13"/>
          <p:cNvCxnSpPr>
            <a:cxnSpLocks noChangeShapeType="1"/>
          </p:cNvCxnSpPr>
          <p:nvPr/>
        </p:nvCxnSpPr>
        <p:spPr bwMode="auto">
          <a:xfrm flipH="1">
            <a:off x="1169988" y="1736725"/>
            <a:ext cx="431800" cy="3603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20" name="Прямая со стрелкой 14"/>
          <p:cNvCxnSpPr>
            <a:cxnSpLocks noChangeShapeType="1"/>
            <a:stCxn id="5" idx="4"/>
            <a:endCxn id="7" idx="1"/>
          </p:cNvCxnSpPr>
          <p:nvPr/>
        </p:nvCxnSpPr>
        <p:spPr bwMode="auto">
          <a:xfrm>
            <a:off x="1584325" y="1736725"/>
            <a:ext cx="374650" cy="3984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21" name="Прямая со стрелкой 15"/>
          <p:cNvCxnSpPr>
            <a:cxnSpLocks noChangeShapeType="1"/>
            <a:stCxn id="6" idx="4"/>
            <a:endCxn id="8" idx="0"/>
          </p:cNvCxnSpPr>
          <p:nvPr/>
        </p:nvCxnSpPr>
        <p:spPr bwMode="auto">
          <a:xfrm flipH="1">
            <a:off x="611188" y="2600325"/>
            <a:ext cx="539750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22" name="Прямая со стрелкой 16"/>
          <p:cNvCxnSpPr>
            <a:cxnSpLocks noChangeShapeType="1"/>
            <a:stCxn id="6" idx="4"/>
            <a:endCxn id="9" idx="0"/>
          </p:cNvCxnSpPr>
          <p:nvPr/>
        </p:nvCxnSpPr>
        <p:spPr bwMode="auto">
          <a:xfrm>
            <a:off x="1150938" y="2600325"/>
            <a:ext cx="180975" cy="2889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23" name="Прямая со стрелкой 17"/>
          <p:cNvCxnSpPr>
            <a:cxnSpLocks noChangeShapeType="1"/>
            <a:stCxn id="7" idx="4"/>
            <a:endCxn id="10" idx="0"/>
          </p:cNvCxnSpPr>
          <p:nvPr/>
        </p:nvCxnSpPr>
        <p:spPr bwMode="auto">
          <a:xfrm>
            <a:off x="2124075" y="2565400"/>
            <a:ext cx="576263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24" name="Прямая со стрелкой 18"/>
          <p:cNvCxnSpPr>
            <a:cxnSpLocks noChangeShapeType="1"/>
            <a:stCxn id="9" idx="4"/>
            <a:endCxn id="11" idx="0"/>
          </p:cNvCxnSpPr>
          <p:nvPr/>
        </p:nvCxnSpPr>
        <p:spPr bwMode="auto">
          <a:xfrm flipH="1">
            <a:off x="1008063" y="3392488"/>
            <a:ext cx="323850" cy="2889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25" name="Прямая со стрелкой 19"/>
          <p:cNvCxnSpPr>
            <a:cxnSpLocks noChangeShapeType="1"/>
            <a:stCxn id="9" idx="4"/>
            <a:endCxn id="12" idx="1"/>
          </p:cNvCxnSpPr>
          <p:nvPr/>
        </p:nvCxnSpPr>
        <p:spPr bwMode="auto">
          <a:xfrm>
            <a:off x="1331913" y="3392488"/>
            <a:ext cx="230187" cy="3270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26" name="Прямая со стрелкой 20"/>
          <p:cNvCxnSpPr>
            <a:cxnSpLocks noChangeShapeType="1"/>
            <a:stCxn id="10" idx="5"/>
            <a:endCxn id="13" idx="1"/>
          </p:cNvCxnSpPr>
          <p:nvPr/>
        </p:nvCxnSpPr>
        <p:spPr bwMode="auto">
          <a:xfrm>
            <a:off x="2865438" y="3319463"/>
            <a:ext cx="317500" cy="2555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17427" name="TextBox 21"/>
          <p:cNvSpPr txBox="1">
            <a:spLocks noChangeArrowheads="1"/>
          </p:cNvSpPr>
          <p:nvPr/>
        </p:nvSpPr>
        <p:spPr bwMode="auto">
          <a:xfrm>
            <a:off x="1638300" y="1557338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10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28" name="TextBox 22"/>
          <p:cNvSpPr txBox="1">
            <a:spLocks noChangeArrowheads="1"/>
          </p:cNvSpPr>
          <p:nvPr/>
        </p:nvSpPr>
        <p:spPr bwMode="auto">
          <a:xfrm>
            <a:off x="1241425" y="2349500"/>
            <a:ext cx="504825" cy="30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5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29" name="TextBox 23"/>
          <p:cNvSpPr txBox="1">
            <a:spLocks noChangeArrowheads="1"/>
          </p:cNvSpPr>
          <p:nvPr/>
        </p:nvSpPr>
        <p:spPr bwMode="auto">
          <a:xfrm>
            <a:off x="2286000" y="2420938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3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30" name="TextBox 24"/>
          <p:cNvSpPr txBox="1">
            <a:spLocks noChangeArrowheads="1"/>
          </p:cNvSpPr>
          <p:nvPr/>
        </p:nvSpPr>
        <p:spPr bwMode="auto">
          <a:xfrm>
            <a:off x="665163" y="3284538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31" name="TextBox 25"/>
          <p:cNvSpPr txBox="1">
            <a:spLocks noChangeArrowheads="1"/>
          </p:cNvSpPr>
          <p:nvPr/>
        </p:nvSpPr>
        <p:spPr bwMode="auto">
          <a:xfrm>
            <a:off x="1422400" y="3176588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3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32" name="TextBox 26"/>
          <p:cNvSpPr txBox="1">
            <a:spLocks noChangeArrowheads="1"/>
          </p:cNvSpPr>
          <p:nvPr/>
        </p:nvSpPr>
        <p:spPr bwMode="auto">
          <a:xfrm>
            <a:off x="2825750" y="3068638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2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33" name="TextBox 27"/>
          <p:cNvSpPr txBox="1">
            <a:spLocks noChangeArrowheads="1"/>
          </p:cNvSpPr>
          <p:nvPr/>
        </p:nvSpPr>
        <p:spPr bwMode="auto">
          <a:xfrm>
            <a:off x="1062038" y="4005263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34" name="TextBox 28"/>
          <p:cNvSpPr txBox="1">
            <a:spLocks noChangeArrowheads="1"/>
          </p:cNvSpPr>
          <p:nvPr/>
        </p:nvSpPr>
        <p:spPr bwMode="auto">
          <a:xfrm>
            <a:off x="1781175" y="3968750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35" name="TextBox 29"/>
          <p:cNvSpPr txBox="1">
            <a:spLocks noChangeArrowheads="1"/>
          </p:cNvSpPr>
          <p:nvPr/>
        </p:nvSpPr>
        <p:spPr bwMode="auto">
          <a:xfrm>
            <a:off x="3402013" y="3860800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32" name="Содержимое 2"/>
          <p:cNvSpPr txBox="1">
            <a:spLocks/>
          </p:cNvSpPr>
          <p:nvPr/>
        </p:nvSpPr>
        <p:spPr bwMode="auto">
          <a:xfrm>
            <a:off x="3708400" y="765175"/>
            <a:ext cx="2195513" cy="295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1. </a:t>
            </a:r>
            <a:r>
              <a:rPr lang="en-US" sz="1200" kern="0" dirty="0" err="1">
                <a:solidFill>
                  <a:srgbClr val="002060"/>
                </a:solidFill>
                <a:latin typeface="+mn-lt"/>
                <a:cs typeface="+mn-cs"/>
              </a:rPr>
              <a:t>Balansed</a:t>
            </a: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(5)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    partition(5, 5) </a:t>
            </a:r>
            <a:endParaRPr lang="ru-RU" sz="1200" kern="0" dirty="0">
              <a:solidFill>
                <a:srgbClr val="002060"/>
              </a:solidFill>
              <a:latin typeface="+mn-lt"/>
              <a:cs typeface="+mn-cs"/>
            </a:endParaRPr>
          </a:p>
        </p:txBody>
      </p:sp>
      <p:sp>
        <p:nvSpPr>
          <p:cNvPr id="33" name="Овал 32"/>
          <p:cNvSpPr/>
          <p:nvPr/>
        </p:nvSpPr>
        <p:spPr bwMode="auto">
          <a:xfrm>
            <a:off x="5148263" y="3536950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Овал 33"/>
          <p:cNvSpPr/>
          <p:nvPr/>
        </p:nvSpPr>
        <p:spPr bwMode="auto">
          <a:xfrm>
            <a:off x="4716463" y="4400550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Овал 34"/>
          <p:cNvSpPr/>
          <p:nvPr/>
        </p:nvSpPr>
        <p:spPr bwMode="auto">
          <a:xfrm>
            <a:off x="5688013" y="4365625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Овал 35"/>
          <p:cNvSpPr/>
          <p:nvPr/>
        </p:nvSpPr>
        <p:spPr bwMode="auto">
          <a:xfrm>
            <a:off x="4176713" y="5229225"/>
            <a:ext cx="466725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Овал 36"/>
          <p:cNvSpPr/>
          <p:nvPr/>
        </p:nvSpPr>
        <p:spPr bwMode="auto">
          <a:xfrm>
            <a:off x="4895850" y="5192713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Овал 37"/>
          <p:cNvSpPr/>
          <p:nvPr/>
        </p:nvSpPr>
        <p:spPr bwMode="auto">
          <a:xfrm>
            <a:off x="6264275" y="5192713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Овал 38"/>
          <p:cNvSpPr/>
          <p:nvPr/>
        </p:nvSpPr>
        <p:spPr bwMode="auto">
          <a:xfrm>
            <a:off x="4572000" y="5984875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Овал 39"/>
          <p:cNvSpPr/>
          <p:nvPr/>
        </p:nvSpPr>
        <p:spPr bwMode="auto">
          <a:xfrm>
            <a:off x="5292725" y="5949950"/>
            <a:ext cx="466725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Овал 40"/>
          <p:cNvSpPr/>
          <p:nvPr/>
        </p:nvSpPr>
        <p:spPr bwMode="auto">
          <a:xfrm>
            <a:off x="6911975" y="5805488"/>
            <a:ext cx="468313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446" name="Прямая со стрелкой 41"/>
          <p:cNvCxnSpPr>
            <a:cxnSpLocks noChangeShapeType="1"/>
          </p:cNvCxnSpPr>
          <p:nvPr/>
        </p:nvCxnSpPr>
        <p:spPr bwMode="auto">
          <a:xfrm flipH="1">
            <a:off x="4967288" y="4041775"/>
            <a:ext cx="433387" cy="3587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47" name="Прямая со стрелкой 42"/>
          <p:cNvCxnSpPr>
            <a:cxnSpLocks noChangeShapeType="1"/>
            <a:stCxn id="33" idx="4"/>
            <a:endCxn id="35" idx="1"/>
          </p:cNvCxnSpPr>
          <p:nvPr/>
        </p:nvCxnSpPr>
        <p:spPr bwMode="auto">
          <a:xfrm>
            <a:off x="5381625" y="4041775"/>
            <a:ext cx="374650" cy="39687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48" name="Прямая со стрелкой 43"/>
          <p:cNvCxnSpPr>
            <a:cxnSpLocks noChangeShapeType="1"/>
            <a:stCxn id="34" idx="4"/>
            <a:endCxn id="36" idx="0"/>
          </p:cNvCxnSpPr>
          <p:nvPr/>
        </p:nvCxnSpPr>
        <p:spPr bwMode="auto">
          <a:xfrm flipH="1">
            <a:off x="4410075" y="4905375"/>
            <a:ext cx="539750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49" name="Прямая со стрелкой 44"/>
          <p:cNvCxnSpPr>
            <a:cxnSpLocks noChangeShapeType="1"/>
            <a:stCxn id="34" idx="4"/>
            <a:endCxn id="37" idx="0"/>
          </p:cNvCxnSpPr>
          <p:nvPr/>
        </p:nvCxnSpPr>
        <p:spPr bwMode="auto">
          <a:xfrm>
            <a:off x="4949825" y="4905375"/>
            <a:ext cx="180975" cy="2873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50" name="Прямая со стрелкой 45"/>
          <p:cNvCxnSpPr>
            <a:cxnSpLocks noChangeShapeType="1"/>
            <a:stCxn id="35" idx="4"/>
            <a:endCxn id="38" idx="0"/>
          </p:cNvCxnSpPr>
          <p:nvPr/>
        </p:nvCxnSpPr>
        <p:spPr bwMode="auto">
          <a:xfrm>
            <a:off x="5921375" y="4868863"/>
            <a:ext cx="576263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51" name="Прямая со стрелкой 46"/>
          <p:cNvCxnSpPr>
            <a:cxnSpLocks noChangeShapeType="1"/>
            <a:stCxn id="37" idx="4"/>
            <a:endCxn id="39" idx="0"/>
          </p:cNvCxnSpPr>
          <p:nvPr/>
        </p:nvCxnSpPr>
        <p:spPr bwMode="auto">
          <a:xfrm flipH="1">
            <a:off x="4805363" y="5697538"/>
            <a:ext cx="325437" cy="2873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52" name="Прямая со стрелкой 47"/>
          <p:cNvCxnSpPr>
            <a:cxnSpLocks noChangeShapeType="1"/>
            <a:stCxn id="37" idx="4"/>
            <a:endCxn id="40" idx="1"/>
          </p:cNvCxnSpPr>
          <p:nvPr/>
        </p:nvCxnSpPr>
        <p:spPr bwMode="auto">
          <a:xfrm>
            <a:off x="5130800" y="5697538"/>
            <a:ext cx="230188" cy="3254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7453" name="Прямая со стрелкой 48"/>
          <p:cNvCxnSpPr>
            <a:cxnSpLocks noChangeShapeType="1"/>
            <a:stCxn id="38" idx="5"/>
            <a:endCxn id="41" idx="1"/>
          </p:cNvCxnSpPr>
          <p:nvPr/>
        </p:nvCxnSpPr>
        <p:spPr bwMode="auto">
          <a:xfrm>
            <a:off x="6664325" y="5622925"/>
            <a:ext cx="315913" cy="2555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17454" name="TextBox 49"/>
          <p:cNvSpPr txBox="1">
            <a:spLocks noChangeArrowheads="1"/>
          </p:cNvSpPr>
          <p:nvPr/>
        </p:nvSpPr>
        <p:spPr bwMode="auto">
          <a:xfrm>
            <a:off x="5435600" y="3860800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10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55" name="TextBox 50"/>
          <p:cNvSpPr txBox="1">
            <a:spLocks noChangeArrowheads="1"/>
          </p:cNvSpPr>
          <p:nvPr/>
        </p:nvSpPr>
        <p:spPr bwMode="auto">
          <a:xfrm>
            <a:off x="5040313" y="4652963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5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56" name="TextBox 51"/>
          <p:cNvSpPr txBox="1">
            <a:spLocks noChangeArrowheads="1"/>
          </p:cNvSpPr>
          <p:nvPr/>
        </p:nvSpPr>
        <p:spPr bwMode="auto">
          <a:xfrm>
            <a:off x="6084888" y="4724400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3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57" name="TextBox 52"/>
          <p:cNvSpPr txBox="1">
            <a:spLocks noChangeArrowheads="1"/>
          </p:cNvSpPr>
          <p:nvPr/>
        </p:nvSpPr>
        <p:spPr bwMode="auto">
          <a:xfrm>
            <a:off x="4464050" y="5589588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58" name="TextBox 53"/>
          <p:cNvSpPr txBox="1">
            <a:spLocks noChangeArrowheads="1"/>
          </p:cNvSpPr>
          <p:nvPr/>
        </p:nvSpPr>
        <p:spPr bwMode="auto">
          <a:xfrm>
            <a:off x="5219700" y="5481638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3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59" name="TextBox 54"/>
          <p:cNvSpPr txBox="1">
            <a:spLocks noChangeArrowheads="1"/>
          </p:cNvSpPr>
          <p:nvPr/>
        </p:nvSpPr>
        <p:spPr bwMode="auto">
          <a:xfrm>
            <a:off x="6624638" y="5373688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2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60" name="TextBox 55"/>
          <p:cNvSpPr txBox="1">
            <a:spLocks noChangeArrowheads="1"/>
          </p:cNvSpPr>
          <p:nvPr/>
        </p:nvSpPr>
        <p:spPr bwMode="auto">
          <a:xfrm>
            <a:off x="4859338" y="6308725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61" name="TextBox 56"/>
          <p:cNvSpPr txBox="1">
            <a:spLocks noChangeArrowheads="1"/>
          </p:cNvSpPr>
          <p:nvPr/>
        </p:nvSpPr>
        <p:spPr bwMode="auto">
          <a:xfrm>
            <a:off x="5580063" y="6273800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62" name="TextBox 57"/>
          <p:cNvSpPr txBox="1">
            <a:spLocks noChangeArrowheads="1"/>
          </p:cNvSpPr>
          <p:nvPr/>
        </p:nvSpPr>
        <p:spPr bwMode="auto">
          <a:xfrm>
            <a:off x="7200900" y="6165850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7463" name="TextBox 58"/>
          <p:cNvSpPr txBox="1">
            <a:spLocks noChangeArrowheads="1"/>
          </p:cNvSpPr>
          <p:nvPr/>
        </p:nvSpPr>
        <p:spPr bwMode="auto">
          <a:xfrm>
            <a:off x="4103688" y="3500438"/>
            <a:ext cx="7556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solidFill>
                  <a:srgbClr val="002060"/>
                </a:solidFill>
              </a:rPr>
              <a:t>1.</a:t>
            </a:r>
            <a:endParaRPr lang="ru-RU" sz="2000">
              <a:solidFill>
                <a:srgbClr val="002060"/>
              </a:solidFill>
            </a:endParaRPr>
          </a:p>
        </p:txBody>
      </p:sp>
      <p:sp>
        <p:nvSpPr>
          <p:cNvPr id="61" name="Содержимое 2"/>
          <p:cNvSpPr txBox="1">
            <a:spLocks/>
          </p:cNvSpPr>
          <p:nvPr/>
        </p:nvSpPr>
        <p:spPr bwMode="auto">
          <a:xfrm>
            <a:off x="5903913" y="800100"/>
            <a:ext cx="3060700" cy="2952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chemeClr val="bg2"/>
                </a:solidFill>
                <a:latin typeface="+mn-lt"/>
                <a:cs typeface="+mn-cs"/>
              </a:rPr>
              <a:t>partition(Node **R, </a:t>
            </a:r>
            <a:r>
              <a:rPr lang="en-US" sz="1200" kern="0" dirty="0" err="1">
                <a:solidFill>
                  <a:schemeClr val="bg2"/>
                </a:solidFill>
              </a:rPr>
              <a:t>int</a:t>
            </a:r>
            <a:r>
              <a:rPr lang="en-US" sz="1200" kern="0" dirty="0">
                <a:solidFill>
                  <a:schemeClr val="bg2"/>
                </a:solidFill>
              </a:rPr>
              <a:t> k</a:t>
            </a:r>
            <a:r>
              <a:rPr lang="ru-RU" sz="1200" kern="0" dirty="0">
                <a:solidFill>
                  <a:schemeClr val="bg2"/>
                </a:solidFill>
              </a:rPr>
              <a:t> </a:t>
            </a:r>
            <a:r>
              <a:rPr lang="en-US" sz="1200" kern="0" dirty="0">
                <a:solidFill>
                  <a:schemeClr val="bg2"/>
                </a:solidFill>
                <a:latin typeface="+mn-lt"/>
                <a:cs typeface="+mn-cs"/>
              </a:rPr>
              <a:t>) </a:t>
            </a:r>
            <a:endParaRPr lang="ru-RU" sz="1200" kern="0" dirty="0">
              <a:solidFill>
                <a:schemeClr val="bg2"/>
              </a:solidFill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1200" b="0" kern="0" dirty="0">
                <a:solidFill>
                  <a:schemeClr val="bg2"/>
                </a:solidFill>
                <a:latin typeface="+mn-lt"/>
                <a:cs typeface="+mn-cs"/>
              </a:rPr>
              <a:t>Если</a:t>
            </a: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 *R == 0 return NULL;</a:t>
            </a:r>
            <a:endParaRPr lang="ru-RU" sz="1200" b="0" kern="0" dirty="0">
              <a:solidFill>
                <a:schemeClr val="bg2"/>
              </a:solidFill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T = (*R</a:t>
            </a:r>
            <a:r>
              <a:rPr lang="ru-RU" sz="1200" b="0" kern="0" dirty="0">
                <a:solidFill>
                  <a:schemeClr val="bg2"/>
                </a:solidFill>
                <a:latin typeface="+mn-lt"/>
                <a:cs typeface="+mn-cs"/>
                <a:sym typeface="Wingdings"/>
              </a:rPr>
              <a:t></a:t>
            </a: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left == 0) ? 0: *R</a:t>
            </a:r>
            <a:r>
              <a:rPr lang="ru-RU" sz="1200" b="0" kern="0" dirty="0">
                <a:solidFill>
                  <a:schemeClr val="bg2"/>
                </a:solidFill>
                <a:latin typeface="+mn-lt"/>
                <a:cs typeface="+mn-cs"/>
                <a:sym typeface="Wingdings"/>
              </a:rPr>
              <a:t></a:t>
            </a: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left</a:t>
            </a:r>
            <a:r>
              <a:rPr lang="ru-RU" sz="1200" b="0" kern="0" dirty="0">
                <a:solidFill>
                  <a:schemeClr val="bg2"/>
                </a:solidFill>
                <a:latin typeface="+mn-lt"/>
                <a:cs typeface="+mn-cs"/>
                <a:sym typeface="Wingdings"/>
              </a:rPr>
              <a:t></a:t>
            </a: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N;</a:t>
            </a:r>
            <a:endParaRPr lang="ru-RU" sz="1200" b="0" kern="0" dirty="0">
              <a:solidFill>
                <a:schemeClr val="bg2"/>
              </a:solidFill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1200" b="0" kern="0" dirty="0">
                <a:solidFill>
                  <a:schemeClr val="bg2"/>
                </a:solidFill>
                <a:latin typeface="+mn-lt"/>
                <a:cs typeface="+mn-cs"/>
              </a:rPr>
              <a:t>Если</a:t>
            </a: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 T&gt;k </a:t>
            </a:r>
            <a:r>
              <a:rPr lang="en-US" sz="1200" kern="0" dirty="0">
                <a:solidFill>
                  <a:schemeClr val="bg2"/>
                </a:solidFill>
                <a:latin typeface="+mn-lt"/>
                <a:cs typeface="+mn-cs"/>
              </a:rPr>
              <a:t>partition (*R</a:t>
            </a:r>
            <a:r>
              <a:rPr lang="ru-RU" sz="1200" kern="0" dirty="0">
                <a:solidFill>
                  <a:schemeClr val="bg2"/>
                </a:solidFill>
                <a:latin typeface="+mn-lt"/>
                <a:cs typeface="+mn-cs"/>
                <a:sym typeface="Wingdings"/>
              </a:rPr>
              <a:t></a:t>
            </a:r>
            <a:r>
              <a:rPr lang="en-US" sz="1200" kern="0" dirty="0" err="1">
                <a:solidFill>
                  <a:schemeClr val="bg2"/>
                </a:solidFill>
                <a:latin typeface="+mn-lt"/>
                <a:cs typeface="+mn-cs"/>
              </a:rPr>
              <a:t>left,k</a:t>
            </a:r>
            <a:r>
              <a:rPr lang="en-US" sz="1200" kern="0" dirty="0">
                <a:solidFill>
                  <a:schemeClr val="bg2"/>
                </a:solidFill>
                <a:latin typeface="+mn-lt"/>
                <a:cs typeface="+mn-cs"/>
              </a:rPr>
              <a:t>)</a:t>
            </a: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;                  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                              </a:t>
            </a:r>
            <a:r>
              <a:rPr lang="en-US" sz="1200" b="0" kern="0" dirty="0" err="1">
                <a:solidFill>
                  <a:schemeClr val="bg2"/>
                </a:solidFill>
                <a:latin typeface="+mn-lt"/>
                <a:cs typeface="+mn-cs"/>
              </a:rPr>
              <a:t>rotate_r</a:t>
            </a: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(R);</a:t>
            </a:r>
            <a:endParaRPr lang="ru-RU" sz="1200" b="0" kern="0" dirty="0">
              <a:solidFill>
                <a:schemeClr val="bg2"/>
              </a:solidFill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1200" b="0" kern="0" dirty="0">
                <a:solidFill>
                  <a:schemeClr val="bg2"/>
                </a:solidFill>
                <a:latin typeface="+mn-lt"/>
                <a:cs typeface="+mn-cs"/>
              </a:rPr>
              <a:t>Если</a:t>
            </a: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 T&lt;k </a:t>
            </a:r>
            <a:r>
              <a:rPr lang="en-US" sz="1200" kern="0" dirty="0">
                <a:solidFill>
                  <a:schemeClr val="bg2"/>
                </a:solidFill>
                <a:latin typeface="+mn-lt"/>
                <a:cs typeface="+mn-cs"/>
              </a:rPr>
              <a:t>partition (*R</a:t>
            </a:r>
            <a:r>
              <a:rPr lang="ru-RU" sz="1200" kern="0" dirty="0">
                <a:solidFill>
                  <a:schemeClr val="bg2"/>
                </a:solidFill>
                <a:latin typeface="+mn-lt"/>
                <a:cs typeface="+mn-cs"/>
                <a:sym typeface="Wingdings"/>
              </a:rPr>
              <a:t></a:t>
            </a:r>
            <a:r>
              <a:rPr lang="en-US" sz="1200" kern="0" dirty="0">
                <a:solidFill>
                  <a:schemeClr val="bg2"/>
                </a:solidFill>
                <a:latin typeface="+mn-lt"/>
                <a:cs typeface="+mn-cs"/>
              </a:rPr>
              <a:t>right, </a:t>
            </a:r>
            <a:r>
              <a:rPr lang="en-US" sz="1200" kern="0" dirty="0">
                <a:solidFill>
                  <a:schemeClr val="bg2"/>
                </a:solidFill>
              </a:rPr>
              <a:t>k-T-1</a:t>
            </a:r>
            <a:r>
              <a:rPr lang="en-US" sz="1200" kern="0" dirty="0">
                <a:solidFill>
                  <a:schemeClr val="bg2"/>
                </a:solidFill>
                <a:latin typeface="+mn-lt"/>
                <a:cs typeface="+mn-cs"/>
              </a:rPr>
              <a:t>)</a:t>
            </a: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;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                              </a:t>
            </a:r>
            <a:r>
              <a:rPr lang="en-US" sz="1200" b="0" kern="0" dirty="0" err="1">
                <a:solidFill>
                  <a:schemeClr val="bg2"/>
                </a:solidFill>
                <a:latin typeface="+mn-lt"/>
                <a:cs typeface="+mn-cs"/>
              </a:rPr>
              <a:t>rotate_l</a:t>
            </a:r>
            <a:r>
              <a:rPr lang="en-US" sz="1200" b="0" kern="0" dirty="0">
                <a:solidFill>
                  <a:schemeClr val="bg2"/>
                </a:solidFill>
                <a:latin typeface="+mn-lt"/>
                <a:cs typeface="+mn-cs"/>
              </a:rPr>
              <a:t>(R);</a:t>
            </a:r>
            <a:endParaRPr lang="ru-RU" sz="1200" b="0" kern="0" dirty="0">
              <a:solidFill>
                <a:schemeClr val="bg2"/>
              </a:solidFill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1200" b="0" kern="0" dirty="0">
                <a:solidFill>
                  <a:schemeClr val="bg2"/>
                </a:solidFill>
                <a:latin typeface="+mn-lt"/>
                <a:cs typeface="+mn-cs"/>
              </a:rPr>
              <a:t>конец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Balansed</a:t>
            </a:r>
            <a:r>
              <a:rPr lang="en-US" sz="12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(Node </a:t>
            </a:r>
            <a:r>
              <a:rPr lang="ru-RU" sz="12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*</a:t>
            </a:r>
            <a:r>
              <a:rPr lang="en-US" sz="12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*h)</a:t>
            </a:r>
            <a:r>
              <a:rPr lang="en-US" sz="1200" b="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 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ru-RU" sz="1200" b="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Если </a:t>
            </a:r>
            <a:r>
              <a:rPr lang="en-US" sz="1200" b="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 </a:t>
            </a:r>
            <a:r>
              <a:rPr lang="ru-RU" sz="1200" b="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*</a:t>
            </a:r>
            <a:r>
              <a:rPr lang="en-US" sz="1200" b="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h==NULL </a:t>
            </a:r>
            <a:r>
              <a:rPr lang="ru-RU" sz="1200" b="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или *</a:t>
            </a:r>
            <a:r>
              <a:rPr lang="en-US" sz="1200" b="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h</a:t>
            </a:r>
            <a:r>
              <a:rPr lang="ru-RU" sz="1200" b="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 -</a:t>
            </a:r>
            <a:r>
              <a:rPr lang="en-US" sz="1200" b="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&gt;N==1 return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partition(*h, </a:t>
            </a:r>
            <a:r>
              <a:rPr lang="en-US" sz="12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*h-&gt;N/2</a:t>
            </a:r>
            <a:r>
              <a:rPr lang="en-US" sz="12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Balansed</a:t>
            </a:r>
            <a:r>
              <a:rPr lang="en-US" sz="12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(h-&gt;left)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Balansed</a:t>
            </a:r>
            <a:r>
              <a:rPr lang="en-US" sz="12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(h-&gt;</a:t>
            </a:r>
            <a:r>
              <a:rPr lang="en-US" sz="1200" kern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rigth</a:t>
            </a:r>
            <a:r>
              <a:rPr lang="en-US" sz="12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)</a:t>
            </a:r>
            <a:endParaRPr lang="ru-RU" sz="1200" kern="0" dirty="0">
              <a:solidFill>
                <a:srgbClr val="002060"/>
              </a:solidFill>
              <a:latin typeface="+mn-lt"/>
              <a:cs typeface="+mn-cs"/>
            </a:endParaRPr>
          </a:p>
        </p:txBody>
      </p:sp>
      <p:sp>
        <p:nvSpPr>
          <p:cNvPr id="58" name="Номер слайда 5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 bwMode="auto">
          <a:xfrm>
            <a:off x="1223963" y="1449388"/>
            <a:ext cx="468312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Овал 4"/>
          <p:cNvSpPr/>
          <p:nvPr/>
        </p:nvSpPr>
        <p:spPr bwMode="auto">
          <a:xfrm>
            <a:off x="792163" y="2312988"/>
            <a:ext cx="466725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Овал 5"/>
          <p:cNvSpPr/>
          <p:nvPr/>
        </p:nvSpPr>
        <p:spPr bwMode="auto">
          <a:xfrm>
            <a:off x="1763713" y="2276475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Овал 6"/>
          <p:cNvSpPr/>
          <p:nvPr/>
        </p:nvSpPr>
        <p:spPr bwMode="auto">
          <a:xfrm>
            <a:off x="250825" y="3141663"/>
            <a:ext cx="468313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Овал 7"/>
          <p:cNvSpPr/>
          <p:nvPr/>
        </p:nvSpPr>
        <p:spPr bwMode="auto">
          <a:xfrm>
            <a:off x="971550" y="3105150"/>
            <a:ext cx="468313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Овал 8"/>
          <p:cNvSpPr/>
          <p:nvPr/>
        </p:nvSpPr>
        <p:spPr bwMode="auto">
          <a:xfrm>
            <a:off x="2339975" y="3105150"/>
            <a:ext cx="468313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Овал 9"/>
          <p:cNvSpPr/>
          <p:nvPr/>
        </p:nvSpPr>
        <p:spPr bwMode="auto">
          <a:xfrm>
            <a:off x="647700" y="3897313"/>
            <a:ext cx="468313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1368425" y="3860800"/>
            <a:ext cx="466725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Овал 11"/>
          <p:cNvSpPr/>
          <p:nvPr/>
        </p:nvSpPr>
        <p:spPr bwMode="auto">
          <a:xfrm>
            <a:off x="2987675" y="3716338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442" name="Прямая со стрелкой 12"/>
          <p:cNvCxnSpPr>
            <a:cxnSpLocks noChangeShapeType="1"/>
          </p:cNvCxnSpPr>
          <p:nvPr/>
        </p:nvCxnSpPr>
        <p:spPr bwMode="auto">
          <a:xfrm flipH="1">
            <a:off x="1042988" y="1952625"/>
            <a:ext cx="433387" cy="3603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443" name="Прямая со стрелкой 13"/>
          <p:cNvCxnSpPr>
            <a:cxnSpLocks noChangeShapeType="1"/>
            <a:stCxn id="4" idx="4"/>
            <a:endCxn id="6" idx="1"/>
          </p:cNvCxnSpPr>
          <p:nvPr/>
        </p:nvCxnSpPr>
        <p:spPr bwMode="auto">
          <a:xfrm>
            <a:off x="1457325" y="1952625"/>
            <a:ext cx="374650" cy="3984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444" name="Прямая со стрелкой 14"/>
          <p:cNvCxnSpPr>
            <a:cxnSpLocks noChangeShapeType="1"/>
            <a:stCxn id="5" idx="4"/>
            <a:endCxn id="7" idx="0"/>
          </p:cNvCxnSpPr>
          <p:nvPr/>
        </p:nvCxnSpPr>
        <p:spPr bwMode="auto">
          <a:xfrm flipH="1">
            <a:off x="485775" y="2816225"/>
            <a:ext cx="539750" cy="3254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445" name="Прямая со стрелкой 15"/>
          <p:cNvCxnSpPr>
            <a:cxnSpLocks noChangeShapeType="1"/>
            <a:stCxn id="5" idx="4"/>
            <a:endCxn id="8" idx="0"/>
          </p:cNvCxnSpPr>
          <p:nvPr/>
        </p:nvCxnSpPr>
        <p:spPr bwMode="auto">
          <a:xfrm>
            <a:off x="1025525" y="2816225"/>
            <a:ext cx="179388" cy="2889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446" name="Прямая со стрелкой 16"/>
          <p:cNvCxnSpPr>
            <a:cxnSpLocks noChangeShapeType="1"/>
            <a:stCxn id="6" idx="4"/>
            <a:endCxn id="9" idx="0"/>
          </p:cNvCxnSpPr>
          <p:nvPr/>
        </p:nvCxnSpPr>
        <p:spPr bwMode="auto">
          <a:xfrm>
            <a:off x="1997075" y="2781300"/>
            <a:ext cx="576263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447" name="Прямая со стрелкой 17"/>
          <p:cNvCxnSpPr>
            <a:cxnSpLocks noChangeShapeType="1"/>
            <a:stCxn id="8" idx="4"/>
            <a:endCxn id="10" idx="0"/>
          </p:cNvCxnSpPr>
          <p:nvPr/>
        </p:nvCxnSpPr>
        <p:spPr bwMode="auto">
          <a:xfrm flipH="1">
            <a:off x="881063" y="3608388"/>
            <a:ext cx="323850" cy="2889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448" name="Прямая со стрелкой 18"/>
          <p:cNvCxnSpPr>
            <a:cxnSpLocks noChangeShapeType="1"/>
            <a:stCxn id="8" idx="4"/>
            <a:endCxn id="11" idx="1"/>
          </p:cNvCxnSpPr>
          <p:nvPr/>
        </p:nvCxnSpPr>
        <p:spPr bwMode="auto">
          <a:xfrm>
            <a:off x="1204913" y="3608388"/>
            <a:ext cx="231775" cy="3270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8449" name="Прямая со стрелкой 19"/>
          <p:cNvCxnSpPr>
            <a:cxnSpLocks noChangeShapeType="1"/>
            <a:stCxn id="9" idx="5"/>
            <a:endCxn id="12" idx="1"/>
          </p:cNvCxnSpPr>
          <p:nvPr/>
        </p:nvCxnSpPr>
        <p:spPr bwMode="auto">
          <a:xfrm>
            <a:off x="2740025" y="3535363"/>
            <a:ext cx="315913" cy="2555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18450" name="TextBox 20"/>
          <p:cNvSpPr txBox="1">
            <a:spLocks noChangeArrowheads="1"/>
          </p:cNvSpPr>
          <p:nvPr/>
        </p:nvSpPr>
        <p:spPr bwMode="auto">
          <a:xfrm>
            <a:off x="1511300" y="1773238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10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8451" name="TextBox 21"/>
          <p:cNvSpPr txBox="1">
            <a:spLocks noChangeArrowheads="1"/>
          </p:cNvSpPr>
          <p:nvPr/>
        </p:nvSpPr>
        <p:spPr bwMode="auto">
          <a:xfrm>
            <a:off x="1116013" y="2565400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5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8452" name="TextBox 22"/>
          <p:cNvSpPr txBox="1">
            <a:spLocks noChangeArrowheads="1"/>
          </p:cNvSpPr>
          <p:nvPr/>
        </p:nvSpPr>
        <p:spPr bwMode="auto">
          <a:xfrm>
            <a:off x="2159000" y="2636838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3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8453" name="TextBox 23"/>
          <p:cNvSpPr txBox="1">
            <a:spLocks noChangeArrowheads="1"/>
          </p:cNvSpPr>
          <p:nvPr/>
        </p:nvSpPr>
        <p:spPr bwMode="auto">
          <a:xfrm>
            <a:off x="539750" y="3500438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8454" name="TextBox 24"/>
          <p:cNvSpPr txBox="1">
            <a:spLocks noChangeArrowheads="1"/>
          </p:cNvSpPr>
          <p:nvPr/>
        </p:nvSpPr>
        <p:spPr bwMode="auto">
          <a:xfrm>
            <a:off x="1295400" y="3392488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3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8455" name="TextBox 25"/>
          <p:cNvSpPr txBox="1">
            <a:spLocks noChangeArrowheads="1"/>
          </p:cNvSpPr>
          <p:nvPr/>
        </p:nvSpPr>
        <p:spPr bwMode="auto">
          <a:xfrm>
            <a:off x="2700338" y="3284538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2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8456" name="TextBox 26"/>
          <p:cNvSpPr txBox="1">
            <a:spLocks noChangeArrowheads="1"/>
          </p:cNvSpPr>
          <p:nvPr/>
        </p:nvSpPr>
        <p:spPr bwMode="auto">
          <a:xfrm>
            <a:off x="935038" y="4221163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8457" name="TextBox 27"/>
          <p:cNvSpPr txBox="1">
            <a:spLocks noChangeArrowheads="1"/>
          </p:cNvSpPr>
          <p:nvPr/>
        </p:nvSpPr>
        <p:spPr bwMode="auto">
          <a:xfrm>
            <a:off x="1655763" y="4184650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8458" name="TextBox 28"/>
          <p:cNvSpPr txBox="1">
            <a:spLocks noChangeArrowheads="1"/>
          </p:cNvSpPr>
          <p:nvPr/>
        </p:nvSpPr>
        <p:spPr bwMode="auto">
          <a:xfrm>
            <a:off x="3276600" y="4076700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8459" name="TextBox 29"/>
          <p:cNvSpPr txBox="1">
            <a:spLocks noChangeArrowheads="1"/>
          </p:cNvSpPr>
          <p:nvPr/>
        </p:nvSpPr>
        <p:spPr bwMode="auto">
          <a:xfrm>
            <a:off x="179388" y="1412875"/>
            <a:ext cx="7556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solidFill>
                  <a:srgbClr val="002060"/>
                </a:solidFill>
              </a:rPr>
              <a:t>1.</a:t>
            </a:r>
            <a:endParaRPr lang="ru-RU" sz="2000">
              <a:solidFill>
                <a:srgbClr val="002060"/>
              </a:solidFill>
            </a:endParaRPr>
          </a:p>
        </p:txBody>
      </p:sp>
      <p:sp>
        <p:nvSpPr>
          <p:cNvPr id="31" name="Заголовок 3"/>
          <p:cNvSpPr>
            <a:spLocks noGrp="1"/>
          </p:cNvSpPr>
          <p:nvPr>
            <p:ph type="title"/>
          </p:nvPr>
        </p:nvSpPr>
        <p:spPr>
          <a:xfrm>
            <a:off x="468313" y="0"/>
            <a:ext cx="8424862" cy="1233488"/>
          </a:xfrm>
        </p:spPr>
        <p:txBody>
          <a:bodyPr/>
          <a:lstStyle/>
          <a:p>
            <a:pPr algn="l">
              <a:defRPr/>
            </a:pPr>
            <a:r>
              <a:rPr lang="ru-RU" sz="3600" b="1" dirty="0">
                <a:solidFill>
                  <a:schemeClr val="bg2"/>
                </a:solidFill>
              </a:rPr>
              <a:t>Операция балансировки BST – дерева</a:t>
            </a:r>
            <a:endParaRPr lang="ru-RU" sz="3600" dirty="0"/>
          </a:p>
        </p:txBody>
      </p:sp>
      <p:sp>
        <p:nvSpPr>
          <p:cNvPr id="32" name="Содержимое 2"/>
          <p:cNvSpPr txBox="1">
            <a:spLocks/>
          </p:cNvSpPr>
          <p:nvPr/>
        </p:nvSpPr>
        <p:spPr bwMode="auto">
          <a:xfrm>
            <a:off x="3527425" y="765175"/>
            <a:ext cx="2376488" cy="295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1. </a:t>
            </a:r>
            <a:r>
              <a:rPr lang="en-US" sz="1200" kern="0" dirty="0" err="1">
                <a:solidFill>
                  <a:srgbClr val="002060"/>
                </a:solidFill>
                <a:latin typeface="+mn-lt"/>
                <a:cs typeface="+mn-cs"/>
              </a:rPr>
              <a:t>Balansed</a:t>
            </a: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(5)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    partition(5, 5)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2. </a:t>
            </a:r>
            <a:r>
              <a:rPr lang="en-US" sz="1200" kern="0" dirty="0" err="1">
                <a:solidFill>
                  <a:srgbClr val="002060"/>
                </a:solidFill>
                <a:latin typeface="+mn-lt"/>
                <a:cs typeface="+mn-cs"/>
              </a:rPr>
              <a:t>Balansed</a:t>
            </a: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(2)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    partition(2, 2)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        partition (4,0)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             </a:t>
            </a:r>
            <a:r>
              <a:rPr lang="en-US" sz="1200" kern="0" dirty="0">
                <a:solidFill>
                  <a:srgbClr val="002060"/>
                </a:solidFill>
              </a:rPr>
              <a:t>partition (3,0)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defRPr/>
            </a:pPr>
            <a:r>
              <a:rPr lang="en-US" sz="1200" kern="0" dirty="0">
                <a:solidFill>
                  <a:srgbClr val="002060"/>
                </a:solidFill>
              </a:rPr>
              <a:t>                partition(NULL,0)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defRPr/>
            </a:pPr>
            <a:r>
              <a:rPr lang="en-US" sz="1200" dirty="0">
                <a:solidFill>
                  <a:srgbClr val="FF0000"/>
                </a:solidFill>
              </a:rPr>
              <a:t>             </a:t>
            </a:r>
            <a:r>
              <a:rPr lang="en-US" sz="1200" dirty="0" err="1">
                <a:solidFill>
                  <a:srgbClr val="FF0000"/>
                </a:solidFill>
              </a:rPr>
              <a:t>rotate_R</a:t>
            </a:r>
            <a:r>
              <a:rPr lang="en-US" sz="1200" dirty="0">
                <a:solidFill>
                  <a:srgbClr val="FF0000"/>
                </a:solidFill>
              </a:rPr>
              <a:t>(4);</a:t>
            </a:r>
            <a:endParaRPr lang="en-US" sz="12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        </a:t>
            </a:r>
            <a:r>
              <a:rPr lang="en-US" sz="1200" dirty="0" err="1">
                <a:solidFill>
                  <a:srgbClr val="FF0000"/>
                </a:solidFill>
              </a:rPr>
              <a:t>rotate_l</a:t>
            </a:r>
            <a:r>
              <a:rPr lang="en-US" sz="1200" dirty="0">
                <a:solidFill>
                  <a:srgbClr val="FF0000"/>
                </a:solidFill>
              </a:rPr>
              <a:t>(2);</a:t>
            </a:r>
            <a:endParaRPr lang="en-US" sz="1200" kern="0" dirty="0">
              <a:solidFill>
                <a:srgbClr val="FF0000"/>
              </a:solidFill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	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defRPr/>
            </a:pPr>
            <a:r>
              <a:rPr lang="en-US" sz="1200" kern="0" dirty="0">
                <a:solidFill>
                  <a:srgbClr val="002060"/>
                </a:solidFill>
              </a:rPr>
              <a:t>           </a:t>
            </a:r>
            <a:endParaRPr lang="en-US" sz="12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 </a:t>
            </a:r>
            <a:endParaRPr lang="ru-RU" sz="1200" kern="0" dirty="0">
              <a:solidFill>
                <a:srgbClr val="002060"/>
              </a:solidFill>
              <a:latin typeface="+mn-lt"/>
              <a:cs typeface="+mn-cs"/>
            </a:endParaRPr>
          </a:p>
        </p:txBody>
      </p:sp>
      <p:sp>
        <p:nvSpPr>
          <p:cNvPr id="33" name="Содержимое 2"/>
          <p:cNvSpPr>
            <a:spLocks noGrp="1"/>
          </p:cNvSpPr>
          <p:nvPr>
            <p:ph idx="1"/>
          </p:nvPr>
        </p:nvSpPr>
        <p:spPr>
          <a:xfrm>
            <a:off x="6083300" y="765175"/>
            <a:ext cx="3060700" cy="2951163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sz="1200" b="1" dirty="0">
                <a:solidFill>
                  <a:schemeClr val="bg2"/>
                </a:solidFill>
                <a:effectLst/>
              </a:rPr>
              <a:t>partition(</a:t>
            </a:r>
            <a:r>
              <a:rPr lang="en-US" sz="1200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 k</a:t>
            </a:r>
            <a:r>
              <a:rPr lang="ru-RU" sz="12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,</a:t>
            </a:r>
            <a:r>
              <a:rPr lang="ru-RU" sz="12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Node **R) </a:t>
            </a:r>
            <a:endParaRPr lang="ru-RU" sz="1200" b="1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2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200" dirty="0">
                <a:solidFill>
                  <a:schemeClr val="bg2"/>
                </a:solidFill>
                <a:effectLst/>
              </a:rPr>
              <a:t> *R == 0 return NULL;</a:t>
            </a:r>
            <a:endParaRPr lang="ru-RU" sz="12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200" dirty="0">
                <a:solidFill>
                  <a:schemeClr val="bg2"/>
                </a:solidFill>
                <a:effectLst/>
              </a:rPr>
              <a:t>T = (*R</a:t>
            </a:r>
            <a:r>
              <a:rPr lang="ru-RU" sz="12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200" dirty="0">
                <a:solidFill>
                  <a:schemeClr val="bg2"/>
                </a:solidFill>
                <a:effectLst/>
              </a:rPr>
              <a:t>left == 0) ? 0: *R</a:t>
            </a:r>
            <a:r>
              <a:rPr lang="ru-RU" sz="12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200" dirty="0">
                <a:solidFill>
                  <a:schemeClr val="bg2"/>
                </a:solidFill>
                <a:effectLst/>
              </a:rPr>
              <a:t>left</a:t>
            </a:r>
            <a:r>
              <a:rPr lang="ru-RU" sz="12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200" dirty="0">
                <a:solidFill>
                  <a:schemeClr val="bg2"/>
                </a:solidFill>
                <a:effectLst/>
              </a:rPr>
              <a:t>N;</a:t>
            </a:r>
            <a:endParaRPr lang="ru-RU" sz="12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2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200" dirty="0">
                <a:solidFill>
                  <a:schemeClr val="bg2"/>
                </a:solidFill>
                <a:effectLst/>
              </a:rPr>
              <a:t> T&gt;k 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partition (k,*R</a:t>
            </a:r>
            <a:r>
              <a:rPr lang="ru-RU" sz="12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left)</a:t>
            </a:r>
            <a:r>
              <a:rPr lang="en-US" sz="1200" dirty="0">
                <a:solidFill>
                  <a:schemeClr val="bg2"/>
                </a:solidFill>
                <a:effectLst/>
              </a:rPr>
              <a:t>;              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200" dirty="0" err="1">
                <a:solidFill>
                  <a:schemeClr val="bg2"/>
                </a:solidFill>
                <a:effectLst/>
              </a:rPr>
              <a:t>rotate_r</a:t>
            </a:r>
            <a:r>
              <a:rPr lang="en-US" sz="1200" dirty="0">
                <a:solidFill>
                  <a:schemeClr val="bg2"/>
                </a:solidFill>
                <a:effectLst/>
              </a:rPr>
              <a:t>(R);</a:t>
            </a:r>
            <a:endParaRPr lang="ru-RU" sz="12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2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200" dirty="0">
                <a:solidFill>
                  <a:schemeClr val="bg2"/>
                </a:solidFill>
                <a:effectLst/>
              </a:rPr>
              <a:t> T&lt;k 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partition (k-T-1,*R</a:t>
            </a:r>
            <a:r>
              <a:rPr lang="ru-RU" sz="12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200" b="1" dirty="0" err="1">
                <a:solidFill>
                  <a:schemeClr val="bg2"/>
                </a:solidFill>
                <a:effectLst/>
              </a:rPr>
              <a:t>rigth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)</a:t>
            </a:r>
            <a:r>
              <a:rPr lang="en-US" sz="1200" dirty="0">
                <a:solidFill>
                  <a:schemeClr val="bg2"/>
                </a:solidFill>
                <a:effectLst/>
              </a:rPr>
              <a:t>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200" dirty="0" err="1">
                <a:solidFill>
                  <a:schemeClr val="bg2"/>
                </a:solidFill>
                <a:effectLst/>
              </a:rPr>
              <a:t>rotate_l</a:t>
            </a:r>
            <a:r>
              <a:rPr lang="en-US" sz="1200" dirty="0">
                <a:solidFill>
                  <a:schemeClr val="bg2"/>
                </a:solidFill>
                <a:effectLst/>
              </a:rPr>
              <a:t>(R);</a:t>
            </a:r>
            <a:endParaRPr lang="ru-RU" sz="12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200" dirty="0">
                <a:solidFill>
                  <a:schemeClr val="bg2"/>
                </a:solidFill>
                <a:effectLst/>
              </a:rPr>
              <a:t>конец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b="1" dirty="0" err="1">
                <a:solidFill>
                  <a:srgbClr val="002060"/>
                </a:solidFill>
              </a:rPr>
              <a:t>Balansed</a:t>
            </a:r>
            <a:r>
              <a:rPr lang="en-US" sz="1200" b="1" dirty="0">
                <a:solidFill>
                  <a:srgbClr val="002060"/>
                </a:solidFill>
              </a:rPr>
              <a:t>(Node </a:t>
            </a:r>
            <a:r>
              <a:rPr lang="ru-RU" sz="1200" b="1" dirty="0">
                <a:solidFill>
                  <a:srgbClr val="002060"/>
                </a:solidFill>
              </a:rPr>
              <a:t>*</a:t>
            </a:r>
            <a:r>
              <a:rPr lang="en-US" sz="1200" b="1" dirty="0">
                <a:solidFill>
                  <a:srgbClr val="002060"/>
                </a:solidFill>
              </a:rPr>
              <a:t>*h)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</a:p>
          <a:p>
            <a:pPr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002060"/>
                </a:solidFill>
              </a:rPr>
              <a:t>Если 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ru-RU" sz="1200" dirty="0">
                <a:solidFill>
                  <a:srgbClr val="002060"/>
                </a:solidFill>
              </a:rPr>
              <a:t>*</a:t>
            </a:r>
            <a:r>
              <a:rPr lang="en-US" sz="1200" dirty="0">
                <a:solidFill>
                  <a:srgbClr val="002060"/>
                </a:solidFill>
              </a:rPr>
              <a:t>h==NULL </a:t>
            </a:r>
            <a:r>
              <a:rPr lang="ru-RU" sz="1200" dirty="0">
                <a:solidFill>
                  <a:srgbClr val="002060"/>
                </a:solidFill>
              </a:rPr>
              <a:t>или *</a:t>
            </a:r>
            <a:r>
              <a:rPr lang="en-US" sz="1200" dirty="0">
                <a:solidFill>
                  <a:srgbClr val="002060"/>
                </a:solidFill>
              </a:rPr>
              <a:t>h</a:t>
            </a:r>
            <a:r>
              <a:rPr lang="ru-RU" sz="1200" dirty="0">
                <a:solidFill>
                  <a:srgbClr val="002060"/>
                </a:solidFill>
              </a:rPr>
              <a:t> -</a:t>
            </a:r>
            <a:r>
              <a:rPr lang="en-US" sz="1200" dirty="0">
                <a:solidFill>
                  <a:srgbClr val="002060"/>
                </a:solidFill>
              </a:rPr>
              <a:t>&gt;N==1 return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b="1" dirty="0">
                <a:solidFill>
                  <a:srgbClr val="002060"/>
                </a:solidFill>
              </a:rPr>
              <a:t>partition(*h-&gt;N/2, *h)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b="1" dirty="0" err="1">
                <a:solidFill>
                  <a:srgbClr val="002060"/>
                </a:solidFill>
              </a:rPr>
              <a:t>Balansed</a:t>
            </a:r>
            <a:r>
              <a:rPr lang="en-US" sz="1200" b="1" dirty="0">
                <a:solidFill>
                  <a:srgbClr val="002060"/>
                </a:solidFill>
              </a:rPr>
              <a:t>(h-&gt;left)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b="1" dirty="0" err="1">
                <a:solidFill>
                  <a:srgbClr val="002060"/>
                </a:solidFill>
              </a:rPr>
              <a:t>Balansed</a:t>
            </a:r>
            <a:r>
              <a:rPr lang="en-US" sz="1200" b="1" dirty="0">
                <a:solidFill>
                  <a:srgbClr val="002060"/>
                </a:solidFill>
              </a:rPr>
              <a:t>(h-&gt;</a:t>
            </a:r>
            <a:r>
              <a:rPr lang="en-US" sz="1200" b="1" dirty="0" err="1">
                <a:solidFill>
                  <a:srgbClr val="002060"/>
                </a:solidFill>
              </a:rPr>
              <a:t>rigth</a:t>
            </a:r>
            <a:r>
              <a:rPr lang="en-US" sz="1200" b="1" dirty="0">
                <a:solidFill>
                  <a:srgbClr val="002060"/>
                </a:solidFill>
              </a:rPr>
              <a:t>)</a:t>
            </a:r>
            <a:endParaRPr lang="ru-RU" sz="1200" b="1" dirty="0">
              <a:solidFill>
                <a:srgbClr val="002060"/>
              </a:solidFill>
              <a:effectLst/>
            </a:endParaRPr>
          </a:p>
        </p:txBody>
      </p:sp>
      <p:sp>
        <p:nvSpPr>
          <p:cNvPr id="34" name="Овал 33"/>
          <p:cNvSpPr/>
          <p:nvPr/>
        </p:nvSpPr>
        <p:spPr bwMode="auto">
          <a:xfrm>
            <a:off x="5076825" y="3357563"/>
            <a:ext cx="466725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Овал 34"/>
          <p:cNvSpPr/>
          <p:nvPr/>
        </p:nvSpPr>
        <p:spPr bwMode="auto">
          <a:xfrm>
            <a:off x="4103688" y="4797425"/>
            <a:ext cx="468312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Овал 35"/>
          <p:cNvSpPr/>
          <p:nvPr/>
        </p:nvSpPr>
        <p:spPr bwMode="auto">
          <a:xfrm>
            <a:off x="5616575" y="4184650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Овал 36"/>
          <p:cNvSpPr/>
          <p:nvPr/>
        </p:nvSpPr>
        <p:spPr bwMode="auto">
          <a:xfrm>
            <a:off x="3708400" y="5445125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Овал 37"/>
          <p:cNvSpPr/>
          <p:nvPr/>
        </p:nvSpPr>
        <p:spPr bwMode="auto">
          <a:xfrm>
            <a:off x="5040313" y="4833938"/>
            <a:ext cx="468312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Овал 38"/>
          <p:cNvSpPr/>
          <p:nvPr/>
        </p:nvSpPr>
        <p:spPr bwMode="auto">
          <a:xfrm>
            <a:off x="6192838" y="5013325"/>
            <a:ext cx="466725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Овал 39"/>
          <p:cNvSpPr/>
          <p:nvPr/>
        </p:nvSpPr>
        <p:spPr bwMode="auto">
          <a:xfrm>
            <a:off x="4572000" y="4257675"/>
            <a:ext cx="468313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Овал 40"/>
          <p:cNvSpPr/>
          <p:nvPr/>
        </p:nvSpPr>
        <p:spPr bwMode="auto">
          <a:xfrm>
            <a:off x="5508625" y="5589588"/>
            <a:ext cx="468313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Овал 41"/>
          <p:cNvSpPr/>
          <p:nvPr/>
        </p:nvSpPr>
        <p:spPr bwMode="auto">
          <a:xfrm>
            <a:off x="6840538" y="5624513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3" name="Прямая со стрелкой 42"/>
          <p:cNvCxnSpPr>
            <a:cxnSpLocks noChangeShapeType="1"/>
          </p:cNvCxnSpPr>
          <p:nvPr/>
        </p:nvCxnSpPr>
        <p:spPr bwMode="auto">
          <a:xfrm flipH="1">
            <a:off x="4895850" y="3860800"/>
            <a:ext cx="431800" cy="3603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4" name="Прямая со стрелкой 43"/>
          <p:cNvCxnSpPr>
            <a:cxnSpLocks noChangeShapeType="1"/>
            <a:stCxn id="34" idx="4"/>
            <a:endCxn id="36" idx="1"/>
          </p:cNvCxnSpPr>
          <p:nvPr/>
        </p:nvCxnSpPr>
        <p:spPr bwMode="auto">
          <a:xfrm>
            <a:off x="5310188" y="3860800"/>
            <a:ext cx="374650" cy="3984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5" name="Прямая со стрелкой 44"/>
          <p:cNvCxnSpPr>
            <a:cxnSpLocks noChangeShapeType="1"/>
            <a:stCxn id="35" idx="4"/>
            <a:endCxn id="37" idx="0"/>
          </p:cNvCxnSpPr>
          <p:nvPr/>
        </p:nvCxnSpPr>
        <p:spPr bwMode="auto">
          <a:xfrm flipH="1">
            <a:off x="3941763" y="5300663"/>
            <a:ext cx="396875" cy="14446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6" name="Прямая со стрелкой 45"/>
          <p:cNvCxnSpPr>
            <a:cxnSpLocks noChangeShapeType="1"/>
            <a:stCxn id="40" idx="4"/>
            <a:endCxn id="35" idx="7"/>
          </p:cNvCxnSpPr>
          <p:nvPr/>
        </p:nvCxnSpPr>
        <p:spPr bwMode="auto">
          <a:xfrm flipH="1">
            <a:off x="4503738" y="4760913"/>
            <a:ext cx="301625" cy="1095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7" name="Прямая со стрелкой 46"/>
          <p:cNvCxnSpPr>
            <a:cxnSpLocks noChangeShapeType="1"/>
            <a:stCxn id="36" idx="4"/>
            <a:endCxn id="39" idx="0"/>
          </p:cNvCxnSpPr>
          <p:nvPr/>
        </p:nvCxnSpPr>
        <p:spPr bwMode="auto">
          <a:xfrm>
            <a:off x="5849938" y="4689475"/>
            <a:ext cx="576262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8" name="Прямая со стрелкой 47"/>
          <p:cNvCxnSpPr>
            <a:cxnSpLocks noChangeShapeType="1"/>
            <a:stCxn id="40" idx="4"/>
            <a:endCxn id="38" idx="0"/>
          </p:cNvCxnSpPr>
          <p:nvPr/>
        </p:nvCxnSpPr>
        <p:spPr bwMode="auto">
          <a:xfrm>
            <a:off x="4805363" y="4760913"/>
            <a:ext cx="468312" cy="73025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9" name="Прямая со стрелкой 48"/>
          <p:cNvCxnSpPr>
            <a:cxnSpLocks noChangeShapeType="1"/>
            <a:stCxn id="38" idx="4"/>
            <a:endCxn id="41" idx="1"/>
          </p:cNvCxnSpPr>
          <p:nvPr/>
        </p:nvCxnSpPr>
        <p:spPr bwMode="auto">
          <a:xfrm>
            <a:off x="5273675" y="5337175"/>
            <a:ext cx="303213" cy="3254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50" name="Прямая со стрелкой 49"/>
          <p:cNvCxnSpPr>
            <a:cxnSpLocks noChangeShapeType="1"/>
            <a:stCxn id="39" idx="5"/>
            <a:endCxn id="42" idx="1"/>
          </p:cNvCxnSpPr>
          <p:nvPr/>
        </p:nvCxnSpPr>
        <p:spPr bwMode="auto">
          <a:xfrm>
            <a:off x="6591300" y="5443538"/>
            <a:ext cx="317500" cy="2555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364163" y="3681413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10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5003800" y="4473575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5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011863" y="4545013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3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4032250" y="5732463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5292725" y="5265738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2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6551613" y="5192713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2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4392613" y="5157788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2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5580063" y="6021388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7127875" y="5984875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4032250" y="3321050"/>
            <a:ext cx="7556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solidFill>
                  <a:srgbClr val="002060"/>
                </a:solidFill>
              </a:rPr>
              <a:t>2.</a:t>
            </a:r>
            <a:endParaRPr lang="ru-RU" sz="2000">
              <a:solidFill>
                <a:srgbClr val="002060"/>
              </a:solidFill>
            </a:endParaRPr>
          </a:p>
        </p:txBody>
      </p:sp>
      <p:sp>
        <p:nvSpPr>
          <p:cNvPr id="61" name="Номер слайда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8313" y="0"/>
            <a:ext cx="8424862" cy="1233488"/>
          </a:xfrm>
        </p:spPr>
        <p:txBody>
          <a:bodyPr/>
          <a:lstStyle/>
          <a:p>
            <a:pPr algn="l">
              <a:defRPr/>
            </a:pPr>
            <a:r>
              <a:rPr lang="ru-RU" sz="3600" b="1" dirty="0">
                <a:solidFill>
                  <a:schemeClr val="bg2"/>
                </a:solidFill>
              </a:rPr>
              <a:t>Операция балансировки BST – дерева</a:t>
            </a:r>
            <a:endParaRPr lang="ru-RU" sz="3600" dirty="0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6083300" y="765175"/>
            <a:ext cx="3060700" cy="2951163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sz="1200" b="1" dirty="0">
                <a:solidFill>
                  <a:schemeClr val="bg2"/>
                </a:solidFill>
                <a:effectLst/>
              </a:rPr>
              <a:t>partition(</a:t>
            </a:r>
            <a:r>
              <a:rPr lang="en-US" sz="1200" b="1" dirty="0" err="1">
                <a:solidFill>
                  <a:schemeClr val="bg2"/>
                </a:solidFill>
                <a:effectLst/>
              </a:rPr>
              <a:t>int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 k</a:t>
            </a:r>
            <a:r>
              <a:rPr lang="ru-RU" sz="12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,</a:t>
            </a:r>
            <a:r>
              <a:rPr lang="ru-RU" sz="1200" b="1" dirty="0">
                <a:solidFill>
                  <a:schemeClr val="bg2"/>
                </a:solidFill>
                <a:effectLst/>
              </a:rPr>
              <a:t> 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Node **R) </a:t>
            </a:r>
            <a:endParaRPr lang="ru-RU" sz="1200" b="1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2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200" dirty="0">
                <a:solidFill>
                  <a:schemeClr val="bg2"/>
                </a:solidFill>
                <a:effectLst/>
              </a:rPr>
              <a:t> *R == 0 return NULL;</a:t>
            </a:r>
            <a:endParaRPr lang="ru-RU" sz="12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200" dirty="0">
                <a:solidFill>
                  <a:schemeClr val="bg2"/>
                </a:solidFill>
                <a:effectLst/>
              </a:rPr>
              <a:t>T = (*R</a:t>
            </a:r>
            <a:r>
              <a:rPr lang="ru-RU" sz="12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200" dirty="0">
                <a:solidFill>
                  <a:schemeClr val="bg2"/>
                </a:solidFill>
                <a:effectLst/>
              </a:rPr>
              <a:t>left == 0) ? 0: *R</a:t>
            </a:r>
            <a:r>
              <a:rPr lang="ru-RU" sz="12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200" dirty="0">
                <a:solidFill>
                  <a:schemeClr val="bg2"/>
                </a:solidFill>
                <a:effectLst/>
              </a:rPr>
              <a:t>left</a:t>
            </a:r>
            <a:r>
              <a:rPr lang="ru-RU" sz="1200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200" dirty="0">
                <a:solidFill>
                  <a:schemeClr val="bg2"/>
                </a:solidFill>
                <a:effectLst/>
              </a:rPr>
              <a:t>N;</a:t>
            </a:r>
            <a:endParaRPr lang="ru-RU" sz="12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2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200" dirty="0">
                <a:solidFill>
                  <a:schemeClr val="bg2"/>
                </a:solidFill>
                <a:effectLst/>
              </a:rPr>
              <a:t> T&gt;k 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partition (k,*R</a:t>
            </a:r>
            <a:r>
              <a:rPr lang="ru-RU" sz="12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left)</a:t>
            </a:r>
            <a:r>
              <a:rPr lang="en-US" sz="1200" dirty="0">
                <a:solidFill>
                  <a:schemeClr val="bg2"/>
                </a:solidFill>
                <a:effectLst/>
              </a:rPr>
              <a:t>;              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200" dirty="0" err="1">
                <a:solidFill>
                  <a:schemeClr val="bg2"/>
                </a:solidFill>
                <a:effectLst/>
              </a:rPr>
              <a:t>rotate_r</a:t>
            </a:r>
            <a:r>
              <a:rPr lang="en-US" sz="1200" dirty="0">
                <a:solidFill>
                  <a:schemeClr val="bg2"/>
                </a:solidFill>
                <a:effectLst/>
              </a:rPr>
              <a:t>(R);</a:t>
            </a:r>
            <a:endParaRPr lang="ru-RU" sz="12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200" dirty="0">
                <a:solidFill>
                  <a:schemeClr val="bg2"/>
                </a:solidFill>
                <a:effectLst/>
              </a:rPr>
              <a:t>Если</a:t>
            </a:r>
            <a:r>
              <a:rPr lang="en-US" sz="1200" dirty="0">
                <a:solidFill>
                  <a:schemeClr val="bg2"/>
                </a:solidFill>
                <a:effectLst/>
              </a:rPr>
              <a:t> T&lt;k 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partition (k-T-1,*R</a:t>
            </a:r>
            <a:r>
              <a:rPr lang="ru-RU" sz="1200" b="1" dirty="0">
                <a:solidFill>
                  <a:schemeClr val="bg2"/>
                </a:solidFill>
                <a:effectLst/>
                <a:sym typeface="Wingdings"/>
              </a:rPr>
              <a:t></a:t>
            </a:r>
            <a:r>
              <a:rPr lang="en-US" sz="1200" b="1" dirty="0" err="1">
                <a:solidFill>
                  <a:schemeClr val="bg2"/>
                </a:solidFill>
                <a:effectLst/>
              </a:rPr>
              <a:t>rigth</a:t>
            </a:r>
            <a:r>
              <a:rPr lang="en-US" sz="1200" b="1" dirty="0">
                <a:solidFill>
                  <a:schemeClr val="bg2"/>
                </a:solidFill>
                <a:effectLst/>
              </a:rPr>
              <a:t>)</a:t>
            </a:r>
            <a:r>
              <a:rPr lang="en-US" sz="1200" dirty="0">
                <a:solidFill>
                  <a:schemeClr val="bg2"/>
                </a:solidFill>
                <a:effectLst/>
              </a:rPr>
              <a:t>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dirty="0">
                <a:solidFill>
                  <a:schemeClr val="bg2"/>
                </a:solidFill>
                <a:effectLst/>
              </a:rPr>
              <a:t>                              </a:t>
            </a:r>
            <a:r>
              <a:rPr lang="en-US" sz="1200" dirty="0" err="1">
                <a:solidFill>
                  <a:schemeClr val="bg2"/>
                </a:solidFill>
                <a:effectLst/>
              </a:rPr>
              <a:t>rotate_l</a:t>
            </a:r>
            <a:r>
              <a:rPr lang="en-US" sz="1200" dirty="0">
                <a:solidFill>
                  <a:schemeClr val="bg2"/>
                </a:solidFill>
                <a:effectLst/>
              </a:rPr>
              <a:t>(R);</a:t>
            </a:r>
            <a:endParaRPr lang="ru-RU" sz="1200" dirty="0">
              <a:solidFill>
                <a:schemeClr val="bg2"/>
              </a:solidFill>
              <a:effectLst/>
            </a:endParaRPr>
          </a:p>
          <a:p>
            <a:pPr>
              <a:buFont typeface="Wingdings" pitchFamily="2" charset="2"/>
              <a:buNone/>
              <a:defRPr/>
            </a:pPr>
            <a:r>
              <a:rPr lang="ru-RU" sz="1200" dirty="0">
                <a:solidFill>
                  <a:schemeClr val="bg2"/>
                </a:solidFill>
                <a:effectLst/>
              </a:rPr>
              <a:t>конец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b="1" dirty="0" err="1">
                <a:solidFill>
                  <a:srgbClr val="002060"/>
                </a:solidFill>
              </a:rPr>
              <a:t>Balansed</a:t>
            </a:r>
            <a:r>
              <a:rPr lang="en-US" sz="1200" b="1" dirty="0">
                <a:solidFill>
                  <a:srgbClr val="002060"/>
                </a:solidFill>
              </a:rPr>
              <a:t>(Node </a:t>
            </a:r>
            <a:r>
              <a:rPr lang="ru-RU" sz="1200" b="1" dirty="0">
                <a:solidFill>
                  <a:srgbClr val="002060"/>
                </a:solidFill>
              </a:rPr>
              <a:t>*</a:t>
            </a:r>
            <a:r>
              <a:rPr lang="en-US" sz="1200" b="1" dirty="0">
                <a:solidFill>
                  <a:srgbClr val="002060"/>
                </a:solidFill>
              </a:rPr>
              <a:t>*h)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</a:p>
          <a:p>
            <a:pPr>
              <a:buFont typeface="Wingdings" pitchFamily="2" charset="2"/>
              <a:buNone/>
              <a:defRPr/>
            </a:pPr>
            <a:r>
              <a:rPr lang="ru-RU" sz="1200" dirty="0">
                <a:solidFill>
                  <a:srgbClr val="002060"/>
                </a:solidFill>
              </a:rPr>
              <a:t>Если 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ru-RU" sz="1200" dirty="0">
                <a:solidFill>
                  <a:srgbClr val="002060"/>
                </a:solidFill>
              </a:rPr>
              <a:t>*</a:t>
            </a:r>
            <a:r>
              <a:rPr lang="en-US" sz="1200" dirty="0">
                <a:solidFill>
                  <a:srgbClr val="002060"/>
                </a:solidFill>
              </a:rPr>
              <a:t>h==NULL </a:t>
            </a:r>
            <a:r>
              <a:rPr lang="ru-RU" sz="1200" dirty="0">
                <a:solidFill>
                  <a:srgbClr val="002060"/>
                </a:solidFill>
              </a:rPr>
              <a:t>или *</a:t>
            </a:r>
            <a:r>
              <a:rPr lang="en-US" sz="1200" dirty="0">
                <a:solidFill>
                  <a:srgbClr val="002060"/>
                </a:solidFill>
              </a:rPr>
              <a:t>h</a:t>
            </a:r>
            <a:r>
              <a:rPr lang="ru-RU" sz="1200" dirty="0">
                <a:solidFill>
                  <a:srgbClr val="002060"/>
                </a:solidFill>
              </a:rPr>
              <a:t> -</a:t>
            </a:r>
            <a:r>
              <a:rPr lang="en-US" sz="1200" dirty="0">
                <a:solidFill>
                  <a:srgbClr val="002060"/>
                </a:solidFill>
              </a:rPr>
              <a:t>&gt;N==1 return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b="1" dirty="0">
                <a:solidFill>
                  <a:srgbClr val="002060"/>
                </a:solidFill>
              </a:rPr>
              <a:t>partition(*h-&gt;N/2, *h)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b="1" dirty="0" err="1">
                <a:solidFill>
                  <a:srgbClr val="002060"/>
                </a:solidFill>
              </a:rPr>
              <a:t>Balansed</a:t>
            </a:r>
            <a:r>
              <a:rPr lang="en-US" sz="1200" b="1" dirty="0">
                <a:solidFill>
                  <a:srgbClr val="002060"/>
                </a:solidFill>
              </a:rPr>
              <a:t>(h-&gt;left)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200" b="1" dirty="0" err="1">
                <a:solidFill>
                  <a:srgbClr val="002060"/>
                </a:solidFill>
              </a:rPr>
              <a:t>Balansed</a:t>
            </a:r>
            <a:r>
              <a:rPr lang="en-US" sz="1200" b="1" dirty="0">
                <a:solidFill>
                  <a:srgbClr val="002060"/>
                </a:solidFill>
              </a:rPr>
              <a:t>(h-&gt;</a:t>
            </a:r>
            <a:r>
              <a:rPr lang="en-US" sz="1200" b="1" dirty="0" err="1">
                <a:solidFill>
                  <a:srgbClr val="002060"/>
                </a:solidFill>
              </a:rPr>
              <a:t>rigth</a:t>
            </a:r>
            <a:r>
              <a:rPr lang="en-US" sz="1200" b="1" dirty="0">
                <a:solidFill>
                  <a:srgbClr val="002060"/>
                </a:solidFill>
              </a:rPr>
              <a:t>)</a:t>
            </a:r>
            <a:endParaRPr lang="ru-RU" sz="1200" b="1" dirty="0">
              <a:solidFill>
                <a:srgbClr val="002060"/>
              </a:solidFill>
              <a:effectLst/>
            </a:endParaRPr>
          </a:p>
        </p:txBody>
      </p:sp>
      <p:sp>
        <p:nvSpPr>
          <p:cNvPr id="7" name="Овал 6"/>
          <p:cNvSpPr/>
          <p:nvPr/>
        </p:nvSpPr>
        <p:spPr bwMode="auto">
          <a:xfrm>
            <a:off x="2124075" y="1700213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Овал 7"/>
          <p:cNvSpPr/>
          <p:nvPr/>
        </p:nvSpPr>
        <p:spPr bwMode="auto">
          <a:xfrm>
            <a:off x="1150938" y="3141663"/>
            <a:ext cx="468312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Овал 8"/>
          <p:cNvSpPr/>
          <p:nvPr/>
        </p:nvSpPr>
        <p:spPr bwMode="auto">
          <a:xfrm>
            <a:off x="2663825" y="2528888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Овал 9"/>
          <p:cNvSpPr/>
          <p:nvPr/>
        </p:nvSpPr>
        <p:spPr bwMode="auto">
          <a:xfrm>
            <a:off x="755650" y="3789363"/>
            <a:ext cx="468313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Овал 10"/>
          <p:cNvSpPr/>
          <p:nvPr/>
        </p:nvSpPr>
        <p:spPr bwMode="auto">
          <a:xfrm>
            <a:off x="2087563" y="3176588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Овал 11"/>
          <p:cNvSpPr/>
          <p:nvPr/>
        </p:nvSpPr>
        <p:spPr bwMode="auto">
          <a:xfrm>
            <a:off x="3240088" y="3357563"/>
            <a:ext cx="468312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Овал 12"/>
          <p:cNvSpPr/>
          <p:nvPr/>
        </p:nvSpPr>
        <p:spPr bwMode="auto">
          <a:xfrm>
            <a:off x="1619250" y="2600325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Овал 13"/>
          <p:cNvSpPr/>
          <p:nvPr/>
        </p:nvSpPr>
        <p:spPr bwMode="auto">
          <a:xfrm>
            <a:off x="2555875" y="3933825"/>
            <a:ext cx="468313" cy="50323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Овал 14"/>
          <p:cNvSpPr/>
          <p:nvPr/>
        </p:nvSpPr>
        <p:spPr bwMode="auto">
          <a:xfrm>
            <a:off x="3743325" y="4005263"/>
            <a:ext cx="468313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468" name="Прямая со стрелкой 15"/>
          <p:cNvCxnSpPr>
            <a:cxnSpLocks noChangeShapeType="1"/>
            <a:endCxn id="13" idx="0"/>
          </p:cNvCxnSpPr>
          <p:nvPr/>
        </p:nvCxnSpPr>
        <p:spPr bwMode="auto">
          <a:xfrm flipH="1">
            <a:off x="1854200" y="2205038"/>
            <a:ext cx="522288" cy="3952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469" name="Прямая со стрелкой 16"/>
          <p:cNvCxnSpPr>
            <a:cxnSpLocks noChangeShapeType="1"/>
            <a:stCxn id="7" idx="4"/>
            <a:endCxn id="9" idx="1"/>
          </p:cNvCxnSpPr>
          <p:nvPr/>
        </p:nvCxnSpPr>
        <p:spPr bwMode="auto">
          <a:xfrm>
            <a:off x="2357438" y="2205038"/>
            <a:ext cx="374650" cy="398462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470" name="Прямая со стрелкой 17"/>
          <p:cNvCxnSpPr>
            <a:cxnSpLocks noChangeShapeType="1"/>
            <a:stCxn id="8" idx="4"/>
            <a:endCxn id="10" idx="0"/>
          </p:cNvCxnSpPr>
          <p:nvPr/>
        </p:nvCxnSpPr>
        <p:spPr bwMode="auto">
          <a:xfrm flipH="1">
            <a:off x="989013" y="3644900"/>
            <a:ext cx="396875" cy="1444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471" name="Прямая со стрелкой 18"/>
          <p:cNvCxnSpPr>
            <a:cxnSpLocks noChangeShapeType="1"/>
            <a:stCxn id="13" idx="4"/>
            <a:endCxn id="8" idx="7"/>
          </p:cNvCxnSpPr>
          <p:nvPr/>
        </p:nvCxnSpPr>
        <p:spPr bwMode="auto">
          <a:xfrm flipH="1">
            <a:off x="1550988" y="3105150"/>
            <a:ext cx="303212" cy="1095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472" name="Прямая со стрелкой 19"/>
          <p:cNvCxnSpPr>
            <a:cxnSpLocks noChangeShapeType="1"/>
            <a:stCxn id="9" idx="4"/>
            <a:endCxn id="12" idx="0"/>
          </p:cNvCxnSpPr>
          <p:nvPr/>
        </p:nvCxnSpPr>
        <p:spPr bwMode="auto">
          <a:xfrm>
            <a:off x="2897188" y="3033713"/>
            <a:ext cx="576262" cy="3238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473" name="Прямая со стрелкой 20"/>
          <p:cNvCxnSpPr>
            <a:cxnSpLocks noChangeShapeType="1"/>
            <a:stCxn id="13" idx="4"/>
            <a:endCxn id="11" idx="0"/>
          </p:cNvCxnSpPr>
          <p:nvPr/>
        </p:nvCxnSpPr>
        <p:spPr bwMode="auto">
          <a:xfrm>
            <a:off x="1854200" y="3105150"/>
            <a:ext cx="468313" cy="714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474" name="Прямая со стрелкой 21"/>
          <p:cNvCxnSpPr>
            <a:cxnSpLocks noChangeShapeType="1"/>
            <a:stCxn id="11" idx="4"/>
            <a:endCxn id="14" idx="1"/>
          </p:cNvCxnSpPr>
          <p:nvPr/>
        </p:nvCxnSpPr>
        <p:spPr bwMode="auto">
          <a:xfrm>
            <a:off x="2322513" y="3681413"/>
            <a:ext cx="301625" cy="3254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19475" name="Прямая со стрелкой 22"/>
          <p:cNvCxnSpPr>
            <a:cxnSpLocks noChangeShapeType="1"/>
            <a:stCxn id="12" idx="5"/>
            <a:endCxn id="15" idx="1"/>
          </p:cNvCxnSpPr>
          <p:nvPr/>
        </p:nvCxnSpPr>
        <p:spPr bwMode="auto">
          <a:xfrm>
            <a:off x="3640138" y="3787775"/>
            <a:ext cx="173037" cy="29051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19476" name="TextBox 23"/>
          <p:cNvSpPr txBox="1">
            <a:spLocks noChangeArrowheads="1"/>
          </p:cNvSpPr>
          <p:nvPr/>
        </p:nvSpPr>
        <p:spPr bwMode="auto">
          <a:xfrm>
            <a:off x="2411413" y="2024063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10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9477" name="TextBox 24"/>
          <p:cNvSpPr txBox="1">
            <a:spLocks noChangeArrowheads="1"/>
          </p:cNvSpPr>
          <p:nvPr/>
        </p:nvSpPr>
        <p:spPr bwMode="auto">
          <a:xfrm>
            <a:off x="2051050" y="2816225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5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9478" name="TextBox 25"/>
          <p:cNvSpPr txBox="1">
            <a:spLocks noChangeArrowheads="1"/>
          </p:cNvSpPr>
          <p:nvPr/>
        </p:nvSpPr>
        <p:spPr bwMode="auto">
          <a:xfrm>
            <a:off x="3059113" y="2889250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3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9479" name="TextBox 26"/>
          <p:cNvSpPr txBox="1">
            <a:spLocks noChangeArrowheads="1"/>
          </p:cNvSpPr>
          <p:nvPr/>
        </p:nvSpPr>
        <p:spPr bwMode="auto">
          <a:xfrm>
            <a:off x="1079500" y="4076700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9480" name="TextBox 27"/>
          <p:cNvSpPr txBox="1">
            <a:spLocks noChangeArrowheads="1"/>
          </p:cNvSpPr>
          <p:nvPr/>
        </p:nvSpPr>
        <p:spPr bwMode="auto">
          <a:xfrm>
            <a:off x="2339975" y="3608388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2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9481" name="TextBox 28"/>
          <p:cNvSpPr txBox="1">
            <a:spLocks noChangeArrowheads="1"/>
          </p:cNvSpPr>
          <p:nvPr/>
        </p:nvSpPr>
        <p:spPr bwMode="auto">
          <a:xfrm>
            <a:off x="3600450" y="3536950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2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9482" name="TextBox 29"/>
          <p:cNvSpPr txBox="1">
            <a:spLocks noChangeArrowheads="1"/>
          </p:cNvSpPr>
          <p:nvPr/>
        </p:nvSpPr>
        <p:spPr bwMode="auto">
          <a:xfrm>
            <a:off x="1439863" y="3500438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2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9483" name="TextBox 30"/>
          <p:cNvSpPr txBox="1">
            <a:spLocks noChangeArrowheads="1"/>
          </p:cNvSpPr>
          <p:nvPr/>
        </p:nvSpPr>
        <p:spPr bwMode="auto">
          <a:xfrm>
            <a:off x="2627313" y="4365625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9484" name="TextBox 31"/>
          <p:cNvSpPr txBox="1">
            <a:spLocks noChangeArrowheads="1"/>
          </p:cNvSpPr>
          <p:nvPr/>
        </p:nvSpPr>
        <p:spPr bwMode="auto">
          <a:xfrm>
            <a:off x="3924300" y="4400550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19485" name="TextBox 32"/>
          <p:cNvSpPr txBox="1">
            <a:spLocks noChangeArrowheads="1"/>
          </p:cNvSpPr>
          <p:nvPr/>
        </p:nvSpPr>
        <p:spPr bwMode="auto">
          <a:xfrm>
            <a:off x="1079500" y="1665288"/>
            <a:ext cx="7556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solidFill>
                  <a:srgbClr val="002060"/>
                </a:solidFill>
              </a:rPr>
              <a:t>2.</a:t>
            </a:r>
            <a:endParaRPr lang="ru-RU" sz="2000">
              <a:solidFill>
                <a:srgbClr val="002060"/>
              </a:solidFill>
            </a:endParaRPr>
          </a:p>
        </p:txBody>
      </p:sp>
      <p:sp>
        <p:nvSpPr>
          <p:cNvPr id="35" name="Содержимое 2"/>
          <p:cNvSpPr txBox="1">
            <a:spLocks/>
          </p:cNvSpPr>
          <p:nvPr/>
        </p:nvSpPr>
        <p:spPr bwMode="auto">
          <a:xfrm>
            <a:off x="3527425" y="765175"/>
            <a:ext cx="2376488" cy="295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3. </a:t>
            </a:r>
            <a:r>
              <a:rPr lang="en-US" sz="1200" kern="0" dirty="0" err="1">
                <a:solidFill>
                  <a:srgbClr val="002060"/>
                </a:solidFill>
                <a:latin typeface="+mn-lt"/>
                <a:cs typeface="+mn-cs"/>
              </a:rPr>
              <a:t>Balansed</a:t>
            </a: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(7)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    partition(7, 1)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        partition (8,0)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defRPr/>
            </a:pPr>
            <a:r>
              <a:rPr lang="en-US" sz="1200" dirty="0">
                <a:solidFill>
                  <a:srgbClr val="FF0000"/>
                </a:solidFill>
              </a:rPr>
              <a:t>        </a:t>
            </a:r>
            <a:r>
              <a:rPr lang="en-US" sz="1200" dirty="0" err="1">
                <a:solidFill>
                  <a:srgbClr val="FF0000"/>
                </a:solidFill>
              </a:rPr>
              <a:t>rotate_l</a:t>
            </a:r>
            <a:r>
              <a:rPr lang="en-US" sz="1200" dirty="0">
                <a:solidFill>
                  <a:srgbClr val="FF0000"/>
                </a:solidFill>
              </a:rPr>
              <a:t>(7);</a:t>
            </a:r>
            <a:endParaRPr lang="en-US" sz="12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	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defRPr/>
            </a:pPr>
            <a:r>
              <a:rPr lang="en-US" sz="1200" kern="0" dirty="0">
                <a:solidFill>
                  <a:srgbClr val="002060"/>
                </a:solidFill>
              </a:rPr>
              <a:t>           </a:t>
            </a:r>
            <a:endParaRPr lang="en-US" sz="12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200" kern="0" dirty="0">
                <a:solidFill>
                  <a:srgbClr val="002060"/>
                </a:solidFill>
                <a:latin typeface="+mn-lt"/>
                <a:cs typeface="+mn-cs"/>
              </a:rPr>
              <a:t> </a:t>
            </a:r>
            <a:endParaRPr lang="ru-RU" sz="1200" kern="0" dirty="0">
              <a:solidFill>
                <a:srgbClr val="002060"/>
              </a:solidFill>
              <a:latin typeface="+mn-lt"/>
              <a:cs typeface="+mn-cs"/>
            </a:endParaRPr>
          </a:p>
        </p:txBody>
      </p:sp>
      <p:sp>
        <p:nvSpPr>
          <p:cNvPr id="36" name="Овал 35"/>
          <p:cNvSpPr/>
          <p:nvPr/>
        </p:nvSpPr>
        <p:spPr bwMode="auto">
          <a:xfrm>
            <a:off x="5364163" y="3500438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Овал 36"/>
          <p:cNvSpPr/>
          <p:nvPr/>
        </p:nvSpPr>
        <p:spPr bwMode="auto">
          <a:xfrm>
            <a:off x="4392613" y="4941888"/>
            <a:ext cx="466725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Овал 37"/>
          <p:cNvSpPr/>
          <p:nvPr/>
        </p:nvSpPr>
        <p:spPr bwMode="auto">
          <a:xfrm>
            <a:off x="6084888" y="4941888"/>
            <a:ext cx="466725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Овал 38"/>
          <p:cNvSpPr/>
          <p:nvPr/>
        </p:nvSpPr>
        <p:spPr bwMode="auto">
          <a:xfrm>
            <a:off x="3995738" y="5589588"/>
            <a:ext cx="468312" cy="50323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Овал 39"/>
          <p:cNvSpPr/>
          <p:nvPr/>
        </p:nvSpPr>
        <p:spPr bwMode="auto">
          <a:xfrm>
            <a:off x="5327650" y="4976813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Овал 40"/>
          <p:cNvSpPr/>
          <p:nvPr/>
        </p:nvSpPr>
        <p:spPr bwMode="auto">
          <a:xfrm>
            <a:off x="6696075" y="4292600"/>
            <a:ext cx="468313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Овал 41"/>
          <p:cNvSpPr/>
          <p:nvPr/>
        </p:nvSpPr>
        <p:spPr bwMode="auto">
          <a:xfrm>
            <a:off x="4859338" y="4400550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Овал 42"/>
          <p:cNvSpPr/>
          <p:nvPr/>
        </p:nvSpPr>
        <p:spPr bwMode="auto">
          <a:xfrm>
            <a:off x="5795963" y="5732463"/>
            <a:ext cx="468312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Овал 43"/>
          <p:cNvSpPr/>
          <p:nvPr/>
        </p:nvSpPr>
        <p:spPr bwMode="auto">
          <a:xfrm>
            <a:off x="7308850" y="4976813"/>
            <a:ext cx="466725" cy="50482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ru-R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5" name="Прямая со стрелкой 44"/>
          <p:cNvCxnSpPr>
            <a:cxnSpLocks noChangeShapeType="1"/>
            <a:endCxn id="42" idx="0"/>
          </p:cNvCxnSpPr>
          <p:nvPr/>
        </p:nvCxnSpPr>
        <p:spPr bwMode="auto">
          <a:xfrm flipH="1">
            <a:off x="5094288" y="4005263"/>
            <a:ext cx="522287" cy="39528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6" name="Прямая со стрелкой 45"/>
          <p:cNvCxnSpPr>
            <a:cxnSpLocks noChangeShapeType="1"/>
            <a:stCxn id="36" idx="4"/>
            <a:endCxn id="41" idx="1"/>
          </p:cNvCxnSpPr>
          <p:nvPr/>
        </p:nvCxnSpPr>
        <p:spPr bwMode="auto">
          <a:xfrm>
            <a:off x="5597525" y="4005263"/>
            <a:ext cx="1166813" cy="36195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7" name="Прямая со стрелкой 46"/>
          <p:cNvCxnSpPr>
            <a:cxnSpLocks noChangeShapeType="1"/>
            <a:stCxn id="37" idx="4"/>
            <a:endCxn id="39" idx="0"/>
          </p:cNvCxnSpPr>
          <p:nvPr/>
        </p:nvCxnSpPr>
        <p:spPr bwMode="auto">
          <a:xfrm flipH="1">
            <a:off x="4230688" y="5445125"/>
            <a:ext cx="395287" cy="144463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8" name="Прямая со стрелкой 47"/>
          <p:cNvCxnSpPr>
            <a:cxnSpLocks noChangeShapeType="1"/>
            <a:stCxn id="42" idx="4"/>
            <a:endCxn id="37" idx="7"/>
          </p:cNvCxnSpPr>
          <p:nvPr/>
        </p:nvCxnSpPr>
        <p:spPr bwMode="auto">
          <a:xfrm flipH="1">
            <a:off x="4791075" y="4905375"/>
            <a:ext cx="303213" cy="1095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49" name="Прямая со стрелкой 48"/>
          <p:cNvCxnSpPr>
            <a:cxnSpLocks noChangeShapeType="1"/>
            <a:stCxn id="41" idx="4"/>
            <a:endCxn id="38" idx="7"/>
          </p:cNvCxnSpPr>
          <p:nvPr/>
        </p:nvCxnSpPr>
        <p:spPr bwMode="auto">
          <a:xfrm flipH="1">
            <a:off x="6483350" y="4797425"/>
            <a:ext cx="447675" cy="21748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50" name="Прямая со стрелкой 49"/>
          <p:cNvCxnSpPr>
            <a:cxnSpLocks noChangeShapeType="1"/>
            <a:stCxn id="42" idx="4"/>
            <a:endCxn id="40" idx="0"/>
          </p:cNvCxnSpPr>
          <p:nvPr/>
        </p:nvCxnSpPr>
        <p:spPr bwMode="auto">
          <a:xfrm>
            <a:off x="5094288" y="4905375"/>
            <a:ext cx="468312" cy="71438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51" name="Прямая со стрелкой 50"/>
          <p:cNvCxnSpPr>
            <a:cxnSpLocks noChangeShapeType="1"/>
            <a:stCxn id="40" idx="4"/>
            <a:endCxn id="43" idx="1"/>
          </p:cNvCxnSpPr>
          <p:nvPr/>
        </p:nvCxnSpPr>
        <p:spPr bwMode="auto">
          <a:xfrm>
            <a:off x="5562600" y="5481638"/>
            <a:ext cx="301625" cy="32543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cxnSp>
        <p:nvCxnSpPr>
          <p:cNvPr id="52" name="Прямая со стрелкой 51"/>
          <p:cNvCxnSpPr>
            <a:cxnSpLocks noChangeShapeType="1"/>
            <a:stCxn id="41" idx="4"/>
            <a:endCxn id="44" idx="1"/>
          </p:cNvCxnSpPr>
          <p:nvPr/>
        </p:nvCxnSpPr>
        <p:spPr bwMode="auto">
          <a:xfrm>
            <a:off x="6931025" y="4797425"/>
            <a:ext cx="446088" cy="2540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5651500" y="3824288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10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5292725" y="4616450"/>
            <a:ext cx="503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5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6516688" y="4616450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3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4319588" y="5876925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5580063" y="5408613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2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6408738" y="5229225"/>
            <a:ext cx="503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4679950" y="5300663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2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5867400" y="6165850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7667625" y="5300663"/>
            <a:ext cx="5048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1</a:t>
            </a:r>
            <a:endParaRPr lang="ru-RU" sz="1400">
              <a:solidFill>
                <a:srgbClr val="FF0000"/>
              </a:solidFill>
            </a:endParaRP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4535488" y="3536950"/>
            <a:ext cx="7572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solidFill>
                  <a:srgbClr val="002060"/>
                </a:solidFill>
              </a:rPr>
              <a:t>3.</a:t>
            </a:r>
            <a:endParaRPr lang="ru-RU" sz="2000">
              <a:solidFill>
                <a:srgbClr val="002060"/>
              </a:solidFill>
            </a:endParaRPr>
          </a:p>
        </p:txBody>
      </p:sp>
      <p:sp>
        <p:nvSpPr>
          <p:cNvPr id="63" name="Номер слайда 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2B0F2-BB10-405C-A1C1-FCCAF6F02F72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theme/theme1.xml><?xml version="1.0" encoding="utf-8"?>
<a:theme xmlns:a="http://schemas.openxmlformats.org/drawingml/2006/main" name="Текстура">
  <a:themeElements>
    <a:clrScheme name="Текстура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Текстура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5000"/>
          <a:buFont typeface="Wingdings" pitchFamily="2" charset="2"/>
          <a:buNone/>
          <a:tabLst/>
          <a:defRPr kumimoji="0" lang="ru-RU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65000"/>
          <a:buFont typeface="Wingdings" pitchFamily="2" charset="2"/>
          <a:buNone/>
          <a:tabLst/>
          <a:defRPr kumimoji="0" lang="ru-RU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lnDef>
  </a:objectDefaults>
  <a:extraClrSchemeLst>
    <a:extraClrScheme>
      <a:clrScheme name="Текстура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Текстура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Текстура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16714</TotalTime>
  <Words>1687</Words>
  <Application>Microsoft Office PowerPoint</Application>
  <PresentationFormat>Экран (4:3)</PresentationFormat>
  <Paragraphs>614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Tahoma</vt:lpstr>
      <vt:lpstr>Wingdings</vt:lpstr>
      <vt:lpstr>Текстура</vt:lpstr>
      <vt:lpstr>BST- деревья. Рандомизованная вставка</vt:lpstr>
      <vt:lpstr>BST- деревья. Рандомизованная вставка</vt:lpstr>
      <vt:lpstr>BST- деревья. Рандомизованная вставка</vt:lpstr>
      <vt:lpstr>Операция разделения BST-дерева на части</vt:lpstr>
      <vt:lpstr>Операция разделения BST-дерева на части</vt:lpstr>
      <vt:lpstr>Презентация PowerPoint</vt:lpstr>
      <vt:lpstr>Презентация PowerPoint</vt:lpstr>
      <vt:lpstr>Операция разделения BST-дерева на части</vt:lpstr>
      <vt:lpstr>Операция разделения BST-дерева на части</vt:lpstr>
      <vt:lpstr>Операция разделения BST-дерева на части</vt:lpstr>
      <vt:lpstr>Операция разделения BST-дерева на части</vt:lpstr>
      <vt:lpstr>Операция удаления заданного ключа из BST – дерева</vt:lpstr>
      <vt:lpstr>Операция удаления заданного ключа из BST – дерева (1)</vt:lpstr>
      <vt:lpstr>Операция объединения двух  BST-деревьев</vt:lpstr>
      <vt:lpstr>Операция объединения двух  BST-деревьев</vt:lpstr>
      <vt:lpstr>Операция объединения двух  BST-деревьев</vt:lpstr>
      <vt:lpstr>Операция удаления заданного ключа из BST – дерева (2)</vt:lpstr>
      <vt:lpstr>Операция балансировки BST – дерева</vt:lpstr>
      <vt:lpstr>Операция балансировки BST – дерева</vt:lpstr>
      <vt:lpstr>Операция балансировки BST – дерева</vt:lpstr>
      <vt:lpstr>Операция балансировки BST – дерева</vt:lpstr>
      <vt:lpstr>Операция балансировки BST – дерева</vt:lpstr>
    </vt:vector>
  </TitlesOfParts>
  <Company>AOI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ИНФОРМАТИКА</dc:title>
  <dc:creator>pnv</dc:creator>
  <cp:lastModifiedBy>Учетная запись Майкрософт</cp:lastModifiedBy>
  <cp:revision>678</cp:revision>
  <dcterms:created xsi:type="dcterms:W3CDTF">2008-09-04T04:37:13Z</dcterms:created>
  <dcterms:modified xsi:type="dcterms:W3CDTF">2022-05-19T10:18:59Z</dcterms:modified>
</cp:coreProperties>
</file>