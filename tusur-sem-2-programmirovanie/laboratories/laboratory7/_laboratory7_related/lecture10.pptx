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9"/>
  </p:notesMasterIdLst>
  <p:sldIdLst>
    <p:sldId id="694" r:id="rId2"/>
    <p:sldId id="695" r:id="rId3"/>
    <p:sldId id="696" r:id="rId4"/>
    <p:sldId id="698" r:id="rId5"/>
    <p:sldId id="727" r:id="rId6"/>
    <p:sldId id="726" r:id="rId7"/>
    <p:sldId id="728" r:id="rId8"/>
    <p:sldId id="729" r:id="rId9"/>
    <p:sldId id="730" r:id="rId10"/>
    <p:sldId id="731" r:id="rId11"/>
    <p:sldId id="732" r:id="rId12"/>
    <p:sldId id="733" r:id="rId13"/>
    <p:sldId id="734" r:id="rId14"/>
    <p:sldId id="735" r:id="rId15"/>
    <p:sldId id="736" r:id="rId16"/>
    <p:sldId id="737" r:id="rId17"/>
    <p:sldId id="738" r:id="rId18"/>
    <p:sldId id="739" r:id="rId19"/>
    <p:sldId id="740" r:id="rId20"/>
    <p:sldId id="741" r:id="rId21"/>
    <p:sldId id="742" r:id="rId22"/>
    <p:sldId id="743" r:id="rId23"/>
    <p:sldId id="744" r:id="rId24"/>
    <p:sldId id="724" r:id="rId25"/>
    <p:sldId id="725" r:id="rId26"/>
    <p:sldId id="699" r:id="rId27"/>
    <p:sldId id="700" r:id="rId28"/>
    <p:sldId id="701" r:id="rId29"/>
    <p:sldId id="702" r:id="rId30"/>
    <p:sldId id="703" r:id="rId31"/>
    <p:sldId id="705" r:id="rId32"/>
    <p:sldId id="706" r:id="rId33"/>
    <p:sldId id="707" r:id="rId34"/>
    <p:sldId id="708" r:id="rId35"/>
    <p:sldId id="709" r:id="rId36"/>
    <p:sldId id="667" r:id="rId37"/>
    <p:sldId id="668" r:id="rId38"/>
    <p:sldId id="710" r:id="rId39"/>
    <p:sldId id="711" r:id="rId40"/>
    <p:sldId id="712" r:id="rId41"/>
    <p:sldId id="713" r:id="rId42"/>
    <p:sldId id="714" r:id="rId43"/>
    <p:sldId id="715" r:id="rId44"/>
    <p:sldId id="716" r:id="rId45"/>
    <p:sldId id="717" r:id="rId46"/>
    <p:sldId id="718" r:id="rId47"/>
    <p:sldId id="719" r:id="rId48"/>
    <p:sldId id="720" r:id="rId49"/>
    <p:sldId id="721" r:id="rId50"/>
    <p:sldId id="722" r:id="rId51"/>
    <p:sldId id="723" r:id="rId52"/>
    <p:sldId id="669" r:id="rId53"/>
    <p:sldId id="670" r:id="rId54"/>
    <p:sldId id="671" r:id="rId55"/>
    <p:sldId id="673" r:id="rId56"/>
    <p:sldId id="674" r:id="rId57"/>
    <p:sldId id="675" r:id="rId58"/>
  </p:sldIdLst>
  <p:sldSz cx="9144000" cy="6858000" type="screen4x3"/>
  <p:notesSz cx="6858000" cy="9144000"/>
  <p:defaultTextStyle>
    <a:defPPr>
      <a:defRPr lang="ru-RU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333CC"/>
    <a:srgbClr val="FF3300"/>
    <a:srgbClr val="99FF66"/>
    <a:srgbClr val="33CC33"/>
    <a:srgbClr val="9900FF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2" autoAdjust="0"/>
    <p:restoredTop sz="94521" autoAdjust="0"/>
  </p:normalViewPr>
  <p:slideViewPr>
    <p:cSldViewPr>
      <p:cViewPr varScale="1">
        <p:scale>
          <a:sx n="101" d="100"/>
          <a:sy n="101" d="100"/>
        </p:scale>
        <p:origin x="11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EEF3A-AA0A-433C-B3D7-10C59029546A}" type="datetimeFigureOut">
              <a:rPr lang="ru-RU" smtClean="0"/>
              <a:t>18.04.2022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09E88-48D6-4672-88B7-A9FFCB3D6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65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1741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29EC7A0-8923-48A1-B8C4-9763541B0FE8}" type="slidenum">
              <a:rPr lang="ru-RU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614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1AC0E-534B-4C3C-84DF-C63EEE55AEB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585A7-BD85-48D7-ACD3-308E7457D1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A8DDE-398F-45BC-B5D9-3C857A2F11A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156E5-C698-4B5D-BAFA-C28884DD4B6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8DB13-6B47-4308-AAC1-2ED9E6CBDF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000AA-E931-4F05-B157-633C1DCBE3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C7ADB-1454-474D-BFD6-AB2F84C985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1C0D6-23ED-4061-B49E-0E6789FAE1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41072-F799-4C96-BFB4-C3C0DD19EA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030F4-0A7F-4C44-955E-16B3B9F0B6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08EF4-B29F-409D-B3BE-9042D82377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A6286-4F4E-45E5-A9BC-C674408CC4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rgbClr val="D3D3D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74C91D7C-5708-42BC-BAB6-2ACF0D021D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46031" y="1238220"/>
            <a:ext cx="8229600" cy="492925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ClrTx/>
              <a:buSzPct val="70000"/>
              <a:buNone/>
              <a:defRPr/>
            </a:pPr>
            <a:r>
              <a:rPr lang="en-US" b="1" dirty="0">
                <a:solidFill>
                  <a:schemeClr val="bg2"/>
                </a:solidFill>
                <a:effectLst/>
              </a:rPr>
              <a:t>B</a:t>
            </a:r>
            <a:r>
              <a:rPr lang="en-US" dirty="0">
                <a:solidFill>
                  <a:schemeClr val="bg2"/>
                </a:solidFill>
                <a:effectLst/>
              </a:rPr>
              <a:t>inary </a:t>
            </a:r>
            <a:r>
              <a:rPr lang="en-US" b="1" dirty="0">
                <a:solidFill>
                  <a:schemeClr val="bg2"/>
                </a:solidFill>
                <a:effectLst/>
              </a:rPr>
              <a:t>S</a:t>
            </a:r>
            <a:r>
              <a:rPr lang="en-US" dirty="0">
                <a:solidFill>
                  <a:schemeClr val="bg2"/>
                </a:solidFill>
                <a:effectLst/>
              </a:rPr>
              <a:t>earch </a:t>
            </a:r>
            <a:r>
              <a:rPr lang="en-US" b="1" dirty="0">
                <a:solidFill>
                  <a:schemeClr val="bg2"/>
                </a:solidFill>
                <a:effectLst/>
              </a:rPr>
              <a:t>T</a:t>
            </a:r>
            <a:r>
              <a:rPr lang="en-US" dirty="0">
                <a:solidFill>
                  <a:schemeClr val="bg2"/>
                </a:solidFill>
                <a:effectLst/>
              </a:rPr>
              <a:t>ree  - </a:t>
            </a:r>
            <a:r>
              <a:rPr lang="ru-RU" dirty="0">
                <a:solidFill>
                  <a:schemeClr val="bg2"/>
                </a:solidFill>
                <a:effectLst/>
              </a:rPr>
              <a:t>деревья двоичного поиска. </a:t>
            </a:r>
          </a:p>
        </p:txBody>
      </p:sp>
      <p:sp>
        <p:nvSpPr>
          <p:cNvPr id="5" name="Овал 4"/>
          <p:cNvSpPr/>
          <p:nvPr/>
        </p:nvSpPr>
        <p:spPr bwMode="auto">
          <a:xfrm>
            <a:off x="3622662" y="2698740"/>
            <a:ext cx="839799" cy="73026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endParaRPr kumimoji="0" lang="ru-RU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6" name="Овал 5"/>
          <p:cNvSpPr/>
          <p:nvPr/>
        </p:nvSpPr>
        <p:spPr bwMode="auto">
          <a:xfrm>
            <a:off x="1870038" y="4086234"/>
            <a:ext cx="839799" cy="73026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endParaRPr kumimoji="0" lang="ru-RU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5448312" y="4049721"/>
            <a:ext cx="839799" cy="73026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endParaRPr kumimoji="0" lang="ru-RU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0" name="Прямая со стрелкой 9"/>
          <p:cNvCxnSpPr>
            <a:stCxn id="5" idx="3"/>
            <a:endCxn id="6" idx="7"/>
          </p:cNvCxnSpPr>
          <p:nvPr/>
        </p:nvCxnSpPr>
        <p:spPr bwMode="auto">
          <a:xfrm rot="5400000">
            <a:off x="2730689" y="3178219"/>
            <a:ext cx="871122" cy="11587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Прямая со стрелкой 10"/>
          <p:cNvCxnSpPr>
            <a:stCxn id="5" idx="5"/>
            <a:endCxn id="7" idx="1"/>
          </p:cNvCxnSpPr>
          <p:nvPr/>
        </p:nvCxnSpPr>
        <p:spPr bwMode="auto">
          <a:xfrm rot="16200000" flipH="1">
            <a:off x="4538082" y="3123448"/>
            <a:ext cx="834609" cy="12318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813441" y="2479662"/>
            <a:ext cx="2154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Родитель</a:t>
            </a:r>
          </a:p>
        </p:txBody>
      </p:sp>
      <p:cxnSp>
        <p:nvCxnSpPr>
          <p:cNvPr id="16" name="Прямая со стрелкой 15"/>
          <p:cNvCxnSpPr>
            <a:stCxn id="15" idx="1"/>
            <a:endCxn id="5" idx="6"/>
          </p:cNvCxnSpPr>
          <p:nvPr/>
        </p:nvCxnSpPr>
        <p:spPr bwMode="auto">
          <a:xfrm rot="10800000" flipV="1">
            <a:off x="4462461" y="2741272"/>
            <a:ext cx="1350980" cy="3225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324624" y="5035572"/>
            <a:ext cx="2154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Правый потомок</a:t>
            </a:r>
          </a:p>
        </p:txBody>
      </p:sp>
      <p:cxnSp>
        <p:nvCxnSpPr>
          <p:cNvPr id="20" name="Прямая со стрелкой 19"/>
          <p:cNvCxnSpPr>
            <a:stCxn id="19" idx="0"/>
            <a:endCxn id="7" idx="6"/>
          </p:cNvCxnSpPr>
          <p:nvPr/>
        </p:nvCxnSpPr>
        <p:spPr bwMode="auto">
          <a:xfrm rot="16200000" flipV="1">
            <a:off x="6534575" y="4168388"/>
            <a:ext cx="620721" cy="11136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19057" y="4999059"/>
            <a:ext cx="2154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Левый потомок</a:t>
            </a:r>
          </a:p>
        </p:txBody>
      </p:sp>
      <p:cxnSp>
        <p:nvCxnSpPr>
          <p:cNvPr id="25" name="Прямая со стрелкой 24"/>
          <p:cNvCxnSpPr>
            <a:stCxn id="24" idx="0"/>
            <a:endCxn id="6" idx="3"/>
          </p:cNvCxnSpPr>
          <p:nvPr/>
        </p:nvCxnSpPr>
        <p:spPr bwMode="auto">
          <a:xfrm rot="5400000" flipH="1" flipV="1">
            <a:off x="1649853" y="4655889"/>
            <a:ext cx="289509" cy="3968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B573BC5F-493D-4A45-9AC7-4B54D383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 build="p"/>
      <p:bldP spid="5" grpId="0" animBg="1"/>
      <p:bldP spid="6" grpId="0" animBg="1"/>
      <p:bldP spid="7" grpId="0" animBg="1"/>
      <p:bldP spid="15" grpId="0"/>
      <p:bldP spid="19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2544" y="1457298"/>
            <a:ext cx="8229600" cy="492925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ru-RU" b="1" dirty="0">
                <a:solidFill>
                  <a:schemeClr val="bg2"/>
                </a:solidFill>
                <a:effectLst/>
              </a:rPr>
              <a:t>Правила организации элементов: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6" name="Овал 5"/>
          <p:cNvSpPr/>
          <p:nvPr/>
        </p:nvSpPr>
        <p:spPr bwMode="auto">
          <a:xfrm>
            <a:off x="3622662" y="2698740"/>
            <a:ext cx="839799" cy="73026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endParaRPr kumimoji="0" lang="ru-RU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1870038" y="4086234"/>
            <a:ext cx="839799" cy="73026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endParaRPr kumimoji="0" lang="ru-RU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5448312" y="4049721"/>
            <a:ext cx="839799" cy="73026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endParaRPr kumimoji="0" lang="ru-RU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9" name="Прямая со стрелкой 8"/>
          <p:cNvCxnSpPr>
            <a:stCxn id="6" idx="3"/>
            <a:endCxn id="7" idx="7"/>
          </p:cNvCxnSpPr>
          <p:nvPr/>
        </p:nvCxnSpPr>
        <p:spPr bwMode="auto">
          <a:xfrm rot="5400000">
            <a:off x="2730689" y="3178219"/>
            <a:ext cx="871122" cy="11587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Прямая со стрелкой 9"/>
          <p:cNvCxnSpPr>
            <a:stCxn id="6" idx="5"/>
            <a:endCxn id="8" idx="1"/>
          </p:cNvCxnSpPr>
          <p:nvPr/>
        </p:nvCxnSpPr>
        <p:spPr bwMode="auto">
          <a:xfrm rot="16200000" flipH="1">
            <a:off x="4538082" y="3123448"/>
            <a:ext cx="834609" cy="12318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5813441" y="2479662"/>
            <a:ext cx="2154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Родитель</a:t>
            </a:r>
          </a:p>
        </p:txBody>
      </p:sp>
      <p:cxnSp>
        <p:nvCxnSpPr>
          <p:cNvPr id="12" name="Прямая со стрелкой 11"/>
          <p:cNvCxnSpPr>
            <a:stCxn id="11" idx="1"/>
            <a:endCxn id="6" idx="6"/>
          </p:cNvCxnSpPr>
          <p:nvPr/>
        </p:nvCxnSpPr>
        <p:spPr bwMode="auto">
          <a:xfrm rot="10800000" flipV="1">
            <a:off x="4462461" y="2741272"/>
            <a:ext cx="1350980" cy="3225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324624" y="5035572"/>
            <a:ext cx="2154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Правый потомок</a:t>
            </a:r>
          </a:p>
        </p:txBody>
      </p:sp>
      <p:cxnSp>
        <p:nvCxnSpPr>
          <p:cNvPr id="14" name="Прямая со стрелкой 13"/>
          <p:cNvCxnSpPr>
            <a:stCxn id="13" idx="0"/>
            <a:endCxn id="8" idx="6"/>
          </p:cNvCxnSpPr>
          <p:nvPr/>
        </p:nvCxnSpPr>
        <p:spPr bwMode="auto">
          <a:xfrm rot="16200000" flipV="1">
            <a:off x="6534575" y="4168388"/>
            <a:ext cx="620721" cy="11136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19057" y="4999059"/>
            <a:ext cx="2154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Левый потомок</a:t>
            </a:r>
          </a:p>
        </p:txBody>
      </p:sp>
      <p:cxnSp>
        <p:nvCxnSpPr>
          <p:cNvPr id="16" name="Прямая со стрелкой 15"/>
          <p:cNvCxnSpPr>
            <a:stCxn id="15" idx="0"/>
            <a:endCxn id="7" idx="3"/>
          </p:cNvCxnSpPr>
          <p:nvPr/>
        </p:nvCxnSpPr>
        <p:spPr bwMode="auto">
          <a:xfrm rot="5400000" flipH="1" flipV="1">
            <a:off x="1649853" y="4655889"/>
            <a:ext cx="289509" cy="3968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937130" y="3282948"/>
            <a:ext cx="273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rgbClr val="000000"/>
                </a:solidFill>
              </a:rPr>
              <a:t>Родитель </a:t>
            </a:r>
            <a:r>
              <a:rPr lang="en-US" b="0" dirty="0">
                <a:solidFill>
                  <a:srgbClr val="000000"/>
                </a:solidFill>
              </a:rPr>
              <a:t>&lt;=</a:t>
            </a:r>
            <a:endParaRPr lang="ru-RU" b="0" dirty="0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7213" y="3392487"/>
            <a:ext cx="273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rgbClr val="000000"/>
                </a:solidFill>
              </a:rPr>
              <a:t>Родитель </a:t>
            </a:r>
            <a:r>
              <a:rPr lang="en-US" b="0" dirty="0">
                <a:solidFill>
                  <a:srgbClr val="000000"/>
                </a:solidFill>
              </a:rPr>
              <a:t>&gt;</a:t>
            </a:r>
            <a:endParaRPr lang="ru-RU" b="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17D9AB47-C14B-448A-9C0A-57F2A6D5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5" grpId="1"/>
      <p:bldP spid="6" grpId="0" animBg="1"/>
      <p:bldP spid="7" grpId="0" animBg="1"/>
      <p:bldP spid="8" grpId="0" animBg="1"/>
      <p:bldP spid="11" grpId="0"/>
      <p:bldP spid="13" grpId="0"/>
      <p:bldP spid="15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82544" y="1238220"/>
            <a:ext cx="8229600" cy="5184846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bg2"/>
                </a:solidFill>
                <a:effectLst/>
              </a:rPr>
              <a:t>Реализация описания узла дерева в Си</a:t>
            </a:r>
            <a:endParaRPr lang="en-US" b="1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r>
              <a:rPr lang="en-US" b="1" dirty="0" err="1">
                <a:solidFill>
                  <a:srgbClr val="000000"/>
                </a:solidFill>
                <a:effectLst/>
              </a:rPr>
              <a:t>typedef</a:t>
            </a:r>
            <a:r>
              <a:rPr lang="en-US" b="1" dirty="0">
                <a:solidFill>
                  <a:srgbClr val="000000"/>
                </a:solidFill>
                <a:effectLst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b="1" dirty="0">
                <a:solidFill>
                  <a:srgbClr val="000000"/>
                </a:solidFill>
                <a:effectLst/>
              </a:rPr>
              <a:t> node{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b="1" dirty="0" err="1">
                <a:solidFill>
                  <a:srgbClr val="000000"/>
                </a:solidFill>
                <a:effectLst/>
              </a:rPr>
              <a:t>int</a:t>
            </a:r>
            <a:r>
              <a:rPr lang="en-US" b="1" dirty="0">
                <a:solidFill>
                  <a:srgbClr val="000000"/>
                </a:solidFill>
                <a:effectLst/>
              </a:rPr>
              <a:t> data;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b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b="1" dirty="0">
                <a:solidFill>
                  <a:srgbClr val="000000"/>
                </a:solidFill>
                <a:effectLst/>
              </a:rPr>
              <a:t> node *left;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b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b="1" dirty="0">
                <a:solidFill>
                  <a:srgbClr val="000000"/>
                </a:solidFill>
                <a:effectLst/>
              </a:rPr>
              <a:t> node *right;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</a:rPr>
              <a:t>        } Node;</a:t>
            </a:r>
            <a:r>
              <a:rPr lang="ru-RU" dirty="0">
                <a:solidFill>
                  <a:srgbClr val="000000"/>
                </a:solidFill>
                <a:effectLst/>
              </a:rPr>
              <a:t>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16915899-93E7-4081-8471-6501EA0F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C257D8E4-81FF-491E-B583-0DF6E563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DAFCD30F-0A1F-45E9-9C06-3BCBA993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62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4C24847-ABDE-410E-9242-87886E5D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38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573F278-2D37-486B-BF1C-23449B0C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33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cxnSpLocks/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EFCD617-E86A-4ECF-930F-7BFACDC5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62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07352CC-2BA2-4FFF-B980-F00BDD31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44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E86CAD89-7F14-40D3-B834-FECC86E3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84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89DBC386-DCF0-4F1B-B19A-59445F52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89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40EB45B0-ECF7-498F-8CDC-A96D51FD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80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28670537-F3E4-4BCA-A2E4-7DDEE1B3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71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45767AB1-8800-46AB-9FED-20B29EA8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36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E2648BC9-5AD2-4308-BBEE-E0C6EBD7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89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459C31E9-9771-4CCA-BE78-07784488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68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D1B663D1-CB87-4863-BA71-FBCAE382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00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83" name="Прямая со стрелкой 82"/>
          <p:cNvCxnSpPr>
            <a:stCxn id="33" idx="3"/>
            <a:endCxn id="85" idx="0"/>
          </p:cNvCxnSpPr>
          <p:nvPr/>
        </p:nvCxnSpPr>
        <p:spPr bwMode="auto">
          <a:xfrm rot="5400000">
            <a:off x="2240057" y="4026956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1943064" y="434182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8FD3190A-289A-4A39-A231-719DA0C3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  <p:bldP spid="8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83" name="Прямая со стрелкой 82"/>
          <p:cNvCxnSpPr>
            <a:stCxn id="33" idx="3"/>
            <a:endCxn id="85" idx="0"/>
          </p:cNvCxnSpPr>
          <p:nvPr/>
        </p:nvCxnSpPr>
        <p:spPr bwMode="auto">
          <a:xfrm rot="5400000">
            <a:off x="2240057" y="4026956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1943064" y="434182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91" name="Прямая со стрелкой 90"/>
          <p:cNvCxnSpPr>
            <a:stCxn id="72" idx="4"/>
            <a:endCxn id="96" idx="0"/>
          </p:cNvCxnSpPr>
          <p:nvPr/>
        </p:nvCxnSpPr>
        <p:spPr bwMode="auto">
          <a:xfrm rot="16200000" flipH="1">
            <a:off x="4389435" y="4305311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Овал 95"/>
          <p:cNvSpPr/>
          <p:nvPr/>
        </p:nvSpPr>
        <p:spPr bwMode="auto">
          <a:xfrm>
            <a:off x="4389435" y="477998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B66EC384-A5DC-4457-9EE4-F98E1C711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97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  <p:bldP spid="85" grpId="0" animBg="1"/>
      <p:bldP spid="9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83" name="Прямая со стрелкой 82"/>
          <p:cNvCxnSpPr>
            <a:stCxn id="33" idx="3"/>
            <a:endCxn id="85" idx="0"/>
          </p:cNvCxnSpPr>
          <p:nvPr/>
        </p:nvCxnSpPr>
        <p:spPr bwMode="auto">
          <a:xfrm rot="5400000">
            <a:off x="2240057" y="4026956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1943064" y="434182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91" name="Прямая со стрелкой 90"/>
          <p:cNvCxnSpPr>
            <a:stCxn id="72" idx="4"/>
            <a:endCxn id="96" idx="0"/>
          </p:cNvCxnSpPr>
          <p:nvPr/>
        </p:nvCxnSpPr>
        <p:spPr bwMode="auto">
          <a:xfrm rot="16200000" flipH="1">
            <a:off x="4389435" y="4305311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Овал 95"/>
          <p:cNvSpPr/>
          <p:nvPr/>
        </p:nvSpPr>
        <p:spPr bwMode="auto">
          <a:xfrm>
            <a:off x="4389435" y="477998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03" name="Прямая со стрелкой 102"/>
          <p:cNvCxnSpPr>
            <a:endCxn id="105" idx="1"/>
          </p:cNvCxnSpPr>
          <p:nvPr/>
        </p:nvCxnSpPr>
        <p:spPr bwMode="auto">
          <a:xfrm rot="16200000" flipH="1">
            <a:off x="4906423" y="5139305"/>
            <a:ext cx="236954" cy="3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5" name="Овал 104"/>
          <p:cNvSpPr/>
          <p:nvPr/>
        </p:nvSpPr>
        <p:spPr bwMode="auto">
          <a:xfrm>
            <a:off x="5083182" y="536418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20D4B006-E87E-42B1-ABCE-D15FDF51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97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  <p:bldP spid="85" grpId="0" animBg="1"/>
      <p:bldP spid="96" grpId="0" animBg="1"/>
      <p:bldP spid="10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83" name="Прямая со стрелкой 82"/>
          <p:cNvCxnSpPr>
            <a:stCxn id="33" idx="3"/>
            <a:endCxn id="85" idx="0"/>
          </p:cNvCxnSpPr>
          <p:nvPr/>
        </p:nvCxnSpPr>
        <p:spPr bwMode="auto">
          <a:xfrm rot="5400000">
            <a:off x="2240057" y="4026956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1943064" y="434182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91" name="Прямая со стрелкой 90"/>
          <p:cNvCxnSpPr>
            <a:stCxn id="72" idx="4"/>
            <a:endCxn id="96" idx="0"/>
          </p:cNvCxnSpPr>
          <p:nvPr/>
        </p:nvCxnSpPr>
        <p:spPr bwMode="auto">
          <a:xfrm rot="16200000" flipH="1">
            <a:off x="4389435" y="4305311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Овал 95"/>
          <p:cNvSpPr/>
          <p:nvPr/>
        </p:nvSpPr>
        <p:spPr bwMode="auto">
          <a:xfrm>
            <a:off x="4389435" y="477998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03" name="Прямая со стрелкой 102"/>
          <p:cNvCxnSpPr>
            <a:endCxn id="105" idx="1"/>
          </p:cNvCxnSpPr>
          <p:nvPr/>
        </p:nvCxnSpPr>
        <p:spPr bwMode="auto">
          <a:xfrm rot="16200000" flipH="1">
            <a:off x="4906423" y="5139305"/>
            <a:ext cx="236954" cy="3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5" name="Овал 104"/>
          <p:cNvSpPr/>
          <p:nvPr/>
        </p:nvSpPr>
        <p:spPr bwMode="auto">
          <a:xfrm>
            <a:off x="5083182" y="536418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10" name="Прямая со стрелкой 109"/>
          <p:cNvCxnSpPr>
            <a:endCxn id="113" idx="0"/>
          </p:cNvCxnSpPr>
          <p:nvPr/>
        </p:nvCxnSpPr>
        <p:spPr bwMode="auto">
          <a:xfrm rot="5400000">
            <a:off x="4498975" y="5072085"/>
            <a:ext cx="182565" cy="474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3" name="Овал 112"/>
          <p:cNvSpPr/>
          <p:nvPr/>
        </p:nvSpPr>
        <p:spPr bwMode="auto">
          <a:xfrm>
            <a:off x="3878253" y="5400702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215D546D-2A93-41D5-81E1-B37CF20C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97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  <p:bldP spid="85" grpId="0" animBg="1"/>
      <p:bldP spid="96" grpId="0" animBg="1"/>
      <p:bldP spid="105" grpId="0" animBg="1"/>
      <p:bldP spid="1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83" name="Прямая со стрелкой 82"/>
          <p:cNvCxnSpPr>
            <a:stCxn id="33" idx="3"/>
            <a:endCxn id="85" idx="0"/>
          </p:cNvCxnSpPr>
          <p:nvPr/>
        </p:nvCxnSpPr>
        <p:spPr bwMode="auto">
          <a:xfrm rot="5400000">
            <a:off x="2240057" y="4026956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1943064" y="434182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91" name="Прямая со стрелкой 90"/>
          <p:cNvCxnSpPr>
            <a:stCxn id="72" idx="4"/>
            <a:endCxn id="96" idx="0"/>
          </p:cNvCxnSpPr>
          <p:nvPr/>
        </p:nvCxnSpPr>
        <p:spPr bwMode="auto">
          <a:xfrm rot="16200000" flipH="1">
            <a:off x="4389435" y="4305311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Овал 95"/>
          <p:cNvSpPr/>
          <p:nvPr/>
        </p:nvSpPr>
        <p:spPr bwMode="auto">
          <a:xfrm>
            <a:off x="4389435" y="477998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03" name="Прямая со стрелкой 102"/>
          <p:cNvCxnSpPr>
            <a:endCxn id="105" idx="1"/>
          </p:cNvCxnSpPr>
          <p:nvPr/>
        </p:nvCxnSpPr>
        <p:spPr bwMode="auto">
          <a:xfrm rot="16200000" flipH="1">
            <a:off x="4906423" y="5139305"/>
            <a:ext cx="236954" cy="3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5" name="Овал 104"/>
          <p:cNvSpPr/>
          <p:nvPr/>
        </p:nvSpPr>
        <p:spPr bwMode="auto">
          <a:xfrm>
            <a:off x="5083182" y="536418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10" name="Прямая со стрелкой 109"/>
          <p:cNvCxnSpPr>
            <a:endCxn id="113" idx="0"/>
          </p:cNvCxnSpPr>
          <p:nvPr/>
        </p:nvCxnSpPr>
        <p:spPr bwMode="auto">
          <a:xfrm rot="5400000">
            <a:off x="4498975" y="5072085"/>
            <a:ext cx="182565" cy="474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3" name="Овал 112"/>
          <p:cNvSpPr/>
          <p:nvPr/>
        </p:nvSpPr>
        <p:spPr bwMode="auto">
          <a:xfrm>
            <a:off x="3878253" y="5400702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17" name="Прямая со стрелкой 116"/>
          <p:cNvCxnSpPr>
            <a:stCxn id="105" idx="5"/>
            <a:endCxn id="138" idx="0"/>
          </p:cNvCxnSpPr>
          <p:nvPr/>
        </p:nvCxnSpPr>
        <p:spPr bwMode="auto">
          <a:xfrm rot="16200000" flipH="1">
            <a:off x="5935812" y="5851689"/>
            <a:ext cx="90902" cy="1755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8" name="Овал 137"/>
          <p:cNvSpPr/>
          <p:nvPr/>
        </p:nvSpPr>
        <p:spPr bwMode="auto">
          <a:xfrm>
            <a:off x="5594364" y="598491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65C243F4-7000-4268-8A6A-60940DF9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1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  <p:bldP spid="85" grpId="0" animBg="1"/>
      <p:bldP spid="96" grpId="0" animBg="1"/>
      <p:bldP spid="105" grpId="0" animBg="1"/>
      <p:bldP spid="113" grpId="0" animBg="1"/>
      <p:bldP spid="1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99979" y="1092168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951279" y="185894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84825" y="22970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3" name="Прямая со стрелкой 12"/>
          <p:cNvCxnSpPr>
            <a:stCxn id="10" idx="6"/>
            <a:endCxn id="11" idx="0"/>
          </p:cNvCxnSpPr>
          <p:nvPr/>
        </p:nvCxnSpPr>
        <p:spPr bwMode="auto">
          <a:xfrm>
            <a:off x="4389435" y="2169302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Прямая со стрелкой 13"/>
          <p:cNvCxnSpPr>
            <a:stCxn id="11" idx="2"/>
            <a:endCxn id="17" idx="0"/>
          </p:cNvCxnSpPr>
          <p:nvPr/>
        </p:nvCxnSpPr>
        <p:spPr bwMode="auto">
          <a:xfrm rot="10800000" flipV="1">
            <a:off x="4535487" y="2607458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4316409" y="284479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0" idx="2"/>
            <a:endCxn id="24" idx="0"/>
          </p:cNvCxnSpPr>
          <p:nvPr/>
        </p:nvCxnSpPr>
        <p:spPr bwMode="auto">
          <a:xfrm rot="10800000" flipV="1">
            <a:off x="2709837" y="2169302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2490759" y="233361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2"/>
            <a:endCxn id="29" idx="0"/>
          </p:cNvCxnSpPr>
          <p:nvPr/>
        </p:nvCxnSpPr>
        <p:spPr bwMode="auto">
          <a:xfrm rot="10800000" flipV="1">
            <a:off x="1760499" y="2643971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1541421" y="288130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9" idx="5"/>
            <a:endCxn id="33" idx="0"/>
          </p:cNvCxnSpPr>
          <p:nvPr/>
        </p:nvCxnSpPr>
        <p:spPr bwMode="auto">
          <a:xfrm rot="16200000" flipH="1">
            <a:off x="2230659" y="3095874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2490759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11" idx="6"/>
            <a:endCxn id="41" idx="0"/>
          </p:cNvCxnSpPr>
          <p:nvPr/>
        </p:nvCxnSpPr>
        <p:spPr bwMode="auto">
          <a:xfrm>
            <a:off x="5922981" y="2607458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6543702" y="273525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1" idx="3"/>
            <a:endCxn id="48" idx="0"/>
          </p:cNvCxnSpPr>
          <p:nvPr/>
        </p:nvCxnSpPr>
        <p:spPr bwMode="auto">
          <a:xfrm rot="5400000">
            <a:off x="6202635" y="2875880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5338773" y="335597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0" name="Прямая со стрелкой 49"/>
          <p:cNvCxnSpPr>
            <a:stCxn id="48" idx="5"/>
            <a:endCxn id="53" idx="0"/>
          </p:cNvCxnSpPr>
          <p:nvPr/>
        </p:nvCxnSpPr>
        <p:spPr bwMode="auto">
          <a:xfrm rot="16200000" flipH="1">
            <a:off x="7012946" y="3021931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Овал 52"/>
          <p:cNvSpPr/>
          <p:nvPr/>
        </p:nvSpPr>
        <p:spPr bwMode="auto">
          <a:xfrm>
            <a:off x="7675605" y="415926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59" name="Прямая со стрелкой 58"/>
          <p:cNvCxnSpPr>
            <a:stCxn id="29" idx="3"/>
            <a:endCxn id="61" idx="0"/>
          </p:cNvCxnSpPr>
          <p:nvPr/>
        </p:nvCxnSpPr>
        <p:spPr bwMode="auto">
          <a:xfrm rot="5400000">
            <a:off x="1126411" y="3095875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Овал 60"/>
          <p:cNvSpPr/>
          <p:nvPr/>
        </p:nvSpPr>
        <p:spPr bwMode="auto">
          <a:xfrm>
            <a:off x="592083" y="357505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4" name="Прямая со стрелкой 63"/>
          <p:cNvCxnSpPr>
            <a:stCxn id="61" idx="5"/>
            <a:endCxn id="67" idx="0"/>
          </p:cNvCxnSpPr>
          <p:nvPr/>
        </p:nvCxnSpPr>
        <p:spPr bwMode="auto">
          <a:xfrm rot="16200000" flipH="1">
            <a:off x="1098757" y="3972186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Овал 66"/>
          <p:cNvSpPr/>
          <p:nvPr/>
        </p:nvSpPr>
        <p:spPr bwMode="auto">
          <a:xfrm>
            <a:off x="1212804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0" name="Прямая со стрелкой 69"/>
          <p:cNvCxnSpPr>
            <a:stCxn id="48" idx="3"/>
            <a:endCxn id="72" idx="0"/>
          </p:cNvCxnSpPr>
          <p:nvPr/>
        </p:nvCxnSpPr>
        <p:spPr bwMode="auto">
          <a:xfrm rot="5400000">
            <a:off x="4669089" y="3241010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Овал 71"/>
          <p:cNvSpPr/>
          <p:nvPr/>
        </p:nvSpPr>
        <p:spPr bwMode="auto">
          <a:xfrm>
            <a:off x="3549636" y="404972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4" name="Прямая со стрелкой 73"/>
          <p:cNvCxnSpPr>
            <a:stCxn id="53" idx="4"/>
            <a:endCxn id="76" idx="0"/>
          </p:cNvCxnSpPr>
          <p:nvPr/>
        </p:nvCxnSpPr>
        <p:spPr bwMode="auto">
          <a:xfrm rot="16200000" flipH="1">
            <a:off x="8223300" y="4706955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Овал 75"/>
          <p:cNvSpPr/>
          <p:nvPr/>
        </p:nvSpPr>
        <p:spPr bwMode="auto">
          <a:xfrm>
            <a:off x="7967709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8" name="Прямая со стрелкой 77"/>
          <p:cNvCxnSpPr>
            <a:stCxn id="53" idx="4"/>
            <a:endCxn id="81" idx="0"/>
          </p:cNvCxnSpPr>
          <p:nvPr/>
        </p:nvCxnSpPr>
        <p:spPr bwMode="auto">
          <a:xfrm rot="5400000">
            <a:off x="7602579" y="4451364"/>
            <a:ext cx="219078" cy="8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Овал 80"/>
          <p:cNvSpPr/>
          <p:nvPr/>
        </p:nvSpPr>
        <p:spPr bwMode="auto">
          <a:xfrm>
            <a:off x="6799293" y="499905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83" name="Прямая со стрелкой 82"/>
          <p:cNvCxnSpPr>
            <a:stCxn id="33" idx="3"/>
            <a:endCxn id="85" idx="0"/>
          </p:cNvCxnSpPr>
          <p:nvPr/>
        </p:nvCxnSpPr>
        <p:spPr bwMode="auto">
          <a:xfrm rot="5400000">
            <a:off x="2240057" y="4026956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1943064" y="434182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91" name="Прямая со стрелкой 90"/>
          <p:cNvCxnSpPr>
            <a:stCxn id="72" idx="4"/>
            <a:endCxn id="96" idx="0"/>
          </p:cNvCxnSpPr>
          <p:nvPr/>
        </p:nvCxnSpPr>
        <p:spPr bwMode="auto">
          <a:xfrm rot="16200000" flipH="1">
            <a:off x="4389435" y="4305311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Овал 95"/>
          <p:cNvSpPr/>
          <p:nvPr/>
        </p:nvSpPr>
        <p:spPr bwMode="auto">
          <a:xfrm>
            <a:off x="4389435" y="477998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03" name="Прямая со стрелкой 102"/>
          <p:cNvCxnSpPr>
            <a:endCxn id="105" idx="1"/>
          </p:cNvCxnSpPr>
          <p:nvPr/>
        </p:nvCxnSpPr>
        <p:spPr bwMode="auto">
          <a:xfrm rot="16200000" flipH="1">
            <a:off x="4906423" y="5139305"/>
            <a:ext cx="236954" cy="3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5" name="Овал 104"/>
          <p:cNvSpPr/>
          <p:nvPr/>
        </p:nvSpPr>
        <p:spPr bwMode="auto">
          <a:xfrm>
            <a:off x="5083182" y="5364189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10" name="Прямая со стрелкой 109"/>
          <p:cNvCxnSpPr>
            <a:endCxn id="113" idx="0"/>
          </p:cNvCxnSpPr>
          <p:nvPr/>
        </p:nvCxnSpPr>
        <p:spPr bwMode="auto">
          <a:xfrm rot="5400000">
            <a:off x="4498975" y="5072085"/>
            <a:ext cx="182565" cy="474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3" name="Овал 112"/>
          <p:cNvSpPr/>
          <p:nvPr/>
        </p:nvSpPr>
        <p:spPr bwMode="auto">
          <a:xfrm>
            <a:off x="3878253" y="5400702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17" name="Прямая со стрелкой 116"/>
          <p:cNvCxnSpPr>
            <a:stCxn id="105" idx="5"/>
            <a:endCxn id="138" idx="0"/>
          </p:cNvCxnSpPr>
          <p:nvPr/>
        </p:nvCxnSpPr>
        <p:spPr bwMode="auto">
          <a:xfrm rot="16200000" flipH="1">
            <a:off x="5935812" y="5851689"/>
            <a:ext cx="90902" cy="1755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8" name="Овал 137"/>
          <p:cNvSpPr/>
          <p:nvPr/>
        </p:nvSpPr>
        <p:spPr bwMode="auto">
          <a:xfrm>
            <a:off x="5594364" y="598491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41" name="Прямая со стрелкой 140"/>
          <p:cNvCxnSpPr>
            <a:stCxn id="81" idx="4"/>
            <a:endCxn id="144" idx="1"/>
          </p:cNvCxnSpPr>
          <p:nvPr/>
        </p:nvCxnSpPr>
        <p:spPr bwMode="auto">
          <a:xfrm rot="5400000">
            <a:off x="6878125" y="5460897"/>
            <a:ext cx="236954" cy="554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4" name="Овал 143"/>
          <p:cNvSpPr/>
          <p:nvPr/>
        </p:nvSpPr>
        <p:spPr bwMode="auto">
          <a:xfrm>
            <a:off x="6580215" y="5765832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32943A6A-8860-4B3E-9313-F094F6D0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63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7" grpId="0" animBg="1"/>
      <p:bldP spid="24" grpId="0" animBg="1"/>
      <p:bldP spid="29" grpId="0" animBg="1"/>
      <p:bldP spid="33" grpId="0" animBg="1"/>
      <p:bldP spid="41" grpId="0" animBg="1"/>
      <p:bldP spid="48" grpId="0" animBg="1"/>
      <p:bldP spid="53" grpId="0" animBg="1"/>
      <p:bldP spid="61" grpId="0" animBg="1"/>
      <p:bldP spid="67" grpId="0" animBg="1"/>
      <p:bldP spid="72" grpId="0" animBg="1"/>
      <p:bldP spid="76" grpId="0" animBg="1"/>
      <p:bldP spid="81" grpId="0" animBg="1"/>
      <p:bldP spid="85" grpId="0" animBg="1"/>
      <p:bldP spid="96" grpId="0" animBg="1"/>
      <p:bldP spid="105" grpId="0" animBg="1"/>
      <p:bldP spid="113" grpId="0" animBg="1"/>
      <p:bldP spid="138" grpId="0" animBg="1"/>
      <p:bldP spid="1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3238" y="1592263"/>
            <a:ext cx="7885112" cy="397033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b="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Деревья бинарного поиска можно определить таким образом чтобы 	индексы 	строились в точности так же… </a:t>
            </a:r>
          </a:p>
          <a:p>
            <a:pPr>
              <a:defRPr/>
            </a:pPr>
            <a:endParaRPr lang="ru-RU" b="0" dirty="0">
              <a:solidFill>
                <a:srgbClr val="000000"/>
              </a:solidFill>
            </a:endParaRPr>
          </a:p>
          <a:p>
            <a:pPr>
              <a:defRPr/>
            </a:pPr>
            <a:endParaRPr lang="ru-RU" b="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ru-RU" b="0" dirty="0">
                <a:solidFill>
                  <a:srgbClr val="000000"/>
                </a:solidFill>
              </a:rPr>
              <a:t>				  		</a:t>
            </a:r>
          </a:p>
          <a:p>
            <a:pPr>
              <a:defRPr/>
            </a:pPr>
            <a:r>
              <a:rPr lang="ru-RU" b="0" dirty="0">
                <a:solidFill>
                  <a:srgbClr val="000000"/>
                </a:solidFill>
              </a:rPr>
              <a:t>									</a:t>
            </a:r>
          </a:p>
          <a:p>
            <a:pPr>
              <a:defRPr/>
            </a:pPr>
            <a:endParaRPr lang="ru-RU" b="0" dirty="0">
              <a:solidFill>
                <a:srgbClr val="000000"/>
              </a:solidFill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519113" y="179388"/>
            <a:ext cx="8229600" cy="105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Пример использования 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BST-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деревьев для поиска слов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15900" y="3897313"/>
          <a:ext cx="8640960" cy="2232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52309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Деревья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ru-RU" sz="2000" b="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бинарного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поиска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19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можно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9980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определить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таким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образом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чтобы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980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индексы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строились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в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точности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9980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так</a:t>
                      </a:r>
                      <a:r>
                        <a:rPr lang="ru-RU" sz="2000" b="0" baseline="0" dirty="0">
                          <a:solidFill>
                            <a:srgbClr val="000000"/>
                          </a:solidFill>
                        </a:rPr>
                        <a:t> – </a:t>
                      </a:r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же – </a:t>
                      </a:r>
                      <a:r>
                        <a:rPr lang="ru-RU" sz="20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96</a:t>
                      </a:r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EBF984D7-85E4-4722-B41B-329D029B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A1AC0E-534B-4C3C-84DF-C63EEE55AEB3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03238" y="152400"/>
            <a:ext cx="8229600" cy="105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Пример использования 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BST-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деревьев для поиска слов</a:t>
            </a:r>
          </a:p>
        </p:txBody>
      </p:sp>
      <p:sp>
        <p:nvSpPr>
          <p:cNvPr id="5" name="Овал 4"/>
          <p:cNvSpPr/>
          <p:nvPr/>
        </p:nvSpPr>
        <p:spPr bwMode="auto">
          <a:xfrm>
            <a:off x="2159000" y="1665288"/>
            <a:ext cx="865188" cy="684212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780088"/>
            <a:ext cx="3870325" cy="10779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sz="1600" b="0" i="1" dirty="0">
                <a:solidFill>
                  <a:schemeClr val="bg2"/>
                </a:solidFill>
              </a:rPr>
              <a:t>Деревья бинарного поиска можно определить таким образом чтобы индексы строились в точности так же…</a:t>
            </a:r>
            <a:endParaRPr lang="ru-RU" sz="1600" dirty="0">
              <a:solidFill>
                <a:schemeClr val="bg2"/>
              </a:solidFill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539750" y="2492375"/>
            <a:ext cx="863600" cy="576263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3743325" y="2600325"/>
            <a:ext cx="973138" cy="684213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2987675" y="3681413"/>
            <a:ext cx="971550" cy="61118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26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Овал 9"/>
          <p:cNvSpPr/>
          <p:nvPr/>
        </p:nvSpPr>
        <p:spPr bwMode="auto">
          <a:xfrm>
            <a:off x="4067175" y="4545013"/>
            <a:ext cx="973138" cy="576262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392" name="Прямая со стрелкой 11"/>
          <p:cNvCxnSpPr>
            <a:cxnSpLocks noChangeShapeType="1"/>
            <a:stCxn id="5" idx="3"/>
            <a:endCxn id="7" idx="7"/>
          </p:cNvCxnSpPr>
          <p:nvPr/>
        </p:nvCxnSpPr>
        <p:spPr bwMode="auto">
          <a:xfrm flipH="1">
            <a:off x="1276350" y="2249488"/>
            <a:ext cx="1009650" cy="32702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cxnSp>
        <p:nvCxnSpPr>
          <p:cNvPr id="16393" name="Прямая со стрелкой 12"/>
          <p:cNvCxnSpPr>
            <a:cxnSpLocks noChangeShapeType="1"/>
            <a:stCxn id="5" idx="5"/>
            <a:endCxn id="8" idx="1"/>
          </p:cNvCxnSpPr>
          <p:nvPr/>
        </p:nvCxnSpPr>
        <p:spPr bwMode="auto">
          <a:xfrm>
            <a:off x="2897188" y="2249488"/>
            <a:ext cx="989012" cy="450850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cxnSp>
        <p:nvCxnSpPr>
          <p:cNvPr id="16394" name="Прямая со стрелкой 15"/>
          <p:cNvCxnSpPr>
            <a:cxnSpLocks noChangeShapeType="1"/>
            <a:stCxn id="8" idx="4"/>
            <a:endCxn id="9" idx="0"/>
          </p:cNvCxnSpPr>
          <p:nvPr/>
        </p:nvCxnSpPr>
        <p:spPr bwMode="auto">
          <a:xfrm flipH="1">
            <a:off x="3473450" y="3284538"/>
            <a:ext cx="757238" cy="39687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cxnSp>
        <p:nvCxnSpPr>
          <p:cNvPr id="16395" name="Прямая со стрелкой 18"/>
          <p:cNvCxnSpPr>
            <a:cxnSpLocks noChangeShapeType="1"/>
            <a:stCxn id="9" idx="5"/>
            <a:endCxn id="10" idx="1"/>
          </p:cNvCxnSpPr>
          <p:nvPr/>
        </p:nvCxnSpPr>
        <p:spPr bwMode="auto">
          <a:xfrm>
            <a:off x="3817938" y="4203700"/>
            <a:ext cx="392112" cy="425450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22" name="Овал 21"/>
          <p:cNvSpPr/>
          <p:nvPr/>
        </p:nvSpPr>
        <p:spPr bwMode="auto">
          <a:xfrm>
            <a:off x="5435600" y="3249613"/>
            <a:ext cx="973138" cy="6477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43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397" name="Прямая со стрелкой 22"/>
          <p:cNvCxnSpPr>
            <a:cxnSpLocks noChangeShapeType="1"/>
            <a:stCxn id="8" idx="5"/>
            <a:endCxn id="22" idx="1"/>
          </p:cNvCxnSpPr>
          <p:nvPr/>
        </p:nvCxnSpPr>
        <p:spPr bwMode="auto">
          <a:xfrm>
            <a:off x="4573588" y="3184525"/>
            <a:ext cx="1004887" cy="158750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26" name="Овал 25"/>
          <p:cNvSpPr/>
          <p:nvPr/>
        </p:nvSpPr>
        <p:spPr bwMode="auto">
          <a:xfrm>
            <a:off x="4679950" y="5373688"/>
            <a:ext cx="900113" cy="6477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49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399" name="Прямая со стрелкой 26"/>
          <p:cNvCxnSpPr>
            <a:cxnSpLocks noChangeShapeType="1"/>
            <a:stCxn id="10" idx="4"/>
            <a:endCxn id="26" idx="1"/>
          </p:cNvCxnSpPr>
          <p:nvPr/>
        </p:nvCxnSpPr>
        <p:spPr bwMode="auto">
          <a:xfrm>
            <a:off x="4554538" y="5121275"/>
            <a:ext cx="257175" cy="34607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30" name="Овал 29"/>
          <p:cNvSpPr/>
          <p:nvPr/>
        </p:nvSpPr>
        <p:spPr bwMode="auto">
          <a:xfrm>
            <a:off x="6804025" y="4149725"/>
            <a:ext cx="971550" cy="61118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58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01" name="Прямая со стрелкой 30"/>
          <p:cNvCxnSpPr>
            <a:cxnSpLocks noChangeShapeType="1"/>
            <a:stCxn id="22" idx="5"/>
            <a:endCxn id="30" idx="1"/>
          </p:cNvCxnSpPr>
          <p:nvPr/>
        </p:nvCxnSpPr>
        <p:spPr bwMode="auto">
          <a:xfrm>
            <a:off x="6265863" y="3802063"/>
            <a:ext cx="681037" cy="436562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35" name="Овал 34"/>
          <p:cNvSpPr/>
          <p:nvPr/>
        </p:nvSpPr>
        <p:spPr bwMode="auto">
          <a:xfrm>
            <a:off x="2627313" y="4689475"/>
            <a:ext cx="936625" cy="53975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64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03" name="Прямая со стрелкой 35"/>
          <p:cNvCxnSpPr>
            <a:cxnSpLocks noChangeShapeType="1"/>
            <a:stCxn id="9" idx="4"/>
            <a:endCxn id="35" idx="0"/>
          </p:cNvCxnSpPr>
          <p:nvPr/>
        </p:nvCxnSpPr>
        <p:spPr bwMode="auto">
          <a:xfrm flipH="1">
            <a:off x="3095625" y="4292600"/>
            <a:ext cx="377825" cy="39687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45" name="Овал 44"/>
          <p:cNvSpPr/>
          <p:nvPr/>
        </p:nvSpPr>
        <p:spPr bwMode="auto">
          <a:xfrm>
            <a:off x="4895850" y="4113213"/>
            <a:ext cx="863600" cy="61118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71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05" name="Прямая со стрелкой 45"/>
          <p:cNvCxnSpPr>
            <a:cxnSpLocks noChangeShapeType="1"/>
            <a:stCxn id="22" idx="3"/>
            <a:endCxn id="45" idx="0"/>
          </p:cNvCxnSpPr>
          <p:nvPr/>
        </p:nvCxnSpPr>
        <p:spPr bwMode="auto">
          <a:xfrm flipH="1">
            <a:off x="5327650" y="3802063"/>
            <a:ext cx="250825" cy="311150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84" name="Овал 83"/>
          <p:cNvSpPr/>
          <p:nvPr/>
        </p:nvSpPr>
        <p:spPr bwMode="auto">
          <a:xfrm>
            <a:off x="827088" y="3357563"/>
            <a:ext cx="936625" cy="53975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81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07" name="Прямая со стрелкой 84"/>
          <p:cNvCxnSpPr>
            <a:cxnSpLocks noChangeShapeType="1"/>
            <a:stCxn id="7" idx="4"/>
            <a:endCxn id="84" idx="0"/>
          </p:cNvCxnSpPr>
          <p:nvPr/>
        </p:nvCxnSpPr>
        <p:spPr bwMode="auto">
          <a:xfrm>
            <a:off x="971550" y="3068638"/>
            <a:ext cx="323850" cy="28892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88" name="Овал 87"/>
          <p:cNvSpPr/>
          <p:nvPr/>
        </p:nvSpPr>
        <p:spPr bwMode="auto">
          <a:xfrm>
            <a:off x="6011863" y="4941888"/>
            <a:ext cx="973137" cy="6477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83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09" name="Прямая со стрелкой 88"/>
          <p:cNvCxnSpPr>
            <a:cxnSpLocks noChangeShapeType="1"/>
            <a:stCxn id="30" idx="3"/>
            <a:endCxn id="88" idx="0"/>
          </p:cNvCxnSpPr>
          <p:nvPr/>
        </p:nvCxnSpPr>
        <p:spPr bwMode="auto">
          <a:xfrm flipH="1">
            <a:off x="6497638" y="4672013"/>
            <a:ext cx="449262" cy="26987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92" name="Овал 91"/>
          <p:cNvSpPr/>
          <p:nvPr/>
        </p:nvSpPr>
        <p:spPr bwMode="auto">
          <a:xfrm>
            <a:off x="6946900" y="5684838"/>
            <a:ext cx="971550" cy="6477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92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11" name="Прямая со стрелкой 92"/>
          <p:cNvCxnSpPr>
            <a:cxnSpLocks noChangeShapeType="1"/>
            <a:stCxn id="88" idx="4"/>
            <a:endCxn id="92" idx="1"/>
          </p:cNvCxnSpPr>
          <p:nvPr/>
        </p:nvCxnSpPr>
        <p:spPr bwMode="auto">
          <a:xfrm>
            <a:off x="6497638" y="5589588"/>
            <a:ext cx="590550" cy="188912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96" name="Овал 95"/>
          <p:cNvSpPr/>
          <p:nvPr/>
        </p:nvSpPr>
        <p:spPr bwMode="auto">
          <a:xfrm>
            <a:off x="1241425" y="5125244"/>
            <a:ext cx="1079500" cy="684212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 </a:t>
            </a:r>
            <a:r>
              <a:rPr lang="ru-RU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43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413" name="Прямая со стрелкой 96"/>
          <p:cNvCxnSpPr>
            <a:cxnSpLocks noChangeShapeType="1"/>
            <a:stCxn id="35" idx="3"/>
            <a:endCxn id="96" idx="7"/>
          </p:cNvCxnSpPr>
          <p:nvPr/>
        </p:nvCxnSpPr>
        <p:spPr bwMode="auto">
          <a:xfrm flipH="1">
            <a:off x="2162836" y="5150180"/>
            <a:ext cx="601643" cy="7526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</p:spPr>
      </p:cxnSp>
      <p:sp>
        <p:nvSpPr>
          <p:cNvPr id="108" name="Прямоугольник 107"/>
          <p:cNvSpPr/>
          <p:nvPr/>
        </p:nvSpPr>
        <p:spPr>
          <a:xfrm>
            <a:off x="4248150" y="1484313"/>
            <a:ext cx="4697413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sz="2000" i="1" dirty="0">
                <a:solidFill>
                  <a:schemeClr val="bg2"/>
                </a:solidFill>
              </a:rPr>
              <a:t>«точно»  1 – 19 – 43 – 58 – 83</a:t>
            </a:r>
          </a:p>
          <a:p>
            <a:pPr>
              <a:defRPr/>
            </a:pPr>
            <a:endParaRPr lang="ru-RU" sz="2000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ru-RU" sz="2000" i="1" dirty="0">
                <a:solidFill>
                  <a:schemeClr val="bg2"/>
                </a:solidFill>
              </a:rPr>
              <a:t>1+1+2+1+5 = 10 сравнений  </a:t>
            </a:r>
            <a:endParaRPr lang="ru-RU" sz="2000" dirty="0">
              <a:solidFill>
                <a:schemeClr val="bg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D1264F4D-B6AE-417A-9D7A-D2ABC8C1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 txBox="1">
            <a:spLocks/>
          </p:cNvSpPr>
          <p:nvPr/>
        </p:nvSpPr>
        <p:spPr bwMode="auto">
          <a:xfrm>
            <a:off x="519113" y="179342"/>
            <a:ext cx="8229600" cy="105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–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Алгоритм вставки элемента</a:t>
            </a:r>
          </a:p>
        </p:txBody>
      </p:sp>
      <p:sp>
        <p:nvSpPr>
          <p:cNvPr id="12" name="Содержимое 2"/>
          <p:cNvSpPr>
            <a:spLocks noGrp="1"/>
          </p:cNvSpPr>
          <p:nvPr>
            <p:ph idx="1"/>
          </p:nvPr>
        </p:nvSpPr>
        <p:spPr>
          <a:xfrm>
            <a:off x="482544" y="1457298"/>
            <a:ext cx="8229600" cy="492925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ru-RU" b="1" dirty="0">
                <a:solidFill>
                  <a:schemeClr val="bg2"/>
                </a:solidFill>
                <a:effectLst/>
              </a:rPr>
              <a:t>Вставка (</a:t>
            </a:r>
            <a:r>
              <a:rPr lang="en-US" b="1" dirty="0">
                <a:solidFill>
                  <a:schemeClr val="bg2"/>
                </a:solidFill>
                <a:effectLst/>
              </a:rPr>
              <a:t>Node ** Root,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b="1" dirty="0">
                <a:solidFill>
                  <a:schemeClr val="bg2"/>
                </a:solidFill>
                <a:effectLst/>
              </a:rPr>
              <a:t> key</a:t>
            </a:r>
            <a:r>
              <a:rPr lang="ru-RU" b="1" dirty="0">
                <a:solidFill>
                  <a:schemeClr val="bg2"/>
                </a:solidFill>
                <a:effectLst/>
              </a:rPr>
              <a:t>)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dirty="0">
                <a:solidFill>
                  <a:schemeClr val="bg2"/>
                </a:solidFill>
                <a:effectLst/>
              </a:rPr>
              <a:t> *</a:t>
            </a:r>
            <a:r>
              <a:rPr lang="en-US" dirty="0">
                <a:solidFill>
                  <a:schemeClr val="bg2"/>
                </a:solidFill>
                <a:effectLst/>
              </a:rPr>
              <a:t>Root  - </a:t>
            </a:r>
            <a:r>
              <a:rPr lang="ru-RU" dirty="0">
                <a:solidFill>
                  <a:schemeClr val="bg2"/>
                </a:solidFill>
                <a:effectLst/>
              </a:rPr>
              <a:t>пустой, </a:t>
            </a:r>
            <a:r>
              <a:rPr lang="ru-RU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 marL="4216400" indent="-4216400"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                                 выделить память под *</a:t>
            </a:r>
            <a:r>
              <a:rPr lang="en-US" dirty="0">
                <a:solidFill>
                  <a:schemeClr val="bg2"/>
                </a:solidFill>
                <a:effectLst/>
              </a:rPr>
              <a:t>Root</a:t>
            </a:r>
          </a:p>
          <a:p>
            <a:pPr marL="4216400" indent="0"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*</a:t>
            </a:r>
            <a:r>
              <a:rPr lang="en-US" dirty="0">
                <a:solidFill>
                  <a:schemeClr val="bg2"/>
                </a:solidFill>
                <a:effectLst/>
              </a:rPr>
              <a:t>Root -&gt; data = key</a:t>
            </a:r>
          </a:p>
          <a:p>
            <a:pPr marL="4216400" indent="0"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*</a:t>
            </a:r>
            <a:r>
              <a:rPr lang="en-US" dirty="0">
                <a:solidFill>
                  <a:schemeClr val="bg2"/>
                </a:solidFill>
                <a:effectLst/>
              </a:rPr>
              <a:t>Root -&gt; left = Null</a:t>
            </a:r>
          </a:p>
          <a:p>
            <a:pPr marL="4216400" indent="0"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*</a:t>
            </a:r>
            <a:r>
              <a:rPr lang="en-US" dirty="0">
                <a:solidFill>
                  <a:schemeClr val="bg2"/>
                </a:solidFill>
                <a:effectLst/>
              </a:rPr>
              <a:t>Root-&gt;right = Null</a:t>
            </a:r>
          </a:p>
          <a:p>
            <a:pPr marL="4216400" indent="0">
              <a:buNone/>
            </a:pPr>
            <a:r>
              <a:rPr lang="en-US" u="sng" dirty="0">
                <a:solidFill>
                  <a:schemeClr val="bg2"/>
                </a:solidFill>
                <a:effectLst/>
              </a:rPr>
              <a:t>return</a:t>
            </a:r>
          </a:p>
          <a:p>
            <a:pPr>
              <a:buNone/>
            </a:pP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43815104-AE37-4832-9EF7-09FFB0F5F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519113" y="179342"/>
            <a:ext cx="8229600" cy="105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–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Алгоритм вставки элемента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482544" y="1457298"/>
            <a:ext cx="8229600" cy="492925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иначе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  <a:r>
              <a:rPr lang="en-US" dirty="0">
                <a:solidFill>
                  <a:schemeClr val="bg2"/>
                </a:solidFill>
                <a:effectLst/>
              </a:rPr>
              <a:t>key &gt;= *Root-&gt;data </a:t>
            </a:r>
            <a:r>
              <a:rPr lang="ru-RU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 marL="3767138" indent="-982663"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Вставка (</a:t>
            </a:r>
            <a:r>
              <a:rPr lang="en-US" dirty="0">
                <a:solidFill>
                  <a:schemeClr val="bg2"/>
                </a:solidFill>
                <a:effectLst/>
              </a:rPr>
              <a:t>*Root-&gt;right, key</a:t>
            </a:r>
            <a:r>
              <a:rPr lang="ru-RU" dirty="0">
                <a:solidFill>
                  <a:schemeClr val="bg2"/>
                </a:solidFill>
                <a:effectLst/>
              </a:rPr>
              <a:t>)</a:t>
            </a:r>
            <a:endParaRPr lang="en-US" dirty="0">
              <a:solidFill>
                <a:schemeClr val="bg2"/>
              </a:solidFill>
              <a:effectLst/>
            </a:endParaRPr>
          </a:p>
          <a:p>
            <a:pPr marL="3767138" indent="-982663"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иначе </a:t>
            </a:r>
          </a:p>
          <a:p>
            <a:pPr marL="3767138" indent="-982663"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Вставка (</a:t>
            </a:r>
            <a:r>
              <a:rPr lang="en-US" dirty="0">
                <a:solidFill>
                  <a:schemeClr val="bg2"/>
                </a:solidFill>
                <a:effectLst/>
              </a:rPr>
              <a:t>*Root-&gt;left, key</a:t>
            </a:r>
            <a:r>
              <a:rPr lang="ru-RU" dirty="0">
                <a:solidFill>
                  <a:schemeClr val="bg2"/>
                </a:solidFill>
                <a:effectLst/>
              </a:rPr>
              <a:t>)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конец</a:t>
            </a:r>
            <a:endParaRPr lang="en-US" u="sng" dirty="0">
              <a:solidFill>
                <a:schemeClr val="bg2"/>
              </a:solidFill>
              <a:effectLst/>
            </a:endParaRPr>
          </a:p>
          <a:p>
            <a:pPr marL="3767138" indent="-982663">
              <a:buNone/>
            </a:pPr>
            <a:endParaRPr lang="en-US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E9AB6029-4FFD-4D1A-9F46-BCC86BD2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6031" y="1749402"/>
            <a:ext cx="8229600" cy="449265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</a:rPr>
              <a:t>Вставка</a:t>
            </a:r>
            <a:r>
              <a:rPr lang="en-US" b="1" dirty="0">
                <a:solidFill>
                  <a:srgbClr val="000000"/>
                </a:solidFill>
              </a:rPr>
              <a:t>1 (Node ** Root, </a:t>
            </a:r>
            <a:r>
              <a:rPr lang="en-US" b="1" dirty="0" err="1">
                <a:solidFill>
                  <a:srgbClr val="00000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key)</a:t>
            </a:r>
          </a:p>
          <a:p>
            <a:pPr marL="4216400" indent="-4216400">
              <a:buNone/>
            </a:pPr>
            <a:r>
              <a:rPr lang="ru-RU" dirty="0">
                <a:solidFill>
                  <a:srgbClr val="000000"/>
                </a:solidFill>
              </a:rPr>
              <a:t>Если </a:t>
            </a:r>
            <a:r>
              <a:rPr lang="en-US" dirty="0">
                <a:solidFill>
                  <a:srgbClr val="000000"/>
                </a:solidFill>
              </a:rPr>
              <a:t> *Root – </a:t>
            </a:r>
            <a:r>
              <a:rPr lang="ru-RU" dirty="0">
                <a:solidFill>
                  <a:srgbClr val="000000"/>
                </a:solidFill>
              </a:rPr>
              <a:t>пустой </a:t>
            </a:r>
            <a:r>
              <a:rPr lang="ru-RU" u="sng" dirty="0">
                <a:solidFill>
                  <a:srgbClr val="000000"/>
                </a:solidFill>
              </a:rPr>
              <a:t>то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</a:rPr>
              <a:t>выделить память под *</a:t>
            </a:r>
            <a:r>
              <a:rPr lang="en-US" dirty="0">
                <a:solidFill>
                  <a:srgbClr val="000000"/>
                </a:solidFill>
                <a:effectLst/>
              </a:rPr>
              <a:t>Root</a:t>
            </a:r>
          </a:p>
          <a:p>
            <a:pPr marL="4216400" indent="0"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*</a:t>
            </a:r>
            <a:r>
              <a:rPr lang="en-US" dirty="0">
                <a:solidFill>
                  <a:srgbClr val="000000"/>
                </a:solidFill>
                <a:effectLst/>
              </a:rPr>
              <a:t>Root -&gt; data = key</a:t>
            </a:r>
          </a:p>
          <a:p>
            <a:pPr marL="4216400" indent="0"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*</a:t>
            </a:r>
            <a:r>
              <a:rPr lang="en-US" dirty="0">
                <a:solidFill>
                  <a:srgbClr val="000000"/>
                </a:solidFill>
                <a:effectLst/>
              </a:rPr>
              <a:t>Root -&gt; left = Null</a:t>
            </a:r>
          </a:p>
          <a:p>
            <a:pPr marL="4216400" indent="0"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*</a:t>
            </a:r>
            <a:r>
              <a:rPr lang="en-US" dirty="0">
                <a:solidFill>
                  <a:srgbClr val="000000"/>
                </a:solidFill>
                <a:effectLst/>
              </a:rPr>
              <a:t>Root-&gt;right = Null</a:t>
            </a:r>
          </a:p>
          <a:p>
            <a:pPr marL="4216400" indent="0">
              <a:buNone/>
            </a:pPr>
            <a:r>
              <a:rPr lang="en-US" u="sng" dirty="0">
                <a:solidFill>
                  <a:srgbClr val="000000"/>
                </a:solidFill>
                <a:effectLst/>
              </a:rPr>
              <a:t>return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2082" y="215856"/>
            <a:ext cx="81423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Алгоритм вставки элемента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Не рекурсивная реализация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0FC0AB58-81B0-4444-BDC6-7511974A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63466" y="2041506"/>
            <a:ext cx="8653581" cy="4450449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400" b="0" dirty="0">
                <a:solidFill>
                  <a:srgbClr val="000000"/>
                </a:solidFill>
              </a:rPr>
              <a:t>Node *temp = *Root;</a:t>
            </a:r>
          </a:p>
          <a:p>
            <a:pPr algn="l">
              <a:buNone/>
            </a:pPr>
            <a:r>
              <a:rPr lang="ru-RU" sz="2400" b="0" u="sng" dirty="0">
                <a:solidFill>
                  <a:srgbClr val="000000"/>
                </a:solidFill>
              </a:rPr>
              <a:t>Пока </a:t>
            </a:r>
            <a:r>
              <a:rPr lang="en-US" sz="2400" b="0" dirty="0">
                <a:solidFill>
                  <a:srgbClr val="000000"/>
                </a:solidFill>
              </a:rPr>
              <a:t> (temp</a:t>
            </a:r>
            <a:r>
              <a:rPr lang="ru-RU" sz="2400" b="0" dirty="0">
                <a:solidFill>
                  <a:srgbClr val="000000"/>
                </a:solidFill>
              </a:rPr>
              <a:t> не пуст</a:t>
            </a:r>
            <a:r>
              <a:rPr lang="en-US" sz="2400" b="0" dirty="0">
                <a:solidFill>
                  <a:srgbClr val="000000"/>
                </a:solidFill>
              </a:rPr>
              <a:t>)</a:t>
            </a:r>
            <a:r>
              <a:rPr lang="ru-RU" sz="2400" b="0" dirty="0">
                <a:solidFill>
                  <a:srgbClr val="000000"/>
                </a:solidFill>
              </a:rPr>
              <a:t> </a:t>
            </a:r>
            <a:r>
              <a:rPr lang="ru-RU" sz="2400" b="0" u="sng" dirty="0" err="1">
                <a:solidFill>
                  <a:srgbClr val="000000"/>
                </a:solidFill>
              </a:rPr>
              <a:t>нц</a:t>
            </a:r>
            <a:endParaRPr lang="en-US" sz="2400" b="0" u="sng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en-US" sz="2400" b="0" dirty="0">
                <a:solidFill>
                  <a:srgbClr val="000000"/>
                </a:solidFill>
              </a:rPr>
              <a:t>           </a:t>
            </a:r>
            <a:r>
              <a:rPr lang="ru-RU" sz="2400" b="0" u="sng" dirty="0">
                <a:solidFill>
                  <a:srgbClr val="000000"/>
                </a:solidFill>
              </a:rPr>
              <a:t>Если</a:t>
            </a:r>
            <a:r>
              <a:rPr lang="ru-RU" sz="2400" b="0" dirty="0">
                <a:solidFill>
                  <a:srgbClr val="000000"/>
                </a:solidFill>
              </a:rPr>
              <a:t> </a:t>
            </a:r>
            <a:r>
              <a:rPr lang="en-US" sz="2400" b="0" dirty="0">
                <a:solidFill>
                  <a:srgbClr val="000000"/>
                </a:solidFill>
              </a:rPr>
              <a:t>(key&gt;=temp-&gt;data) </a:t>
            </a:r>
            <a:r>
              <a:rPr lang="ru-RU" sz="2400" b="0" u="sng" dirty="0">
                <a:solidFill>
                  <a:srgbClr val="000000"/>
                </a:solidFill>
              </a:rPr>
              <a:t>то </a:t>
            </a:r>
            <a:endParaRPr lang="en-US" sz="2400" b="0" u="sng" dirty="0">
              <a:solidFill>
                <a:srgbClr val="000000"/>
              </a:solidFill>
            </a:endParaRPr>
          </a:p>
          <a:p>
            <a:pPr indent="627063" algn="l">
              <a:buNone/>
            </a:pPr>
            <a:r>
              <a:rPr lang="ru-RU" sz="2400" b="0" dirty="0">
                <a:solidFill>
                  <a:srgbClr val="000000"/>
                </a:solidFill>
              </a:rPr>
              <a:t>         </a:t>
            </a:r>
            <a:r>
              <a:rPr lang="ru-RU" sz="2400" b="0" u="sng" dirty="0">
                <a:solidFill>
                  <a:srgbClr val="000000"/>
                </a:solidFill>
              </a:rPr>
              <a:t>Если </a:t>
            </a:r>
            <a:r>
              <a:rPr lang="en-US" sz="2400" b="0" dirty="0">
                <a:solidFill>
                  <a:srgbClr val="000000"/>
                </a:solidFill>
              </a:rPr>
              <a:t>(temp-&gt;right</a:t>
            </a:r>
            <a:r>
              <a:rPr lang="ru-RU" sz="2400" b="0" dirty="0">
                <a:solidFill>
                  <a:srgbClr val="000000"/>
                </a:solidFill>
              </a:rPr>
              <a:t> - пуст</a:t>
            </a:r>
            <a:r>
              <a:rPr lang="en-US" sz="2400" b="0" dirty="0">
                <a:solidFill>
                  <a:srgbClr val="000000"/>
                </a:solidFill>
              </a:rPr>
              <a:t>)</a:t>
            </a:r>
            <a:r>
              <a:rPr lang="ru-RU" sz="2400" b="0" dirty="0">
                <a:solidFill>
                  <a:srgbClr val="000000"/>
                </a:solidFill>
              </a:rPr>
              <a:t> </a:t>
            </a:r>
            <a:r>
              <a:rPr lang="ru-RU" sz="2400" b="0" u="sng" dirty="0">
                <a:solidFill>
                  <a:srgbClr val="000000"/>
                </a:solidFill>
              </a:rPr>
              <a:t>то</a:t>
            </a:r>
            <a:r>
              <a:rPr lang="ru-RU" sz="2400" b="0" dirty="0">
                <a:solidFill>
                  <a:srgbClr val="000000"/>
                </a:solidFill>
              </a:rPr>
              <a:t> </a:t>
            </a:r>
          </a:p>
          <a:p>
            <a:pPr indent="1609725" algn="l">
              <a:buNone/>
            </a:pPr>
            <a:r>
              <a:rPr lang="ru-RU" sz="2400" b="0" dirty="0">
                <a:solidFill>
                  <a:srgbClr val="000000"/>
                </a:solidFill>
              </a:rPr>
              <a:t>   выделить память под </a:t>
            </a:r>
            <a:r>
              <a:rPr lang="en-US" sz="2400" b="0" dirty="0">
                <a:solidFill>
                  <a:srgbClr val="000000"/>
                </a:solidFill>
              </a:rPr>
              <a:t>temp-&gt;right</a:t>
            </a:r>
          </a:p>
          <a:p>
            <a:pPr marL="2962275" indent="-1352550" algn="l">
              <a:buNone/>
            </a:pPr>
            <a:r>
              <a:rPr lang="ru-RU" sz="2400" b="0" dirty="0">
                <a:solidFill>
                  <a:srgbClr val="000000"/>
                </a:solidFill>
              </a:rPr>
              <a:t>   </a:t>
            </a:r>
            <a:r>
              <a:rPr lang="en-US" sz="2400" b="0" dirty="0">
                <a:solidFill>
                  <a:srgbClr val="000000"/>
                </a:solidFill>
              </a:rPr>
              <a:t>temp-&gt;right</a:t>
            </a:r>
            <a:r>
              <a:rPr lang="ru-RU" sz="2400" b="0" dirty="0">
                <a:solidFill>
                  <a:srgbClr val="000000"/>
                </a:solidFill>
              </a:rPr>
              <a:t> </a:t>
            </a:r>
            <a:r>
              <a:rPr lang="en-US" sz="2400" b="0" dirty="0">
                <a:solidFill>
                  <a:srgbClr val="000000"/>
                </a:solidFill>
              </a:rPr>
              <a:t>-&gt;left = NULL</a:t>
            </a:r>
          </a:p>
          <a:p>
            <a:pPr marL="2962275" indent="-1433513" algn="l">
              <a:buNone/>
            </a:pPr>
            <a:r>
              <a:rPr lang="ru-RU" sz="2400" b="0" dirty="0">
                <a:solidFill>
                  <a:srgbClr val="000000"/>
                </a:solidFill>
              </a:rPr>
              <a:t>    </a:t>
            </a:r>
            <a:r>
              <a:rPr lang="en-US" sz="2400" b="0" dirty="0">
                <a:solidFill>
                  <a:srgbClr val="000000"/>
                </a:solidFill>
              </a:rPr>
              <a:t>temp-&gt;right-&gt;right = NULL</a:t>
            </a:r>
          </a:p>
          <a:p>
            <a:pPr algn="l">
              <a:buNone/>
            </a:pPr>
            <a:r>
              <a:rPr lang="ru-RU" sz="2400" b="0" dirty="0">
                <a:solidFill>
                  <a:srgbClr val="000000"/>
                </a:solidFill>
              </a:rPr>
              <a:t>                  </a:t>
            </a:r>
            <a:r>
              <a:rPr lang="en-US" sz="2400" b="0" dirty="0">
                <a:solidFill>
                  <a:srgbClr val="000000"/>
                </a:solidFill>
              </a:rPr>
              <a:t>temp-&gt;right-&gt;data = key</a:t>
            </a:r>
          </a:p>
          <a:p>
            <a:pPr algn="l">
              <a:buNone/>
            </a:pPr>
            <a:r>
              <a:rPr lang="en-US" sz="2400" b="0" dirty="0">
                <a:solidFill>
                  <a:srgbClr val="000000"/>
                </a:solidFill>
              </a:rPr>
              <a:t>              </a:t>
            </a:r>
            <a:r>
              <a:rPr lang="ru-RU" sz="2400" b="0" dirty="0">
                <a:solidFill>
                  <a:srgbClr val="000000"/>
                </a:solidFill>
              </a:rPr>
              <a:t>   </a:t>
            </a:r>
            <a:r>
              <a:rPr lang="en-US" sz="2400" b="0" dirty="0">
                <a:solidFill>
                  <a:srgbClr val="000000"/>
                </a:solidFill>
              </a:rPr>
              <a:t> </a:t>
            </a:r>
            <a:r>
              <a:rPr lang="en-US" sz="2400" b="0" u="sng" dirty="0">
                <a:solidFill>
                  <a:srgbClr val="000000"/>
                </a:solidFill>
              </a:rPr>
              <a:t>return</a:t>
            </a:r>
            <a:endParaRPr lang="en-US" sz="2400" b="0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ru-RU" sz="2400" b="0" dirty="0">
                <a:solidFill>
                  <a:srgbClr val="000000"/>
                </a:solidFill>
              </a:rPr>
              <a:t>               </a:t>
            </a:r>
            <a:r>
              <a:rPr lang="ru-RU" sz="2400" b="0" u="sng" dirty="0">
                <a:solidFill>
                  <a:srgbClr val="000000"/>
                </a:solidFill>
              </a:rPr>
              <a:t>иначе</a:t>
            </a:r>
            <a:r>
              <a:rPr lang="ru-RU" sz="2400" b="0" dirty="0">
                <a:solidFill>
                  <a:srgbClr val="000000"/>
                </a:solidFill>
              </a:rPr>
              <a:t> </a:t>
            </a:r>
            <a:r>
              <a:rPr lang="en-US" sz="2400" b="0" dirty="0">
                <a:solidFill>
                  <a:srgbClr val="000000"/>
                </a:solidFill>
              </a:rPr>
              <a:t>temp = temp-&gt;right;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92082" y="215856"/>
            <a:ext cx="81423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Алгоритм вставки элемента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Не рекурсивная реализация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8F29C7EC-E78B-44CB-967E-D98AEEF2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6031" y="1858941"/>
            <a:ext cx="8229600" cy="4660944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u-RU" sz="2800" u="sng" dirty="0">
                <a:solidFill>
                  <a:srgbClr val="000000"/>
                </a:solidFill>
                <a:effectLst/>
              </a:rPr>
              <a:t>иначе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</a:rPr>
              <a:t>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Если</a:t>
            </a:r>
            <a:r>
              <a:rPr lang="en-US" sz="2800" dirty="0">
                <a:solidFill>
                  <a:srgbClr val="000000"/>
                </a:solidFill>
                <a:effectLst/>
              </a:rPr>
              <a:t> temp-&gt;left</a:t>
            </a:r>
            <a:r>
              <a:rPr lang="ru-RU" sz="2800" dirty="0">
                <a:solidFill>
                  <a:srgbClr val="000000"/>
                </a:solidFill>
                <a:effectLst/>
              </a:rPr>
              <a:t> – пуст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то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  <a:endParaRPr lang="en-US" sz="2800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         </a:t>
            </a:r>
            <a:r>
              <a:rPr lang="ru-RU" sz="2800" dirty="0">
                <a:solidFill>
                  <a:srgbClr val="000000"/>
                </a:solidFill>
                <a:effectLst/>
              </a:rPr>
              <a:t>выделить память под </a:t>
            </a:r>
            <a:r>
              <a:rPr lang="en-US" sz="2800" dirty="0">
                <a:solidFill>
                  <a:srgbClr val="000000"/>
                </a:solidFill>
                <a:effectLst/>
              </a:rPr>
              <a:t>temp-&gt;left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         temp-&gt;left-&gt;left = NULL;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         temp-&gt;left-&gt;right = NULL;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         temp-&gt; left-&gt;data = key;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         return;</a:t>
            </a:r>
          </a:p>
          <a:p>
            <a:pPr>
              <a:spcBef>
                <a:spcPts val="0"/>
              </a:spcBef>
              <a:buNone/>
            </a:pPr>
            <a:r>
              <a:rPr lang="ru-RU" sz="2800" dirty="0">
                <a:solidFill>
                  <a:srgbClr val="000000"/>
                </a:solidFill>
                <a:effectLst/>
              </a:rPr>
              <a:t>          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иначе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</a:rPr>
              <a:t>temp = temp-&gt;left;</a:t>
            </a:r>
          </a:p>
          <a:p>
            <a:pPr>
              <a:buNone/>
            </a:pPr>
            <a:r>
              <a:rPr lang="ru-RU" sz="2800" u="sng" dirty="0" err="1">
                <a:solidFill>
                  <a:srgbClr val="000000"/>
                </a:solidFill>
                <a:effectLst/>
              </a:rPr>
              <a:t>кц</a:t>
            </a:r>
            <a:endParaRPr lang="ru-RU" sz="2800" u="sng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2800" u="sng" dirty="0">
                <a:solidFill>
                  <a:srgbClr val="000000"/>
                </a:solidFill>
                <a:effectLst/>
              </a:rPr>
              <a:t>конец</a:t>
            </a:r>
            <a:endParaRPr lang="en-US" sz="280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 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pPr>
              <a:buClrTx/>
            </a:pPr>
            <a:endParaRPr lang="ru-RU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2082" y="215856"/>
            <a:ext cx="81423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Алгоритм вставки элемента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Не рекурсивная реализация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1DB11037-1089-4BD4-B9BA-B37D0FC6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585A7-BD85-48D7-ACD3-308E7457D1D0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592082" y="215856"/>
            <a:ext cx="8142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Просмотр элементов дерева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2" y="1603350"/>
            <a:ext cx="8397990" cy="3625608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b="0" dirty="0">
                <a:solidFill>
                  <a:srgbClr val="000000"/>
                </a:solidFill>
              </a:rPr>
              <a:t>Просмотр </a:t>
            </a:r>
            <a:r>
              <a:rPr lang="en-US" b="0" dirty="0">
                <a:solidFill>
                  <a:srgbClr val="000000"/>
                </a:solidFill>
              </a:rPr>
              <a:t>(Node *Root)  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u="sng" dirty="0">
                <a:solidFill>
                  <a:srgbClr val="000000"/>
                </a:solidFill>
              </a:rPr>
              <a:t>Если</a:t>
            </a:r>
            <a:r>
              <a:rPr lang="ru-RU" b="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(Root - </a:t>
            </a:r>
            <a:r>
              <a:rPr lang="ru-RU" b="0" dirty="0">
                <a:solidFill>
                  <a:srgbClr val="000000"/>
                </a:solidFill>
              </a:rPr>
              <a:t>пуст</a:t>
            </a:r>
            <a:r>
              <a:rPr lang="en-US" b="0" dirty="0">
                <a:solidFill>
                  <a:srgbClr val="000000"/>
                </a:solidFill>
              </a:rPr>
              <a:t>) </a:t>
            </a:r>
            <a:r>
              <a:rPr lang="ru-RU" b="0" u="sng" dirty="0">
                <a:solidFill>
                  <a:srgbClr val="000000"/>
                </a:solidFill>
              </a:rPr>
              <a:t>то</a:t>
            </a:r>
            <a:r>
              <a:rPr lang="ru-RU" b="0" dirty="0">
                <a:solidFill>
                  <a:srgbClr val="000000"/>
                </a:solidFill>
              </a:rPr>
              <a:t> </a:t>
            </a:r>
            <a:r>
              <a:rPr lang="en-US" b="0" u="sng" dirty="0">
                <a:solidFill>
                  <a:srgbClr val="000000"/>
                </a:solidFill>
              </a:rPr>
              <a:t>return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u="sng" dirty="0">
                <a:solidFill>
                  <a:srgbClr val="000000"/>
                </a:solidFill>
              </a:rPr>
              <a:t>иначе</a:t>
            </a:r>
            <a:endParaRPr lang="en-US" b="0" u="sng" dirty="0">
              <a:solidFill>
                <a:srgbClr val="000000"/>
              </a:solidFill>
            </a:endParaRP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dirty="0">
                <a:solidFill>
                  <a:srgbClr val="000000"/>
                </a:solidFill>
              </a:rPr>
              <a:t>      Просмотр </a:t>
            </a:r>
            <a:r>
              <a:rPr lang="en-US" b="0" dirty="0">
                <a:solidFill>
                  <a:srgbClr val="000000"/>
                </a:solidFill>
              </a:rPr>
              <a:t>(Root-&gt;left)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      </a:t>
            </a:r>
            <a:r>
              <a:rPr lang="ru-RU" b="0" dirty="0">
                <a:solidFill>
                  <a:srgbClr val="000000"/>
                </a:solidFill>
              </a:rPr>
              <a:t>печать (</a:t>
            </a:r>
            <a:r>
              <a:rPr lang="en-US" b="0" dirty="0">
                <a:solidFill>
                  <a:srgbClr val="000000"/>
                </a:solidFill>
              </a:rPr>
              <a:t>Root-&gt;data)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dirty="0">
                <a:solidFill>
                  <a:srgbClr val="000000"/>
                </a:solidFill>
              </a:rPr>
              <a:t>      Просмотр</a:t>
            </a:r>
            <a:r>
              <a:rPr lang="en-US" b="0" dirty="0">
                <a:solidFill>
                  <a:srgbClr val="000000"/>
                </a:solidFill>
              </a:rPr>
              <a:t>(Root-&gt;right)   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</a:t>
            </a:r>
            <a:r>
              <a:rPr lang="ru-RU" b="0" u="sng" dirty="0">
                <a:solidFill>
                  <a:srgbClr val="000000"/>
                </a:solidFill>
              </a:rPr>
              <a:t>конец</a:t>
            </a: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336492" y="5546754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92082" y="215856"/>
            <a:ext cx="8142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Просмотр элементов дерева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2" y="1603350"/>
            <a:ext cx="8397990" cy="3625608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b="0" dirty="0">
                <a:solidFill>
                  <a:srgbClr val="000000"/>
                </a:solidFill>
              </a:rPr>
              <a:t>Просмотр </a:t>
            </a:r>
            <a:r>
              <a:rPr lang="en-US" b="0" dirty="0">
                <a:solidFill>
                  <a:srgbClr val="000000"/>
                </a:solidFill>
              </a:rPr>
              <a:t>(Node *Root)  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u="sng" dirty="0">
                <a:solidFill>
                  <a:srgbClr val="000000"/>
                </a:solidFill>
              </a:rPr>
              <a:t>Если</a:t>
            </a:r>
            <a:r>
              <a:rPr lang="ru-RU" b="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(Root - </a:t>
            </a:r>
            <a:r>
              <a:rPr lang="ru-RU" b="0" dirty="0">
                <a:solidFill>
                  <a:srgbClr val="000000"/>
                </a:solidFill>
              </a:rPr>
              <a:t>пуст</a:t>
            </a:r>
            <a:r>
              <a:rPr lang="en-US" b="0" dirty="0">
                <a:solidFill>
                  <a:srgbClr val="000000"/>
                </a:solidFill>
              </a:rPr>
              <a:t>) </a:t>
            </a:r>
            <a:r>
              <a:rPr lang="ru-RU" b="0" u="sng" dirty="0">
                <a:solidFill>
                  <a:srgbClr val="000000"/>
                </a:solidFill>
              </a:rPr>
              <a:t>то</a:t>
            </a:r>
            <a:r>
              <a:rPr lang="ru-RU" b="0" dirty="0">
                <a:solidFill>
                  <a:srgbClr val="000000"/>
                </a:solidFill>
              </a:rPr>
              <a:t> </a:t>
            </a:r>
            <a:r>
              <a:rPr lang="en-US" b="0" u="sng" dirty="0">
                <a:solidFill>
                  <a:srgbClr val="000000"/>
                </a:solidFill>
              </a:rPr>
              <a:t>return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u="sng" dirty="0">
                <a:solidFill>
                  <a:srgbClr val="000000"/>
                </a:solidFill>
              </a:rPr>
              <a:t>иначе</a:t>
            </a:r>
          </a:p>
          <a:p>
            <a:pPr algn="l"/>
            <a:r>
              <a:rPr lang="ru-RU" b="0" dirty="0">
                <a:solidFill>
                  <a:srgbClr val="000000"/>
                </a:solidFill>
              </a:rPr>
              <a:t>           печать (</a:t>
            </a:r>
            <a:r>
              <a:rPr lang="en-US" b="0" dirty="0">
                <a:solidFill>
                  <a:srgbClr val="000000"/>
                </a:solidFill>
              </a:rPr>
              <a:t>Root-&gt;data)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dirty="0">
                <a:solidFill>
                  <a:srgbClr val="000000"/>
                </a:solidFill>
              </a:rPr>
              <a:t>      Просмотр </a:t>
            </a:r>
            <a:r>
              <a:rPr lang="en-US" b="0" dirty="0">
                <a:solidFill>
                  <a:srgbClr val="000000"/>
                </a:solidFill>
              </a:rPr>
              <a:t>(Root-&gt;left)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dirty="0">
                <a:solidFill>
                  <a:srgbClr val="000000"/>
                </a:solidFill>
              </a:rPr>
              <a:t>      Просмотр</a:t>
            </a:r>
            <a:r>
              <a:rPr lang="en-US" b="0" dirty="0">
                <a:solidFill>
                  <a:srgbClr val="000000"/>
                </a:solidFill>
              </a:rPr>
              <a:t>(Root-&gt;right)   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</a:t>
            </a:r>
            <a:r>
              <a:rPr lang="ru-RU" b="0" u="sng" dirty="0">
                <a:solidFill>
                  <a:srgbClr val="000000"/>
                </a:solidFill>
              </a:rPr>
              <a:t>конец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373005" y="5583267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92082" y="215856"/>
            <a:ext cx="8142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Просмотр элементов дерева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2" y="1603350"/>
            <a:ext cx="8397990" cy="3625608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b="0" dirty="0">
                <a:solidFill>
                  <a:srgbClr val="000000"/>
                </a:solidFill>
              </a:rPr>
              <a:t>Просмотр </a:t>
            </a:r>
            <a:r>
              <a:rPr lang="en-US" b="0" dirty="0">
                <a:solidFill>
                  <a:srgbClr val="000000"/>
                </a:solidFill>
              </a:rPr>
              <a:t>(Node *Root)  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u="sng" dirty="0">
                <a:solidFill>
                  <a:srgbClr val="000000"/>
                </a:solidFill>
              </a:rPr>
              <a:t>Если</a:t>
            </a:r>
            <a:r>
              <a:rPr lang="ru-RU" b="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(Root - </a:t>
            </a:r>
            <a:r>
              <a:rPr lang="ru-RU" b="0" dirty="0">
                <a:solidFill>
                  <a:srgbClr val="000000"/>
                </a:solidFill>
              </a:rPr>
              <a:t>пуст</a:t>
            </a:r>
            <a:r>
              <a:rPr lang="en-US" b="0" dirty="0">
                <a:solidFill>
                  <a:srgbClr val="000000"/>
                </a:solidFill>
              </a:rPr>
              <a:t>) </a:t>
            </a:r>
            <a:r>
              <a:rPr lang="ru-RU" b="0" u="sng" dirty="0">
                <a:solidFill>
                  <a:srgbClr val="000000"/>
                </a:solidFill>
              </a:rPr>
              <a:t>то</a:t>
            </a:r>
            <a:r>
              <a:rPr lang="ru-RU" b="0" dirty="0">
                <a:solidFill>
                  <a:srgbClr val="000000"/>
                </a:solidFill>
              </a:rPr>
              <a:t> </a:t>
            </a:r>
            <a:r>
              <a:rPr lang="en-US" b="0" u="sng" dirty="0">
                <a:solidFill>
                  <a:srgbClr val="000000"/>
                </a:solidFill>
              </a:rPr>
              <a:t>return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u="sng" dirty="0">
                <a:solidFill>
                  <a:srgbClr val="000000"/>
                </a:solidFill>
              </a:rPr>
              <a:t>иначе</a:t>
            </a:r>
            <a:endParaRPr lang="en-US" b="0" dirty="0">
              <a:solidFill>
                <a:srgbClr val="000000"/>
              </a:solidFill>
            </a:endParaRP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dirty="0">
                <a:solidFill>
                  <a:srgbClr val="000000"/>
                </a:solidFill>
              </a:rPr>
              <a:t>      Просмотр </a:t>
            </a:r>
            <a:r>
              <a:rPr lang="en-US" b="0" dirty="0">
                <a:solidFill>
                  <a:srgbClr val="000000"/>
                </a:solidFill>
              </a:rPr>
              <a:t>(Root-&gt;left)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    </a:t>
            </a:r>
            <a:r>
              <a:rPr lang="ru-RU" b="0" dirty="0">
                <a:solidFill>
                  <a:srgbClr val="000000"/>
                </a:solidFill>
              </a:rPr>
              <a:t>      Просмотр</a:t>
            </a:r>
            <a:r>
              <a:rPr lang="en-US" b="0" dirty="0">
                <a:solidFill>
                  <a:srgbClr val="000000"/>
                </a:solidFill>
              </a:rPr>
              <a:t>(Root-&gt;right)</a:t>
            </a:r>
            <a:endParaRPr lang="ru-RU" b="0" dirty="0">
              <a:solidFill>
                <a:srgbClr val="000000"/>
              </a:solidFill>
            </a:endParaRPr>
          </a:p>
          <a:p>
            <a:pPr algn="l"/>
            <a:r>
              <a:rPr lang="ru-RU" b="0" dirty="0">
                <a:solidFill>
                  <a:srgbClr val="000000"/>
                </a:solidFill>
              </a:rPr>
              <a:t>           печать (</a:t>
            </a:r>
            <a:r>
              <a:rPr lang="en-US" b="0" dirty="0">
                <a:solidFill>
                  <a:srgbClr val="000000"/>
                </a:solidFill>
              </a:rPr>
              <a:t>Root-&gt;data)   </a:t>
            </a:r>
          </a:p>
          <a:p>
            <a:pPr algn="l"/>
            <a:r>
              <a:rPr lang="en-US" b="0" dirty="0">
                <a:solidFill>
                  <a:srgbClr val="000000"/>
                </a:solidFill>
              </a:rPr>
              <a:t> </a:t>
            </a:r>
            <a:r>
              <a:rPr lang="ru-RU" b="0" u="sng" dirty="0">
                <a:solidFill>
                  <a:srgbClr val="000000"/>
                </a:solidFill>
              </a:rPr>
              <a:t>конец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73005" y="5583267"/>
          <a:ext cx="8507530" cy="620721"/>
        </p:xfrm>
        <a:graphic>
          <a:graphicData uri="http://schemas.openxmlformats.org/drawingml/2006/table">
            <a:tbl>
              <a:tblPr/>
              <a:tblGrid>
                <a:gridCol w="424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491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42584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92082" y="215856"/>
            <a:ext cx="8142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Просмотр элементов дерева. Не рекурсивная реализация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2" y="1384272"/>
            <a:ext cx="8397990" cy="5312223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3200" b="0" dirty="0" err="1">
                <a:solidFill>
                  <a:srgbClr val="000000"/>
                </a:solidFill>
              </a:rPr>
              <a:t>typedef</a:t>
            </a:r>
            <a:r>
              <a:rPr lang="en-US" sz="3200" b="0" dirty="0">
                <a:solidFill>
                  <a:srgbClr val="000000"/>
                </a:solidFill>
              </a:rPr>
              <a:t> </a:t>
            </a:r>
            <a:r>
              <a:rPr lang="en-US" sz="3200" b="0" dirty="0" err="1">
                <a:solidFill>
                  <a:srgbClr val="000000"/>
                </a:solidFill>
              </a:rPr>
              <a:t>struct</a:t>
            </a:r>
            <a:r>
              <a:rPr lang="en-US" sz="3200" b="0" dirty="0">
                <a:solidFill>
                  <a:srgbClr val="000000"/>
                </a:solidFill>
              </a:rPr>
              <a:t> t {</a:t>
            </a:r>
          </a:p>
          <a:p>
            <a:pPr algn="l"/>
            <a:r>
              <a:rPr lang="en-US" sz="3200" b="0" dirty="0">
                <a:solidFill>
                  <a:srgbClr val="000000"/>
                </a:solidFill>
              </a:rPr>
              <a:t>Node * </a:t>
            </a:r>
            <a:r>
              <a:rPr lang="en-US" sz="3200" b="0" dirty="0" err="1">
                <a:solidFill>
                  <a:srgbClr val="000000"/>
                </a:solidFill>
              </a:rPr>
              <a:t>node_tree</a:t>
            </a:r>
            <a:r>
              <a:rPr lang="en-US" sz="3200" b="0" dirty="0">
                <a:solidFill>
                  <a:srgbClr val="000000"/>
                </a:solidFill>
              </a:rPr>
              <a:t>;</a:t>
            </a:r>
          </a:p>
          <a:p>
            <a:pPr algn="l"/>
            <a:r>
              <a:rPr lang="en-US" sz="3200" b="0" dirty="0" err="1">
                <a:solidFill>
                  <a:srgbClr val="000000"/>
                </a:solidFill>
              </a:rPr>
              <a:t>struct</a:t>
            </a:r>
            <a:r>
              <a:rPr lang="en-US" sz="3200" b="0" dirty="0">
                <a:solidFill>
                  <a:srgbClr val="000000"/>
                </a:solidFill>
              </a:rPr>
              <a:t> t * next;</a:t>
            </a:r>
          </a:p>
          <a:p>
            <a:pPr algn="l"/>
            <a:r>
              <a:rPr lang="en-US" sz="3200" b="0" dirty="0">
                <a:solidFill>
                  <a:srgbClr val="000000"/>
                </a:solidFill>
              </a:rPr>
              <a:t>} T;  </a:t>
            </a:r>
            <a:endParaRPr lang="ru-RU" sz="3200" b="0" dirty="0">
              <a:solidFill>
                <a:srgbClr val="000000"/>
              </a:solidFill>
            </a:endParaRPr>
          </a:p>
          <a:p>
            <a:pPr algn="l"/>
            <a:endParaRPr lang="en-US" sz="3200" b="0" dirty="0">
              <a:solidFill>
                <a:srgbClr val="000000"/>
              </a:solidFill>
            </a:endParaRPr>
          </a:p>
          <a:p>
            <a:pPr algn="l"/>
            <a:r>
              <a:rPr lang="ru-RU" sz="3200" b="0" dirty="0">
                <a:solidFill>
                  <a:srgbClr val="000000"/>
                </a:solidFill>
              </a:rPr>
              <a:t>Добавить (</a:t>
            </a:r>
            <a:r>
              <a:rPr lang="en-US" sz="3200" b="0" dirty="0">
                <a:solidFill>
                  <a:srgbClr val="000000"/>
                </a:solidFill>
              </a:rPr>
              <a:t>T * List, Node * </a:t>
            </a:r>
            <a:r>
              <a:rPr lang="en-US" sz="3200" b="0" dirty="0" err="1">
                <a:solidFill>
                  <a:srgbClr val="000000"/>
                </a:solidFill>
              </a:rPr>
              <a:t>node_tree</a:t>
            </a:r>
            <a:r>
              <a:rPr lang="ru-RU" sz="3200" b="0" dirty="0">
                <a:solidFill>
                  <a:srgbClr val="000000"/>
                </a:solidFill>
              </a:rPr>
              <a:t>)</a:t>
            </a:r>
            <a:endParaRPr lang="en-US" sz="3200" b="0" dirty="0">
              <a:solidFill>
                <a:srgbClr val="000000"/>
              </a:solidFill>
            </a:endParaRPr>
          </a:p>
          <a:p>
            <a:pPr algn="l"/>
            <a:r>
              <a:rPr lang="en-US" sz="3200" b="0" dirty="0">
                <a:solidFill>
                  <a:srgbClr val="000000"/>
                </a:solidFill>
              </a:rPr>
              <a:t>Node * </a:t>
            </a:r>
            <a:r>
              <a:rPr lang="ru-RU" sz="3200" b="0" dirty="0">
                <a:solidFill>
                  <a:srgbClr val="000000"/>
                </a:solidFill>
              </a:rPr>
              <a:t>Удалить (</a:t>
            </a:r>
            <a:r>
              <a:rPr lang="en-US" sz="3200" b="0" dirty="0">
                <a:solidFill>
                  <a:srgbClr val="000000"/>
                </a:solidFill>
              </a:rPr>
              <a:t>T *List</a:t>
            </a:r>
            <a:r>
              <a:rPr lang="ru-RU" sz="3200" b="0" dirty="0">
                <a:solidFill>
                  <a:srgbClr val="000000"/>
                </a:solidFill>
              </a:rPr>
              <a:t>)</a:t>
            </a:r>
            <a:endParaRPr lang="en-US" sz="3200" b="0" dirty="0">
              <a:solidFill>
                <a:srgbClr val="000000"/>
              </a:solidFill>
            </a:endParaRPr>
          </a:p>
          <a:p>
            <a:endParaRPr lang="en-US" sz="3200" b="0" u="sng" dirty="0">
              <a:solidFill>
                <a:srgbClr val="000000"/>
              </a:solidFill>
            </a:endParaRPr>
          </a:p>
          <a:p>
            <a:endParaRPr lang="ru-RU" sz="3200" b="0" u="sng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7758"/>
            <a:ext cx="8229600" cy="529438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2800" b="1" dirty="0">
                <a:solidFill>
                  <a:srgbClr val="000000"/>
                </a:solidFill>
                <a:effectLst/>
              </a:rPr>
              <a:t>Просмотр</a:t>
            </a:r>
            <a:r>
              <a:rPr lang="ru-RU" sz="2800" dirty="0">
                <a:solidFill>
                  <a:srgbClr val="000000"/>
                </a:solidFill>
                <a:effectLst/>
              </a:rPr>
              <a:t> (</a:t>
            </a:r>
            <a:r>
              <a:rPr lang="en-US" sz="2800" dirty="0">
                <a:solidFill>
                  <a:srgbClr val="000000"/>
                </a:solidFill>
                <a:effectLst/>
              </a:rPr>
              <a:t>Node *Root</a:t>
            </a:r>
            <a:r>
              <a:rPr lang="ru-RU" sz="2800" dirty="0">
                <a:solidFill>
                  <a:srgbClr val="000000"/>
                </a:solidFill>
                <a:effectLst/>
              </a:rPr>
              <a:t>)</a:t>
            </a:r>
            <a:endParaRPr lang="en-US" sz="2800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T* </a:t>
            </a:r>
            <a:r>
              <a:rPr lang="en-US" sz="2800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800" dirty="0">
                <a:solidFill>
                  <a:srgbClr val="000000"/>
                </a:solidFill>
                <a:effectLst/>
              </a:rPr>
              <a:t> = NULL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</a:t>
            </a:r>
            <a:r>
              <a:rPr lang="ru-RU" sz="2800" b="1" dirty="0">
                <a:solidFill>
                  <a:srgbClr val="000000"/>
                </a:solidFill>
                <a:effectLst/>
              </a:rPr>
              <a:t>Добавить</a:t>
            </a:r>
            <a:r>
              <a:rPr lang="ru-RU" sz="2800" dirty="0">
                <a:solidFill>
                  <a:srgbClr val="000000"/>
                </a:solidFill>
                <a:effectLst/>
              </a:rPr>
              <a:t>(</a:t>
            </a:r>
            <a:r>
              <a:rPr lang="en-US" sz="2800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800" dirty="0">
                <a:solidFill>
                  <a:srgbClr val="000000"/>
                </a:solidFill>
                <a:effectLst/>
              </a:rPr>
              <a:t>, Root</a:t>
            </a:r>
            <a:r>
              <a:rPr lang="ru-RU" sz="2800" dirty="0">
                <a:solidFill>
                  <a:srgbClr val="000000"/>
                </a:solidFill>
                <a:effectLst/>
              </a:rPr>
              <a:t>)</a:t>
            </a:r>
            <a:endParaRPr lang="en-US" sz="2800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ru-RU" sz="2800" u="sng" dirty="0">
                <a:solidFill>
                  <a:srgbClr val="000000"/>
                </a:solidFill>
                <a:effectLst/>
              </a:rPr>
              <a:t>Пока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800" dirty="0">
                <a:solidFill>
                  <a:srgbClr val="000000"/>
                </a:solidFill>
                <a:effectLst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</a:rPr>
              <a:t>не пуста </a:t>
            </a:r>
            <a:r>
              <a:rPr lang="ru-RU" sz="2800" u="sng" dirty="0" err="1">
                <a:solidFill>
                  <a:srgbClr val="000000"/>
                </a:solidFill>
                <a:effectLst/>
              </a:rPr>
              <a:t>нц</a:t>
            </a:r>
            <a:endParaRPr lang="ru-RU" sz="2800" u="sng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ru-RU" sz="2800" dirty="0">
                <a:solidFill>
                  <a:srgbClr val="000000"/>
                </a:solidFill>
                <a:effectLst/>
              </a:rPr>
              <a:t>  </a:t>
            </a:r>
            <a:r>
              <a:rPr lang="en-US" sz="2800" dirty="0">
                <a:solidFill>
                  <a:srgbClr val="000000"/>
                </a:solidFill>
                <a:effectLst/>
              </a:rPr>
              <a:t>Node *temp = </a:t>
            </a:r>
            <a:r>
              <a:rPr lang="ru-RU" sz="2800" b="1" dirty="0">
                <a:solidFill>
                  <a:srgbClr val="000000"/>
                </a:solidFill>
                <a:effectLst/>
              </a:rPr>
              <a:t>Удалить</a:t>
            </a:r>
            <a:r>
              <a:rPr lang="ru-RU" sz="2800" dirty="0">
                <a:solidFill>
                  <a:srgbClr val="000000"/>
                </a:solidFill>
                <a:effectLst/>
              </a:rPr>
              <a:t>(</a:t>
            </a:r>
            <a:r>
              <a:rPr lang="en-US" sz="2800" dirty="0" err="1">
                <a:solidFill>
                  <a:srgbClr val="000000"/>
                </a:solidFill>
                <a:effectLst/>
              </a:rPr>
              <a:t>Struct</a:t>
            </a:r>
            <a:r>
              <a:rPr lang="ru-RU" sz="2800" dirty="0">
                <a:solidFill>
                  <a:srgbClr val="000000"/>
                </a:solidFill>
                <a:effectLst/>
              </a:rPr>
              <a:t>)</a:t>
            </a:r>
            <a:endParaRPr lang="en-US" sz="2800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</a:t>
            </a:r>
            <a:r>
              <a:rPr lang="ru-RU" sz="2800" dirty="0">
                <a:solidFill>
                  <a:srgbClr val="000000"/>
                </a:solidFill>
                <a:effectLst/>
              </a:rPr>
              <a:t>печать </a:t>
            </a:r>
            <a:r>
              <a:rPr lang="en-US" sz="2800" dirty="0">
                <a:solidFill>
                  <a:srgbClr val="000000"/>
                </a:solidFill>
                <a:effectLst/>
              </a:rPr>
              <a:t>temp-&gt;data;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Если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</a:rPr>
              <a:t>temp-&gt;left </a:t>
            </a:r>
            <a:r>
              <a:rPr lang="ru-RU" sz="2800" dirty="0">
                <a:solidFill>
                  <a:srgbClr val="000000"/>
                </a:solidFill>
                <a:effectLst/>
              </a:rPr>
              <a:t>не пуст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то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2800" dirty="0">
                <a:solidFill>
                  <a:srgbClr val="000000"/>
                </a:solidFill>
                <a:effectLst/>
              </a:rPr>
              <a:t>                   </a:t>
            </a:r>
            <a:r>
              <a:rPr lang="ru-RU" sz="2800" b="1" dirty="0">
                <a:solidFill>
                  <a:srgbClr val="000000"/>
                </a:solidFill>
                <a:effectLst/>
              </a:rPr>
              <a:t>Добавить</a:t>
            </a:r>
            <a:r>
              <a:rPr lang="ru-RU" sz="2800" dirty="0">
                <a:solidFill>
                  <a:srgbClr val="000000"/>
                </a:solidFill>
                <a:effectLst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800" dirty="0">
                <a:solidFill>
                  <a:srgbClr val="000000"/>
                </a:solidFill>
                <a:effectLst/>
              </a:rPr>
              <a:t>, temp-&gt;left</a:t>
            </a:r>
            <a:r>
              <a:rPr lang="ru-RU" sz="2800" dirty="0">
                <a:solidFill>
                  <a:srgbClr val="000000"/>
                </a:solidFill>
                <a:effectLst/>
              </a:rPr>
              <a:t>)</a:t>
            </a:r>
            <a:endParaRPr lang="en-US" sz="2800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</a:rPr>
              <a:t> 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Если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</a:rPr>
              <a:t>temp-&gt;right </a:t>
            </a:r>
            <a:r>
              <a:rPr lang="ru-RU" sz="2800" dirty="0">
                <a:solidFill>
                  <a:srgbClr val="000000"/>
                </a:solidFill>
                <a:effectLst/>
              </a:rPr>
              <a:t>не пуст </a:t>
            </a:r>
            <a:r>
              <a:rPr lang="ru-RU" sz="2800" u="sng" dirty="0">
                <a:solidFill>
                  <a:srgbClr val="000000"/>
                </a:solidFill>
                <a:effectLst/>
              </a:rPr>
              <a:t>то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2800" dirty="0">
                <a:solidFill>
                  <a:srgbClr val="000000"/>
                </a:solidFill>
                <a:effectLst/>
              </a:rPr>
              <a:t>                  </a:t>
            </a:r>
            <a:r>
              <a:rPr lang="ru-RU" sz="2800" b="1" dirty="0">
                <a:solidFill>
                  <a:srgbClr val="000000"/>
                </a:solidFill>
                <a:effectLst/>
              </a:rPr>
              <a:t>Добавить</a:t>
            </a:r>
            <a:r>
              <a:rPr lang="ru-RU" sz="2800" dirty="0">
                <a:solidFill>
                  <a:srgbClr val="000000"/>
                </a:solidFill>
                <a:effectLst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800" dirty="0">
                <a:solidFill>
                  <a:srgbClr val="000000"/>
                </a:solidFill>
                <a:effectLst/>
              </a:rPr>
              <a:t>, temp-&gt;right) </a:t>
            </a:r>
          </a:p>
          <a:p>
            <a:pPr>
              <a:spcBef>
                <a:spcPts val="0"/>
              </a:spcBef>
              <a:buNone/>
            </a:pPr>
            <a:r>
              <a:rPr lang="ru-RU" sz="2800" u="sng" dirty="0" err="1">
                <a:solidFill>
                  <a:srgbClr val="000000"/>
                </a:solidFill>
                <a:effectLst/>
              </a:rPr>
              <a:t>кц</a:t>
            </a:r>
            <a:r>
              <a:rPr lang="ru-RU" sz="2800" dirty="0">
                <a:solidFill>
                  <a:srgbClr val="000000"/>
                </a:solidFill>
                <a:effectLst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2800" u="sng" dirty="0">
                <a:solidFill>
                  <a:srgbClr val="000000"/>
                </a:solidFill>
                <a:effectLst/>
              </a:rPr>
              <a:t>конец</a:t>
            </a:r>
            <a:endParaRPr lang="en-US" sz="2800" u="sng" dirty="0">
              <a:solidFill>
                <a:srgbClr val="000000"/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ru-RU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2082" y="215856"/>
            <a:ext cx="8142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Просмотр элементов дерева. Не рекурсивная реализация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Box 3"/>
          <p:cNvSpPr txBox="1">
            <a:spLocks noChangeArrowheads="1"/>
          </p:cNvSpPr>
          <p:nvPr/>
        </p:nvSpPr>
        <p:spPr bwMode="auto">
          <a:xfrm>
            <a:off x="539750" y="1233488"/>
            <a:ext cx="7885113" cy="517680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Дерево </a:t>
            </a:r>
            <a:r>
              <a:rPr lang="en-US" dirty="0">
                <a:solidFill>
                  <a:srgbClr val="000000"/>
                </a:solidFill>
              </a:rPr>
              <a:t>(Node *h,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n,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a,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b)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{</a:t>
            </a:r>
          </a:p>
          <a:p>
            <a:r>
              <a:rPr lang="ru-RU" b="0" dirty="0">
                <a:solidFill>
                  <a:srgbClr val="000000"/>
                </a:solidFill>
              </a:rPr>
              <a:t>     Перейти на позицию с координатами             </a:t>
            </a:r>
          </a:p>
          <a:p>
            <a:r>
              <a:rPr lang="ru-RU" b="0" dirty="0">
                <a:solidFill>
                  <a:srgbClr val="000000"/>
                </a:solidFill>
              </a:rPr>
              <a:t>     </a:t>
            </a:r>
            <a:r>
              <a:rPr lang="en-US" b="0" dirty="0">
                <a:solidFill>
                  <a:srgbClr val="000000"/>
                </a:solidFill>
              </a:rPr>
              <a:t>((</a:t>
            </a:r>
            <a:r>
              <a:rPr lang="en-US" b="0" dirty="0" err="1">
                <a:solidFill>
                  <a:srgbClr val="000000"/>
                </a:solidFill>
              </a:rPr>
              <a:t>a+b</a:t>
            </a:r>
            <a:r>
              <a:rPr lang="en-US" b="0" dirty="0">
                <a:solidFill>
                  <a:srgbClr val="000000"/>
                </a:solidFill>
              </a:rPr>
              <a:t>)/2,n);</a:t>
            </a:r>
          </a:p>
          <a:p>
            <a:r>
              <a:rPr lang="ru-RU" b="0" dirty="0">
                <a:solidFill>
                  <a:srgbClr val="000000"/>
                </a:solidFill>
              </a:rPr>
              <a:t>     </a:t>
            </a:r>
            <a:r>
              <a:rPr lang="en-US" b="0" dirty="0">
                <a:solidFill>
                  <a:srgbClr val="000000"/>
                </a:solidFill>
              </a:rPr>
              <a:t>if (h!=NULL)</a:t>
            </a:r>
          </a:p>
          <a:p>
            <a:r>
              <a:rPr lang="en-US" b="0" dirty="0">
                <a:solidFill>
                  <a:srgbClr val="000000"/>
                </a:solidFill>
              </a:rPr>
              <a:t> </a:t>
            </a:r>
            <a:r>
              <a:rPr lang="ru-RU" b="0" dirty="0">
                <a:solidFill>
                  <a:srgbClr val="000000"/>
                </a:solidFill>
              </a:rPr>
              <a:t>           </a:t>
            </a:r>
            <a:r>
              <a:rPr lang="en-US" b="0" dirty="0">
                <a:solidFill>
                  <a:srgbClr val="000000"/>
                </a:solidFill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</a:rPr>
              <a:t>   </a:t>
            </a:r>
            <a:r>
              <a:rPr lang="ru-RU" b="0" dirty="0">
                <a:solidFill>
                  <a:srgbClr val="000000"/>
                </a:solidFill>
              </a:rPr>
              <a:t>              печать</a:t>
            </a:r>
            <a:r>
              <a:rPr lang="en-US" b="0" dirty="0">
                <a:solidFill>
                  <a:srgbClr val="000000"/>
                </a:solidFill>
              </a:rPr>
              <a:t>(h-&gt;data);</a:t>
            </a:r>
          </a:p>
          <a:p>
            <a:r>
              <a:rPr lang="en-US" b="0" dirty="0">
                <a:solidFill>
                  <a:srgbClr val="000000"/>
                </a:solidFill>
              </a:rPr>
              <a:t>   </a:t>
            </a:r>
            <a:r>
              <a:rPr lang="ru-RU" b="0" dirty="0">
                <a:solidFill>
                  <a:srgbClr val="000000"/>
                </a:solidFill>
              </a:rPr>
              <a:t>              Дерево</a:t>
            </a:r>
            <a:r>
              <a:rPr lang="en-US" b="0" dirty="0">
                <a:solidFill>
                  <a:srgbClr val="000000"/>
                </a:solidFill>
              </a:rPr>
              <a:t>(h-&gt;rigth,n+1,(</a:t>
            </a:r>
            <a:r>
              <a:rPr lang="en-US" b="0" dirty="0" err="1">
                <a:solidFill>
                  <a:srgbClr val="000000"/>
                </a:solidFill>
              </a:rPr>
              <a:t>a+b</a:t>
            </a:r>
            <a:r>
              <a:rPr lang="en-US" b="0" dirty="0">
                <a:solidFill>
                  <a:srgbClr val="000000"/>
                </a:solidFill>
              </a:rPr>
              <a:t>)/2,b);</a:t>
            </a:r>
          </a:p>
          <a:p>
            <a:r>
              <a:rPr lang="en-US" b="0" dirty="0">
                <a:solidFill>
                  <a:srgbClr val="000000"/>
                </a:solidFill>
              </a:rPr>
              <a:t>   </a:t>
            </a:r>
            <a:r>
              <a:rPr lang="ru-RU" b="0" dirty="0">
                <a:solidFill>
                  <a:srgbClr val="000000"/>
                </a:solidFill>
              </a:rPr>
              <a:t>              Дерево</a:t>
            </a:r>
            <a:r>
              <a:rPr lang="en-US" b="0" dirty="0">
                <a:solidFill>
                  <a:srgbClr val="000000"/>
                </a:solidFill>
              </a:rPr>
              <a:t>(h-&gt;left,n+1,a,(</a:t>
            </a:r>
            <a:r>
              <a:rPr lang="en-US" b="0" dirty="0" err="1">
                <a:solidFill>
                  <a:srgbClr val="000000"/>
                </a:solidFill>
              </a:rPr>
              <a:t>a+b</a:t>
            </a:r>
            <a:r>
              <a:rPr lang="en-US" b="0" dirty="0">
                <a:solidFill>
                  <a:srgbClr val="000000"/>
                </a:solidFill>
              </a:rPr>
              <a:t>)/2);</a:t>
            </a:r>
          </a:p>
          <a:p>
            <a:r>
              <a:rPr lang="en-US" b="0" dirty="0">
                <a:solidFill>
                  <a:srgbClr val="000000"/>
                </a:solidFill>
              </a:rPr>
              <a:t>  </a:t>
            </a:r>
            <a:r>
              <a:rPr lang="ru-RU" b="0" dirty="0">
                <a:solidFill>
                  <a:srgbClr val="000000"/>
                </a:solidFill>
              </a:rPr>
              <a:t>            </a:t>
            </a:r>
            <a:r>
              <a:rPr lang="en-US" b="0" dirty="0">
                <a:solidFill>
                  <a:srgbClr val="000000"/>
                </a:solidFill>
              </a:rPr>
              <a:t>}</a:t>
            </a:r>
          </a:p>
          <a:p>
            <a:r>
              <a:rPr lang="en-US" b="0" dirty="0">
                <a:solidFill>
                  <a:srgbClr val="000000"/>
                </a:solidFill>
              </a:rPr>
              <a:t>}</a:t>
            </a:r>
            <a:endParaRPr lang="ru-RU" b="0" dirty="0">
              <a:solidFill>
                <a:srgbClr val="000000"/>
              </a:solidFill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519113" y="179388"/>
            <a:ext cx="8229600" cy="105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–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Печать </a:t>
            </a:r>
          </a:p>
        </p:txBody>
      </p:sp>
    </p:spTree>
    <p:extLst>
      <p:ext uri="{BB962C8B-B14F-4D97-AF65-F5344CB8AC3E}">
        <p14:creationId xmlns:p14="http://schemas.microsoft.com/office/powerpoint/2010/main" val="119841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971550"/>
          </a:xfrm>
        </p:spPr>
        <p:txBody>
          <a:bodyPr/>
          <a:lstStyle/>
          <a:p>
            <a:pPr>
              <a:defRPr/>
            </a:pPr>
            <a:r>
              <a:rPr lang="ru-RU" sz="3200" dirty="0">
                <a:solidFill>
                  <a:schemeClr val="bg1"/>
                </a:solidFill>
              </a:rPr>
              <a:t>ФОРМАТИРОВАНИ</a:t>
            </a:r>
            <a:r>
              <a:rPr lang="en-US" sz="3200" dirty="0">
                <a:solidFill>
                  <a:schemeClr val="bg1"/>
                </a:solidFill>
              </a:rPr>
              <a:t>E</a:t>
            </a:r>
            <a:r>
              <a:rPr lang="ru-RU" sz="3200" dirty="0">
                <a:solidFill>
                  <a:schemeClr val="bg1"/>
                </a:solidFill>
              </a:rPr>
              <a:t> ВЫВОДА В КОНСОЛИ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33488"/>
            <a:ext cx="8229600" cy="5256212"/>
          </a:xfrm>
          <a:solidFill>
            <a:schemeClr val="tx1"/>
          </a:solidFill>
          <a:ln>
            <a:solidFill>
              <a:schemeClr val="accent1"/>
            </a:solidFill>
          </a:ln>
        </p:spPr>
        <p:txBody>
          <a:bodyPr/>
          <a:lstStyle/>
          <a:p>
            <a:pPr algn="r">
              <a:buFont typeface="Wingdings" pitchFamily="2" charset="2"/>
              <a:buNone/>
              <a:defRPr/>
            </a:pPr>
            <a:r>
              <a:rPr lang="en-US" dirty="0">
                <a:solidFill>
                  <a:srgbClr val="00B050"/>
                </a:solidFill>
              </a:rPr>
              <a:t>&lt;</a:t>
            </a:r>
            <a:r>
              <a:rPr lang="en-US" dirty="0" err="1">
                <a:solidFill>
                  <a:srgbClr val="00B050"/>
                </a:solidFill>
              </a:rPr>
              <a:t>windows.h</a:t>
            </a:r>
            <a:r>
              <a:rPr lang="en-US" dirty="0">
                <a:solidFill>
                  <a:srgbClr val="00B050"/>
                </a:solidFill>
              </a:rPr>
              <a:t>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rgbClr val="00B050"/>
                </a:solidFill>
                <a:effectLst/>
              </a:rPr>
              <a:t>HANDLE </a:t>
            </a:r>
            <a:r>
              <a:rPr lang="en-US" sz="2800" dirty="0">
                <a:solidFill>
                  <a:schemeClr val="bg1"/>
                </a:solidFill>
                <a:effectLst/>
              </a:rPr>
              <a:t>– </a:t>
            </a:r>
            <a:r>
              <a:rPr lang="ru-RU" sz="2800" dirty="0">
                <a:solidFill>
                  <a:schemeClr val="bg1"/>
                </a:solidFill>
                <a:effectLst/>
              </a:rPr>
              <a:t>тип для описания дескрипторов</a:t>
            </a:r>
            <a:endParaRPr lang="en-US" sz="2800" dirty="0">
              <a:solidFill>
                <a:schemeClr val="bg1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rgbClr val="00B050"/>
                </a:solidFill>
                <a:effectLst/>
              </a:rPr>
              <a:t>HANDLE</a:t>
            </a:r>
            <a:r>
              <a:rPr lang="en-US" sz="2800" dirty="0">
                <a:solidFill>
                  <a:srgbClr val="00B050"/>
                </a:solidFill>
                <a:effectLst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effectLst/>
              </a:rPr>
              <a:t>GetStdHandle</a:t>
            </a:r>
            <a:r>
              <a:rPr lang="ru-RU" sz="2800" i="1" dirty="0">
                <a:solidFill>
                  <a:srgbClr val="00B050"/>
                </a:solidFill>
                <a:effectLst/>
              </a:rPr>
              <a:t> </a:t>
            </a:r>
            <a:r>
              <a:rPr lang="en-US" sz="2800" dirty="0">
                <a:solidFill>
                  <a:srgbClr val="00B050"/>
                </a:solidFill>
                <a:effectLst/>
              </a:rPr>
              <a:t>(</a:t>
            </a:r>
            <a:r>
              <a:rPr lang="en-US" sz="2800" b="1" dirty="0">
                <a:solidFill>
                  <a:srgbClr val="00B050"/>
                </a:solidFill>
                <a:effectLst/>
              </a:rPr>
              <a:t>HANDLE </a:t>
            </a:r>
            <a:r>
              <a:rPr lang="en-US" sz="2800" dirty="0" err="1">
                <a:solidFill>
                  <a:srgbClr val="00B050"/>
                </a:solidFill>
                <a:effectLst/>
              </a:rPr>
              <a:t>hCon</a:t>
            </a:r>
            <a:r>
              <a:rPr lang="en-US" sz="2800" dirty="0">
                <a:solidFill>
                  <a:srgbClr val="00B050"/>
                </a:solidFill>
                <a:effectLst/>
              </a:rPr>
              <a:t>);</a:t>
            </a:r>
            <a:r>
              <a:rPr lang="ru-RU" sz="2800" dirty="0">
                <a:solidFill>
                  <a:srgbClr val="00B050"/>
                </a:solidFill>
                <a:effectLst/>
              </a:rPr>
              <a:t> </a:t>
            </a:r>
            <a:endParaRPr lang="ru-RU" sz="2800" dirty="0">
              <a:solidFill>
                <a:schemeClr val="bg1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rgbClr val="00B050"/>
                </a:solidFill>
                <a:effectLst/>
              </a:rPr>
              <a:t>COORD</a:t>
            </a:r>
            <a:r>
              <a:rPr lang="en-US" sz="2800" b="1" dirty="0">
                <a:solidFill>
                  <a:srgbClr val="33CC33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/>
              </a:rPr>
              <a:t>– </a:t>
            </a:r>
            <a:r>
              <a:rPr lang="ru-RU" sz="2800" dirty="0">
                <a:solidFill>
                  <a:schemeClr val="bg1"/>
                </a:solidFill>
                <a:effectLst/>
              </a:rPr>
              <a:t>тип для описания координаты двумерной системы координат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rgbClr val="00B050"/>
                </a:solidFill>
                <a:effectLst/>
              </a:rPr>
              <a:t>BOOL </a:t>
            </a:r>
            <a:r>
              <a:rPr lang="en-US" sz="2800" b="1" i="1" dirty="0" err="1">
                <a:solidFill>
                  <a:srgbClr val="00B050"/>
                </a:solidFill>
                <a:effectLst/>
              </a:rPr>
              <a:t>SetConsoleCursorPosition</a:t>
            </a:r>
            <a:endParaRPr lang="ru-RU" sz="2800" b="1" i="1" dirty="0">
              <a:solidFill>
                <a:srgbClr val="00B050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2800" b="1" dirty="0">
                <a:solidFill>
                  <a:srgbClr val="00B050"/>
                </a:solidFill>
                <a:effectLst/>
              </a:rPr>
              <a:t>              </a:t>
            </a:r>
            <a:r>
              <a:rPr lang="en-US" sz="2800" b="1" dirty="0">
                <a:solidFill>
                  <a:srgbClr val="00B050"/>
                </a:solidFill>
                <a:effectLst/>
              </a:rPr>
              <a:t>(HANDLE </a:t>
            </a:r>
            <a:r>
              <a:rPr lang="en-US" sz="2800" dirty="0" err="1">
                <a:solidFill>
                  <a:srgbClr val="00B050"/>
                </a:solidFill>
                <a:effectLst/>
              </a:rPr>
              <a:t>hCon</a:t>
            </a:r>
            <a:r>
              <a:rPr lang="en-US" sz="2800" b="1" dirty="0">
                <a:solidFill>
                  <a:srgbClr val="00B050"/>
                </a:solidFill>
                <a:effectLst/>
              </a:rPr>
              <a:t>, </a:t>
            </a:r>
            <a:endParaRPr lang="ru-RU" sz="2800" b="1" dirty="0">
              <a:solidFill>
                <a:srgbClr val="00B050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2800" b="1" dirty="0">
                <a:solidFill>
                  <a:srgbClr val="00B050"/>
                </a:solidFill>
                <a:effectLst/>
              </a:rPr>
              <a:t>               </a:t>
            </a:r>
            <a:r>
              <a:rPr lang="en-US" sz="2800" b="1" dirty="0">
                <a:solidFill>
                  <a:srgbClr val="00B050"/>
                </a:solidFill>
                <a:effectLst/>
              </a:rPr>
              <a:t>COORD </a:t>
            </a:r>
            <a:r>
              <a:rPr lang="en-US" sz="2800" dirty="0" err="1">
                <a:solidFill>
                  <a:srgbClr val="00B050"/>
                </a:solidFill>
                <a:effectLst/>
              </a:rPr>
              <a:t>cPos</a:t>
            </a:r>
            <a:r>
              <a:rPr lang="en-US" sz="2800" b="1" dirty="0">
                <a:solidFill>
                  <a:srgbClr val="00B050"/>
                </a:solidFill>
                <a:effectLst/>
              </a:rPr>
              <a:t>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 err="1">
                <a:solidFill>
                  <a:srgbClr val="00B050"/>
                </a:solidFill>
                <a:effectLst/>
              </a:rPr>
              <a:t>cPos.X</a:t>
            </a:r>
            <a:endParaRPr lang="en-US" sz="2800" b="1" dirty="0">
              <a:solidFill>
                <a:srgbClr val="00B050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 err="1">
                <a:solidFill>
                  <a:srgbClr val="00B050"/>
                </a:solidFill>
                <a:effectLst/>
              </a:rPr>
              <a:t>cPos.Y</a:t>
            </a:r>
            <a:endParaRPr lang="ru-RU" sz="2800" b="1" dirty="0">
              <a:solidFill>
                <a:srgbClr val="00B050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endParaRPr lang="ru-RU" sz="2800" b="1" dirty="0">
              <a:solidFill>
                <a:srgbClr val="33CC33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1219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592082" y="215856"/>
            <a:ext cx="81423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sz="3200" kern="0" dirty="0">
                <a:solidFill>
                  <a:schemeClr val="bg1"/>
                </a:solidFill>
              </a:rPr>
              <a:t>BST – </a:t>
            </a:r>
            <a:r>
              <a:rPr lang="ru-RU" sz="3200" kern="0" dirty="0">
                <a:solidFill>
                  <a:schemeClr val="bg1"/>
                </a:solidFill>
              </a:rPr>
              <a:t>деревья</a:t>
            </a:r>
            <a:r>
              <a:rPr lang="en-US" sz="3200" kern="0" dirty="0">
                <a:solidFill>
                  <a:schemeClr val="bg1"/>
                </a:solidFill>
              </a:rPr>
              <a:t>. </a:t>
            </a:r>
            <a:r>
              <a:rPr lang="ru-RU" sz="3200" kern="0" dirty="0">
                <a:solidFill>
                  <a:schemeClr val="bg1"/>
                </a:solidFill>
              </a:rPr>
              <a:t>Поиск элемента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083" y="1311246"/>
            <a:ext cx="8032860" cy="2734082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700"/>
              </a:spcBef>
              <a:buFont typeface="Arial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sz="3200" b="0" dirty="0">
                <a:solidFill>
                  <a:srgbClr val="000000"/>
                </a:solidFill>
              </a:rPr>
              <a:t>Использует принцип работы функции вставки нового элемента.</a:t>
            </a:r>
          </a:p>
          <a:p>
            <a:pPr algn="l">
              <a:spcBef>
                <a:spcPts val="700"/>
              </a:spcBef>
              <a:buFont typeface="Arial" pitchFamily="34" charset="0"/>
              <a:buChar char="•"/>
            </a:pPr>
            <a:r>
              <a:rPr lang="ru-RU" sz="3200" b="0" dirty="0">
                <a:solidFill>
                  <a:srgbClr val="000000"/>
                </a:solidFill>
              </a:rPr>
              <a:t> Возвращает адрес элемента с заданным информационным полем (</a:t>
            </a:r>
            <a:r>
              <a:rPr lang="ru-RU" sz="3200" dirty="0">
                <a:solidFill>
                  <a:srgbClr val="000000"/>
                </a:solidFill>
              </a:rPr>
              <a:t>УСПЕХ</a:t>
            </a:r>
            <a:r>
              <a:rPr lang="ru-RU" sz="3200" b="0" dirty="0">
                <a:solidFill>
                  <a:srgbClr val="000000"/>
                </a:solidFill>
              </a:rPr>
              <a:t>).</a:t>
            </a:r>
          </a:p>
          <a:p>
            <a:pPr algn="l">
              <a:spcBef>
                <a:spcPts val="700"/>
              </a:spcBef>
              <a:buFont typeface="Arial" pitchFamily="34" charset="0"/>
              <a:buChar char="•"/>
            </a:pPr>
            <a:r>
              <a:rPr lang="ru-RU" sz="3200" b="0" dirty="0">
                <a:solidFill>
                  <a:srgbClr val="000000"/>
                </a:solidFill>
              </a:rPr>
              <a:t> Либо пустой указатель (</a:t>
            </a:r>
            <a:r>
              <a:rPr lang="ru-RU" sz="3200" dirty="0">
                <a:solidFill>
                  <a:srgbClr val="000000"/>
                </a:solidFill>
              </a:rPr>
              <a:t>НЕУСПЕХ</a:t>
            </a:r>
            <a:r>
              <a:rPr lang="ru-RU" sz="3200" b="0" dirty="0">
                <a:solidFill>
                  <a:srgbClr val="000000"/>
                </a:solidFill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2"/>
            <a:ext cx="8229600" cy="105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–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Поиск элемента</a:t>
            </a:r>
          </a:p>
        </p:txBody>
      </p:sp>
      <p:sp>
        <p:nvSpPr>
          <p:cNvPr id="10" name="Содержимое 2"/>
          <p:cNvSpPr>
            <a:spLocks noGrp="1"/>
          </p:cNvSpPr>
          <p:nvPr>
            <p:ph idx="1"/>
          </p:nvPr>
        </p:nvSpPr>
        <p:spPr>
          <a:xfrm>
            <a:off x="482544" y="1457298"/>
            <a:ext cx="8229600" cy="492925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  <a:effectLst/>
              </a:rPr>
              <a:t>Node*  </a:t>
            </a:r>
            <a:r>
              <a:rPr lang="ru-RU" b="1" dirty="0">
                <a:solidFill>
                  <a:schemeClr val="bg2"/>
                </a:solidFill>
                <a:effectLst/>
              </a:rPr>
              <a:t>Поиск (</a:t>
            </a:r>
            <a:r>
              <a:rPr lang="en-US" b="1" dirty="0">
                <a:solidFill>
                  <a:schemeClr val="bg2"/>
                </a:solidFill>
                <a:effectLst/>
              </a:rPr>
              <a:t>Node * Root,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b="1" dirty="0">
                <a:solidFill>
                  <a:schemeClr val="bg2"/>
                </a:solidFill>
                <a:effectLst/>
              </a:rPr>
              <a:t> key</a:t>
            </a:r>
            <a:r>
              <a:rPr lang="ru-RU" b="1" dirty="0">
                <a:solidFill>
                  <a:schemeClr val="bg2"/>
                </a:solidFill>
                <a:effectLst/>
              </a:rPr>
              <a:t>)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  <a:r>
              <a:rPr lang="en-US" dirty="0">
                <a:solidFill>
                  <a:schemeClr val="bg2"/>
                </a:solidFill>
                <a:effectLst/>
              </a:rPr>
              <a:t> Root  - </a:t>
            </a:r>
            <a:r>
              <a:rPr lang="ru-RU" dirty="0">
                <a:solidFill>
                  <a:schemeClr val="bg2"/>
                </a:solidFill>
                <a:effectLst/>
              </a:rPr>
              <a:t>пустой, </a:t>
            </a:r>
            <a:r>
              <a:rPr lang="ru-RU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dirty="0">
                <a:solidFill>
                  <a:schemeClr val="bg2"/>
                </a:solidFill>
                <a:effectLst/>
              </a:rPr>
              <a:t>  </a:t>
            </a:r>
            <a:r>
              <a:rPr lang="en-US" u="sng" dirty="0">
                <a:solidFill>
                  <a:schemeClr val="bg2"/>
                </a:solidFill>
                <a:effectLst/>
              </a:rPr>
              <a:t>return</a:t>
            </a:r>
            <a:r>
              <a:rPr lang="ru-RU" dirty="0">
                <a:solidFill>
                  <a:schemeClr val="bg2"/>
                </a:solidFill>
                <a:effectLst/>
              </a:rPr>
              <a:t>  </a:t>
            </a:r>
            <a:r>
              <a:rPr lang="en-US" dirty="0">
                <a:solidFill>
                  <a:schemeClr val="bg2"/>
                </a:solidFill>
                <a:effectLst/>
              </a:rPr>
              <a:t>NULL</a:t>
            </a:r>
            <a:endParaRPr lang="en-US" u="sng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  <a:r>
              <a:rPr lang="en-US" dirty="0">
                <a:solidFill>
                  <a:schemeClr val="bg2"/>
                </a:solidFill>
                <a:effectLst/>
              </a:rPr>
              <a:t>key == Root-&gt;data </a:t>
            </a:r>
            <a:r>
              <a:rPr lang="ru-RU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  <a:endParaRPr lang="en-US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effectLst/>
              </a:rPr>
              <a:t>                                 </a:t>
            </a:r>
            <a:r>
              <a:rPr lang="ru-RU" dirty="0">
                <a:solidFill>
                  <a:schemeClr val="bg2"/>
                </a:solidFill>
                <a:effectLst/>
              </a:rPr>
              <a:t>  </a:t>
            </a:r>
            <a:r>
              <a:rPr lang="en-US" u="sng" dirty="0">
                <a:solidFill>
                  <a:schemeClr val="bg2"/>
                </a:solidFill>
                <a:effectLst/>
              </a:rPr>
              <a:t>return</a:t>
            </a:r>
            <a:r>
              <a:rPr lang="en-US" dirty="0">
                <a:solidFill>
                  <a:schemeClr val="bg2"/>
                </a:solidFill>
                <a:effectLst/>
              </a:rPr>
              <a:t> Root</a:t>
            </a:r>
          </a:p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иначе</a:t>
            </a:r>
            <a:r>
              <a:rPr lang="ru-RU" dirty="0">
                <a:solidFill>
                  <a:schemeClr val="bg2"/>
                </a:solidFill>
                <a:effectLst/>
              </a:rPr>
              <a:t>   </a:t>
            </a:r>
            <a:r>
              <a:rPr lang="ru-RU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  <a:r>
              <a:rPr lang="en-US" dirty="0">
                <a:solidFill>
                  <a:schemeClr val="bg2"/>
                </a:solidFill>
                <a:effectLst/>
              </a:rPr>
              <a:t>key &gt;= Root-&gt;data </a:t>
            </a:r>
            <a:r>
              <a:rPr lang="ru-RU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  <a:endParaRPr lang="en-US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effectLst/>
              </a:rPr>
              <a:t>               </a:t>
            </a:r>
            <a:r>
              <a:rPr lang="en-US" u="sng" dirty="0">
                <a:solidFill>
                  <a:schemeClr val="bg2"/>
                </a:solidFill>
                <a:effectLst/>
              </a:rPr>
              <a:t>return</a:t>
            </a:r>
            <a:r>
              <a:rPr lang="en-US" dirty="0">
                <a:solidFill>
                  <a:schemeClr val="bg2"/>
                </a:solidFill>
                <a:effectLst/>
              </a:rPr>
              <a:t> </a:t>
            </a:r>
            <a:r>
              <a:rPr lang="ru-RU" dirty="0">
                <a:solidFill>
                  <a:schemeClr val="bg2"/>
                </a:solidFill>
                <a:effectLst/>
              </a:rPr>
              <a:t>  Поиск (</a:t>
            </a:r>
            <a:r>
              <a:rPr lang="en-US" dirty="0">
                <a:solidFill>
                  <a:schemeClr val="bg2"/>
                </a:solidFill>
                <a:effectLst/>
              </a:rPr>
              <a:t>Root-&gt;right, key</a:t>
            </a:r>
            <a:r>
              <a:rPr lang="ru-RU" dirty="0">
                <a:solidFill>
                  <a:schemeClr val="bg2"/>
                </a:solidFill>
                <a:effectLst/>
              </a:rPr>
              <a:t>)</a:t>
            </a:r>
            <a:endParaRPr lang="en-US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иначе</a:t>
            </a:r>
            <a:r>
              <a:rPr lang="en-US" dirty="0">
                <a:solidFill>
                  <a:schemeClr val="bg2"/>
                </a:solidFill>
                <a:effectLst/>
              </a:rPr>
              <a:t>      </a:t>
            </a:r>
            <a:r>
              <a:rPr lang="en-US" u="sng" dirty="0">
                <a:solidFill>
                  <a:schemeClr val="bg2"/>
                </a:solidFill>
                <a:effectLst/>
              </a:rPr>
              <a:t>return</a:t>
            </a:r>
            <a:r>
              <a:rPr lang="ru-RU" dirty="0">
                <a:solidFill>
                  <a:schemeClr val="bg2"/>
                </a:solidFill>
                <a:effectLst/>
              </a:rPr>
              <a:t>   Поиск </a:t>
            </a:r>
            <a:r>
              <a:rPr lang="ru-RU" dirty="0" smtClean="0">
                <a:solidFill>
                  <a:schemeClr val="bg2"/>
                </a:solidFill>
                <a:effectLst/>
              </a:rPr>
              <a:t>(</a:t>
            </a:r>
            <a:r>
              <a:rPr lang="en-US" dirty="0" smtClean="0">
                <a:solidFill>
                  <a:schemeClr val="bg2"/>
                </a:solidFill>
                <a:effectLst/>
              </a:rPr>
              <a:t>Root-</a:t>
            </a:r>
            <a:r>
              <a:rPr lang="en-US" dirty="0">
                <a:solidFill>
                  <a:schemeClr val="bg2"/>
                </a:solidFill>
                <a:effectLst/>
              </a:rPr>
              <a:t>&gt;left, key</a:t>
            </a:r>
            <a:r>
              <a:rPr lang="ru-RU" dirty="0">
                <a:solidFill>
                  <a:schemeClr val="bg2"/>
                </a:solidFill>
                <a:effectLst/>
              </a:rPr>
              <a:t>)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bg2"/>
                </a:solidFill>
                <a:effectLst/>
              </a:rPr>
              <a:t>конец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519113" y="179342"/>
            <a:ext cx="8229600" cy="105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–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Поиск элемента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3878253" y="1366015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5411799" y="1804171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2" name="Прямая со стрелкой 11"/>
          <p:cNvCxnSpPr>
            <a:stCxn id="10" idx="6"/>
            <a:endCxn id="11" idx="0"/>
          </p:cNvCxnSpPr>
          <p:nvPr/>
        </p:nvCxnSpPr>
        <p:spPr bwMode="auto">
          <a:xfrm>
            <a:off x="4316409" y="1676376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Прямая со стрелкой 12"/>
          <p:cNvCxnSpPr>
            <a:stCxn id="11" idx="2"/>
            <a:endCxn id="14" idx="0"/>
          </p:cNvCxnSpPr>
          <p:nvPr/>
        </p:nvCxnSpPr>
        <p:spPr bwMode="auto">
          <a:xfrm rot="10800000" flipV="1">
            <a:off x="4462461" y="2114532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Овал 13"/>
          <p:cNvSpPr/>
          <p:nvPr/>
        </p:nvSpPr>
        <p:spPr bwMode="auto">
          <a:xfrm>
            <a:off x="4243383" y="2351866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5" name="Прямая со стрелкой 14"/>
          <p:cNvCxnSpPr>
            <a:stCxn id="10" idx="2"/>
            <a:endCxn id="16" idx="0"/>
          </p:cNvCxnSpPr>
          <p:nvPr/>
        </p:nvCxnSpPr>
        <p:spPr bwMode="auto">
          <a:xfrm rot="10800000" flipV="1">
            <a:off x="2636811" y="1676376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Овал 15"/>
          <p:cNvSpPr/>
          <p:nvPr/>
        </p:nvSpPr>
        <p:spPr bwMode="auto">
          <a:xfrm>
            <a:off x="2417733" y="1840684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7" name="Прямая со стрелкой 16"/>
          <p:cNvCxnSpPr>
            <a:stCxn id="16" idx="2"/>
            <a:endCxn id="18" idx="0"/>
          </p:cNvCxnSpPr>
          <p:nvPr/>
        </p:nvCxnSpPr>
        <p:spPr bwMode="auto">
          <a:xfrm rot="10800000" flipV="1">
            <a:off x="1687473" y="2151045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Овал 17"/>
          <p:cNvSpPr/>
          <p:nvPr/>
        </p:nvSpPr>
        <p:spPr bwMode="auto">
          <a:xfrm>
            <a:off x="1468395" y="2388379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9" name="Прямая со стрелкой 18"/>
          <p:cNvCxnSpPr>
            <a:stCxn id="18" idx="5"/>
            <a:endCxn id="20" idx="0"/>
          </p:cNvCxnSpPr>
          <p:nvPr/>
        </p:nvCxnSpPr>
        <p:spPr bwMode="auto">
          <a:xfrm rot="16200000" flipH="1">
            <a:off x="2157633" y="2602948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Овал 19"/>
          <p:cNvSpPr/>
          <p:nvPr/>
        </p:nvSpPr>
        <p:spPr bwMode="auto">
          <a:xfrm>
            <a:off x="2417733" y="3082126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1" name="Прямая со стрелкой 20"/>
          <p:cNvCxnSpPr>
            <a:stCxn id="11" idx="6"/>
            <a:endCxn id="22" idx="0"/>
          </p:cNvCxnSpPr>
          <p:nvPr/>
        </p:nvCxnSpPr>
        <p:spPr bwMode="auto">
          <a:xfrm>
            <a:off x="5849955" y="2114532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Овал 21"/>
          <p:cNvSpPr/>
          <p:nvPr/>
        </p:nvSpPr>
        <p:spPr bwMode="auto">
          <a:xfrm>
            <a:off x="6470676" y="2242327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3" name="Прямая со стрелкой 22"/>
          <p:cNvCxnSpPr>
            <a:stCxn id="22" idx="3"/>
            <a:endCxn id="24" idx="0"/>
          </p:cNvCxnSpPr>
          <p:nvPr/>
        </p:nvCxnSpPr>
        <p:spPr bwMode="auto">
          <a:xfrm rot="5400000">
            <a:off x="6129609" y="2382954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Овал 23"/>
          <p:cNvSpPr/>
          <p:nvPr/>
        </p:nvSpPr>
        <p:spPr bwMode="auto">
          <a:xfrm>
            <a:off x="5265747" y="286304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5" name="Прямая со стрелкой 24"/>
          <p:cNvCxnSpPr>
            <a:stCxn id="24" idx="5"/>
            <a:endCxn id="26" idx="0"/>
          </p:cNvCxnSpPr>
          <p:nvPr/>
        </p:nvCxnSpPr>
        <p:spPr bwMode="auto">
          <a:xfrm rot="16200000" flipH="1">
            <a:off x="6939920" y="2529005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Овал 25"/>
          <p:cNvSpPr/>
          <p:nvPr/>
        </p:nvSpPr>
        <p:spPr bwMode="auto">
          <a:xfrm>
            <a:off x="7602579" y="366633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7" name="Прямая со стрелкой 26"/>
          <p:cNvCxnSpPr>
            <a:stCxn id="18" idx="3"/>
            <a:endCxn id="28" idx="0"/>
          </p:cNvCxnSpPr>
          <p:nvPr/>
        </p:nvCxnSpPr>
        <p:spPr bwMode="auto">
          <a:xfrm rot="5400000">
            <a:off x="1053385" y="2602949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Овал 27"/>
          <p:cNvSpPr/>
          <p:nvPr/>
        </p:nvSpPr>
        <p:spPr bwMode="auto">
          <a:xfrm>
            <a:off x="519057" y="3082126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9" name="Прямая со стрелкой 28"/>
          <p:cNvCxnSpPr>
            <a:stCxn id="28" idx="5"/>
            <a:endCxn id="30" idx="0"/>
          </p:cNvCxnSpPr>
          <p:nvPr/>
        </p:nvCxnSpPr>
        <p:spPr bwMode="auto">
          <a:xfrm rot="16200000" flipH="1">
            <a:off x="1025731" y="3479260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Овал 29"/>
          <p:cNvSpPr/>
          <p:nvPr/>
        </p:nvSpPr>
        <p:spPr bwMode="auto">
          <a:xfrm>
            <a:off x="1139778" y="3812386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1" name="Прямая со стрелкой 30"/>
          <p:cNvCxnSpPr>
            <a:stCxn id="24" idx="3"/>
            <a:endCxn id="32" idx="0"/>
          </p:cNvCxnSpPr>
          <p:nvPr/>
        </p:nvCxnSpPr>
        <p:spPr bwMode="auto">
          <a:xfrm rot="5400000">
            <a:off x="4596063" y="2748084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Овал 31"/>
          <p:cNvSpPr/>
          <p:nvPr/>
        </p:nvSpPr>
        <p:spPr bwMode="auto">
          <a:xfrm>
            <a:off x="3476610" y="355679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3" name="Прямая со стрелкой 32"/>
          <p:cNvCxnSpPr>
            <a:stCxn id="26" idx="4"/>
            <a:endCxn id="34" idx="0"/>
          </p:cNvCxnSpPr>
          <p:nvPr/>
        </p:nvCxnSpPr>
        <p:spPr bwMode="auto">
          <a:xfrm rot="16200000" flipH="1">
            <a:off x="8150274" y="4214029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Овал 33"/>
          <p:cNvSpPr/>
          <p:nvPr/>
        </p:nvSpPr>
        <p:spPr bwMode="auto">
          <a:xfrm>
            <a:off x="7894683" y="4433107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5" name="Прямая со стрелкой 34"/>
          <p:cNvCxnSpPr>
            <a:stCxn id="26" idx="4"/>
            <a:endCxn id="36" idx="0"/>
          </p:cNvCxnSpPr>
          <p:nvPr/>
        </p:nvCxnSpPr>
        <p:spPr bwMode="auto">
          <a:xfrm rot="5400000">
            <a:off x="7520425" y="3931054"/>
            <a:ext cx="200822" cy="9128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Овал 35"/>
          <p:cNvSpPr/>
          <p:nvPr/>
        </p:nvSpPr>
        <p:spPr bwMode="auto">
          <a:xfrm>
            <a:off x="6689754" y="4487877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7" name="Прямая со стрелкой 36"/>
          <p:cNvCxnSpPr>
            <a:stCxn id="20" idx="3"/>
            <a:endCxn id="38" idx="0"/>
          </p:cNvCxnSpPr>
          <p:nvPr/>
        </p:nvCxnSpPr>
        <p:spPr bwMode="auto">
          <a:xfrm rot="5400000">
            <a:off x="2167031" y="3534030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Овал 37"/>
          <p:cNvSpPr/>
          <p:nvPr/>
        </p:nvSpPr>
        <p:spPr bwMode="auto">
          <a:xfrm>
            <a:off x="1870038" y="3848899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9" name="Прямая со стрелкой 38"/>
          <p:cNvCxnSpPr>
            <a:stCxn id="32" idx="4"/>
            <a:endCxn id="40" idx="0"/>
          </p:cNvCxnSpPr>
          <p:nvPr/>
        </p:nvCxnSpPr>
        <p:spPr bwMode="auto">
          <a:xfrm rot="16200000" flipH="1">
            <a:off x="4316409" y="3812385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0" name="Овал 39"/>
          <p:cNvSpPr/>
          <p:nvPr/>
        </p:nvSpPr>
        <p:spPr bwMode="auto">
          <a:xfrm>
            <a:off x="4316409" y="428705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1" name="Прямая со стрелкой 40"/>
          <p:cNvCxnSpPr>
            <a:endCxn id="42" idx="1"/>
          </p:cNvCxnSpPr>
          <p:nvPr/>
        </p:nvCxnSpPr>
        <p:spPr bwMode="auto">
          <a:xfrm rot="16200000" flipH="1">
            <a:off x="4833397" y="4646379"/>
            <a:ext cx="236954" cy="3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Овал 41"/>
          <p:cNvSpPr/>
          <p:nvPr/>
        </p:nvSpPr>
        <p:spPr bwMode="auto">
          <a:xfrm>
            <a:off x="5010156" y="487126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3" name="Прямая со стрелкой 42"/>
          <p:cNvCxnSpPr>
            <a:endCxn id="44" idx="0"/>
          </p:cNvCxnSpPr>
          <p:nvPr/>
        </p:nvCxnSpPr>
        <p:spPr bwMode="auto">
          <a:xfrm rot="5400000">
            <a:off x="4425949" y="4579159"/>
            <a:ext cx="182565" cy="474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Овал 43"/>
          <p:cNvSpPr/>
          <p:nvPr/>
        </p:nvSpPr>
        <p:spPr bwMode="auto">
          <a:xfrm>
            <a:off x="3805227" y="4907776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5" name="Прямая со стрелкой 44"/>
          <p:cNvCxnSpPr>
            <a:stCxn id="42" idx="5"/>
            <a:endCxn id="46" idx="0"/>
          </p:cNvCxnSpPr>
          <p:nvPr/>
        </p:nvCxnSpPr>
        <p:spPr bwMode="auto">
          <a:xfrm rot="16200000" flipH="1">
            <a:off x="5908427" y="5313121"/>
            <a:ext cx="182185" cy="3581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Овал 45"/>
          <p:cNvSpPr/>
          <p:nvPr/>
        </p:nvSpPr>
        <p:spPr bwMode="auto">
          <a:xfrm>
            <a:off x="5703903" y="5583267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7" name="Прямая со стрелкой 46"/>
          <p:cNvCxnSpPr>
            <a:stCxn id="36" idx="4"/>
            <a:endCxn id="48" idx="1"/>
          </p:cNvCxnSpPr>
          <p:nvPr/>
        </p:nvCxnSpPr>
        <p:spPr bwMode="auto">
          <a:xfrm rot="5400000">
            <a:off x="6932895" y="5114024"/>
            <a:ext cx="236954" cy="2261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Овал 47"/>
          <p:cNvSpPr/>
          <p:nvPr/>
        </p:nvSpPr>
        <p:spPr bwMode="auto">
          <a:xfrm>
            <a:off x="6799293" y="525465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49" name="Овал 48"/>
          <p:cNvSpPr/>
          <p:nvPr/>
        </p:nvSpPr>
        <p:spPr bwMode="auto">
          <a:xfrm>
            <a:off x="774648" y="5583267"/>
            <a:ext cx="949338" cy="620721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1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4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179342"/>
            <a:ext cx="8229600" cy="105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BST –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деревья</a:t>
            </a: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Поиск элемента</a:t>
            </a:r>
          </a:p>
        </p:txBody>
      </p:sp>
      <p:sp>
        <p:nvSpPr>
          <p:cNvPr id="5" name="Овал 4"/>
          <p:cNvSpPr/>
          <p:nvPr/>
        </p:nvSpPr>
        <p:spPr bwMode="auto">
          <a:xfrm>
            <a:off x="3841740" y="1585093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6" name="Овал 5"/>
          <p:cNvSpPr/>
          <p:nvPr/>
        </p:nvSpPr>
        <p:spPr bwMode="auto">
          <a:xfrm>
            <a:off x="5375286" y="2023249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" name="Прямая со стрелкой 6"/>
          <p:cNvCxnSpPr>
            <a:stCxn id="5" idx="6"/>
            <a:endCxn id="6" idx="0"/>
          </p:cNvCxnSpPr>
          <p:nvPr/>
        </p:nvCxnSpPr>
        <p:spPr bwMode="auto">
          <a:xfrm>
            <a:off x="4279896" y="1895454"/>
            <a:ext cx="1314468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Прямая со стрелкой 7"/>
          <p:cNvCxnSpPr>
            <a:stCxn id="6" idx="2"/>
            <a:endCxn id="9" idx="0"/>
          </p:cNvCxnSpPr>
          <p:nvPr/>
        </p:nvCxnSpPr>
        <p:spPr bwMode="auto">
          <a:xfrm rot="10800000" flipV="1">
            <a:off x="4425948" y="2333610"/>
            <a:ext cx="949338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Овал 8"/>
          <p:cNvSpPr/>
          <p:nvPr/>
        </p:nvSpPr>
        <p:spPr bwMode="auto">
          <a:xfrm>
            <a:off x="4206870" y="2570944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0" name="Прямая со стрелкой 9"/>
          <p:cNvCxnSpPr>
            <a:stCxn id="5" idx="2"/>
            <a:endCxn id="11" idx="0"/>
          </p:cNvCxnSpPr>
          <p:nvPr/>
        </p:nvCxnSpPr>
        <p:spPr bwMode="auto">
          <a:xfrm rot="10800000" flipV="1">
            <a:off x="2600298" y="1895454"/>
            <a:ext cx="1241442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Овал 10"/>
          <p:cNvSpPr/>
          <p:nvPr/>
        </p:nvSpPr>
        <p:spPr bwMode="auto">
          <a:xfrm>
            <a:off x="2381220" y="205976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2" name="Прямая со стрелкой 11"/>
          <p:cNvCxnSpPr>
            <a:stCxn id="11" idx="2"/>
            <a:endCxn id="13" idx="0"/>
          </p:cNvCxnSpPr>
          <p:nvPr/>
        </p:nvCxnSpPr>
        <p:spPr bwMode="auto">
          <a:xfrm rot="10800000" flipV="1">
            <a:off x="1650960" y="2370123"/>
            <a:ext cx="730260" cy="237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Овал 12"/>
          <p:cNvSpPr/>
          <p:nvPr/>
        </p:nvSpPr>
        <p:spPr bwMode="auto">
          <a:xfrm>
            <a:off x="1431882" y="260745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4" name="Прямая со стрелкой 13"/>
          <p:cNvCxnSpPr>
            <a:stCxn id="13" idx="5"/>
            <a:endCxn id="15" idx="0"/>
          </p:cNvCxnSpPr>
          <p:nvPr/>
        </p:nvCxnSpPr>
        <p:spPr bwMode="auto">
          <a:xfrm rot="16200000" flipH="1">
            <a:off x="2121120" y="2822026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Овал 14"/>
          <p:cNvSpPr/>
          <p:nvPr/>
        </p:nvSpPr>
        <p:spPr bwMode="auto">
          <a:xfrm>
            <a:off x="2381220" y="3301204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6" name="Прямая со стрелкой 15"/>
          <p:cNvCxnSpPr>
            <a:stCxn id="6" idx="6"/>
            <a:endCxn id="17" idx="0"/>
          </p:cNvCxnSpPr>
          <p:nvPr/>
        </p:nvCxnSpPr>
        <p:spPr bwMode="auto">
          <a:xfrm>
            <a:off x="5813442" y="2333610"/>
            <a:ext cx="1095390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6434163" y="246140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8" name="Прямая со стрелкой 17"/>
          <p:cNvCxnSpPr>
            <a:stCxn id="17" idx="3"/>
            <a:endCxn id="19" idx="0"/>
          </p:cNvCxnSpPr>
          <p:nvPr/>
        </p:nvCxnSpPr>
        <p:spPr bwMode="auto">
          <a:xfrm rot="5400000">
            <a:off x="6093096" y="2602032"/>
            <a:ext cx="90902" cy="869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Овал 18"/>
          <p:cNvSpPr/>
          <p:nvPr/>
        </p:nvSpPr>
        <p:spPr bwMode="auto">
          <a:xfrm>
            <a:off x="5229234" y="3082126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0" name="Прямая со стрелкой 19"/>
          <p:cNvCxnSpPr>
            <a:stCxn id="19" idx="5"/>
            <a:endCxn id="21" idx="0"/>
          </p:cNvCxnSpPr>
          <p:nvPr/>
        </p:nvCxnSpPr>
        <p:spPr bwMode="auto">
          <a:xfrm rot="16200000" flipH="1">
            <a:off x="6903407" y="2748083"/>
            <a:ext cx="273467" cy="2001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Овал 20"/>
          <p:cNvSpPr/>
          <p:nvPr/>
        </p:nvSpPr>
        <p:spPr bwMode="auto">
          <a:xfrm>
            <a:off x="7566066" y="3885412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2" name="Прямая со стрелкой 21"/>
          <p:cNvCxnSpPr>
            <a:stCxn id="13" idx="3"/>
            <a:endCxn id="23" idx="0"/>
          </p:cNvCxnSpPr>
          <p:nvPr/>
        </p:nvCxnSpPr>
        <p:spPr bwMode="auto">
          <a:xfrm rot="5400000">
            <a:off x="1016872" y="2822027"/>
            <a:ext cx="163928" cy="79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Овал 22"/>
          <p:cNvSpPr/>
          <p:nvPr/>
        </p:nvSpPr>
        <p:spPr bwMode="auto">
          <a:xfrm>
            <a:off x="482544" y="3301204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4" name="Прямая со стрелкой 23"/>
          <p:cNvCxnSpPr>
            <a:stCxn id="23" idx="5"/>
            <a:endCxn id="25" idx="0"/>
          </p:cNvCxnSpPr>
          <p:nvPr/>
        </p:nvCxnSpPr>
        <p:spPr bwMode="auto">
          <a:xfrm rot="16200000" flipH="1">
            <a:off x="989218" y="3698338"/>
            <a:ext cx="20044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Овал 24"/>
          <p:cNvSpPr/>
          <p:nvPr/>
        </p:nvSpPr>
        <p:spPr bwMode="auto">
          <a:xfrm>
            <a:off x="1103265" y="4031464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19" idx="3"/>
            <a:endCxn id="27" idx="0"/>
          </p:cNvCxnSpPr>
          <p:nvPr/>
        </p:nvCxnSpPr>
        <p:spPr bwMode="auto">
          <a:xfrm rot="5400000">
            <a:off x="4559550" y="2967162"/>
            <a:ext cx="163928" cy="1453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Овал 26"/>
          <p:cNvSpPr/>
          <p:nvPr/>
        </p:nvSpPr>
        <p:spPr bwMode="auto">
          <a:xfrm>
            <a:off x="3440097" y="377587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8" name="Прямая со стрелкой 27"/>
          <p:cNvCxnSpPr>
            <a:stCxn id="21" idx="4"/>
            <a:endCxn id="29" idx="0"/>
          </p:cNvCxnSpPr>
          <p:nvPr/>
        </p:nvCxnSpPr>
        <p:spPr bwMode="auto">
          <a:xfrm rot="16200000" flipH="1">
            <a:off x="8113761" y="4433107"/>
            <a:ext cx="146052" cy="292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Овал 28"/>
          <p:cNvSpPr/>
          <p:nvPr/>
        </p:nvSpPr>
        <p:spPr bwMode="auto">
          <a:xfrm>
            <a:off x="7858170" y="465218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0" name="Прямая со стрелкой 29"/>
          <p:cNvCxnSpPr>
            <a:stCxn id="21" idx="4"/>
            <a:endCxn id="31" idx="0"/>
          </p:cNvCxnSpPr>
          <p:nvPr/>
        </p:nvCxnSpPr>
        <p:spPr bwMode="auto">
          <a:xfrm rot="5400000">
            <a:off x="7483912" y="4150132"/>
            <a:ext cx="200822" cy="9128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Овал 30"/>
          <p:cNvSpPr/>
          <p:nvPr/>
        </p:nvSpPr>
        <p:spPr bwMode="auto">
          <a:xfrm>
            <a:off x="6653241" y="470695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2" name="Прямая со стрелкой 31"/>
          <p:cNvCxnSpPr>
            <a:stCxn id="15" idx="3"/>
            <a:endCxn id="33" idx="0"/>
          </p:cNvCxnSpPr>
          <p:nvPr/>
        </p:nvCxnSpPr>
        <p:spPr bwMode="auto">
          <a:xfrm rot="5400000">
            <a:off x="2130518" y="3753108"/>
            <a:ext cx="236954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Овал 32"/>
          <p:cNvSpPr/>
          <p:nvPr/>
        </p:nvSpPr>
        <p:spPr bwMode="auto">
          <a:xfrm>
            <a:off x="1833525" y="406797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4" name="Прямая со стрелкой 33"/>
          <p:cNvCxnSpPr>
            <a:stCxn id="27" idx="4"/>
            <a:endCxn id="35" idx="0"/>
          </p:cNvCxnSpPr>
          <p:nvPr/>
        </p:nvCxnSpPr>
        <p:spPr bwMode="auto">
          <a:xfrm rot="16200000" flipH="1">
            <a:off x="4279896" y="4031463"/>
            <a:ext cx="109539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Овал 34"/>
          <p:cNvSpPr/>
          <p:nvPr/>
        </p:nvSpPr>
        <p:spPr bwMode="auto">
          <a:xfrm>
            <a:off x="4279896" y="45061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6" name="Прямая со стрелкой 35"/>
          <p:cNvCxnSpPr>
            <a:endCxn id="37" idx="1"/>
          </p:cNvCxnSpPr>
          <p:nvPr/>
        </p:nvCxnSpPr>
        <p:spPr bwMode="auto">
          <a:xfrm rot="16200000" flipH="1">
            <a:off x="4796884" y="4865457"/>
            <a:ext cx="236954" cy="3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Овал 36"/>
          <p:cNvSpPr/>
          <p:nvPr/>
        </p:nvSpPr>
        <p:spPr bwMode="auto">
          <a:xfrm>
            <a:off x="4973643" y="509034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8" name="Прямая со стрелкой 37"/>
          <p:cNvCxnSpPr>
            <a:endCxn id="39" idx="0"/>
          </p:cNvCxnSpPr>
          <p:nvPr/>
        </p:nvCxnSpPr>
        <p:spPr bwMode="auto">
          <a:xfrm rot="5400000">
            <a:off x="4389436" y="4798237"/>
            <a:ext cx="182565" cy="474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Овал 38"/>
          <p:cNvSpPr/>
          <p:nvPr/>
        </p:nvSpPr>
        <p:spPr bwMode="auto">
          <a:xfrm>
            <a:off x="3768714" y="512685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0" name="Прямая со стрелкой 39"/>
          <p:cNvCxnSpPr>
            <a:stCxn id="37" idx="5"/>
            <a:endCxn id="41" idx="0"/>
          </p:cNvCxnSpPr>
          <p:nvPr/>
        </p:nvCxnSpPr>
        <p:spPr bwMode="auto">
          <a:xfrm rot="16200000" flipH="1">
            <a:off x="5871914" y="5532199"/>
            <a:ext cx="182185" cy="3581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Овал 40"/>
          <p:cNvSpPr/>
          <p:nvPr/>
        </p:nvSpPr>
        <p:spPr bwMode="auto">
          <a:xfrm>
            <a:off x="5667390" y="580234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2" name="Прямая со стрелкой 41"/>
          <p:cNvCxnSpPr>
            <a:stCxn id="31" idx="4"/>
            <a:endCxn id="43" idx="1"/>
          </p:cNvCxnSpPr>
          <p:nvPr/>
        </p:nvCxnSpPr>
        <p:spPr bwMode="auto">
          <a:xfrm rot="5400000">
            <a:off x="6896382" y="5333102"/>
            <a:ext cx="236954" cy="2261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Овал 42"/>
          <p:cNvSpPr/>
          <p:nvPr/>
        </p:nvSpPr>
        <p:spPr bwMode="auto">
          <a:xfrm>
            <a:off x="6762780" y="547372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44" name="Овал 43"/>
          <p:cNvSpPr/>
          <p:nvPr/>
        </p:nvSpPr>
        <p:spPr bwMode="auto">
          <a:xfrm>
            <a:off x="920700" y="5510241"/>
            <a:ext cx="949338" cy="620721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6" name="Прямая со стрелкой 45"/>
          <p:cNvCxnSpPr>
            <a:stCxn id="17" idx="5"/>
          </p:cNvCxnSpPr>
          <p:nvPr/>
        </p:nvCxnSpPr>
        <p:spPr bwMode="auto">
          <a:xfrm rot="16200000" flipH="1">
            <a:off x="7350691" y="2885007"/>
            <a:ext cx="328237" cy="5406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7748631" y="3063870"/>
            <a:ext cx="1131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NULL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8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4" grpId="0" animBg="1"/>
      <p:bldP spid="4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28596" y="1676376"/>
            <a:ext cx="8229600" cy="449265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ClrTx/>
              <a:buNone/>
            </a:pPr>
            <a:r>
              <a:rPr lang="ru-RU" dirty="0">
                <a:solidFill>
                  <a:srgbClr val="000000"/>
                </a:solidFill>
              </a:rPr>
              <a:t>  Лучший случай:</a:t>
            </a:r>
          </a:p>
          <a:p>
            <a:pPr>
              <a:buClrTx/>
              <a:buNone/>
            </a:pPr>
            <a:endParaRPr lang="ru-RU" dirty="0">
              <a:solidFill>
                <a:srgbClr val="000000"/>
              </a:solidFill>
            </a:endParaRPr>
          </a:p>
          <a:p>
            <a:pPr>
              <a:buClrTx/>
              <a:buNone/>
            </a:pPr>
            <a:endParaRPr lang="ru-RU" dirty="0">
              <a:solidFill>
                <a:srgbClr val="000000"/>
              </a:solidFill>
            </a:endParaRPr>
          </a:p>
          <a:p>
            <a:pPr>
              <a:buClrTx/>
              <a:buNone/>
            </a:pPr>
            <a:endParaRPr lang="ru-RU" dirty="0">
              <a:solidFill>
                <a:srgbClr val="000000"/>
              </a:solidFill>
            </a:endParaRPr>
          </a:p>
          <a:p>
            <a:pPr>
              <a:buClrTx/>
              <a:buNone/>
            </a:pPr>
            <a:endParaRPr lang="ru-RU" dirty="0">
              <a:solidFill>
                <a:srgbClr val="000000"/>
              </a:solidFill>
            </a:endParaRPr>
          </a:p>
          <a:p>
            <a:pPr>
              <a:buClrTx/>
              <a:buNone/>
            </a:pPr>
            <a:endParaRPr lang="ru-RU" dirty="0">
              <a:solidFill>
                <a:srgbClr val="000000"/>
              </a:solidFill>
            </a:endParaRPr>
          </a:p>
          <a:p>
            <a:pPr>
              <a:buClrTx/>
              <a:buNone/>
            </a:pPr>
            <a:r>
              <a:rPr lang="ru-RU" dirty="0">
                <a:solidFill>
                  <a:srgbClr val="000000"/>
                </a:solidFill>
              </a:rPr>
              <a:t>Сбалансированное дерево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Анализ </a:t>
            </a: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деревьев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 bwMode="auto">
          <a:xfrm>
            <a:off x="3841741" y="220581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6" name="Овал 5"/>
          <p:cNvSpPr/>
          <p:nvPr/>
        </p:nvSpPr>
        <p:spPr bwMode="auto">
          <a:xfrm>
            <a:off x="5521337" y="2643970"/>
            <a:ext cx="985851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" name="Прямая со стрелкой 6"/>
          <p:cNvCxnSpPr>
            <a:stCxn id="5" idx="6"/>
            <a:endCxn id="6" idx="0"/>
          </p:cNvCxnSpPr>
          <p:nvPr/>
        </p:nvCxnSpPr>
        <p:spPr bwMode="auto">
          <a:xfrm>
            <a:off x="4791079" y="2516175"/>
            <a:ext cx="1223184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Прямая со стрелкой 7"/>
          <p:cNvCxnSpPr>
            <a:stCxn id="6" idx="4"/>
            <a:endCxn id="9" idx="0"/>
          </p:cNvCxnSpPr>
          <p:nvPr/>
        </p:nvCxnSpPr>
        <p:spPr bwMode="auto">
          <a:xfrm rot="5400000">
            <a:off x="5484825" y="2972587"/>
            <a:ext cx="237335" cy="8215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Овал 8"/>
          <p:cNvSpPr/>
          <p:nvPr/>
        </p:nvSpPr>
        <p:spPr bwMode="auto">
          <a:xfrm>
            <a:off x="4718052" y="3502026"/>
            <a:ext cx="949338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15</a:t>
            </a:r>
          </a:p>
        </p:txBody>
      </p:sp>
      <p:cxnSp>
        <p:nvCxnSpPr>
          <p:cNvPr id="10" name="Прямая со стрелкой 9"/>
          <p:cNvCxnSpPr>
            <a:stCxn id="5" idx="2"/>
            <a:endCxn id="11" idx="0"/>
          </p:cNvCxnSpPr>
          <p:nvPr/>
        </p:nvCxnSpPr>
        <p:spPr bwMode="auto">
          <a:xfrm rot="10800000" flipV="1">
            <a:off x="2746351" y="2516175"/>
            <a:ext cx="1095391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Овал 10"/>
          <p:cNvSpPr/>
          <p:nvPr/>
        </p:nvSpPr>
        <p:spPr bwMode="auto">
          <a:xfrm>
            <a:off x="2527272" y="2680483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2" name="Прямая со стрелкой 11"/>
          <p:cNvCxnSpPr>
            <a:stCxn id="11" idx="4"/>
            <a:endCxn id="13" idx="0"/>
          </p:cNvCxnSpPr>
          <p:nvPr/>
        </p:nvCxnSpPr>
        <p:spPr bwMode="auto">
          <a:xfrm rot="5400000">
            <a:off x="2372092" y="3164280"/>
            <a:ext cx="237335" cy="5111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Овал 12"/>
          <p:cNvSpPr/>
          <p:nvPr/>
        </p:nvSpPr>
        <p:spPr bwMode="auto">
          <a:xfrm>
            <a:off x="2016090" y="3538539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4" name="Прямая со стрелкой 13"/>
          <p:cNvCxnSpPr>
            <a:stCxn id="13" idx="4"/>
            <a:endCxn id="15" idx="0"/>
          </p:cNvCxnSpPr>
          <p:nvPr/>
        </p:nvCxnSpPr>
        <p:spPr bwMode="auto">
          <a:xfrm rot="16200000" flipH="1">
            <a:off x="2162142" y="4232285"/>
            <a:ext cx="328617" cy="182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Овал 14"/>
          <p:cNvSpPr/>
          <p:nvPr/>
        </p:nvSpPr>
        <p:spPr bwMode="auto">
          <a:xfrm>
            <a:off x="2198655" y="448787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6" name="Прямая со стрелкой 15"/>
          <p:cNvCxnSpPr>
            <a:stCxn id="6" idx="4"/>
            <a:endCxn id="17" idx="0"/>
          </p:cNvCxnSpPr>
          <p:nvPr/>
        </p:nvCxnSpPr>
        <p:spPr bwMode="auto">
          <a:xfrm rot="16200000" flipH="1">
            <a:off x="6087289" y="3191664"/>
            <a:ext cx="164309" cy="310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5849955" y="342900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8" name="Прямая со стрелкой 17"/>
          <p:cNvCxnSpPr>
            <a:stCxn id="17" idx="4"/>
            <a:endCxn id="19" idx="0"/>
          </p:cNvCxnSpPr>
          <p:nvPr/>
        </p:nvCxnSpPr>
        <p:spPr bwMode="auto">
          <a:xfrm rot="5400000">
            <a:off x="5849956" y="4268799"/>
            <a:ext cx="693747" cy="2555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Овал 18"/>
          <p:cNvSpPr/>
          <p:nvPr/>
        </p:nvSpPr>
        <p:spPr bwMode="auto">
          <a:xfrm>
            <a:off x="5594364" y="474346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18</a:t>
            </a:r>
          </a:p>
        </p:txBody>
      </p:sp>
      <p:cxnSp>
        <p:nvCxnSpPr>
          <p:cNvPr id="22" name="Прямая со стрелкой 21"/>
          <p:cNvCxnSpPr>
            <a:stCxn id="13" idx="4"/>
            <a:endCxn id="23" idx="0"/>
          </p:cNvCxnSpPr>
          <p:nvPr/>
        </p:nvCxnSpPr>
        <p:spPr bwMode="auto">
          <a:xfrm rot="5400000">
            <a:off x="1742243" y="3994951"/>
            <a:ext cx="328617" cy="6572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Овал 22"/>
          <p:cNvSpPr/>
          <p:nvPr/>
        </p:nvSpPr>
        <p:spPr bwMode="auto">
          <a:xfrm>
            <a:off x="1358856" y="448787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4" name="Прямая со стрелкой 33"/>
          <p:cNvCxnSpPr>
            <a:stCxn id="17" idx="4"/>
            <a:endCxn id="35" idx="0"/>
          </p:cNvCxnSpPr>
          <p:nvPr/>
        </p:nvCxnSpPr>
        <p:spPr bwMode="auto">
          <a:xfrm rot="16200000" flipH="1">
            <a:off x="6397650" y="3976694"/>
            <a:ext cx="693747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Овал 34"/>
          <p:cNvSpPr/>
          <p:nvPr/>
        </p:nvSpPr>
        <p:spPr bwMode="auto">
          <a:xfrm>
            <a:off x="6689754" y="474346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61" name="Прямая со стрелкой 60"/>
          <p:cNvCxnSpPr>
            <a:stCxn id="11" idx="4"/>
            <a:endCxn id="85" idx="0"/>
          </p:cNvCxnSpPr>
          <p:nvPr/>
        </p:nvCxnSpPr>
        <p:spPr bwMode="auto">
          <a:xfrm rot="16200000" flipH="1">
            <a:off x="2901530" y="3146024"/>
            <a:ext cx="273848" cy="584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Овал 84"/>
          <p:cNvSpPr/>
          <p:nvPr/>
        </p:nvSpPr>
        <p:spPr bwMode="auto">
          <a:xfrm>
            <a:off x="3074967" y="3575052"/>
            <a:ext cx="511182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3" grpId="0" animBg="1"/>
      <p:bldP spid="35" grpId="0" animBg="1"/>
      <p:bldP spid="8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519057" y="1603350"/>
            <a:ext cx="8229600" cy="486054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ClrTx/>
              <a:buNone/>
            </a:pPr>
            <a:r>
              <a:rPr lang="ru-RU" dirty="0">
                <a:solidFill>
                  <a:srgbClr val="000000"/>
                </a:solidFill>
              </a:rPr>
              <a:t>Худшие случаи:</a:t>
            </a:r>
          </a:p>
          <a:p>
            <a:pPr>
              <a:buClrTx/>
              <a:buNone/>
            </a:pP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Анализ </a:t>
            </a: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деревьев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1760499" y="2406636"/>
            <a:ext cx="365130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9" name="Овал 8"/>
          <p:cNvSpPr/>
          <p:nvPr/>
        </p:nvSpPr>
        <p:spPr bwMode="auto">
          <a:xfrm>
            <a:off x="2344707" y="3063870"/>
            <a:ext cx="365130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2782863" y="3575052"/>
            <a:ext cx="365130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 bwMode="auto">
          <a:xfrm>
            <a:off x="3257532" y="4086234"/>
            <a:ext cx="365130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4</a:t>
            </a:r>
          </a:p>
        </p:txBody>
      </p:sp>
      <p:sp>
        <p:nvSpPr>
          <p:cNvPr id="12" name="Овал 11"/>
          <p:cNvSpPr/>
          <p:nvPr/>
        </p:nvSpPr>
        <p:spPr bwMode="auto">
          <a:xfrm>
            <a:off x="3732201" y="4633929"/>
            <a:ext cx="365130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5</a:t>
            </a:r>
          </a:p>
        </p:txBody>
      </p:sp>
      <p:cxnSp>
        <p:nvCxnSpPr>
          <p:cNvPr id="14" name="Прямая со стрелкой 13"/>
          <p:cNvCxnSpPr>
            <a:stCxn id="8" idx="5"/>
            <a:endCxn id="9" idx="1"/>
          </p:cNvCxnSpPr>
          <p:nvPr/>
        </p:nvCxnSpPr>
        <p:spPr bwMode="auto">
          <a:xfrm rot="16200000" flipH="1">
            <a:off x="2035644" y="2754807"/>
            <a:ext cx="399048" cy="3260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Прямая со стрелкой 16"/>
          <p:cNvCxnSpPr>
            <a:stCxn id="9" idx="5"/>
            <a:endCxn id="10" idx="1"/>
          </p:cNvCxnSpPr>
          <p:nvPr/>
        </p:nvCxnSpPr>
        <p:spPr bwMode="auto">
          <a:xfrm rot="16200000" flipH="1">
            <a:off x="2619852" y="3412041"/>
            <a:ext cx="252996" cy="1799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Прямая со стрелкой 19"/>
          <p:cNvCxnSpPr>
            <a:stCxn id="10" idx="5"/>
            <a:endCxn id="11" idx="1"/>
          </p:cNvCxnSpPr>
          <p:nvPr/>
        </p:nvCxnSpPr>
        <p:spPr bwMode="auto">
          <a:xfrm rot="16200000" flipH="1">
            <a:off x="3076264" y="3904966"/>
            <a:ext cx="252996" cy="2164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Прямая со стрелкой 22"/>
          <p:cNvCxnSpPr>
            <a:stCxn id="11" idx="5"/>
            <a:endCxn id="12" idx="1"/>
          </p:cNvCxnSpPr>
          <p:nvPr/>
        </p:nvCxnSpPr>
        <p:spPr bwMode="auto">
          <a:xfrm rot="16200000" flipH="1">
            <a:off x="3532677" y="4434404"/>
            <a:ext cx="289509" cy="2164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Овал 30"/>
          <p:cNvSpPr/>
          <p:nvPr/>
        </p:nvSpPr>
        <p:spPr bwMode="auto">
          <a:xfrm>
            <a:off x="5521338" y="2114532"/>
            <a:ext cx="766773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32" name="Овал 31"/>
          <p:cNvSpPr/>
          <p:nvPr/>
        </p:nvSpPr>
        <p:spPr bwMode="auto">
          <a:xfrm>
            <a:off x="4827590" y="3319461"/>
            <a:ext cx="620721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33" name="Овал 32"/>
          <p:cNvSpPr/>
          <p:nvPr/>
        </p:nvSpPr>
        <p:spPr bwMode="auto">
          <a:xfrm>
            <a:off x="6251597" y="3684591"/>
            <a:ext cx="693747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34" name="Овал 33"/>
          <p:cNvSpPr/>
          <p:nvPr/>
        </p:nvSpPr>
        <p:spPr bwMode="auto">
          <a:xfrm>
            <a:off x="5302260" y="4487877"/>
            <a:ext cx="511182" cy="36513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35" name="Овал 34"/>
          <p:cNvSpPr/>
          <p:nvPr/>
        </p:nvSpPr>
        <p:spPr bwMode="auto">
          <a:xfrm>
            <a:off x="6397650" y="5400702"/>
            <a:ext cx="401643" cy="401643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6" name="Прямая со стрелкой 35"/>
          <p:cNvCxnSpPr>
            <a:stCxn id="31" idx="4"/>
            <a:endCxn id="32" idx="1"/>
          </p:cNvCxnSpPr>
          <p:nvPr/>
        </p:nvCxnSpPr>
        <p:spPr bwMode="auto">
          <a:xfrm rot="5400000">
            <a:off x="4964974" y="2433181"/>
            <a:ext cx="893271" cy="9862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Прямая со стрелкой 36"/>
          <p:cNvCxnSpPr>
            <a:stCxn id="32" idx="5"/>
            <a:endCxn id="33" idx="1"/>
          </p:cNvCxnSpPr>
          <p:nvPr/>
        </p:nvCxnSpPr>
        <p:spPr bwMode="auto">
          <a:xfrm rot="16200000" flipH="1">
            <a:off x="5801829" y="3186698"/>
            <a:ext cx="106944" cy="9957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Прямая со стрелкой 37"/>
          <p:cNvCxnSpPr>
            <a:stCxn id="33" idx="3"/>
            <a:endCxn id="34" idx="0"/>
          </p:cNvCxnSpPr>
          <p:nvPr/>
        </p:nvCxnSpPr>
        <p:spPr bwMode="auto">
          <a:xfrm rot="5400000">
            <a:off x="5709709" y="3844392"/>
            <a:ext cx="491628" cy="7953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Прямая со стрелкой 38"/>
          <p:cNvCxnSpPr>
            <a:stCxn id="34" idx="4"/>
            <a:endCxn id="35" idx="1"/>
          </p:cNvCxnSpPr>
          <p:nvPr/>
        </p:nvCxnSpPr>
        <p:spPr bwMode="auto">
          <a:xfrm rot="16200000" flipH="1">
            <a:off x="5703903" y="4706955"/>
            <a:ext cx="606514" cy="898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5570" y="1566837"/>
            <a:ext cx="7996347" cy="353943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3200" b="0" dirty="0">
                <a:solidFill>
                  <a:srgbClr val="000000"/>
                </a:solidFill>
              </a:rPr>
              <a:t>Стандартный алгоритм вставки добавляет элементы в </a:t>
            </a:r>
            <a:r>
              <a:rPr lang="ru-RU" sz="3200" dirty="0">
                <a:solidFill>
                  <a:srgbClr val="000000"/>
                </a:solidFill>
              </a:rPr>
              <a:t>нижнюю часть дерева</a:t>
            </a:r>
            <a:r>
              <a:rPr lang="ru-RU" sz="3200" b="0" dirty="0">
                <a:solidFill>
                  <a:srgbClr val="000000"/>
                </a:solidFill>
              </a:rPr>
              <a:t>, что не всегда обязательно. Например, данные могут быть и устаревшими, а при стандартной вставке невозможно добраться до новых данных, не посетив старые данные.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6031" y="1749402"/>
            <a:ext cx="8229600" cy="411480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000000"/>
                </a:solidFill>
              </a:rPr>
              <a:t>1 случай. </a:t>
            </a:r>
            <a:r>
              <a:rPr lang="ru-RU" dirty="0">
                <a:solidFill>
                  <a:srgbClr val="000000"/>
                </a:solidFill>
              </a:rPr>
              <a:t>Если ключ вставляемого элемента больше ключа корня, то новый элемент становится корнем, старый корень и его левое поддерево – левым поддеревом, правое поддерево старого корня – правым поддеревом. Но в правом поддереве могут быть ключи, меньшие ключа нового элемента.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3841741" y="2205814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25" name="Овал 24"/>
          <p:cNvSpPr/>
          <p:nvPr/>
        </p:nvSpPr>
        <p:spPr bwMode="auto">
          <a:xfrm>
            <a:off x="5521337" y="2643970"/>
            <a:ext cx="985851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6" name="Прямая со стрелкой 25"/>
          <p:cNvCxnSpPr>
            <a:stCxn id="24" idx="6"/>
            <a:endCxn id="25" idx="0"/>
          </p:cNvCxnSpPr>
          <p:nvPr/>
        </p:nvCxnSpPr>
        <p:spPr bwMode="auto">
          <a:xfrm>
            <a:off x="4791079" y="2516175"/>
            <a:ext cx="1223184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Прямая со стрелкой 26"/>
          <p:cNvCxnSpPr>
            <a:stCxn id="25" idx="4"/>
            <a:endCxn id="28" idx="0"/>
          </p:cNvCxnSpPr>
          <p:nvPr/>
        </p:nvCxnSpPr>
        <p:spPr bwMode="auto">
          <a:xfrm rot="5400000">
            <a:off x="5484825" y="2972587"/>
            <a:ext cx="237335" cy="8215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Овал 27"/>
          <p:cNvSpPr/>
          <p:nvPr/>
        </p:nvSpPr>
        <p:spPr bwMode="auto">
          <a:xfrm>
            <a:off x="4718052" y="3502026"/>
            <a:ext cx="949338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15</a:t>
            </a:r>
          </a:p>
        </p:txBody>
      </p:sp>
      <p:cxnSp>
        <p:nvCxnSpPr>
          <p:cNvPr id="29" name="Прямая со стрелкой 28"/>
          <p:cNvCxnSpPr>
            <a:stCxn id="24" idx="2"/>
            <a:endCxn id="30" idx="0"/>
          </p:cNvCxnSpPr>
          <p:nvPr/>
        </p:nvCxnSpPr>
        <p:spPr bwMode="auto">
          <a:xfrm rot="10800000" flipV="1">
            <a:off x="2746351" y="2516175"/>
            <a:ext cx="1095391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Овал 29"/>
          <p:cNvSpPr/>
          <p:nvPr/>
        </p:nvSpPr>
        <p:spPr bwMode="auto">
          <a:xfrm>
            <a:off x="2527272" y="2680483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1" name="Прямая со стрелкой 30"/>
          <p:cNvCxnSpPr>
            <a:stCxn id="30" idx="4"/>
            <a:endCxn id="32" idx="0"/>
          </p:cNvCxnSpPr>
          <p:nvPr/>
        </p:nvCxnSpPr>
        <p:spPr bwMode="auto">
          <a:xfrm rot="5400000">
            <a:off x="2372092" y="3164280"/>
            <a:ext cx="237335" cy="5111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Овал 31"/>
          <p:cNvSpPr/>
          <p:nvPr/>
        </p:nvSpPr>
        <p:spPr bwMode="auto">
          <a:xfrm>
            <a:off x="2016090" y="3538539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3" name="Прямая со стрелкой 32"/>
          <p:cNvCxnSpPr>
            <a:stCxn id="32" idx="4"/>
            <a:endCxn id="34" idx="0"/>
          </p:cNvCxnSpPr>
          <p:nvPr/>
        </p:nvCxnSpPr>
        <p:spPr bwMode="auto">
          <a:xfrm rot="16200000" flipH="1">
            <a:off x="2162142" y="4232285"/>
            <a:ext cx="328617" cy="182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Овал 33"/>
          <p:cNvSpPr/>
          <p:nvPr/>
        </p:nvSpPr>
        <p:spPr bwMode="auto">
          <a:xfrm>
            <a:off x="2198655" y="448787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5" name="Прямая со стрелкой 34"/>
          <p:cNvCxnSpPr>
            <a:stCxn id="25" idx="4"/>
            <a:endCxn id="36" idx="0"/>
          </p:cNvCxnSpPr>
          <p:nvPr/>
        </p:nvCxnSpPr>
        <p:spPr bwMode="auto">
          <a:xfrm rot="16200000" flipH="1">
            <a:off x="6087289" y="3191664"/>
            <a:ext cx="164309" cy="310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Овал 35"/>
          <p:cNvSpPr/>
          <p:nvPr/>
        </p:nvSpPr>
        <p:spPr bwMode="auto">
          <a:xfrm>
            <a:off x="5849955" y="3429000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7" name="Прямая со стрелкой 36"/>
          <p:cNvCxnSpPr>
            <a:stCxn id="36" idx="4"/>
            <a:endCxn id="38" idx="0"/>
          </p:cNvCxnSpPr>
          <p:nvPr/>
        </p:nvCxnSpPr>
        <p:spPr bwMode="auto">
          <a:xfrm rot="5400000">
            <a:off x="5849956" y="4268799"/>
            <a:ext cx="693747" cy="2555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Овал 37"/>
          <p:cNvSpPr/>
          <p:nvPr/>
        </p:nvSpPr>
        <p:spPr bwMode="auto">
          <a:xfrm>
            <a:off x="5594364" y="474346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18</a:t>
            </a:r>
          </a:p>
        </p:txBody>
      </p:sp>
      <p:cxnSp>
        <p:nvCxnSpPr>
          <p:cNvPr id="39" name="Прямая со стрелкой 38"/>
          <p:cNvCxnSpPr>
            <a:stCxn id="32" idx="4"/>
            <a:endCxn id="40" idx="0"/>
          </p:cNvCxnSpPr>
          <p:nvPr/>
        </p:nvCxnSpPr>
        <p:spPr bwMode="auto">
          <a:xfrm rot="5400000">
            <a:off x="1742243" y="3994951"/>
            <a:ext cx="328617" cy="6572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0" name="Овал 39"/>
          <p:cNvSpPr/>
          <p:nvPr/>
        </p:nvSpPr>
        <p:spPr bwMode="auto">
          <a:xfrm>
            <a:off x="1358856" y="448787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1" name="Прямая со стрелкой 40"/>
          <p:cNvCxnSpPr>
            <a:stCxn id="36" idx="4"/>
            <a:endCxn id="42" idx="0"/>
          </p:cNvCxnSpPr>
          <p:nvPr/>
        </p:nvCxnSpPr>
        <p:spPr bwMode="auto">
          <a:xfrm rot="16200000" flipH="1">
            <a:off x="6397650" y="3976694"/>
            <a:ext cx="693747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Овал 41"/>
          <p:cNvSpPr/>
          <p:nvPr/>
        </p:nvSpPr>
        <p:spPr bwMode="auto">
          <a:xfrm>
            <a:off x="6689754" y="474346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43" name="Прямая со стрелкой 42"/>
          <p:cNvCxnSpPr>
            <a:stCxn id="30" idx="4"/>
            <a:endCxn id="44" idx="0"/>
          </p:cNvCxnSpPr>
          <p:nvPr/>
        </p:nvCxnSpPr>
        <p:spPr bwMode="auto">
          <a:xfrm rot="16200000" flipH="1">
            <a:off x="2901530" y="3146024"/>
            <a:ext cx="273848" cy="584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Овал 43"/>
          <p:cNvSpPr/>
          <p:nvPr/>
        </p:nvSpPr>
        <p:spPr bwMode="auto">
          <a:xfrm>
            <a:off x="3074967" y="3575052"/>
            <a:ext cx="511182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8</a:t>
            </a:r>
          </a:p>
        </p:txBody>
      </p:sp>
      <p:sp>
        <p:nvSpPr>
          <p:cNvPr id="45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 bwMode="auto">
          <a:xfrm>
            <a:off x="7273962" y="2370123"/>
            <a:ext cx="949338" cy="62072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5" grpId="0"/>
      <p:bldP spid="4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000000"/>
                </a:solidFill>
              </a:rPr>
              <a:t>2 случай. </a:t>
            </a:r>
            <a:r>
              <a:rPr lang="ru-RU" dirty="0">
                <a:solidFill>
                  <a:srgbClr val="000000"/>
                </a:solidFill>
              </a:rPr>
              <a:t>Если ключ вставляемого элемента меньше ключа корня, то новый элемент становится корнем, старый корень и его правое поддерево – правым поддеревом, левое поддерево старого корня – левым поддеревом. Но в левом поддереве могут быть ключи, большие ключа нового элемента.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15856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 bwMode="auto">
          <a:xfrm>
            <a:off x="3221019" y="1877197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6" name="Овал 5"/>
          <p:cNvSpPr/>
          <p:nvPr/>
        </p:nvSpPr>
        <p:spPr bwMode="auto">
          <a:xfrm>
            <a:off x="4900615" y="2315353"/>
            <a:ext cx="985851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" name="Прямая со стрелкой 6"/>
          <p:cNvCxnSpPr>
            <a:stCxn id="5" idx="6"/>
            <a:endCxn id="6" idx="0"/>
          </p:cNvCxnSpPr>
          <p:nvPr/>
        </p:nvCxnSpPr>
        <p:spPr bwMode="auto">
          <a:xfrm>
            <a:off x="4170357" y="2187558"/>
            <a:ext cx="1223184" cy="127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Прямая со стрелкой 7"/>
          <p:cNvCxnSpPr>
            <a:stCxn id="6" idx="4"/>
            <a:endCxn id="9" idx="0"/>
          </p:cNvCxnSpPr>
          <p:nvPr/>
        </p:nvCxnSpPr>
        <p:spPr bwMode="auto">
          <a:xfrm rot="5400000">
            <a:off x="4864103" y="2643970"/>
            <a:ext cx="237335" cy="8215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Овал 8"/>
          <p:cNvSpPr/>
          <p:nvPr/>
        </p:nvSpPr>
        <p:spPr bwMode="auto">
          <a:xfrm>
            <a:off x="4097330" y="3173409"/>
            <a:ext cx="949338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15</a:t>
            </a:r>
          </a:p>
        </p:txBody>
      </p:sp>
      <p:cxnSp>
        <p:nvCxnSpPr>
          <p:cNvPr id="10" name="Прямая со стрелкой 9"/>
          <p:cNvCxnSpPr>
            <a:stCxn id="5" idx="2"/>
            <a:endCxn id="11" idx="0"/>
          </p:cNvCxnSpPr>
          <p:nvPr/>
        </p:nvCxnSpPr>
        <p:spPr bwMode="auto">
          <a:xfrm rot="10800000" flipV="1">
            <a:off x="2125629" y="2187558"/>
            <a:ext cx="1095391" cy="164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Овал 10"/>
          <p:cNvSpPr/>
          <p:nvPr/>
        </p:nvSpPr>
        <p:spPr bwMode="auto">
          <a:xfrm>
            <a:off x="1906550" y="2351866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2" name="Прямая со стрелкой 11"/>
          <p:cNvCxnSpPr>
            <a:stCxn id="11" idx="4"/>
            <a:endCxn id="13" idx="0"/>
          </p:cNvCxnSpPr>
          <p:nvPr/>
        </p:nvCxnSpPr>
        <p:spPr bwMode="auto">
          <a:xfrm rot="5400000">
            <a:off x="1751370" y="2835663"/>
            <a:ext cx="237335" cy="5111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Овал 12"/>
          <p:cNvSpPr/>
          <p:nvPr/>
        </p:nvSpPr>
        <p:spPr bwMode="auto">
          <a:xfrm>
            <a:off x="1395368" y="320992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4" name="Прямая со стрелкой 13"/>
          <p:cNvCxnSpPr>
            <a:stCxn id="13" idx="4"/>
            <a:endCxn id="15" idx="0"/>
          </p:cNvCxnSpPr>
          <p:nvPr/>
        </p:nvCxnSpPr>
        <p:spPr bwMode="auto">
          <a:xfrm rot="16200000" flipH="1">
            <a:off x="1541420" y="3903668"/>
            <a:ext cx="328617" cy="182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Овал 14"/>
          <p:cNvSpPr/>
          <p:nvPr/>
        </p:nvSpPr>
        <p:spPr bwMode="auto">
          <a:xfrm>
            <a:off x="1577933" y="415926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6" name="Прямая со стрелкой 15"/>
          <p:cNvCxnSpPr>
            <a:stCxn id="6" idx="4"/>
            <a:endCxn id="17" idx="0"/>
          </p:cNvCxnSpPr>
          <p:nvPr/>
        </p:nvCxnSpPr>
        <p:spPr bwMode="auto">
          <a:xfrm rot="16200000" flipH="1">
            <a:off x="5466567" y="2863047"/>
            <a:ext cx="164309" cy="310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5229233" y="310038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8" name="Прямая со стрелкой 17"/>
          <p:cNvCxnSpPr>
            <a:stCxn id="17" idx="4"/>
            <a:endCxn id="19" idx="0"/>
          </p:cNvCxnSpPr>
          <p:nvPr/>
        </p:nvCxnSpPr>
        <p:spPr bwMode="auto">
          <a:xfrm rot="5400000">
            <a:off x="5229234" y="3940182"/>
            <a:ext cx="693747" cy="2555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Овал 18"/>
          <p:cNvSpPr/>
          <p:nvPr/>
        </p:nvSpPr>
        <p:spPr bwMode="auto">
          <a:xfrm>
            <a:off x="4973642" y="441485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18</a:t>
            </a:r>
          </a:p>
        </p:txBody>
      </p:sp>
      <p:cxnSp>
        <p:nvCxnSpPr>
          <p:cNvPr id="20" name="Прямая со стрелкой 19"/>
          <p:cNvCxnSpPr>
            <a:stCxn id="13" idx="4"/>
            <a:endCxn id="21" idx="0"/>
          </p:cNvCxnSpPr>
          <p:nvPr/>
        </p:nvCxnSpPr>
        <p:spPr bwMode="auto">
          <a:xfrm rot="5400000">
            <a:off x="1121521" y="3666334"/>
            <a:ext cx="328617" cy="6572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Овал 20"/>
          <p:cNvSpPr/>
          <p:nvPr/>
        </p:nvSpPr>
        <p:spPr bwMode="auto">
          <a:xfrm>
            <a:off x="738134" y="415926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2" name="Прямая со стрелкой 21"/>
          <p:cNvCxnSpPr>
            <a:stCxn id="17" idx="4"/>
            <a:endCxn id="23" idx="0"/>
          </p:cNvCxnSpPr>
          <p:nvPr/>
        </p:nvCxnSpPr>
        <p:spPr bwMode="auto">
          <a:xfrm rot="16200000" flipH="1">
            <a:off x="5776928" y="3648077"/>
            <a:ext cx="693747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Овал 22"/>
          <p:cNvSpPr/>
          <p:nvPr/>
        </p:nvSpPr>
        <p:spPr bwMode="auto">
          <a:xfrm>
            <a:off x="6069032" y="4414851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4" name="Прямая со стрелкой 23"/>
          <p:cNvCxnSpPr>
            <a:stCxn id="11" idx="4"/>
            <a:endCxn id="25" idx="0"/>
          </p:cNvCxnSpPr>
          <p:nvPr/>
        </p:nvCxnSpPr>
        <p:spPr bwMode="auto">
          <a:xfrm rot="16200000" flipH="1">
            <a:off x="2280808" y="2817407"/>
            <a:ext cx="273848" cy="584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Овал 24"/>
          <p:cNvSpPr/>
          <p:nvPr/>
        </p:nvSpPr>
        <p:spPr bwMode="auto">
          <a:xfrm>
            <a:off x="2454245" y="3246435"/>
            <a:ext cx="511182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8</a:t>
            </a:r>
          </a:p>
        </p:txBody>
      </p:sp>
      <p:sp>
        <p:nvSpPr>
          <p:cNvPr id="26" name="Овал 25"/>
          <p:cNvSpPr/>
          <p:nvPr/>
        </p:nvSpPr>
        <p:spPr bwMode="auto">
          <a:xfrm>
            <a:off x="6835806" y="1785915"/>
            <a:ext cx="949338" cy="62072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82544" y="1165194"/>
            <a:ext cx="8229600" cy="5148334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algn="just">
              <a:buClrTx/>
              <a:buSzPct val="100000"/>
              <a:buFont typeface="Arial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Перенос элементов из одного поддерева в другое относительно нового корня может быть сложной задачей. Существует способ, который сохраняет порядок ключей. </a:t>
            </a:r>
          </a:p>
          <a:p>
            <a:pPr>
              <a:buClrTx/>
              <a:buSzPct val="100000"/>
              <a:buFont typeface="Arial" pitchFamily="34" charset="0"/>
              <a:buChar char="•"/>
            </a:pPr>
            <a:r>
              <a:rPr lang="ru-RU" b="1" dirty="0">
                <a:solidFill>
                  <a:srgbClr val="000000"/>
                </a:solidFill>
              </a:rPr>
              <a:t>Ротация </a:t>
            </a:r>
            <a:r>
              <a:rPr lang="ru-RU" dirty="0">
                <a:solidFill>
                  <a:srgbClr val="000000"/>
                </a:solidFill>
              </a:rPr>
              <a:t>– фундаментальное преобразование деревьев, позволяет менять местами роль корня и одного из его дочерних узлов, сохраняя порядок ключей BST – деревьев. 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46031" y="0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Операция ротации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73005" y="1420785"/>
            <a:ext cx="8544042" cy="2763834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Ротация вправо </a:t>
            </a:r>
            <a:r>
              <a:rPr lang="ru-RU" dirty="0">
                <a:solidFill>
                  <a:srgbClr val="000000"/>
                </a:solidFill>
              </a:rPr>
              <a:t>– участвуют корень и  левый дочерний узел. </a:t>
            </a:r>
          </a:p>
          <a:p>
            <a:pPr algn="l"/>
            <a:r>
              <a:rPr lang="ru-RU" dirty="0">
                <a:solidFill>
                  <a:srgbClr val="000000"/>
                </a:solidFill>
              </a:rPr>
              <a:t>Правая связь нового корня становится левой связью старого корня, сам старый корень становится правой связью нового корня.</a:t>
            </a:r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92083" y="179343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Операция ротации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2052603" y="4232286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2" name="Прямая со стрелкой 11"/>
          <p:cNvCxnSpPr>
            <a:stCxn id="11" idx="4"/>
            <a:endCxn id="13" idx="0"/>
          </p:cNvCxnSpPr>
          <p:nvPr/>
        </p:nvCxnSpPr>
        <p:spPr bwMode="auto">
          <a:xfrm rot="5400000">
            <a:off x="1897423" y="4716083"/>
            <a:ext cx="237335" cy="5111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Овал 12"/>
          <p:cNvSpPr/>
          <p:nvPr/>
        </p:nvSpPr>
        <p:spPr bwMode="auto">
          <a:xfrm>
            <a:off x="1541421" y="509034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4" name="Прямая со стрелкой 13"/>
          <p:cNvCxnSpPr>
            <a:stCxn id="13" idx="4"/>
            <a:endCxn id="15" idx="0"/>
          </p:cNvCxnSpPr>
          <p:nvPr/>
        </p:nvCxnSpPr>
        <p:spPr bwMode="auto">
          <a:xfrm rot="16200000" flipH="1">
            <a:off x="1687473" y="5784088"/>
            <a:ext cx="328617" cy="182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Овал 14"/>
          <p:cNvSpPr/>
          <p:nvPr/>
        </p:nvSpPr>
        <p:spPr bwMode="auto">
          <a:xfrm>
            <a:off x="1723986" y="603968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6" name="Прямая со стрелкой 15"/>
          <p:cNvCxnSpPr>
            <a:stCxn id="13" idx="4"/>
            <a:endCxn id="17" idx="0"/>
          </p:cNvCxnSpPr>
          <p:nvPr/>
        </p:nvCxnSpPr>
        <p:spPr bwMode="auto">
          <a:xfrm rot="5400000">
            <a:off x="1267574" y="5546754"/>
            <a:ext cx="328617" cy="6572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Овал 16"/>
          <p:cNvSpPr/>
          <p:nvPr/>
        </p:nvSpPr>
        <p:spPr bwMode="auto">
          <a:xfrm>
            <a:off x="884187" y="603968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8" name="Прямая со стрелкой 17"/>
          <p:cNvCxnSpPr>
            <a:stCxn id="11" idx="4"/>
            <a:endCxn id="19" idx="0"/>
          </p:cNvCxnSpPr>
          <p:nvPr/>
        </p:nvCxnSpPr>
        <p:spPr bwMode="auto">
          <a:xfrm rot="16200000" flipH="1">
            <a:off x="2426861" y="4697827"/>
            <a:ext cx="273848" cy="584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Овал 18"/>
          <p:cNvSpPr/>
          <p:nvPr/>
        </p:nvSpPr>
        <p:spPr bwMode="auto">
          <a:xfrm>
            <a:off x="2600298" y="5126855"/>
            <a:ext cx="511182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8</a:t>
            </a:r>
          </a:p>
        </p:txBody>
      </p:sp>
      <p:sp>
        <p:nvSpPr>
          <p:cNvPr id="20" name="Овал 19"/>
          <p:cNvSpPr/>
          <p:nvPr/>
        </p:nvSpPr>
        <p:spPr bwMode="auto">
          <a:xfrm>
            <a:off x="5557851" y="4305312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1" name="Овал 20"/>
          <p:cNvSpPr/>
          <p:nvPr/>
        </p:nvSpPr>
        <p:spPr bwMode="auto">
          <a:xfrm>
            <a:off x="6361137" y="5254650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2" name="Прямая со стрелкой 21"/>
          <p:cNvCxnSpPr>
            <a:stCxn id="20" idx="5"/>
            <a:endCxn id="21" idx="0"/>
          </p:cNvCxnSpPr>
          <p:nvPr/>
        </p:nvCxnSpPr>
        <p:spPr bwMode="auto">
          <a:xfrm rot="16200000" flipH="1">
            <a:off x="6046268" y="4720702"/>
            <a:ext cx="419519" cy="6483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Прямая со стрелкой 28"/>
          <p:cNvCxnSpPr>
            <a:stCxn id="21" idx="5"/>
            <a:endCxn id="30" idx="0"/>
          </p:cNvCxnSpPr>
          <p:nvPr/>
        </p:nvCxnSpPr>
        <p:spPr bwMode="auto">
          <a:xfrm rot="16200000" flipH="1">
            <a:off x="6840426" y="5679169"/>
            <a:ext cx="255211" cy="465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Овал 29"/>
          <p:cNvSpPr/>
          <p:nvPr/>
        </p:nvSpPr>
        <p:spPr bwMode="auto">
          <a:xfrm>
            <a:off x="6945345" y="6039680"/>
            <a:ext cx="511182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8</a:t>
            </a:r>
          </a:p>
        </p:txBody>
      </p:sp>
      <p:cxnSp>
        <p:nvCxnSpPr>
          <p:cNvPr id="33" name="Прямая со стрелкой 32"/>
          <p:cNvCxnSpPr>
            <a:stCxn id="21" idx="3"/>
            <a:endCxn id="34" idx="0"/>
          </p:cNvCxnSpPr>
          <p:nvPr/>
        </p:nvCxnSpPr>
        <p:spPr bwMode="auto">
          <a:xfrm rot="5400000">
            <a:off x="6146948" y="5670041"/>
            <a:ext cx="163928" cy="392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Овал 33"/>
          <p:cNvSpPr/>
          <p:nvPr/>
        </p:nvSpPr>
        <p:spPr bwMode="auto">
          <a:xfrm>
            <a:off x="5813442" y="5948397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36" name="Прямая со стрелкой 35"/>
          <p:cNvCxnSpPr>
            <a:stCxn id="20" idx="3"/>
            <a:endCxn id="37" idx="0"/>
          </p:cNvCxnSpPr>
          <p:nvPr/>
        </p:nvCxnSpPr>
        <p:spPr bwMode="auto">
          <a:xfrm rot="5400000">
            <a:off x="5124585" y="4684190"/>
            <a:ext cx="346493" cy="6483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Овал 36"/>
          <p:cNvSpPr/>
          <p:nvPr/>
        </p:nvSpPr>
        <p:spPr bwMode="auto">
          <a:xfrm>
            <a:off x="4754565" y="5181624"/>
            <a:ext cx="438156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30" grpId="0" animBg="1"/>
      <p:bldP spid="34" grpId="0" animBg="1"/>
      <p:bldP spid="3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6031" y="1201707"/>
            <a:ext cx="8361477" cy="3797963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Ротация влево </a:t>
            </a:r>
            <a:r>
              <a:rPr lang="ru-RU" dirty="0">
                <a:solidFill>
                  <a:srgbClr val="000000"/>
                </a:solidFill>
              </a:rPr>
              <a:t>– участвуют корень и правый дочерний узел. </a:t>
            </a:r>
          </a:p>
          <a:p>
            <a:endParaRPr lang="ru-RU" dirty="0">
              <a:solidFill>
                <a:srgbClr val="000000"/>
              </a:solidFill>
            </a:endParaRPr>
          </a:p>
          <a:p>
            <a:pPr algn="l"/>
            <a:r>
              <a:rPr lang="ru-RU" dirty="0">
                <a:solidFill>
                  <a:srgbClr val="000000"/>
                </a:solidFill>
              </a:rPr>
              <a:t>Левая связь нового корня становится правой связью старого корня, сам старый корень становится левой связью нового корня.</a:t>
            </a:r>
          </a:p>
          <a:p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46031" y="0"/>
            <a:ext cx="8229600" cy="1112811"/>
          </a:xfrm>
        </p:spPr>
        <p:txBody>
          <a:bodyPr/>
          <a:lstStyle/>
          <a:p>
            <a:pPr lvl="2"/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Операция ротации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 bwMode="auto">
          <a:xfrm>
            <a:off x="2308193" y="3921925"/>
            <a:ext cx="985851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7" name="Прямая со стрелкой 6"/>
          <p:cNvCxnSpPr>
            <a:stCxn id="6" idx="4"/>
            <a:endCxn id="8" idx="0"/>
          </p:cNvCxnSpPr>
          <p:nvPr/>
        </p:nvCxnSpPr>
        <p:spPr bwMode="auto">
          <a:xfrm rot="5400000">
            <a:off x="2271681" y="4250542"/>
            <a:ext cx="237335" cy="8215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Овал 7"/>
          <p:cNvSpPr/>
          <p:nvPr/>
        </p:nvSpPr>
        <p:spPr bwMode="auto">
          <a:xfrm>
            <a:off x="1504908" y="4779981"/>
            <a:ext cx="949338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15</a:t>
            </a:r>
          </a:p>
        </p:txBody>
      </p:sp>
      <p:cxnSp>
        <p:nvCxnSpPr>
          <p:cNvPr id="9" name="Прямая со стрелкой 8"/>
          <p:cNvCxnSpPr>
            <a:stCxn id="6" idx="4"/>
            <a:endCxn id="10" idx="0"/>
          </p:cNvCxnSpPr>
          <p:nvPr/>
        </p:nvCxnSpPr>
        <p:spPr bwMode="auto">
          <a:xfrm rot="16200000" flipH="1">
            <a:off x="2874145" y="4469619"/>
            <a:ext cx="164309" cy="310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Овал 9"/>
          <p:cNvSpPr/>
          <p:nvPr/>
        </p:nvSpPr>
        <p:spPr bwMode="auto">
          <a:xfrm>
            <a:off x="2636811" y="4706955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1" name="Прямая со стрелкой 10"/>
          <p:cNvCxnSpPr>
            <a:stCxn id="10" idx="4"/>
            <a:endCxn id="12" idx="0"/>
          </p:cNvCxnSpPr>
          <p:nvPr/>
        </p:nvCxnSpPr>
        <p:spPr bwMode="auto">
          <a:xfrm rot="5400000">
            <a:off x="2636812" y="5546754"/>
            <a:ext cx="693747" cy="2555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Овал 11"/>
          <p:cNvSpPr/>
          <p:nvPr/>
        </p:nvSpPr>
        <p:spPr bwMode="auto">
          <a:xfrm>
            <a:off x="2381220" y="602142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18</a:t>
            </a:r>
          </a:p>
        </p:txBody>
      </p:sp>
      <p:cxnSp>
        <p:nvCxnSpPr>
          <p:cNvPr id="13" name="Прямая со стрелкой 12"/>
          <p:cNvCxnSpPr>
            <a:stCxn id="10" idx="4"/>
            <a:endCxn id="14" idx="0"/>
          </p:cNvCxnSpPr>
          <p:nvPr/>
        </p:nvCxnSpPr>
        <p:spPr bwMode="auto">
          <a:xfrm rot="16200000" flipH="1">
            <a:off x="3184506" y="5254649"/>
            <a:ext cx="693747" cy="839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Овал 13"/>
          <p:cNvSpPr/>
          <p:nvPr/>
        </p:nvSpPr>
        <p:spPr bwMode="auto">
          <a:xfrm>
            <a:off x="3476610" y="602142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5" name="Овал 14"/>
          <p:cNvSpPr/>
          <p:nvPr/>
        </p:nvSpPr>
        <p:spPr bwMode="auto">
          <a:xfrm>
            <a:off x="5849955" y="4013208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16" name="Овал 15"/>
          <p:cNvSpPr/>
          <p:nvPr/>
        </p:nvSpPr>
        <p:spPr bwMode="auto">
          <a:xfrm>
            <a:off x="4937130" y="4633929"/>
            <a:ext cx="985851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17" name="Прямая со стрелкой 16"/>
          <p:cNvCxnSpPr>
            <a:stCxn id="16" idx="4"/>
            <a:endCxn id="18" idx="0"/>
          </p:cNvCxnSpPr>
          <p:nvPr/>
        </p:nvCxnSpPr>
        <p:spPr bwMode="auto">
          <a:xfrm rot="5400000">
            <a:off x="4946259" y="5282035"/>
            <a:ext cx="511182" cy="4564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Овал 17"/>
          <p:cNvSpPr/>
          <p:nvPr/>
        </p:nvSpPr>
        <p:spPr bwMode="auto">
          <a:xfrm>
            <a:off x="4498974" y="5765832"/>
            <a:ext cx="949338" cy="54769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15</a:t>
            </a:r>
          </a:p>
        </p:txBody>
      </p:sp>
      <p:cxnSp>
        <p:nvCxnSpPr>
          <p:cNvPr id="19" name="Прямая со стрелкой 18"/>
          <p:cNvCxnSpPr>
            <a:stCxn id="15" idx="3"/>
            <a:endCxn id="16" idx="7"/>
          </p:cNvCxnSpPr>
          <p:nvPr/>
        </p:nvCxnSpPr>
        <p:spPr bwMode="auto">
          <a:xfrm rot="5400000">
            <a:off x="5792892" y="4528741"/>
            <a:ext cx="181804" cy="2103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Прямая со стрелкой 23"/>
          <p:cNvCxnSpPr>
            <a:stCxn id="15" idx="5"/>
            <a:endCxn id="25" idx="0"/>
          </p:cNvCxnSpPr>
          <p:nvPr/>
        </p:nvCxnSpPr>
        <p:spPr bwMode="auto">
          <a:xfrm rot="16200000" flipH="1">
            <a:off x="6775611" y="4427682"/>
            <a:ext cx="383006" cy="6136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Овал 24"/>
          <p:cNvSpPr/>
          <p:nvPr/>
        </p:nvSpPr>
        <p:spPr bwMode="auto">
          <a:xfrm>
            <a:off x="6799293" y="4926033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cxnSp>
        <p:nvCxnSpPr>
          <p:cNvPr id="29" name="Прямая со стрелкой 28"/>
          <p:cNvCxnSpPr>
            <a:stCxn id="16" idx="4"/>
            <a:endCxn id="30" idx="0"/>
          </p:cNvCxnSpPr>
          <p:nvPr/>
        </p:nvCxnSpPr>
        <p:spPr bwMode="auto">
          <a:xfrm rot="16200000" flipH="1">
            <a:off x="5566979" y="5117727"/>
            <a:ext cx="511182" cy="7850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Овал 29"/>
          <p:cNvSpPr/>
          <p:nvPr/>
        </p:nvSpPr>
        <p:spPr bwMode="auto">
          <a:xfrm>
            <a:off x="5740415" y="5765832"/>
            <a:ext cx="949338" cy="620721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25" grpId="0" animBg="1"/>
      <p:bldP spid="3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Содержимое 2"/>
          <p:cNvSpPr>
            <a:spLocks noGrp="1"/>
          </p:cNvSpPr>
          <p:nvPr>
            <p:ph idx="1"/>
          </p:nvPr>
        </p:nvSpPr>
        <p:spPr>
          <a:xfrm>
            <a:off x="250825" y="1376363"/>
            <a:ext cx="4006850" cy="4465637"/>
          </a:xfrm>
          <a:solidFill>
            <a:schemeClr val="tx1"/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b="1" dirty="0">
                <a:solidFill>
                  <a:srgbClr val="000000"/>
                </a:solidFill>
                <a:effectLst/>
              </a:rPr>
              <a:t>rotate_l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</a:rPr>
              <a:t>Root</a:t>
            </a:r>
            <a:r>
              <a:rPr lang="pt-BR" dirty="0">
                <a:solidFill>
                  <a:srgbClr val="000000"/>
                </a:solidFill>
                <a:effectLst/>
              </a:rPr>
              <a:t> **h)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{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Root *x;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x=*h-&gt;rigth;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*h-&gt;rigth=x-&gt;left;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x-&gt;left=*h;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*h=x;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dirty="0">
                <a:solidFill>
                  <a:srgbClr val="000000"/>
                </a:solidFill>
                <a:effectLst/>
              </a:rPr>
              <a:t>}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46088" y="0"/>
            <a:ext cx="8229600" cy="1112838"/>
          </a:xfrm>
        </p:spPr>
        <p:txBody>
          <a:bodyPr/>
          <a:lstStyle/>
          <a:p>
            <a:pPr lvl="2"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Операция ротации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747" name="TextBox 4"/>
          <p:cNvSpPr txBox="1">
            <a:spLocks noChangeArrowheads="1"/>
          </p:cNvSpPr>
          <p:nvPr/>
        </p:nvSpPr>
        <p:spPr bwMode="auto">
          <a:xfrm>
            <a:off x="4427538" y="1412875"/>
            <a:ext cx="4068762" cy="454893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</a:rPr>
              <a:t>rotate_r</a:t>
            </a:r>
            <a:r>
              <a:rPr lang="pt-BR" sz="3200" b="0" dirty="0">
                <a:solidFill>
                  <a:srgbClr val="000000"/>
                </a:solidFill>
              </a:rPr>
              <a:t>(Root **h)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pt-BR" sz="3200" b="0" dirty="0">
                <a:solidFill>
                  <a:srgbClr val="000000"/>
                </a:solidFill>
                <a:latin typeface="+mn-lt"/>
              </a:rPr>
              <a:t>{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en-US" sz="3200" b="0" dirty="0">
                <a:solidFill>
                  <a:srgbClr val="000000"/>
                </a:solidFill>
                <a:latin typeface="+mn-lt"/>
              </a:rPr>
              <a:t>Root</a:t>
            </a:r>
            <a:r>
              <a:rPr lang="pt-BR" sz="3200" b="0" dirty="0">
                <a:solidFill>
                  <a:srgbClr val="000000"/>
                </a:solidFill>
                <a:latin typeface="+mn-lt"/>
              </a:rPr>
              <a:t> *x;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pt-BR" sz="3200" b="0" dirty="0">
                <a:solidFill>
                  <a:srgbClr val="000000"/>
                </a:solidFill>
                <a:latin typeface="+mn-lt"/>
              </a:rPr>
              <a:t>x=*h-&gt;left;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pt-BR" sz="3200" b="0" dirty="0">
                <a:solidFill>
                  <a:srgbClr val="000000"/>
                </a:solidFill>
                <a:latin typeface="+mn-lt"/>
              </a:rPr>
              <a:t>*h-&gt;left=x-&gt;rigth;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pt-BR" sz="3200" b="0" dirty="0">
                <a:solidFill>
                  <a:srgbClr val="000000"/>
                </a:solidFill>
                <a:latin typeface="+mn-lt"/>
              </a:rPr>
              <a:t>x-&gt;rigth=*h;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pt-BR" sz="3200" b="0" dirty="0">
                <a:solidFill>
                  <a:srgbClr val="000000"/>
                </a:solidFill>
                <a:latin typeface="+mn-lt"/>
              </a:rPr>
              <a:t>*h=x;</a:t>
            </a:r>
          </a:p>
          <a:p>
            <a:pPr marL="342900" indent="-342900" algn="l" eaLnBrk="0" hangingPunct="0">
              <a:spcBef>
                <a:spcPct val="0"/>
              </a:spcBef>
            </a:pPr>
            <a:r>
              <a:rPr lang="pt-BR" sz="3200" b="0" dirty="0">
                <a:solidFill>
                  <a:srgbClr val="000000"/>
                </a:solidFill>
                <a:latin typeface="+mn-lt"/>
              </a:rPr>
              <a:t>}</a:t>
            </a:r>
            <a:endParaRPr lang="ru-RU" sz="3200" b="0" dirty="0">
              <a:solidFill>
                <a:srgbClr val="000000"/>
              </a:solidFill>
              <a:latin typeface="+mn-lt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82600" y="1457325"/>
            <a:ext cx="8229600" cy="4929188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Вставка</a:t>
            </a:r>
            <a:r>
              <a:rPr lang="en-US" b="1" dirty="0">
                <a:solidFill>
                  <a:schemeClr val="bg2"/>
                </a:solidFill>
                <a:effectLst/>
              </a:rPr>
              <a:t>R</a:t>
            </a:r>
            <a:r>
              <a:rPr lang="ru-RU" b="1" dirty="0">
                <a:solidFill>
                  <a:schemeClr val="bg2"/>
                </a:solidFill>
                <a:effectLst/>
              </a:rPr>
              <a:t> (</a:t>
            </a:r>
            <a:r>
              <a:rPr lang="en-US" b="1" dirty="0">
                <a:solidFill>
                  <a:schemeClr val="bg2"/>
                </a:solidFill>
                <a:effectLst/>
              </a:rPr>
              <a:t>Node ** Root,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b="1" dirty="0">
                <a:solidFill>
                  <a:schemeClr val="bg2"/>
                </a:solidFill>
                <a:effectLst/>
              </a:rPr>
              <a:t> key</a:t>
            </a:r>
            <a:r>
              <a:rPr lang="ru-RU" b="1" dirty="0">
                <a:solidFill>
                  <a:schemeClr val="bg2"/>
                </a:solidFill>
                <a:effectLst/>
              </a:rPr>
              <a:t>)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>
              <a:buFont typeface="Wingdings" pitchFamily="2" charset="2"/>
              <a:buNone/>
              <a:defRPr/>
            </a:pPr>
            <a:r>
              <a:rPr lang="ru-RU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dirty="0">
                <a:solidFill>
                  <a:schemeClr val="bg2"/>
                </a:solidFill>
                <a:effectLst/>
              </a:rPr>
              <a:t> *</a:t>
            </a:r>
            <a:r>
              <a:rPr lang="en-US" dirty="0">
                <a:solidFill>
                  <a:schemeClr val="bg2"/>
                </a:solidFill>
                <a:effectLst/>
              </a:rPr>
              <a:t>Root  - </a:t>
            </a:r>
            <a:r>
              <a:rPr lang="ru-RU" dirty="0">
                <a:solidFill>
                  <a:schemeClr val="bg2"/>
                </a:solidFill>
                <a:effectLst/>
              </a:rPr>
              <a:t>пустой, </a:t>
            </a:r>
            <a:r>
              <a:rPr lang="ru-RU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dirty="0">
                <a:solidFill>
                  <a:schemeClr val="bg2"/>
                </a:solidFill>
                <a:effectLst/>
              </a:rPr>
              <a:t> </a:t>
            </a:r>
          </a:p>
          <a:p>
            <a:pPr marL="4216400" indent="-4216400"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                                 выделить память под *</a:t>
            </a:r>
            <a:r>
              <a:rPr lang="en-US" dirty="0">
                <a:solidFill>
                  <a:schemeClr val="bg2"/>
                </a:solidFill>
                <a:effectLst/>
              </a:rPr>
              <a:t>Root</a:t>
            </a:r>
          </a:p>
          <a:p>
            <a:pPr marL="4216400" indent="0"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*</a:t>
            </a:r>
            <a:r>
              <a:rPr lang="en-US" dirty="0">
                <a:solidFill>
                  <a:schemeClr val="bg2"/>
                </a:solidFill>
                <a:effectLst/>
              </a:rPr>
              <a:t>Root -&gt; data = key</a:t>
            </a:r>
          </a:p>
          <a:p>
            <a:pPr marL="4216400" indent="0"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*</a:t>
            </a:r>
            <a:r>
              <a:rPr lang="en-US" dirty="0">
                <a:solidFill>
                  <a:schemeClr val="bg2"/>
                </a:solidFill>
                <a:effectLst/>
              </a:rPr>
              <a:t>Root -&gt; left = Null</a:t>
            </a:r>
          </a:p>
          <a:p>
            <a:pPr marL="4216400" indent="0"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*</a:t>
            </a:r>
            <a:r>
              <a:rPr lang="en-US" dirty="0">
                <a:solidFill>
                  <a:schemeClr val="bg2"/>
                </a:solidFill>
                <a:effectLst/>
              </a:rPr>
              <a:t>Root-&gt;right = Null</a:t>
            </a:r>
          </a:p>
          <a:p>
            <a:pPr marL="4216400" indent="0">
              <a:buFont typeface="Wingdings" pitchFamily="2" charset="2"/>
              <a:buNone/>
              <a:defRPr/>
            </a:pPr>
            <a:r>
              <a:rPr lang="en-US" u="sng" dirty="0">
                <a:solidFill>
                  <a:schemeClr val="bg2"/>
                </a:solidFill>
                <a:effectLst/>
              </a:rPr>
              <a:t>return</a:t>
            </a:r>
          </a:p>
          <a:p>
            <a:pPr>
              <a:buFont typeface="Wingdings" pitchFamily="2" charset="2"/>
              <a:buNone/>
              <a:defRPr/>
            </a:pP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Вставка в корень</a:t>
            </a:r>
            <a:endParaRPr lang="ru-RU" sz="3600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82600" y="1457325"/>
            <a:ext cx="8229600" cy="4929188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ru-RU" u="sng">
                <a:solidFill>
                  <a:schemeClr val="bg2"/>
                </a:solidFill>
                <a:effectLst/>
              </a:rPr>
              <a:t>иначе</a:t>
            </a:r>
            <a:r>
              <a:rPr lang="ru-RU">
                <a:solidFill>
                  <a:schemeClr val="bg2"/>
                </a:solidFill>
                <a:effectLst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ru-RU" u="sng">
                <a:solidFill>
                  <a:schemeClr val="bg2"/>
                </a:solidFill>
                <a:effectLst/>
              </a:rPr>
              <a:t>Если</a:t>
            </a:r>
            <a:r>
              <a:rPr lang="ru-RU">
                <a:solidFill>
                  <a:schemeClr val="bg2"/>
                </a:solidFill>
                <a:effectLst/>
              </a:rPr>
              <a:t> </a:t>
            </a:r>
            <a:r>
              <a:rPr lang="en-US">
                <a:solidFill>
                  <a:schemeClr val="bg2"/>
                </a:solidFill>
                <a:effectLst/>
              </a:rPr>
              <a:t>key &gt;= *Root-&gt;data </a:t>
            </a:r>
            <a:r>
              <a:rPr lang="ru-RU" u="sng">
                <a:solidFill>
                  <a:schemeClr val="bg2"/>
                </a:solidFill>
                <a:effectLst/>
              </a:rPr>
              <a:t>то</a:t>
            </a:r>
            <a:r>
              <a:rPr lang="ru-RU">
                <a:solidFill>
                  <a:schemeClr val="bg2"/>
                </a:solidFill>
                <a:effectLst/>
              </a:rPr>
              <a:t> </a:t>
            </a:r>
            <a:endParaRPr lang="en-US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                    </a:t>
            </a:r>
            <a:r>
              <a:rPr lang="ru-RU">
                <a:solidFill>
                  <a:schemeClr val="bg2"/>
                </a:solidFill>
                <a:effectLst/>
              </a:rPr>
              <a:t>Вставка</a:t>
            </a:r>
            <a:r>
              <a:rPr lang="en-US">
                <a:solidFill>
                  <a:schemeClr val="bg2"/>
                </a:solidFill>
                <a:effectLst/>
              </a:rPr>
              <a:t>R</a:t>
            </a:r>
            <a:r>
              <a:rPr lang="ru-RU">
                <a:solidFill>
                  <a:schemeClr val="bg2"/>
                </a:solidFill>
                <a:effectLst/>
              </a:rPr>
              <a:t> (</a:t>
            </a:r>
            <a:r>
              <a:rPr lang="en-US">
                <a:solidFill>
                  <a:schemeClr val="bg2"/>
                </a:solidFill>
                <a:effectLst/>
              </a:rPr>
              <a:t>*Root-&gt;right, key</a:t>
            </a:r>
            <a:r>
              <a:rPr lang="ru-RU">
                <a:solidFill>
                  <a:schemeClr val="bg2"/>
                </a:solidFill>
                <a:effectLst/>
              </a:rPr>
              <a:t>)</a:t>
            </a:r>
            <a:endParaRPr lang="en-US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                    rotate_l(Root);</a:t>
            </a:r>
          </a:p>
          <a:p>
            <a:pPr>
              <a:buFont typeface="Wingdings" pitchFamily="2" charset="2"/>
              <a:buNone/>
            </a:pPr>
            <a:r>
              <a:rPr lang="ru-RU" u="sng">
                <a:solidFill>
                  <a:schemeClr val="bg2"/>
                </a:solidFill>
                <a:effectLst/>
              </a:rPr>
              <a:t>иначе 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  <a:effectLst/>
              </a:rPr>
              <a:t>Вставка</a:t>
            </a:r>
            <a:r>
              <a:rPr lang="en-US">
                <a:solidFill>
                  <a:schemeClr val="bg2"/>
                </a:solidFill>
                <a:effectLst/>
              </a:rPr>
              <a:t>R</a:t>
            </a:r>
            <a:r>
              <a:rPr lang="ru-RU">
                <a:solidFill>
                  <a:schemeClr val="bg2"/>
                </a:solidFill>
                <a:effectLst/>
              </a:rPr>
              <a:t> (</a:t>
            </a:r>
            <a:r>
              <a:rPr lang="en-US">
                <a:solidFill>
                  <a:schemeClr val="bg2"/>
                </a:solidFill>
                <a:effectLst/>
              </a:rPr>
              <a:t>*Root-&gt;left, key</a:t>
            </a:r>
            <a:r>
              <a:rPr lang="ru-RU">
                <a:solidFill>
                  <a:schemeClr val="bg2"/>
                </a:solidFill>
                <a:effectLst/>
              </a:rPr>
              <a:t>)</a:t>
            </a:r>
            <a:endParaRPr lang="en-US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rotate_r(Root);</a:t>
            </a:r>
            <a:endParaRPr lang="ru-RU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u="sng">
                <a:solidFill>
                  <a:schemeClr val="bg2"/>
                </a:solidFill>
                <a:effectLst/>
              </a:rPr>
              <a:t>Конец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5900" y="1628775"/>
            <a:ext cx="8785225" cy="5040313"/>
          </a:xfr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Особый подход к организации BST-деревьев, который исключает возможность получения </a:t>
            </a:r>
            <a:r>
              <a:rPr lang="ru-RU" sz="2800" b="1" i="1" dirty="0">
                <a:solidFill>
                  <a:schemeClr val="bg2"/>
                </a:solidFill>
                <a:effectLst/>
              </a:rPr>
              <a:t>худшего</a:t>
            </a:r>
            <a:r>
              <a:rPr lang="ru-RU" sz="2800" dirty="0">
                <a:solidFill>
                  <a:schemeClr val="bg2"/>
                </a:solidFill>
                <a:effectLst/>
              </a:rPr>
              <a:t> случая BST-деревьев.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Один из недостатков – необходимо хранить количество элементов </a:t>
            </a:r>
            <a:r>
              <a:rPr lang="ru-RU" sz="2800" i="1" dirty="0">
                <a:solidFill>
                  <a:schemeClr val="bg2"/>
                </a:solidFill>
                <a:effectLst/>
              </a:rPr>
              <a:t>K  </a:t>
            </a:r>
            <a:r>
              <a:rPr lang="ru-RU" sz="2800" dirty="0">
                <a:solidFill>
                  <a:schemeClr val="bg2"/>
                </a:solidFill>
                <a:effectLst/>
              </a:rPr>
              <a:t>в поддеревьях.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 err="1">
                <a:solidFill>
                  <a:srgbClr val="000000"/>
                </a:solidFill>
                <a:effectLst/>
              </a:rPr>
              <a:t>typedef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node{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int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data;</a:t>
            </a:r>
            <a:endParaRPr lang="ru-RU" sz="2400" b="1" i="1" dirty="0">
              <a:solidFill>
                <a:srgbClr val="000000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int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k;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node *left;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node *right;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} Node;</a:t>
            </a:r>
            <a:r>
              <a:rPr lang="ru-RU" sz="2400" i="1" dirty="0">
                <a:solidFill>
                  <a:srgbClr val="000000"/>
                </a:solidFill>
                <a:effectLst/>
              </a:rPr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sz="2800" dirty="0">
              <a:solidFill>
                <a:schemeClr val="bg2"/>
              </a:solidFill>
              <a:effectLst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Рандомизованная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вставка</a:t>
            </a:r>
            <a:endParaRPr lang="ru-RU" sz="3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Рандомизованная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вставка</a:t>
            </a:r>
            <a:endParaRPr lang="ru-RU" sz="3600" dirty="0"/>
          </a:p>
        </p:txBody>
      </p:sp>
      <p:sp>
        <p:nvSpPr>
          <p:cNvPr id="35842" name="TextBox 4"/>
          <p:cNvSpPr txBox="1">
            <a:spLocks noChangeArrowheads="1"/>
          </p:cNvSpPr>
          <p:nvPr/>
        </p:nvSpPr>
        <p:spPr bwMode="auto">
          <a:xfrm>
            <a:off x="395288" y="1717675"/>
            <a:ext cx="8461375" cy="4721292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3200" dirty="0" err="1">
                <a:solidFill>
                  <a:schemeClr val="bg2"/>
                </a:solidFill>
              </a:rPr>
              <a:t>InsertR</a:t>
            </a:r>
            <a:r>
              <a:rPr lang="en-US" sz="3200" b="0" dirty="0">
                <a:solidFill>
                  <a:schemeClr val="bg2"/>
                </a:solidFill>
              </a:rPr>
              <a:t>(Node *</a:t>
            </a:r>
            <a:r>
              <a:rPr lang="ru-RU" sz="3200" b="0" dirty="0">
                <a:solidFill>
                  <a:schemeClr val="bg2"/>
                </a:solidFill>
              </a:rPr>
              <a:t>*</a:t>
            </a:r>
            <a:r>
              <a:rPr lang="en-US" sz="3200" b="0" dirty="0">
                <a:solidFill>
                  <a:schemeClr val="bg2"/>
                </a:solidFill>
              </a:rPr>
              <a:t>Root, key)</a:t>
            </a:r>
            <a:endParaRPr lang="ru-RU" sz="3200" b="0" dirty="0">
              <a:solidFill>
                <a:schemeClr val="bg2"/>
              </a:solidFill>
            </a:endParaRPr>
          </a:p>
          <a:p>
            <a:pPr algn="l"/>
            <a:r>
              <a:rPr lang="en-US" sz="3200" b="0" dirty="0">
                <a:solidFill>
                  <a:schemeClr val="bg2"/>
                </a:solidFill>
              </a:rPr>
              <a:t>{</a:t>
            </a:r>
            <a:endParaRPr lang="ru-RU" sz="3200" b="0" dirty="0">
              <a:solidFill>
                <a:schemeClr val="bg2"/>
              </a:solidFill>
            </a:endParaRPr>
          </a:p>
          <a:p>
            <a:pPr algn="l"/>
            <a:r>
              <a:rPr lang="ru-RU" sz="3200" b="0" dirty="0">
                <a:solidFill>
                  <a:schemeClr val="bg2"/>
                </a:solidFill>
              </a:rPr>
              <a:t>   </a:t>
            </a:r>
            <a:r>
              <a:rPr lang="en-US" sz="3200" b="0" dirty="0">
                <a:solidFill>
                  <a:schemeClr val="bg2"/>
                </a:solidFill>
              </a:rPr>
              <a:t>if </a:t>
            </a:r>
            <a:r>
              <a:rPr lang="ru-RU" sz="3200" b="0" dirty="0">
                <a:solidFill>
                  <a:schemeClr val="bg2"/>
                </a:solidFill>
              </a:rPr>
              <a:t> (дерево пустое) {Выделить под новый </a:t>
            </a:r>
            <a:endParaRPr lang="en-US" sz="3200" b="0" dirty="0">
              <a:solidFill>
                <a:schemeClr val="bg2"/>
              </a:solidFill>
            </a:endParaRPr>
          </a:p>
          <a:p>
            <a:pPr algn="l"/>
            <a:r>
              <a:rPr lang="en-US" sz="3200" b="0" dirty="0">
                <a:solidFill>
                  <a:schemeClr val="bg2"/>
                </a:solidFill>
              </a:rPr>
              <a:t>                                 </a:t>
            </a:r>
            <a:r>
              <a:rPr lang="ru-RU" sz="3200" b="0" dirty="0">
                <a:solidFill>
                  <a:schemeClr val="bg2"/>
                </a:solidFill>
              </a:rPr>
              <a:t>узел память;</a:t>
            </a:r>
          </a:p>
          <a:p>
            <a:pPr algn="l"/>
            <a:r>
              <a:rPr lang="en-US" sz="3200" b="0" dirty="0">
                <a:solidFill>
                  <a:schemeClr val="bg2"/>
                </a:solidFill>
              </a:rPr>
              <a:t>                                 </a:t>
            </a:r>
            <a:r>
              <a:rPr lang="ru-RU" sz="3200" b="0" dirty="0">
                <a:solidFill>
                  <a:schemeClr val="bg2"/>
                </a:solidFill>
              </a:rPr>
              <a:t>*</a:t>
            </a:r>
            <a:r>
              <a:rPr lang="en-US" sz="3200" b="0" dirty="0">
                <a:solidFill>
                  <a:schemeClr val="bg2"/>
                </a:solidFill>
              </a:rPr>
              <a:t>Root </a:t>
            </a:r>
            <a:r>
              <a:rPr lang="en-US" sz="3200" b="0" dirty="0">
                <a:solidFill>
                  <a:schemeClr val="bg2"/>
                </a:solidFill>
                <a:sym typeface="Wingdings" pitchFamily="2" charset="2"/>
              </a:rPr>
              <a:t></a:t>
            </a:r>
            <a:r>
              <a:rPr lang="en-US" sz="3200" b="0" dirty="0">
                <a:solidFill>
                  <a:schemeClr val="bg2"/>
                </a:solidFill>
              </a:rPr>
              <a:t> data = key;</a:t>
            </a:r>
            <a:endParaRPr lang="ru-RU" sz="3200" b="0" dirty="0">
              <a:solidFill>
                <a:schemeClr val="bg2"/>
              </a:solidFill>
            </a:endParaRPr>
          </a:p>
          <a:p>
            <a:pPr algn="l"/>
            <a:r>
              <a:rPr lang="en-US" sz="3200" b="0" dirty="0">
                <a:solidFill>
                  <a:schemeClr val="bg2"/>
                </a:solidFill>
              </a:rPr>
              <a:t>                                 </a:t>
            </a:r>
            <a:r>
              <a:rPr lang="ru-RU" sz="3200" b="0" dirty="0">
                <a:solidFill>
                  <a:schemeClr val="bg2"/>
                </a:solidFill>
              </a:rPr>
              <a:t>*</a:t>
            </a:r>
            <a:r>
              <a:rPr lang="en-US" sz="3200" b="0" dirty="0">
                <a:solidFill>
                  <a:schemeClr val="bg2"/>
                </a:solidFill>
              </a:rPr>
              <a:t>Root </a:t>
            </a:r>
            <a:r>
              <a:rPr lang="en-US" sz="3200" b="0" dirty="0">
                <a:solidFill>
                  <a:schemeClr val="bg2"/>
                </a:solidFill>
                <a:sym typeface="Wingdings" pitchFamily="2" charset="2"/>
              </a:rPr>
              <a:t></a:t>
            </a:r>
            <a:r>
              <a:rPr lang="en-US" sz="3200" b="0" dirty="0">
                <a:solidFill>
                  <a:schemeClr val="bg2"/>
                </a:solidFill>
              </a:rPr>
              <a:t> k = 1; </a:t>
            </a:r>
          </a:p>
          <a:p>
            <a:pPr algn="l"/>
            <a:r>
              <a:rPr lang="en-US" sz="3200" b="0" dirty="0">
                <a:solidFill>
                  <a:schemeClr val="bg2"/>
                </a:solidFill>
              </a:rPr>
              <a:t>                                       return;}</a:t>
            </a:r>
            <a:endParaRPr lang="ru-RU" sz="3200" b="0" dirty="0">
              <a:solidFill>
                <a:schemeClr val="bg2"/>
              </a:solidFill>
            </a:endParaRPr>
          </a:p>
          <a:p>
            <a:pPr algn="l"/>
            <a:r>
              <a:rPr lang="ru-RU" sz="3200" b="0" dirty="0">
                <a:solidFill>
                  <a:schemeClr val="bg2"/>
                </a:solidFill>
              </a:rPr>
              <a:t>   </a:t>
            </a:r>
            <a:endParaRPr lang="ru-RU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Содержимое 2"/>
          <p:cNvSpPr>
            <a:spLocks noGrp="1"/>
          </p:cNvSpPr>
          <p:nvPr>
            <p:ph idx="1"/>
          </p:nvPr>
        </p:nvSpPr>
        <p:spPr>
          <a:xfrm>
            <a:off x="179388" y="1665288"/>
            <a:ext cx="8748712" cy="4895850"/>
          </a:xfr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>
                <a:solidFill>
                  <a:schemeClr val="bg2"/>
                </a:solidFill>
                <a:effectLst/>
              </a:rPr>
              <a:t>   </a:t>
            </a:r>
            <a:r>
              <a:rPr lang="en-US">
                <a:solidFill>
                  <a:schemeClr val="bg2"/>
                </a:solidFill>
                <a:effectLst/>
              </a:rPr>
              <a:t>z</a:t>
            </a:r>
            <a:r>
              <a:rPr lang="ru-RU">
                <a:solidFill>
                  <a:schemeClr val="bg2"/>
                </a:solidFill>
                <a:effectLst/>
              </a:rPr>
              <a:t> = случайное число в диапазоне (0,1)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  <a:effectLst/>
              </a:rPr>
              <a:t>   </a:t>
            </a:r>
            <a:r>
              <a:rPr lang="en-US">
                <a:solidFill>
                  <a:schemeClr val="bg2"/>
                </a:solidFill>
                <a:effectLst/>
              </a:rPr>
              <a:t>if</a:t>
            </a:r>
            <a:r>
              <a:rPr lang="ru-RU">
                <a:solidFill>
                  <a:schemeClr val="bg2"/>
                </a:solidFill>
                <a:effectLst/>
              </a:rPr>
              <a:t> (</a:t>
            </a:r>
            <a:r>
              <a:rPr lang="en-US">
                <a:solidFill>
                  <a:schemeClr val="bg2"/>
                </a:solidFill>
                <a:effectLst/>
              </a:rPr>
              <a:t>z</a:t>
            </a:r>
            <a:r>
              <a:rPr lang="ru-RU">
                <a:solidFill>
                  <a:schemeClr val="bg2"/>
                </a:solidFill>
                <a:effectLst/>
              </a:rPr>
              <a:t> &lt; 1/(</a:t>
            </a:r>
            <a:r>
              <a:rPr lang="en-US">
                <a:solidFill>
                  <a:schemeClr val="bg2"/>
                </a:solidFill>
                <a:effectLst/>
              </a:rPr>
              <a:t>*Root </a:t>
            </a:r>
            <a:r>
              <a:rPr lang="en-US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>
                <a:solidFill>
                  <a:schemeClr val="bg2"/>
                </a:solidFill>
                <a:effectLst/>
              </a:rPr>
              <a:t> k</a:t>
            </a:r>
            <a:r>
              <a:rPr lang="ru-RU">
                <a:solidFill>
                  <a:schemeClr val="bg2"/>
                </a:solidFill>
                <a:effectLst/>
              </a:rPr>
              <a:t>+1</a:t>
            </a:r>
            <a:r>
              <a:rPr lang="en-US">
                <a:solidFill>
                  <a:schemeClr val="bg2"/>
                </a:solidFill>
                <a:effectLst/>
              </a:rPr>
              <a:t>.</a:t>
            </a:r>
            <a:r>
              <a:rPr lang="ru-RU">
                <a:solidFill>
                  <a:schemeClr val="bg2"/>
                </a:solidFill>
                <a:effectLst/>
              </a:rPr>
              <a:t>)) {</a:t>
            </a:r>
            <a:r>
              <a:rPr lang="en-US">
                <a:solidFill>
                  <a:schemeClr val="bg2"/>
                </a:solidFill>
                <a:effectLst/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                             </a:t>
            </a:r>
            <a:r>
              <a:rPr lang="ru-RU" b="1">
                <a:solidFill>
                  <a:schemeClr val="bg2"/>
                </a:solidFill>
                <a:effectLst/>
              </a:rPr>
              <a:t>Вставка</a:t>
            </a:r>
            <a:r>
              <a:rPr lang="en-US" b="1">
                <a:solidFill>
                  <a:schemeClr val="bg2"/>
                </a:solidFill>
                <a:effectLst/>
              </a:rPr>
              <a:t>R</a:t>
            </a:r>
            <a:r>
              <a:rPr lang="ru-RU">
                <a:solidFill>
                  <a:schemeClr val="bg2"/>
                </a:solidFill>
                <a:effectLst/>
              </a:rPr>
              <a:t>(</a:t>
            </a:r>
            <a:r>
              <a:rPr lang="en-US">
                <a:solidFill>
                  <a:schemeClr val="bg2"/>
                </a:solidFill>
                <a:effectLst/>
              </a:rPr>
              <a:t>Root, key</a:t>
            </a:r>
            <a:r>
              <a:rPr lang="ru-RU">
                <a:solidFill>
                  <a:schemeClr val="bg2"/>
                </a:solidFill>
                <a:effectLst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  <a:effectLst/>
              </a:rPr>
              <a:t>                             </a:t>
            </a:r>
            <a:r>
              <a:rPr lang="en-US">
                <a:solidFill>
                  <a:schemeClr val="bg2"/>
                </a:solidFill>
                <a:effectLst/>
              </a:rPr>
              <a:t>return}</a:t>
            </a:r>
            <a:endParaRPr lang="ru-RU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if (key&gt;*Root</a:t>
            </a:r>
            <a:r>
              <a:rPr lang="en-US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>
                <a:solidFill>
                  <a:schemeClr val="bg2"/>
                </a:solidFill>
                <a:effectLst/>
              </a:rPr>
              <a:t>data) </a:t>
            </a:r>
            <a:endParaRPr lang="ru-RU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  <a:effectLst/>
              </a:rPr>
              <a:t>             </a:t>
            </a:r>
            <a:r>
              <a:rPr lang="en-US" b="1">
                <a:solidFill>
                  <a:schemeClr val="bg2"/>
                </a:solidFill>
                <a:effectLst/>
              </a:rPr>
              <a:t>InsertR</a:t>
            </a:r>
            <a:r>
              <a:rPr lang="en-US">
                <a:solidFill>
                  <a:schemeClr val="bg2"/>
                </a:solidFill>
                <a:effectLst/>
              </a:rPr>
              <a:t>(*Root</a:t>
            </a:r>
            <a:r>
              <a:rPr lang="en-US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>
                <a:solidFill>
                  <a:schemeClr val="bg2"/>
                </a:solidFill>
                <a:effectLst/>
              </a:rPr>
              <a:t>left,key);</a:t>
            </a:r>
            <a:endParaRPr lang="ru-RU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            else </a:t>
            </a:r>
            <a:r>
              <a:rPr lang="en-US" b="1">
                <a:solidFill>
                  <a:schemeClr val="bg2"/>
                </a:solidFill>
                <a:effectLst/>
              </a:rPr>
              <a:t>InsertR</a:t>
            </a:r>
            <a:r>
              <a:rPr lang="en-US">
                <a:solidFill>
                  <a:schemeClr val="bg2"/>
                </a:solidFill>
                <a:effectLst/>
              </a:rPr>
              <a:t>(*Root</a:t>
            </a:r>
            <a:r>
              <a:rPr lang="en-US">
                <a:solidFill>
                  <a:schemeClr val="bg2"/>
                </a:solidFill>
                <a:effectLst/>
                <a:sym typeface="Wingdings" pitchFamily="2" charset="2"/>
              </a:rPr>
              <a:t>rigth</a:t>
            </a:r>
            <a:r>
              <a:rPr lang="en-US">
                <a:solidFill>
                  <a:schemeClr val="bg2"/>
                </a:solidFill>
                <a:effectLst/>
              </a:rPr>
              <a:t>,key);</a:t>
            </a:r>
            <a:endParaRPr lang="ru-RU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bg2"/>
                </a:solidFill>
                <a:effectLst/>
              </a:rPr>
              <a:t>   *Root </a:t>
            </a:r>
            <a:r>
              <a:rPr lang="en-US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>
                <a:solidFill>
                  <a:schemeClr val="bg2"/>
                </a:solidFill>
                <a:effectLst/>
              </a:rPr>
              <a:t> k++; }</a:t>
            </a:r>
            <a:endParaRPr lang="ru-RU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endParaRPr lang="ru-RU" sz="2800">
              <a:solidFill>
                <a:schemeClr val="bg2"/>
              </a:solidFill>
              <a:effectLst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Рандомизованная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вставка</a:t>
            </a:r>
            <a:endParaRPr lang="ru-RU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кстура">
  <a:themeElements>
    <a:clrScheme name="Текстура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Текстура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None/>
          <a:tabLst/>
          <a:defRPr kumimoji="0" lang="ru-RU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None/>
          <a:tabLst/>
          <a:defRPr kumimoji="0" lang="ru-RU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Текстура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кстура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12674</TotalTime>
  <Words>2487</Words>
  <Application>Microsoft Office PowerPoint</Application>
  <PresentationFormat>Экран (4:3)</PresentationFormat>
  <Paragraphs>1105</Paragraphs>
  <Slides>57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3" baseType="lpstr">
      <vt:lpstr>Arial</vt:lpstr>
      <vt:lpstr>Calibri</vt:lpstr>
      <vt:lpstr>Tahoma</vt:lpstr>
      <vt:lpstr>Times New Roman</vt:lpstr>
      <vt:lpstr>Wingdings</vt:lpstr>
      <vt:lpstr>Текстура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ФОРМАТИРОВАНИE ВЫВОДА В КОНСОЛИ</vt:lpstr>
      <vt:lpstr>Презентация PowerPoint</vt:lpstr>
      <vt:lpstr>Презентация PowerPoint</vt:lpstr>
      <vt:lpstr>Презентация PowerPoint</vt:lpstr>
      <vt:lpstr>Презентация PowerPoint</vt:lpstr>
      <vt:lpstr>Анализ BST- деревьев</vt:lpstr>
      <vt:lpstr>Анализ BST- деревьев</vt:lpstr>
      <vt:lpstr>BST- деревья. Вставка в корень</vt:lpstr>
      <vt:lpstr>BST- деревья. Вставка в корень</vt:lpstr>
      <vt:lpstr>BST- деревья. Вставка в корень</vt:lpstr>
      <vt:lpstr>BST- деревья. Вставка в корень</vt:lpstr>
      <vt:lpstr>BST- деревья. Вставка в корень</vt:lpstr>
      <vt:lpstr>BST- деревья. Операция ротации</vt:lpstr>
      <vt:lpstr>BST- деревья. Операция ротации</vt:lpstr>
      <vt:lpstr>BST- деревья. Операция ротации</vt:lpstr>
      <vt:lpstr>BST- деревья. Операция ротации</vt:lpstr>
      <vt:lpstr>BST- деревья. Вставка в корень</vt:lpstr>
      <vt:lpstr>BST- деревья. Вставка в корень</vt:lpstr>
      <vt:lpstr>BST- деревья. Рандомизованная вставка</vt:lpstr>
      <vt:lpstr>BST- деревья. Рандомизованная вставка</vt:lpstr>
      <vt:lpstr>BST- деревья. Рандомизованная вставка</vt:lpstr>
    </vt:vector>
  </TitlesOfParts>
  <Company>AOI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ИНФОРМАТИКА</dc:title>
  <dc:creator>pnv</dc:creator>
  <cp:lastModifiedBy>Учетная запись Майкрософт</cp:lastModifiedBy>
  <cp:revision>412</cp:revision>
  <dcterms:created xsi:type="dcterms:W3CDTF">2008-09-04T04:37:13Z</dcterms:created>
  <dcterms:modified xsi:type="dcterms:W3CDTF">2022-04-18T08:11:30Z</dcterms:modified>
</cp:coreProperties>
</file>